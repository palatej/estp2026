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62" r:id="rId6"/>
    <p:sldId id="276" r:id="rId7"/>
    <p:sldId id="277" r:id="rId8"/>
    <p:sldId id="279" r:id="rId9"/>
    <p:sldId id="259" r:id="rId10"/>
    <p:sldId id="280" r:id="rId11"/>
    <p:sldId id="281" r:id="rId12"/>
    <p:sldId id="284" r:id="rId13"/>
    <p:sldId id="282" r:id="rId14"/>
    <p:sldId id="283" r:id="rId15"/>
    <p:sldId id="261" r:id="rId16"/>
  </p:sldIdLst>
  <p:sldSz cx="12192000" cy="6858000"/>
  <p:notesSz cx="6858000" cy="9144000"/>
  <p:custDataLst>
    <p:tags r:id="rId1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84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27/08/2026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96CE0-16D5-44D5-AEDF-3BB46BA4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30BE-0C61-494B-9BB1-76CA7A3F0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0A786-F257-4A83-A593-032672F85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02980-ABA5-4CFA-B92D-BF9D8FCA7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DCE39-5077-4F17-BD36-A46ED308E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E792-0364-4011-8053-26F035783A3A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2180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JD+ and 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56780-349F-4D8D-B4A8-6068DB3F8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Main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52D3C-E08A-4C87-B5E3-58C3EF56E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RJDemetra</a:t>
            </a:r>
            <a:endParaRPr lang="en-GB" dirty="0"/>
          </a:p>
          <a:p>
            <a:pPr lvl="1"/>
            <a:r>
              <a:rPr lang="en-GB" b="1" dirty="0"/>
              <a:t>Java runtime (&gt;=11)</a:t>
            </a:r>
          </a:p>
          <a:p>
            <a:pPr lvl="1"/>
            <a:r>
              <a:rPr lang="pt-BR" dirty="0"/>
              <a:t>R (&gt;= 3.1.1)</a:t>
            </a:r>
          </a:p>
          <a:p>
            <a:pPr lvl="1"/>
            <a:r>
              <a:rPr lang="pt-BR" dirty="0"/>
              <a:t>rJava (&gt;= 0.9-8)</a:t>
            </a:r>
          </a:p>
          <a:p>
            <a:endParaRPr lang="pt-BR" dirty="0"/>
          </a:p>
          <a:p>
            <a:r>
              <a:rPr lang="pt-BR" dirty="0"/>
              <a:t>rjdverse</a:t>
            </a:r>
          </a:p>
          <a:p>
            <a:pPr lvl="1"/>
            <a:r>
              <a:rPr lang="en-GB" b="1" dirty="0"/>
              <a:t>Java runtime (&gt;=17.0)</a:t>
            </a:r>
          </a:p>
          <a:p>
            <a:pPr lvl="1"/>
            <a:r>
              <a:rPr lang="en-GB" dirty="0"/>
              <a:t> R (&gt;= 3.6.0)</a:t>
            </a:r>
          </a:p>
          <a:p>
            <a:pPr lvl="1"/>
            <a:r>
              <a:rPr lang="en-GB" dirty="0"/>
              <a:t> </a:t>
            </a:r>
            <a:r>
              <a:rPr lang="en-GB" dirty="0" err="1"/>
              <a:t>rJava</a:t>
            </a:r>
            <a:r>
              <a:rPr lang="en-GB" dirty="0"/>
              <a:t> (&gt;= 1.0-6),</a:t>
            </a:r>
          </a:p>
          <a:p>
            <a:pPr lvl="1"/>
            <a:r>
              <a:rPr lang="en-GB" dirty="0"/>
              <a:t> </a:t>
            </a:r>
            <a:r>
              <a:rPr lang="en-GB" dirty="0" err="1"/>
              <a:t>RProtoBuf</a:t>
            </a:r>
            <a:r>
              <a:rPr lang="en-GB" dirty="0"/>
              <a:t> (&gt;= 0.4.17)</a:t>
            </a:r>
          </a:p>
          <a:p>
            <a:endParaRPr lang="en-GB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B00C34F-2AC5-E8AC-6995-359D69330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43907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Technical design of </a:t>
            </a:r>
            <a:r>
              <a:rPr lang="en-GB" dirty="0" err="1"/>
              <a:t>Rjdemetra</a:t>
            </a:r>
            <a:r>
              <a:rPr lang="en-GB" dirty="0"/>
              <a:t> (v2)</a:t>
            </a:r>
            <a:endParaRPr lang="fr-BE" dirty="0"/>
          </a:p>
        </p:txBody>
      </p:sp>
      <p:sp>
        <p:nvSpPr>
          <p:cNvPr id="4" name="Rounded Rectangle 3"/>
          <p:cNvSpPr/>
          <p:nvPr/>
        </p:nvSpPr>
        <p:spPr>
          <a:xfrm>
            <a:off x="2462888" y="1672374"/>
            <a:ext cx="2235200" cy="136698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JTsToolkit.jar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17263" y="4832106"/>
            <a:ext cx="1874982" cy="1366982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tx1"/>
                </a:solidFill>
              </a:rPr>
              <a:t>JDemetra GUI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94671" y="3902957"/>
            <a:ext cx="1570183" cy="106680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chemeClr val="tx1"/>
                </a:solidFill>
              </a:rPr>
              <a:t>SACruncher</a:t>
            </a:r>
            <a:endParaRPr lang="fr-BE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0"/>
            <a:endCxn id="4" idx="2"/>
          </p:cNvCxnSpPr>
          <p:nvPr/>
        </p:nvCxnSpPr>
        <p:spPr>
          <a:xfrm flipV="1">
            <a:off x="2379762" y="3039357"/>
            <a:ext cx="1200726" cy="863601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5" idx="0"/>
            <a:endCxn id="4" idx="2"/>
          </p:cNvCxnSpPr>
          <p:nvPr/>
        </p:nvCxnSpPr>
        <p:spPr>
          <a:xfrm flipH="1" flipV="1">
            <a:off x="3580488" y="3039356"/>
            <a:ext cx="574266" cy="179275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7" idx="1"/>
            <a:endCxn id="4" idx="3"/>
          </p:cNvCxnSpPr>
          <p:nvPr/>
        </p:nvCxnSpPr>
        <p:spPr>
          <a:xfrm flipH="1" flipV="1">
            <a:off x="4698089" y="2355865"/>
            <a:ext cx="711201" cy="923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09290" y="1942536"/>
            <a:ext cx="1699491" cy="84513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jdr.jar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0817" y="1933301"/>
            <a:ext cx="1782618" cy="84513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/>
              <a:t>rJava</a:t>
            </a:r>
            <a:endParaRPr lang="fr-BE" dirty="0"/>
          </a:p>
        </p:txBody>
      </p:sp>
      <p:sp>
        <p:nvSpPr>
          <p:cNvPr id="21" name="Rounded Rectangle 20"/>
          <p:cNvSpPr/>
          <p:nvPr/>
        </p:nvSpPr>
        <p:spPr>
          <a:xfrm>
            <a:off x="7281962" y="3260160"/>
            <a:ext cx="3080328" cy="84513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 err="1">
                <a:solidFill>
                  <a:schemeClr val="bg1"/>
                </a:solidFill>
              </a:rPr>
              <a:t>RJDemetra</a:t>
            </a:r>
            <a:r>
              <a:rPr lang="fr-BE" b="1" dirty="0">
                <a:solidFill>
                  <a:schemeClr val="bg1"/>
                </a:solidFill>
              </a:rPr>
              <a:t> package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3434" y="4534490"/>
            <a:ext cx="3297383" cy="156210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/>
              <a:t>R</a:t>
            </a:r>
          </a:p>
          <a:p>
            <a:pPr algn="ctr"/>
            <a:r>
              <a:rPr lang="fr-BE" dirty="0"/>
              <a:t>R-Studio</a:t>
            </a:r>
          </a:p>
          <a:p>
            <a:pPr algn="ctr"/>
            <a:r>
              <a:rPr lang="fr-BE" dirty="0"/>
              <a:t>…</a:t>
            </a:r>
          </a:p>
        </p:txBody>
      </p:sp>
      <p:cxnSp>
        <p:nvCxnSpPr>
          <p:cNvPr id="23" name="Straight Arrow Connector 22"/>
          <p:cNvCxnSpPr>
            <a:stCxn id="20" idx="1"/>
            <a:endCxn id="17" idx="3"/>
          </p:cNvCxnSpPr>
          <p:nvPr/>
        </p:nvCxnSpPr>
        <p:spPr>
          <a:xfrm flipH="1">
            <a:off x="7108781" y="2355867"/>
            <a:ext cx="822037" cy="923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0"/>
            <a:endCxn id="20" idx="2"/>
          </p:cNvCxnSpPr>
          <p:nvPr/>
        </p:nvCxnSpPr>
        <p:spPr>
          <a:xfrm flipV="1">
            <a:off x="8822126" y="2778431"/>
            <a:ext cx="0" cy="481729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22" idx="0"/>
            <a:endCxn id="21" idx="2"/>
          </p:cNvCxnSpPr>
          <p:nvPr/>
        </p:nvCxnSpPr>
        <p:spPr>
          <a:xfrm flipV="1">
            <a:off x="8822126" y="4105290"/>
            <a:ext cx="0" cy="42920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989043" y="1542426"/>
            <a:ext cx="1175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487013" y="3630037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002412" y="4765340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007505" y="1733246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824413" y="3087214"/>
            <a:ext cx="868218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64117" y="1656209"/>
            <a:ext cx="1365826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R, native</a:t>
            </a:r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19CF2679-0441-6E1D-9F02-9E325B72C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140410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7" grpId="0" animBg="1"/>
      <p:bldP spid="20" grpId="0" animBg="1"/>
      <p:bldP spid="21" grpId="0" animBg="1"/>
      <p:bldP spid="22" grpId="0" animBg="1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Technical design of </a:t>
            </a:r>
            <a:r>
              <a:rPr lang="en-GB" dirty="0" err="1"/>
              <a:t>rjdverse</a:t>
            </a:r>
            <a:r>
              <a:rPr lang="en-GB" dirty="0"/>
              <a:t> (v3)</a:t>
            </a:r>
            <a:endParaRPr lang="fr-BE" dirty="0"/>
          </a:p>
        </p:txBody>
      </p:sp>
      <p:sp>
        <p:nvSpPr>
          <p:cNvPr id="4" name="Rounded Rectangle 3"/>
          <p:cNvSpPr/>
          <p:nvPr/>
        </p:nvSpPr>
        <p:spPr>
          <a:xfrm>
            <a:off x="1334299" y="1690688"/>
            <a:ext cx="2235200" cy="136698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demetra-xxx.jar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14408" y="4783654"/>
            <a:ext cx="1874982" cy="1366982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tx1"/>
                </a:solidFill>
              </a:rPr>
              <a:t>JDemetra GUI</a:t>
            </a:r>
          </a:p>
        </p:txBody>
      </p:sp>
      <p:cxnSp>
        <p:nvCxnSpPr>
          <p:cNvPr id="10" name="Straight Arrow Connector 9"/>
          <p:cNvCxnSpPr>
            <a:stCxn id="5" idx="0"/>
            <a:endCxn id="4" idx="2"/>
          </p:cNvCxnSpPr>
          <p:nvPr/>
        </p:nvCxnSpPr>
        <p:spPr>
          <a:xfrm flipV="1">
            <a:off x="2451899" y="3057670"/>
            <a:ext cx="0" cy="172598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  <a:stCxn id="17" idx="1"/>
            <a:endCxn id="4" idx="3"/>
          </p:cNvCxnSpPr>
          <p:nvPr/>
        </p:nvCxnSpPr>
        <p:spPr>
          <a:xfrm flipH="1">
            <a:off x="3569499" y="2355866"/>
            <a:ext cx="856589" cy="1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426088" y="1933301"/>
            <a:ext cx="1971495" cy="84513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Demetra-xxx-r.jar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1962" y="1933301"/>
            <a:ext cx="3080328" cy="84513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chemeClr val="bg1">
                    <a:lumMod val="65000"/>
                  </a:schemeClr>
                </a:solidFill>
              </a:rPr>
              <a:t>rJava</a:t>
            </a:r>
            <a:r>
              <a:rPr lang="fr-BE" dirty="0">
                <a:solidFill>
                  <a:schemeClr val="bg1">
                    <a:lumMod val="65000"/>
                  </a:schemeClr>
                </a:solidFill>
              </a:rPr>
              <a:t>,</a:t>
            </a:r>
          </a:p>
          <a:p>
            <a:pPr algn="ctr"/>
            <a:r>
              <a:rPr lang="fr-BE" dirty="0" err="1"/>
              <a:t>RProtobuf</a:t>
            </a:r>
            <a:endParaRPr lang="fr-BE" dirty="0"/>
          </a:p>
        </p:txBody>
      </p:sp>
      <p:sp>
        <p:nvSpPr>
          <p:cNvPr id="21" name="Rounded Rectangle 20"/>
          <p:cNvSpPr/>
          <p:nvPr/>
        </p:nvSpPr>
        <p:spPr>
          <a:xfrm>
            <a:off x="7281962" y="3260160"/>
            <a:ext cx="3080328" cy="84513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bg1"/>
                </a:solidFill>
              </a:rPr>
              <a:t>RJD3xxx package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3434" y="4534490"/>
            <a:ext cx="3297383" cy="156210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/>
              <a:t>R</a:t>
            </a:r>
          </a:p>
          <a:p>
            <a:pPr algn="ctr"/>
            <a:r>
              <a:rPr lang="fr-BE" dirty="0"/>
              <a:t>R-Studio</a:t>
            </a:r>
          </a:p>
          <a:p>
            <a:pPr algn="ctr"/>
            <a:r>
              <a:rPr lang="fr-BE" dirty="0"/>
              <a:t>…</a:t>
            </a:r>
          </a:p>
        </p:txBody>
      </p:sp>
      <p:cxnSp>
        <p:nvCxnSpPr>
          <p:cNvPr id="23" name="Straight Arrow Connector 22"/>
          <p:cNvCxnSpPr>
            <a:cxnSpLocks/>
            <a:stCxn id="20" idx="1"/>
            <a:endCxn id="17" idx="3"/>
          </p:cNvCxnSpPr>
          <p:nvPr/>
        </p:nvCxnSpPr>
        <p:spPr>
          <a:xfrm flipH="1">
            <a:off x="6397583" y="2355866"/>
            <a:ext cx="884379" cy="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cxnSpLocks/>
            <a:stCxn id="21" idx="0"/>
            <a:endCxn id="20" idx="2"/>
          </p:cNvCxnSpPr>
          <p:nvPr/>
        </p:nvCxnSpPr>
        <p:spPr>
          <a:xfrm flipV="1">
            <a:off x="8822126" y="2778431"/>
            <a:ext cx="0" cy="481729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22" idx="0"/>
            <a:endCxn id="21" idx="2"/>
          </p:cNvCxnSpPr>
          <p:nvPr/>
        </p:nvCxnSpPr>
        <p:spPr>
          <a:xfrm flipV="1">
            <a:off x="8822126" y="4105290"/>
            <a:ext cx="0" cy="42920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60454" y="1676072"/>
            <a:ext cx="1175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168047" y="4783654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043344" y="1834450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824413" y="3087214"/>
            <a:ext cx="868218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39772" y="1674082"/>
            <a:ext cx="1365826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R, native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1330F8F-5CFB-9CAA-6FDE-1672CE243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4192472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7" grpId="0" animBg="1"/>
      <p:bldP spid="20" grpId="0" animBg="1"/>
      <p:bldP spid="21" grpId="0" animBg="1"/>
      <p:bldP spid="22" grpId="0" animBg="1"/>
      <p:bldP spid="36" grpId="0"/>
      <p:bldP spid="38" grpId="0"/>
      <p:bldP spid="39" grpId="0"/>
      <p:bldP spid="40" grpId="0"/>
      <p:bldP spid="4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0B69-6289-4969-8414-57A4C62BB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</a:t>
            </a:r>
            <a:r>
              <a:rPr lang="en-GB" dirty="0" err="1"/>
              <a:t>rjdverse</a:t>
            </a:r>
            <a:r>
              <a:rPr lang="en-GB" dirty="0"/>
              <a:t>: Overview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EDD87AB-F1A1-4624-B7DD-9FE61105ACF5}"/>
              </a:ext>
            </a:extLst>
          </p:cNvPr>
          <p:cNvSpPr/>
          <p:nvPr/>
        </p:nvSpPr>
        <p:spPr>
          <a:xfrm>
            <a:off x="4544357" y="2639566"/>
            <a:ext cx="1685570" cy="98376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rjd3toolkit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A7A8AF-D191-438A-91C6-CB0D06EAD51C}"/>
              </a:ext>
            </a:extLst>
          </p:cNvPr>
          <p:cNvSpPr/>
          <p:nvPr/>
        </p:nvSpPr>
        <p:spPr>
          <a:xfrm>
            <a:off x="569658" y="4442707"/>
            <a:ext cx="1641682" cy="555721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rjd3workspace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AFF2C70-0828-48EB-83C0-BC415662A719}"/>
              </a:ext>
            </a:extLst>
          </p:cNvPr>
          <p:cNvSpPr/>
          <p:nvPr/>
        </p:nvSpPr>
        <p:spPr>
          <a:xfrm>
            <a:off x="9521676" y="4886078"/>
            <a:ext cx="2508308" cy="379602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rjd3bench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52D538E8-058B-4D8C-AA04-7072ED15B1CC}"/>
              </a:ext>
            </a:extLst>
          </p:cNvPr>
          <p:cNvSpPr/>
          <p:nvPr/>
        </p:nvSpPr>
        <p:spPr>
          <a:xfrm>
            <a:off x="1699826" y="1839012"/>
            <a:ext cx="1881575" cy="44581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rjd3tramoseats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E69968C-9EE7-460A-A49F-39F0E570EE69}"/>
              </a:ext>
            </a:extLst>
          </p:cNvPr>
          <p:cNvSpPr/>
          <p:nvPr/>
        </p:nvSpPr>
        <p:spPr>
          <a:xfrm>
            <a:off x="1699826" y="2500443"/>
            <a:ext cx="1881574" cy="373157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rjd3x13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398E447-2E27-4DBC-9236-7AD0BAF658CC}"/>
              </a:ext>
            </a:extLst>
          </p:cNvPr>
          <p:cNvCxnSpPr>
            <a:cxnSpLocks/>
            <a:stCxn id="37" idx="1"/>
            <a:endCxn id="4" idx="2"/>
          </p:cNvCxnSpPr>
          <p:nvPr/>
        </p:nvCxnSpPr>
        <p:spPr>
          <a:xfrm rot="10800000">
            <a:off x="5387142" y="3623333"/>
            <a:ext cx="4134534" cy="145254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C710484-8F16-46F1-AE92-6EC7B9471076}"/>
              </a:ext>
            </a:extLst>
          </p:cNvPr>
          <p:cNvSpPr/>
          <p:nvPr/>
        </p:nvSpPr>
        <p:spPr>
          <a:xfrm>
            <a:off x="9521676" y="5479226"/>
            <a:ext cx="2508308" cy="379602"/>
          </a:xfrm>
          <a:prstGeom prst="roundRect">
            <a:avLst/>
          </a:prstGeom>
          <a:pattFill prst="pct5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rjd3nowcasting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7E2ED03-E97E-4931-BD40-2B663CF80E8C}"/>
              </a:ext>
            </a:extLst>
          </p:cNvPr>
          <p:cNvSpPr/>
          <p:nvPr/>
        </p:nvSpPr>
        <p:spPr>
          <a:xfrm>
            <a:off x="7642846" y="1682319"/>
            <a:ext cx="2508308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rjd3highfreq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5612EB-7650-4C59-8FB2-9EA09DC358B3}"/>
              </a:ext>
            </a:extLst>
          </p:cNvPr>
          <p:cNvSpPr/>
          <p:nvPr/>
        </p:nvSpPr>
        <p:spPr>
          <a:xfrm>
            <a:off x="7268716" y="3049398"/>
            <a:ext cx="1447520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rjd3stl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7AFE70E-297C-4E80-9B1C-60C8E1DEE7EA}"/>
              </a:ext>
            </a:extLst>
          </p:cNvPr>
          <p:cNvSpPr/>
          <p:nvPr/>
        </p:nvSpPr>
        <p:spPr>
          <a:xfrm>
            <a:off x="9521676" y="5997218"/>
            <a:ext cx="2508308" cy="379602"/>
          </a:xfrm>
          <a:prstGeom prst="roundRect">
            <a:avLst/>
          </a:prstGeom>
          <a:pattFill prst="pct5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rjd3cycle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82DA099-48A9-4596-BFFF-72B282FF6C64}"/>
              </a:ext>
            </a:extLst>
          </p:cNvPr>
          <p:cNvSpPr/>
          <p:nvPr/>
        </p:nvSpPr>
        <p:spPr>
          <a:xfrm>
            <a:off x="9521676" y="4325044"/>
            <a:ext cx="2508308" cy="379602"/>
          </a:xfrm>
          <a:prstGeom prst="round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rjd3revisions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35B5856-9138-44FF-94D3-15E8B4310DDB}"/>
              </a:ext>
            </a:extLst>
          </p:cNvPr>
          <p:cNvSpPr/>
          <p:nvPr/>
        </p:nvSpPr>
        <p:spPr>
          <a:xfrm>
            <a:off x="7268716" y="2473493"/>
            <a:ext cx="1447520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rjd3sts</a:t>
            </a: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52274B9A-C811-4F83-A27A-9CB1F69C87FB}"/>
              </a:ext>
            </a:extLst>
          </p:cNvPr>
          <p:cNvCxnSpPr>
            <a:cxnSpLocks/>
            <a:stCxn id="28" idx="1"/>
            <a:endCxn id="27" idx="0"/>
          </p:cNvCxnSpPr>
          <p:nvPr/>
        </p:nvCxnSpPr>
        <p:spPr>
          <a:xfrm rot="10800000" flipH="1" flipV="1">
            <a:off x="7642846" y="1872119"/>
            <a:ext cx="349630" cy="601373"/>
          </a:xfrm>
          <a:prstGeom prst="bentConnector4">
            <a:avLst>
              <a:gd name="adj1" fmla="val -65383"/>
              <a:gd name="adj2" fmla="val 65781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35DE035-726F-405B-B9B6-41683B2196A6}"/>
              </a:ext>
            </a:extLst>
          </p:cNvPr>
          <p:cNvCxnSpPr>
            <a:cxnSpLocks/>
            <a:stCxn id="31" idx="1"/>
            <a:endCxn id="4" idx="2"/>
          </p:cNvCxnSpPr>
          <p:nvPr/>
        </p:nvCxnSpPr>
        <p:spPr>
          <a:xfrm rot="10800000">
            <a:off x="5387142" y="3623333"/>
            <a:ext cx="4134534" cy="89151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5829E41-6F25-46E1-9F7E-E4C276859FDC}"/>
              </a:ext>
            </a:extLst>
          </p:cNvPr>
          <p:cNvSpPr txBox="1"/>
          <p:nvPr/>
        </p:nvSpPr>
        <p:spPr>
          <a:xfrm>
            <a:off x="1156779" y="5399798"/>
            <a:ext cx="4773335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/>
              <a:t>https://github.com/rjdverse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060462-0386-44C7-A496-0FD1D8B3E94D}"/>
              </a:ext>
            </a:extLst>
          </p:cNvPr>
          <p:cNvSpPr txBox="1"/>
          <p:nvPr/>
        </p:nvSpPr>
        <p:spPr>
          <a:xfrm>
            <a:off x="448464" y="6123543"/>
            <a:ext cx="3884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Design similar to the Java libraries !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2A79E5E-27EC-8709-432D-59BEA1597017}"/>
              </a:ext>
            </a:extLst>
          </p:cNvPr>
          <p:cNvSpPr/>
          <p:nvPr/>
        </p:nvSpPr>
        <p:spPr>
          <a:xfrm>
            <a:off x="1721996" y="3107351"/>
            <a:ext cx="1881574" cy="468525"/>
          </a:xfrm>
          <a:prstGeom prst="round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rjd3providers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67C75A8-D420-B4A0-DAC0-172CD0414BA6}"/>
              </a:ext>
            </a:extLst>
          </p:cNvPr>
          <p:cNvCxnSpPr>
            <a:cxnSpLocks/>
            <a:stCxn id="45" idx="3"/>
            <a:endCxn id="4" idx="0"/>
          </p:cNvCxnSpPr>
          <p:nvPr/>
        </p:nvCxnSpPr>
        <p:spPr>
          <a:xfrm flipV="1">
            <a:off x="3581400" y="2639566"/>
            <a:ext cx="1805742" cy="47456"/>
          </a:xfrm>
          <a:prstGeom prst="bentConnector4">
            <a:avLst>
              <a:gd name="adj1" fmla="val 26664"/>
              <a:gd name="adj2" fmla="val 874871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2393A1D-4F53-9A21-B643-413CA0723464}"/>
              </a:ext>
            </a:extLst>
          </p:cNvPr>
          <p:cNvCxnSpPr>
            <a:cxnSpLocks/>
            <a:stCxn id="44" idx="3"/>
            <a:endCxn id="4" idx="0"/>
          </p:cNvCxnSpPr>
          <p:nvPr/>
        </p:nvCxnSpPr>
        <p:spPr>
          <a:xfrm>
            <a:off x="3581401" y="2061921"/>
            <a:ext cx="1805741" cy="577645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5AF33670-0DD6-8907-3503-E9555DCF52DD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 flipV="1">
            <a:off x="3603570" y="3131450"/>
            <a:ext cx="940787" cy="2101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548C5DF-382F-88E4-EF45-E5E114F7B5BD}"/>
              </a:ext>
            </a:extLst>
          </p:cNvPr>
          <p:cNvCxnSpPr>
            <a:cxnSpLocks/>
            <a:stCxn id="10" idx="0"/>
            <a:endCxn id="4" idx="2"/>
          </p:cNvCxnSpPr>
          <p:nvPr/>
        </p:nvCxnSpPr>
        <p:spPr>
          <a:xfrm rot="5400000" flipH="1" flipV="1">
            <a:off x="2979133" y="2034699"/>
            <a:ext cx="819374" cy="3996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1D1443DA-A42D-A171-B629-CFA3CDF073AE}"/>
              </a:ext>
            </a:extLst>
          </p:cNvPr>
          <p:cNvCxnSpPr>
            <a:cxnSpLocks/>
            <a:stCxn id="10" idx="1"/>
            <a:endCxn id="25" idx="1"/>
          </p:cNvCxnSpPr>
          <p:nvPr/>
        </p:nvCxnSpPr>
        <p:spPr>
          <a:xfrm rot="10800000" flipH="1">
            <a:off x="569658" y="3341614"/>
            <a:ext cx="1152338" cy="1378954"/>
          </a:xfrm>
          <a:prstGeom prst="bentConnector3">
            <a:avLst>
              <a:gd name="adj1" fmla="val -19838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455EFCBC-64AB-499E-3382-DF50BF81039B}"/>
              </a:ext>
            </a:extLst>
          </p:cNvPr>
          <p:cNvCxnSpPr>
            <a:cxnSpLocks/>
            <a:stCxn id="10" idx="0"/>
            <a:endCxn id="44" idx="1"/>
          </p:cNvCxnSpPr>
          <p:nvPr/>
        </p:nvCxnSpPr>
        <p:spPr>
          <a:xfrm rot="5400000" flipH="1" flipV="1">
            <a:off x="354769" y="3097651"/>
            <a:ext cx="2380786" cy="30932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C14EE022-B35B-3995-6C16-6AA021BB19F2}"/>
              </a:ext>
            </a:extLst>
          </p:cNvPr>
          <p:cNvCxnSpPr>
            <a:cxnSpLocks/>
            <a:stCxn id="10" idx="0"/>
            <a:endCxn id="45" idx="1"/>
          </p:cNvCxnSpPr>
          <p:nvPr/>
        </p:nvCxnSpPr>
        <p:spPr>
          <a:xfrm rot="5400000" flipH="1" flipV="1">
            <a:off x="667320" y="3410202"/>
            <a:ext cx="1755685" cy="30932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9E2F010D-CCD0-2154-7B82-5EF6824650B4}"/>
              </a:ext>
            </a:extLst>
          </p:cNvPr>
          <p:cNvCxnSpPr>
            <a:cxnSpLocks/>
            <a:stCxn id="27" idx="1"/>
            <a:endCxn id="4" idx="3"/>
          </p:cNvCxnSpPr>
          <p:nvPr/>
        </p:nvCxnSpPr>
        <p:spPr>
          <a:xfrm rot="10800000" flipV="1">
            <a:off x="6229928" y="2663294"/>
            <a:ext cx="1038789" cy="468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Rectangle: Rounded Corners 30">
            <a:extLst>
              <a:ext uri="{FF2B5EF4-FFF2-40B4-BE49-F238E27FC236}">
                <a16:creationId xmlns:a16="http://schemas.microsoft.com/office/drawing/2014/main" id="{47F8E916-3889-A783-CE14-5A9BE7AE4B25}"/>
              </a:ext>
            </a:extLst>
          </p:cNvPr>
          <p:cNvSpPr/>
          <p:nvPr/>
        </p:nvSpPr>
        <p:spPr>
          <a:xfrm>
            <a:off x="6543980" y="3651489"/>
            <a:ext cx="2508308" cy="379602"/>
          </a:xfrm>
          <a:prstGeom prst="round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rjd3filters</a:t>
            </a:r>
          </a:p>
        </p:txBody>
      </p:sp>
      <p:cxnSp>
        <p:nvCxnSpPr>
          <p:cNvPr id="11" name="Connector: Elbow 97">
            <a:extLst>
              <a:ext uri="{FF2B5EF4-FFF2-40B4-BE49-F238E27FC236}">
                <a16:creationId xmlns:a16="http://schemas.microsoft.com/office/drawing/2014/main" id="{24767A32-A4F2-629F-AFA3-96D43C6CCBAC}"/>
              </a:ext>
            </a:extLst>
          </p:cNvPr>
          <p:cNvCxnSpPr>
            <a:cxnSpLocks/>
            <a:stCxn id="9" idx="1"/>
            <a:endCxn id="4" idx="2"/>
          </p:cNvCxnSpPr>
          <p:nvPr/>
        </p:nvCxnSpPr>
        <p:spPr>
          <a:xfrm rot="10800000">
            <a:off x="5387142" y="3623334"/>
            <a:ext cx="1156838" cy="21795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nector: Elbow 156">
            <a:extLst>
              <a:ext uri="{FF2B5EF4-FFF2-40B4-BE49-F238E27FC236}">
                <a16:creationId xmlns:a16="http://schemas.microsoft.com/office/drawing/2014/main" id="{5FBC906D-0FD2-083B-220D-F87CD8DD8844}"/>
              </a:ext>
            </a:extLst>
          </p:cNvPr>
          <p:cNvCxnSpPr>
            <a:cxnSpLocks/>
            <a:stCxn id="29" idx="1"/>
            <a:endCxn id="4" idx="3"/>
          </p:cNvCxnSpPr>
          <p:nvPr/>
        </p:nvCxnSpPr>
        <p:spPr>
          <a:xfrm rot="10800000">
            <a:off x="6229928" y="3131451"/>
            <a:ext cx="1038789" cy="10774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Espace réservé du pied de page 13">
            <a:extLst>
              <a:ext uri="{FF2B5EF4-FFF2-40B4-BE49-F238E27FC236}">
                <a16:creationId xmlns:a16="http://schemas.microsoft.com/office/drawing/2014/main" id="{3F1B12BB-BACD-56B8-2523-D1E9497F5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218856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95649A-2B15-4406-BC52-3E1D58692103}"/>
              </a:ext>
            </a:extLst>
          </p:cNvPr>
          <p:cNvSpPr/>
          <p:nvPr/>
        </p:nvSpPr>
        <p:spPr>
          <a:xfrm>
            <a:off x="1122243" y="755780"/>
            <a:ext cx="2508308" cy="65203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rjd3tramoseats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B85320-608E-4822-9C6E-543C4C82FC55}"/>
              </a:ext>
            </a:extLst>
          </p:cNvPr>
          <p:cNvSpPr/>
          <p:nvPr/>
        </p:nvSpPr>
        <p:spPr>
          <a:xfrm>
            <a:off x="2957804" y="2070617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E91856-49EC-4A97-86FA-E3693A09621C}"/>
              </a:ext>
            </a:extLst>
          </p:cNvPr>
          <p:cNvSpPr/>
          <p:nvPr/>
        </p:nvSpPr>
        <p:spPr>
          <a:xfrm>
            <a:off x="6214188" y="1407816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 files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8ACB735-E3A2-40CD-ABBF-66E7282ABAF1}"/>
              </a:ext>
            </a:extLst>
          </p:cNvPr>
          <p:cNvCxnSpPr>
            <a:cxnSpLocks/>
            <a:stCxn id="4" idx="2"/>
            <a:endCxn id="5" idx="1"/>
          </p:cNvCxnSpPr>
          <p:nvPr/>
        </p:nvCxnSpPr>
        <p:spPr>
          <a:xfrm rot="16200000" flipH="1">
            <a:off x="2189909" y="1594304"/>
            <a:ext cx="954382" cy="58140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7945822-A91A-4A2D-B5F7-9E228E582AB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299788" y="1699398"/>
            <a:ext cx="914400" cy="662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C4A1081C-9E82-4F72-A469-B6BBFB7AB72D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5299788" y="2362199"/>
            <a:ext cx="914400" cy="7752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403066ED-A2FD-4B45-8B77-D9F639107F55}"/>
              </a:ext>
            </a:extLst>
          </p:cNvPr>
          <p:cNvSpPr/>
          <p:nvPr/>
        </p:nvSpPr>
        <p:spPr>
          <a:xfrm>
            <a:off x="6214188" y="2845837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Java package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866F35-687B-4E43-AB32-BF21D6300EFE}"/>
              </a:ext>
            </a:extLst>
          </p:cNvPr>
          <p:cNvSpPr/>
          <p:nvPr/>
        </p:nvSpPr>
        <p:spPr>
          <a:xfrm>
            <a:off x="2957804" y="3429000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 files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62CF78F-E0A9-489E-817D-338D02042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3574" y="2093564"/>
            <a:ext cx="1714739" cy="381053"/>
          </a:xfrm>
          <a:prstGeom prst="rect">
            <a:avLst/>
          </a:prstGeom>
          <a:ln>
            <a:solidFill>
              <a:schemeClr val="accent3">
                <a:shade val="50000"/>
              </a:schemeClr>
            </a:solidFill>
          </a:ln>
        </p:spPr>
      </p:pic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BD37A5AD-F8B6-42FF-B8D2-30BDB988E98A}"/>
              </a:ext>
            </a:extLst>
          </p:cNvPr>
          <p:cNvCxnSpPr>
            <a:cxnSpLocks/>
            <a:stCxn id="4" idx="2"/>
            <a:endCxn id="20" idx="1"/>
          </p:cNvCxnSpPr>
          <p:nvPr/>
        </p:nvCxnSpPr>
        <p:spPr>
          <a:xfrm rot="16200000" flipH="1">
            <a:off x="1510718" y="2273495"/>
            <a:ext cx="2312765" cy="58140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7" name="Picture 46">
            <a:extLst>
              <a:ext uri="{FF2B5EF4-FFF2-40B4-BE49-F238E27FC236}">
                <a16:creationId xmlns:a16="http://schemas.microsoft.com/office/drawing/2014/main" id="{177068A2-13D4-4E4E-A805-79CA0F5C44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028" y="4111235"/>
            <a:ext cx="4277322" cy="971686"/>
          </a:xfrm>
          <a:prstGeom prst="rect">
            <a:avLst/>
          </a:prstGeom>
          <a:ln>
            <a:solidFill>
              <a:schemeClr val="accent3">
                <a:shade val="50000"/>
              </a:schemeClr>
            </a:solidFill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12675D2-846A-727F-6DDA-FBB241AF1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3574" y="3601355"/>
            <a:ext cx="2619741" cy="11907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Espace réservé du pied de page 12">
            <a:extLst>
              <a:ext uri="{FF2B5EF4-FFF2-40B4-BE49-F238E27FC236}">
                <a16:creationId xmlns:a16="http://schemas.microsoft.com/office/drawing/2014/main" id="{15699A33-F00A-E744-ACCA-0AD04CC33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519121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2E026-D238-4AF1-8F4A-C306A5A4B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5. Objectives of R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19A8F-D80B-4FDC-B623-698C487B8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High-</a:t>
            </a:r>
            <a:r>
              <a:rPr lang="fr-BE" dirty="0" err="1"/>
              <a:t>level</a:t>
            </a:r>
            <a:r>
              <a:rPr lang="fr-BE" dirty="0"/>
              <a:t> </a:t>
            </a:r>
            <a:r>
              <a:rPr lang="fr-BE" dirty="0" err="1"/>
              <a:t>functions</a:t>
            </a:r>
            <a:r>
              <a:rPr lang="fr-BE" dirty="0"/>
              <a:t> </a:t>
            </a:r>
            <a:r>
              <a:rPr lang="fr-BE" dirty="0" err="1"/>
              <a:t>with</a:t>
            </a:r>
            <a:r>
              <a:rPr lang="fr-BE" dirty="0"/>
              <a:t> </a:t>
            </a:r>
            <a:r>
              <a:rPr lang="fr-BE" dirty="0" err="1"/>
              <a:t>most</a:t>
            </a:r>
            <a:r>
              <a:rPr lang="fr-BE" dirty="0"/>
              <a:t> </a:t>
            </a:r>
            <a:r>
              <a:rPr lang="fr-BE" dirty="0" err="1"/>
              <a:t>common</a:t>
            </a:r>
            <a:r>
              <a:rPr lang="fr-BE" dirty="0"/>
              <a:t> </a:t>
            </a:r>
            <a:r>
              <a:rPr lang="fr-BE" dirty="0" err="1"/>
              <a:t>results</a:t>
            </a:r>
            <a:endParaRPr lang="fr-BE" dirty="0"/>
          </a:p>
          <a:p>
            <a:r>
              <a:rPr lang="fr-BE" dirty="0" err="1"/>
              <a:t>Many</a:t>
            </a:r>
            <a:r>
              <a:rPr lang="fr-BE" dirty="0"/>
              <a:t> </a:t>
            </a:r>
            <a:r>
              <a:rPr lang="fr-BE" dirty="0" err="1"/>
              <a:t>low-level</a:t>
            </a:r>
            <a:r>
              <a:rPr lang="fr-BE" dirty="0"/>
              <a:t> </a:t>
            </a:r>
            <a:r>
              <a:rPr lang="fr-BE" dirty="0" err="1"/>
              <a:t>functions</a:t>
            </a:r>
            <a:endParaRPr lang="fr-BE" dirty="0"/>
          </a:p>
          <a:p>
            <a:pPr lvl="1"/>
            <a:r>
              <a:rPr lang="fr-BE" dirty="0"/>
              <a:t>Advanced </a:t>
            </a:r>
            <a:r>
              <a:rPr lang="fr-BE" dirty="0" err="1"/>
              <a:t>users</a:t>
            </a:r>
            <a:endParaRPr lang="fr-BE" dirty="0"/>
          </a:p>
          <a:p>
            <a:pPr lvl="1"/>
            <a:r>
              <a:rPr lang="fr-BE" dirty="0" err="1"/>
              <a:t>Research</a:t>
            </a:r>
            <a:endParaRPr lang="fr-BE" dirty="0"/>
          </a:p>
          <a:p>
            <a:pPr lvl="1"/>
            <a:r>
              <a:rPr lang="fr-BE" dirty="0"/>
              <a:t>Training</a:t>
            </a:r>
          </a:p>
          <a:p>
            <a:pPr lvl="1"/>
            <a:r>
              <a:rPr lang="fr-BE" dirty="0" err="1"/>
              <a:t>Additional</a:t>
            </a:r>
            <a:r>
              <a:rPr lang="fr-BE" dirty="0"/>
              <a:t> </a:t>
            </a:r>
            <a:r>
              <a:rPr lang="fr-BE" dirty="0" err="1"/>
              <a:t>tools</a:t>
            </a:r>
            <a:endParaRPr lang="fr-BE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E11D6C85-A84B-E7AF-DB34-D16218EA2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392617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55A1-78C9-352D-8AC1-F6987AE95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6. </a:t>
            </a:r>
            <a:r>
              <a:rPr lang="fr-BE" dirty="0" err="1"/>
              <a:t>Installing</a:t>
            </a:r>
            <a:r>
              <a:rPr lang="fr-BE" dirty="0"/>
              <a:t> the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406D7-6535-6D75-9551-7A6E63F7C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fr-BE" dirty="0"/>
              <a:t>If </a:t>
            </a:r>
            <a:r>
              <a:rPr lang="fr-BE" dirty="0" err="1"/>
              <a:t>need</a:t>
            </a:r>
            <a:r>
              <a:rPr lang="fr-BE" dirty="0"/>
              <a:t> </a:t>
            </a:r>
            <a:r>
              <a:rPr lang="fr-BE" dirty="0" err="1"/>
              <a:t>be</a:t>
            </a:r>
            <a:r>
              <a:rPr lang="fr-BE" dirty="0"/>
              <a:t>, </a:t>
            </a:r>
            <a:r>
              <a:rPr lang="fr-BE" dirty="0" err="1"/>
              <a:t>referencing</a:t>
            </a:r>
            <a:r>
              <a:rPr lang="fr-BE" dirty="0"/>
              <a:t> the correct java runtime (&gt;= 17.0)</a:t>
            </a:r>
          </a:p>
          <a:p>
            <a:endParaRPr lang="fr-BE" dirty="0"/>
          </a:p>
          <a:p>
            <a:endParaRPr lang="fr-BE" dirty="0"/>
          </a:p>
          <a:p>
            <a:pPr lvl="1"/>
            <a:r>
              <a:rPr lang="fr-BE" dirty="0"/>
              <a:t>Set </a:t>
            </a:r>
            <a:r>
              <a:rPr lang="fr-BE" dirty="0" err="1"/>
              <a:t>your</a:t>
            </a:r>
            <a:r>
              <a:rPr lang="fr-BE" dirty="0"/>
              <a:t> JAVA_HOME variable (tip: use the </a:t>
            </a:r>
            <a:r>
              <a:rPr lang="fr-BE" dirty="0" err="1"/>
              <a:t>jre</a:t>
            </a:r>
            <a:r>
              <a:rPr lang="fr-BE" dirty="0"/>
              <a:t> </a:t>
            </a:r>
            <a:r>
              <a:rPr lang="fr-BE" dirty="0" err="1"/>
              <a:t>provided</a:t>
            </a:r>
            <a:r>
              <a:rPr lang="fr-BE" dirty="0"/>
              <a:t> </a:t>
            </a:r>
            <a:r>
              <a:rPr lang="fr-BE" dirty="0" err="1"/>
              <a:t>with</a:t>
            </a:r>
            <a:r>
              <a:rPr lang="fr-BE" dirty="0"/>
              <a:t> JD+)</a:t>
            </a:r>
          </a:p>
          <a:p>
            <a:endParaRPr lang="fr-BE" dirty="0"/>
          </a:p>
          <a:p>
            <a:pPr lvl="1"/>
            <a:endParaRPr lang="fr-BE" dirty="0"/>
          </a:p>
          <a:p>
            <a:r>
              <a:rPr lang="fr-BE" dirty="0"/>
              <a:t>Install the </a:t>
            </a:r>
            <a:r>
              <a:rPr lang="fr-BE" dirty="0" err="1"/>
              <a:t>various</a:t>
            </a:r>
            <a:r>
              <a:rPr lang="fr-BE" dirty="0"/>
              <a:t> packages (internet </a:t>
            </a:r>
            <a:r>
              <a:rPr lang="fr-BE" dirty="0" err="1"/>
              <a:t>access</a:t>
            </a:r>
            <a:r>
              <a:rPr lang="fr-BE" dirty="0"/>
              <a:t> </a:t>
            </a:r>
            <a:r>
              <a:rPr lang="fr-BE" dirty="0" err="1"/>
              <a:t>needed</a:t>
            </a:r>
            <a:r>
              <a:rPr lang="fr-BE" dirty="0"/>
              <a:t>)</a:t>
            </a:r>
          </a:p>
          <a:p>
            <a:pPr lvl="1"/>
            <a:r>
              <a:rPr lang="fr-BE" dirty="0"/>
              <a:t># </a:t>
            </a:r>
            <a:r>
              <a:rPr lang="fr-BE" dirty="0" err="1"/>
              <a:t>install.packages</a:t>
            </a:r>
            <a:r>
              <a:rPr lang="fr-BE" dirty="0"/>
              <a:t>("</a:t>
            </a:r>
            <a:r>
              <a:rPr lang="fr-BE" dirty="0" err="1"/>
              <a:t>remotes</a:t>
            </a:r>
            <a:r>
              <a:rPr lang="fr-BE" dirty="0"/>
              <a:t>")</a:t>
            </a:r>
          </a:p>
          <a:p>
            <a:pPr lvl="1"/>
            <a:r>
              <a:rPr lang="fr-BE" dirty="0" err="1"/>
              <a:t>remotes</a:t>
            </a:r>
            <a:r>
              <a:rPr lang="fr-BE" dirty="0"/>
              <a:t>::</a:t>
            </a:r>
            <a:r>
              <a:rPr lang="fr-BE" dirty="0" err="1"/>
              <a:t>install_github</a:t>
            </a:r>
            <a:r>
              <a:rPr lang="fr-BE" dirty="0"/>
              <a:t>("</a:t>
            </a:r>
            <a:r>
              <a:rPr lang="fr-BE" dirty="0" err="1"/>
              <a:t>rjdverse</a:t>
            </a:r>
            <a:r>
              <a:rPr lang="fr-BE" dirty="0"/>
              <a:t>/rjd3workspace@*release")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1DAD5C2-2D33-1185-4020-86A5C6F42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99402"/>
            <a:ext cx="3970399" cy="71916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6873EC0-00B5-B604-BA85-4C57CB350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584" y="3591629"/>
            <a:ext cx="5397631" cy="91588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18639300-52E3-F85D-CA72-4F072E184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8542" y="3591629"/>
            <a:ext cx="3168685" cy="739077"/>
          </a:xfrm>
          <a:prstGeom prst="rect">
            <a:avLst/>
          </a:prstGeom>
        </p:spPr>
      </p:pic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5B2EE932-E4D9-A85A-101C-91873C326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933773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55C743-A837-68FB-BEB2-A0B3CC81F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6. </a:t>
            </a:r>
            <a:r>
              <a:rPr lang="fr-BE" dirty="0" err="1"/>
              <a:t>Installing</a:t>
            </a:r>
            <a:r>
              <a:rPr lang="fr-BE" dirty="0"/>
              <a:t> the packages (</a:t>
            </a:r>
            <a:r>
              <a:rPr lang="fr-BE" dirty="0" err="1"/>
              <a:t>cont</a:t>
            </a:r>
            <a:r>
              <a:rPr lang="fr-BE" dirty="0"/>
              <a:t>)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FEE72D-C9D0-21BD-05D9-74FFAC7C7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i="1" dirty="0" err="1"/>
              <a:t>remotes</a:t>
            </a:r>
            <a:r>
              <a:rPr lang="fr-BE" i="1" dirty="0"/>
              <a:t>::</a:t>
            </a:r>
            <a:r>
              <a:rPr lang="fr-BE" i="1" dirty="0" err="1"/>
              <a:t>install_github</a:t>
            </a:r>
            <a:r>
              <a:rPr lang="fr-BE" i="1" dirty="0"/>
              <a:t>("</a:t>
            </a:r>
            <a:r>
              <a:rPr lang="fr-BE" i="1" dirty="0" err="1"/>
              <a:t>rjdverse</a:t>
            </a:r>
            <a:r>
              <a:rPr lang="fr-BE" i="1" dirty="0"/>
              <a:t>/rjd3filters@*release")</a:t>
            </a:r>
          </a:p>
          <a:p>
            <a:r>
              <a:rPr lang="fr-BE" i="1" dirty="0" err="1"/>
              <a:t>remotes</a:t>
            </a:r>
            <a:r>
              <a:rPr lang="fr-BE" i="1" dirty="0"/>
              <a:t>::</a:t>
            </a:r>
            <a:r>
              <a:rPr lang="fr-BE" i="1" dirty="0" err="1"/>
              <a:t>install_github</a:t>
            </a:r>
            <a:r>
              <a:rPr lang="fr-BE" i="1" dirty="0"/>
              <a:t>("</a:t>
            </a:r>
            <a:r>
              <a:rPr lang="fr-BE" i="1" dirty="0" err="1"/>
              <a:t>rjdverse</a:t>
            </a:r>
            <a:r>
              <a:rPr lang="fr-BE" i="1" dirty="0"/>
              <a:t>/rjd3sts@*release")</a:t>
            </a:r>
          </a:p>
          <a:p>
            <a:r>
              <a:rPr lang="fr-BE" i="1" dirty="0" err="1"/>
              <a:t>remotes</a:t>
            </a:r>
            <a:r>
              <a:rPr lang="fr-BE" i="1" dirty="0"/>
              <a:t>::</a:t>
            </a:r>
            <a:r>
              <a:rPr lang="fr-BE" i="1" dirty="0" err="1"/>
              <a:t>install_github</a:t>
            </a:r>
            <a:r>
              <a:rPr lang="fr-BE" i="1" dirty="0"/>
              <a:t>("</a:t>
            </a:r>
            <a:r>
              <a:rPr lang="fr-BE" i="1" dirty="0" err="1"/>
              <a:t>rjdverse</a:t>
            </a:r>
            <a:r>
              <a:rPr lang="fr-BE" i="1" dirty="0"/>
              <a:t>/rjd3highfreq@*release")</a:t>
            </a:r>
          </a:p>
          <a:p>
            <a:r>
              <a:rPr lang="fr-BE" i="1" dirty="0" err="1"/>
              <a:t>remotes</a:t>
            </a:r>
            <a:r>
              <a:rPr lang="fr-BE" i="1" dirty="0"/>
              <a:t>::</a:t>
            </a:r>
            <a:r>
              <a:rPr lang="fr-BE" i="1" dirty="0" err="1"/>
              <a:t>install_github</a:t>
            </a:r>
            <a:r>
              <a:rPr lang="fr-BE" i="1" dirty="0"/>
              <a:t>("</a:t>
            </a:r>
            <a:r>
              <a:rPr lang="fr-BE" i="1" dirty="0" err="1"/>
              <a:t>rjdverse</a:t>
            </a:r>
            <a:r>
              <a:rPr lang="fr-BE" i="1" dirty="0"/>
              <a:t>/rjd3x11plus@*release")</a:t>
            </a:r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en-GB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715EEF82-C545-CA98-1A57-72D1A07D1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3368389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4EFB3-CBD2-3E08-5B44-B206908A8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7. </a:t>
            </a:r>
            <a:r>
              <a:rPr lang="fr-BE" dirty="0" err="1"/>
              <a:t>Examples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A9E25-9CF1-EF6E-A054-FE4682B8A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800"/>
            <a:ext cx="10515600" cy="4729163"/>
          </a:xfrm>
        </p:spPr>
        <p:txBody>
          <a:bodyPr/>
          <a:lstStyle/>
          <a:p>
            <a:r>
              <a:rPr lang="fr-BE" sz="2400" dirty="0"/>
              <a:t>Reading Excel files (JD+-like) and </a:t>
            </a:r>
            <a:r>
              <a:rPr lang="fr-BE" sz="2400" dirty="0" err="1"/>
              <a:t>detecting</a:t>
            </a:r>
            <a:r>
              <a:rPr lang="fr-BE" sz="2400" dirty="0"/>
              <a:t> </a:t>
            </a:r>
            <a:r>
              <a:rPr lang="fr-BE" sz="2400" dirty="0" err="1"/>
              <a:t>errors</a:t>
            </a:r>
            <a:endParaRPr lang="fr-BE" sz="2400" dirty="0"/>
          </a:p>
          <a:p>
            <a:endParaRPr lang="fr-BE" sz="2400" dirty="0"/>
          </a:p>
          <a:p>
            <a:endParaRPr lang="fr-BE" dirty="0"/>
          </a:p>
          <a:p>
            <a:endParaRPr lang="fr-BE" dirty="0"/>
          </a:p>
          <a:p>
            <a:r>
              <a:rPr lang="fr-BE" sz="2400" dirty="0" err="1"/>
              <a:t>Refreshing</a:t>
            </a:r>
            <a:r>
              <a:rPr lang="fr-BE" sz="2400" dirty="0"/>
              <a:t> a </a:t>
            </a:r>
            <a:r>
              <a:rPr lang="fr-BE" sz="2400" dirty="0" err="1"/>
              <a:t>workspace</a:t>
            </a:r>
            <a:endParaRPr lang="fr-BE" sz="2400" dirty="0"/>
          </a:p>
          <a:p>
            <a:endParaRPr lang="fr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D90FC0-93EB-14C5-77CB-FC990AA5B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927" y="1870074"/>
            <a:ext cx="8181135" cy="15589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AECC140-1613-1821-0CC9-CB2AA63D6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927" y="3812381"/>
            <a:ext cx="8186918" cy="23645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05D869BE-6E6B-348D-D378-6CC37610C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3127807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E011E-B6A2-F605-62D2-75F2312C7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8. Final </a:t>
            </a:r>
            <a:r>
              <a:rPr lang="fr-BE" dirty="0" err="1"/>
              <a:t>remarks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DE8C5-FE9D-F4B0-826C-E1C01E979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Most </a:t>
            </a:r>
            <a:r>
              <a:rPr lang="fr-BE" dirty="0" err="1"/>
              <a:t>features</a:t>
            </a:r>
            <a:r>
              <a:rPr lang="fr-BE" dirty="0"/>
              <a:t> </a:t>
            </a:r>
            <a:r>
              <a:rPr lang="fr-BE" dirty="0" err="1"/>
              <a:t>provided</a:t>
            </a:r>
            <a:r>
              <a:rPr lang="fr-BE" dirty="0"/>
              <a:t> in the Java </a:t>
            </a:r>
            <a:r>
              <a:rPr lang="fr-BE" dirty="0" err="1"/>
              <a:t>libraries</a:t>
            </a:r>
            <a:r>
              <a:rPr lang="fr-BE" dirty="0"/>
              <a:t> can </a:t>
            </a:r>
            <a:r>
              <a:rPr lang="fr-BE" dirty="0" err="1"/>
              <a:t>be</a:t>
            </a:r>
            <a:r>
              <a:rPr lang="fr-BE" dirty="0"/>
              <a:t> </a:t>
            </a:r>
            <a:r>
              <a:rPr lang="fr-BE" dirty="0" err="1"/>
              <a:t>called</a:t>
            </a:r>
            <a:r>
              <a:rPr lang="fr-BE" dirty="0"/>
              <a:t> </a:t>
            </a:r>
            <a:r>
              <a:rPr lang="fr-BE" dirty="0" err="1"/>
              <a:t>from</a:t>
            </a:r>
            <a:r>
              <a:rPr lang="fr-BE" dirty="0"/>
              <a:t> R</a:t>
            </a:r>
          </a:p>
          <a:p>
            <a:endParaRPr lang="fr-BE" dirty="0"/>
          </a:p>
          <a:p>
            <a:r>
              <a:rPr lang="fr-BE" dirty="0"/>
              <a:t>Most </a:t>
            </a:r>
            <a:r>
              <a:rPr lang="fr-BE" dirty="0" err="1"/>
              <a:t>tasks</a:t>
            </a:r>
            <a:r>
              <a:rPr lang="fr-BE" dirty="0"/>
              <a:t> can </a:t>
            </a:r>
            <a:r>
              <a:rPr lang="fr-BE" dirty="0" err="1"/>
              <a:t>be</a:t>
            </a:r>
            <a:r>
              <a:rPr lang="fr-BE" dirty="0"/>
              <a:t> </a:t>
            </a:r>
            <a:r>
              <a:rPr lang="fr-BE" dirty="0" err="1"/>
              <a:t>automated</a:t>
            </a:r>
            <a:endParaRPr lang="fr-BE" dirty="0"/>
          </a:p>
          <a:p>
            <a:r>
              <a:rPr lang="fr-BE" dirty="0" err="1"/>
              <a:t>Many</a:t>
            </a:r>
            <a:r>
              <a:rPr lang="fr-BE" dirty="0"/>
              <a:t> </a:t>
            </a:r>
            <a:r>
              <a:rPr lang="fr-BE" dirty="0" err="1"/>
              <a:t>additional</a:t>
            </a:r>
            <a:r>
              <a:rPr lang="fr-BE" dirty="0"/>
              <a:t> </a:t>
            </a:r>
            <a:r>
              <a:rPr lang="fr-BE" dirty="0" err="1"/>
              <a:t>tools</a:t>
            </a:r>
            <a:r>
              <a:rPr lang="fr-BE" dirty="0"/>
              <a:t> </a:t>
            </a:r>
            <a:r>
              <a:rPr lang="fr-BE" dirty="0" err="1"/>
              <a:t>could</a:t>
            </a:r>
            <a:r>
              <a:rPr lang="fr-BE" dirty="0"/>
              <a:t> </a:t>
            </a:r>
            <a:r>
              <a:rPr lang="fr-BE" dirty="0" err="1"/>
              <a:t>be</a:t>
            </a:r>
            <a:r>
              <a:rPr lang="fr-BE" dirty="0"/>
              <a:t> </a:t>
            </a:r>
            <a:r>
              <a:rPr lang="fr-BE" dirty="0" err="1"/>
              <a:t>developed</a:t>
            </a:r>
            <a:r>
              <a:rPr lang="fr-BE" dirty="0"/>
              <a:t> in R </a:t>
            </a:r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AF4A3B4D-A573-4898-5AF0-72125FFC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2240742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4</TotalTime>
  <Words>376</Words>
  <Application>Microsoft Office PowerPoint</Application>
  <PresentationFormat>Grand écran</PresentationFormat>
  <Paragraphs>113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ESTAT Theme</vt:lpstr>
      <vt:lpstr>JD+ and R</vt:lpstr>
      <vt:lpstr>1. Main requirements</vt:lpstr>
      <vt:lpstr>2. Technical design of Rjdemetra (v2)</vt:lpstr>
      <vt:lpstr>3. Technical design of rjdverse (v3)</vt:lpstr>
      <vt:lpstr>4. rjdverse: Overview </vt:lpstr>
      <vt:lpstr>Présentation PowerPoint</vt:lpstr>
      <vt:lpstr>5. Objectives of R packages</vt:lpstr>
      <vt:lpstr>6. Installing the packages</vt:lpstr>
      <vt:lpstr>6. Installing the packages (cont)</vt:lpstr>
      <vt:lpstr>7. Examples</vt:lpstr>
      <vt:lpstr>8. Final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63</cp:revision>
  <dcterms:created xsi:type="dcterms:W3CDTF">2024-11-22T11:11:00Z</dcterms:created>
  <dcterms:modified xsi:type="dcterms:W3CDTF">2026-08-27T07:07:57Z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