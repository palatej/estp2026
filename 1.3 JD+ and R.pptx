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2" r:id="rId6"/>
    <p:sldId id="276" r:id="rId7"/>
    <p:sldId id="277" r:id="rId8"/>
    <p:sldId id="279" r:id="rId9"/>
    <p:sldId id="285" r:id="rId10"/>
    <p:sldId id="286" r:id="rId11"/>
    <p:sldId id="259" r:id="rId12"/>
    <p:sldId id="280" r:id="rId13"/>
    <p:sldId id="281" r:id="rId14"/>
    <p:sldId id="284" r:id="rId15"/>
    <p:sldId id="282" r:id="rId16"/>
    <p:sldId id="283" r:id="rId17"/>
    <p:sldId id="261" r:id="rId18"/>
  </p:sldIdLst>
  <p:sldSz cx="12192000" cy="6858000"/>
  <p:notesSz cx="6858000" cy="9144000"/>
  <p:custDataLst>
    <p:tags r:id="rId2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258" y="84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97480"/>
            <a:ext cx="10515597" cy="4698647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6CE0-16D5-44D5-AEDF-3BB46BA4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30BE-0C61-494B-9BB1-76CA7A3F0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0A786-F257-4A83-A593-032672F8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2980-ABA5-4CFA-B92D-BF9D8FCA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RJD+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CE39-5077-4F17-BD36-A46ED308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E792-0364-4011-8053-26F035783A3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18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jdvers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ESTP Training</a:t>
            </a:r>
          </a:p>
          <a:p>
            <a:r>
              <a:rPr lang="en-GB" noProof="0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1.3 JD+ and 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6780-349F-4D8D-B4A8-6068DB3F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 Main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2D3C-E08A-4C87-B5E3-58C3EF56E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195947"/>
            <a:ext cx="10515597" cy="4900180"/>
          </a:xfrm>
        </p:spPr>
        <p:txBody>
          <a:bodyPr/>
          <a:lstStyle/>
          <a:p>
            <a:r>
              <a:rPr lang="en-GB" noProof="0" dirty="0" err="1"/>
              <a:t>RJDemetra</a:t>
            </a:r>
            <a:endParaRPr lang="en-GB" noProof="0" dirty="0"/>
          </a:p>
          <a:p>
            <a:pPr lvl="1"/>
            <a:r>
              <a:rPr lang="en-GB" b="1" noProof="0" dirty="0"/>
              <a:t>Java runtime (&gt;=11)</a:t>
            </a:r>
          </a:p>
          <a:p>
            <a:pPr lvl="1"/>
            <a:r>
              <a:rPr lang="en-GB" noProof="0" dirty="0"/>
              <a:t>R (&gt;= 3.1.1)</a:t>
            </a:r>
          </a:p>
          <a:p>
            <a:pPr lvl="1"/>
            <a:r>
              <a:rPr lang="en-GB" noProof="0" dirty="0" err="1"/>
              <a:t>rJava</a:t>
            </a:r>
            <a:r>
              <a:rPr lang="en-GB" noProof="0" dirty="0"/>
              <a:t> (&gt;= 0.9-8)</a:t>
            </a:r>
          </a:p>
          <a:p>
            <a:endParaRPr lang="en-GB" noProof="0" dirty="0"/>
          </a:p>
          <a:p>
            <a:r>
              <a:rPr lang="en-GB" noProof="0" dirty="0" err="1"/>
              <a:t>rjdverse</a:t>
            </a:r>
            <a:endParaRPr lang="en-GB" noProof="0" dirty="0"/>
          </a:p>
          <a:p>
            <a:pPr lvl="1"/>
            <a:r>
              <a:rPr lang="en-GB" b="1" noProof="0" dirty="0"/>
              <a:t>Java runtime (&gt;=17.0)</a:t>
            </a:r>
          </a:p>
          <a:p>
            <a:pPr lvl="1"/>
            <a:r>
              <a:rPr lang="en-GB" noProof="0" dirty="0"/>
              <a:t> R (&gt;= 3.6.0)</a:t>
            </a:r>
          </a:p>
          <a:p>
            <a:pPr lvl="1"/>
            <a:r>
              <a:rPr lang="en-GB" noProof="0" dirty="0"/>
              <a:t> </a:t>
            </a:r>
            <a:r>
              <a:rPr lang="en-GB" noProof="0" dirty="0" err="1"/>
              <a:t>rJava</a:t>
            </a:r>
            <a:r>
              <a:rPr lang="en-GB" noProof="0" dirty="0"/>
              <a:t> (&gt;= 1.0-6),</a:t>
            </a:r>
          </a:p>
          <a:p>
            <a:pPr lvl="1"/>
            <a:r>
              <a:rPr lang="en-GB" noProof="0" dirty="0"/>
              <a:t> </a:t>
            </a:r>
            <a:r>
              <a:rPr lang="en-GB" noProof="0" dirty="0" err="1"/>
              <a:t>RProtoBuf</a:t>
            </a:r>
            <a:r>
              <a:rPr lang="en-GB" noProof="0" dirty="0"/>
              <a:t> (&gt;= 0.4.17)</a:t>
            </a:r>
          </a:p>
          <a:p>
            <a:endParaRPr lang="en-GB" noProof="0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B00C34F-2AC5-E8AC-6995-359D6933025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ECF6F5-1A10-AFA0-4D46-EC8A578101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390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 Technical design of </a:t>
            </a:r>
            <a:r>
              <a:rPr lang="en-GB" noProof="0" dirty="0" err="1"/>
              <a:t>Rjdemetra</a:t>
            </a:r>
            <a:r>
              <a:rPr lang="en-GB" noProof="0" dirty="0"/>
              <a:t> (v2)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E4A301-7B06-C223-5ED9-A90E3FCEFA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19CF2679-0441-6E1D-9F02-9E325B72C43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2888" y="1672374"/>
            <a:ext cx="2235200" cy="13669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JTsToolkit.jar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7263" y="4832106"/>
            <a:ext cx="1874982" cy="136698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JDemetra 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94671" y="3902957"/>
            <a:ext cx="1570183" cy="1066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 err="1">
                <a:solidFill>
                  <a:schemeClr val="tx1"/>
                </a:solidFill>
              </a:rPr>
              <a:t>SACruncher</a:t>
            </a:r>
            <a:endParaRPr lang="en-GB" noProof="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379762" y="3039357"/>
            <a:ext cx="1200726" cy="86360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0"/>
            <a:endCxn id="4" idx="2"/>
          </p:cNvCxnSpPr>
          <p:nvPr/>
        </p:nvCxnSpPr>
        <p:spPr>
          <a:xfrm flipH="1" flipV="1">
            <a:off x="3580488" y="3039356"/>
            <a:ext cx="574266" cy="17927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7" idx="1"/>
            <a:endCxn id="4" idx="3"/>
          </p:cNvCxnSpPr>
          <p:nvPr/>
        </p:nvCxnSpPr>
        <p:spPr>
          <a:xfrm flipH="1" flipV="1">
            <a:off x="4698089" y="2355865"/>
            <a:ext cx="711201" cy="92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09290" y="1942536"/>
            <a:ext cx="1699491" cy="84513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jdr.jar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0817" y="1933301"/>
            <a:ext cx="1782618" cy="8451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 err="1"/>
              <a:t>rJava</a:t>
            </a:r>
            <a:endParaRPr lang="en-GB" noProof="0" dirty="0"/>
          </a:p>
        </p:txBody>
      </p:sp>
      <p:sp>
        <p:nvSpPr>
          <p:cNvPr id="21" name="Rounded Rectangle 20"/>
          <p:cNvSpPr/>
          <p:nvPr/>
        </p:nvSpPr>
        <p:spPr>
          <a:xfrm>
            <a:off x="7281962" y="3260160"/>
            <a:ext cx="3080328" cy="8451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 err="1">
                <a:solidFill>
                  <a:schemeClr val="bg1"/>
                </a:solidFill>
              </a:rPr>
              <a:t>RJDemetra</a:t>
            </a:r>
            <a:r>
              <a:rPr lang="en-GB" b="1" noProof="0" dirty="0">
                <a:solidFill>
                  <a:schemeClr val="bg1"/>
                </a:solidFill>
              </a:rPr>
              <a:t>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3434" y="4534490"/>
            <a:ext cx="3297383" cy="15621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</a:t>
            </a:r>
          </a:p>
          <a:p>
            <a:pPr algn="ctr"/>
            <a:r>
              <a:rPr lang="en-GB" noProof="0" dirty="0"/>
              <a:t>R-Studio</a:t>
            </a:r>
          </a:p>
          <a:p>
            <a:pPr algn="ctr"/>
            <a:r>
              <a:rPr lang="en-GB" noProof="0" dirty="0"/>
              <a:t>…</a:t>
            </a:r>
          </a:p>
        </p:txBody>
      </p:sp>
      <p:cxnSp>
        <p:nvCxnSpPr>
          <p:cNvPr id="23" name="Straight Arrow Connector 22"/>
          <p:cNvCxnSpPr>
            <a:stCxn id="20" idx="1"/>
            <a:endCxn id="17" idx="3"/>
          </p:cNvCxnSpPr>
          <p:nvPr/>
        </p:nvCxnSpPr>
        <p:spPr>
          <a:xfrm flipH="1">
            <a:off x="7108781" y="2355867"/>
            <a:ext cx="822037" cy="92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0"/>
            <a:endCxn id="20" idx="2"/>
          </p:cNvCxnSpPr>
          <p:nvPr/>
        </p:nvCxnSpPr>
        <p:spPr>
          <a:xfrm flipV="1">
            <a:off x="8822126" y="2778431"/>
            <a:ext cx="0" cy="4817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0"/>
            <a:endCxn id="21" idx="2"/>
          </p:cNvCxnSpPr>
          <p:nvPr/>
        </p:nvCxnSpPr>
        <p:spPr>
          <a:xfrm flipV="1">
            <a:off x="8822126" y="4105290"/>
            <a:ext cx="0" cy="429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989043" y="1542426"/>
            <a:ext cx="117581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87013" y="3630037"/>
            <a:ext cx="8682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002412" y="4765340"/>
            <a:ext cx="8682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07505" y="1733246"/>
            <a:ext cx="8682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24413" y="3087214"/>
            <a:ext cx="868218" cy="400110"/>
          </a:xfrm>
          <a:prstGeom prst="rect">
            <a:avLst/>
          </a:prstGeom>
          <a:noFill/>
          <a:scene3d>
            <a:camera prst="orthographicFront">
              <a:rot lat="0" lon="0" rev="1800000"/>
            </a:camera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64117" y="1656209"/>
            <a:ext cx="1365826" cy="400110"/>
          </a:xfrm>
          <a:prstGeom prst="rect">
            <a:avLst/>
          </a:prstGeom>
          <a:noFill/>
          <a:scene3d>
            <a:camera prst="orthographicFront">
              <a:rot lat="0" lon="0" rev="1800000"/>
            </a:camera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R, native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375170-7893-0615-F32A-DAFCE39A3E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0410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7" grpId="0" animBg="1"/>
      <p:bldP spid="20" grpId="0" animBg="1"/>
      <p:bldP spid="21" grpId="0" animBg="1"/>
      <p:bldP spid="22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 Technical design of </a:t>
            </a:r>
            <a:r>
              <a:rPr lang="en-GB" noProof="0" dirty="0" err="1"/>
              <a:t>rjdverse</a:t>
            </a:r>
            <a:r>
              <a:rPr lang="en-GB" noProof="0" dirty="0"/>
              <a:t> (v3)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E6E339-462C-AFC1-1333-C851D5FCD2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1330F8F-5CFB-9CAA-6FDE-1672CE2437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4299" y="1690688"/>
            <a:ext cx="2235200" cy="13669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demetra-xxx.jar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4408" y="4783654"/>
            <a:ext cx="1874982" cy="136698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JDemetra GUI</a:t>
            </a:r>
          </a:p>
        </p:txBody>
      </p:sp>
      <p:cxnSp>
        <p:nvCxnSpPr>
          <p:cNvPr id="10" name="Straight Arrow Connector 9"/>
          <p:cNvCxnSpPr>
            <a:stCxn id="5" idx="0"/>
            <a:endCxn id="4" idx="2"/>
          </p:cNvCxnSpPr>
          <p:nvPr/>
        </p:nvCxnSpPr>
        <p:spPr>
          <a:xfrm flipV="1">
            <a:off x="2451899" y="3057670"/>
            <a:ext cx="0" cy="172598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  <a:stCxn id="17" idx="1"/>
            <a:endCxn id="4" idx="3"/>
          </p:cNvCxnSpPr>
          <p:nvPr/>
        </p:nvCxnSpPr>
        <p:spPr>
          <a:xfrm flipH="1">
            <a:off x="3569499" y="2355866"/>
            <a:ext cx="856589" cy="183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26088" y="1933301"/>
            <a:ext cx="1971495" cy="84513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Demetra-xxx-r.jar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1962" y="1933301"/>
            <a:ext cx="3080328" cy="8451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 err="1">
                <a:solidFill>
                  <a:schemeClr val="bg1">
                    <a:lumMod val="65000"/>
                  </a:schemeClr>
                </a:solidFill>
              </a:rPr>
              <a:t>rJava</a:t>
            </a:r>
            <a:r>
              <a:rPr lang="en-GB" noProof="0" dirty="0">
                <a:solidFill>
                  <a:schemeClr val="bg1">
                    <a:lumMod val="65000"/>
                  </a:schemeClr>
                </a:solidFill>
              </a:rPr>
              <a:t>,</a:t>
            </a:r>
          </a:p>
          <a:p>
            <a:pPr algn="ctr"/>
            <a:r>
              <a:rPr lang="en-GB" noProof="0" dirty="0" err="1"/>
              <a:t>RProtobuf</a:t>
            </a:r>
            <a:endParaRPr lang="en-GB" noProof="0" dirty="0"/>
          </a:p>
        </p:txBody>
      </p:sp>
      <p:sp>
        <p:nvSpPr>
          <p:cNvPr id="21" name="Rounded Rectangle 20"/>
          <p:cNvSpPr/>
          <p:nvPr/>
        </p:nvSpPr>
        <p:spPr>
          <a:xfrm>
            <a:off x="7281962" y="3260160"/>
            <a:ext cx="3080328" cy="8451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chemeClr val="bg1"/>
                </a:solidFill>
              </a:rPr>
              <a:t>RJD3xxx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3434" y="4534490"/>
            <a:ext cx="3297383" cy="15621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</a:t>
            </a:r>
          </a:p>
          <a:p>
            <a:pPr algn="ctr"/>
            <a:r>
              <a:rPr lang="en-GB" noProof="0" dirty="0"/>
              <a:t>R-Studio</a:t>
            </a:r>
          </a:p>
          <a:p>
            <a:pPr algn="ctr"/>
            <a:r>
              <a:rPr lang="en-GB" noProof="0" dirty="0"/>
              <a:t>…</a:t>
            </a:r>
          </a:p>
        </p:txBody>
      </p:sp>
      <p:cxnSp>
        <p:nvCxnSpPr>
          <p:cNvPr id="23" name="Straight Arrow Connector 22"/>
          <p:cNvCxnSpPr>
            <a:cxnSpLocks/>
            <a:stCxn id="20" idx="1"/>
            <a:endCxn id="17" idx="3"/>
          </p:cNvCxnSpPr>
          <p:nvPr/>
        </p:nvCxnSpPr>
        <p:spPr>
          <a:xfrm flipH="1">
            <a:off x="6397583" y="2355866"/>
            <a:ext cx="884379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21" idx="0"/>
            <a:endCxn id="20" idx="2"/>
          </p:cNvCxnSpPr>
          <p:nvPr/>
        </p:nvCxnSpPr>
        <p:spPr>
          <a:xfrm flipV="1">
            <a:off x="8822126" y="2778431"/>
            <a:ext cx="0" cy="4817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0"/>
            <a:endCxn id="21" idx="2"/>
          </p:cNvCxnSpPr>
          <p:nvPr/>
        </p:nvCxnSpPr>
        <p:spPr>
          <a:xfrm flipV="1">
            <a:off x="8822126" y="4105290"/>
            <a:ext cx="0" cy="429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60454" y="1676072"/>
            <a:ext cx="117581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68047" y="4783654"/>
            <a:ext cx="8682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043344" y="1834450"/>
            <a:ext cx="8682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pPr algn="ctr"/>
            <a:r>
              <a:rPr lang="en-GB" sz="2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en-GB" sz="2000" b="1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24413" y="3087214"/>
            <a:ext cx="868218" cy="400110"/>
          </a:xfrm>
          <a:prstGeom prst="rect">
            <a:avLst/>
          </a:prstGeom>
          <a:noFill/>
          <a:scene3d>
            <a:camera prst="orthographicFront">
              <a:rot lat="0" lon="0" rev="1800000"/>
            </a:camera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39772" y="1674082"/>
            <a:ext cx="1365826" cy="400110"/>
          </a:xfrm>
          <a:prstGeom prst="rect">
            <a:avLst/>
          </a:prstGeom>
          <a:noFill/>
          <a:scene3d>
            <a:camera prst="orthographicFront">
              <a:rot lat="0" lon="0" rev="1800000"/>
            </a:camera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R, native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80EC9F-2315-C444-8D6F-B1FEBD63E7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9247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20" grpId="0" animBg="1"/>
      <p:bldP spid="21" grpId="0" animBg="1"/>
      <p:bldP spid="22" grpId="0" animBg="1"/>
      <p:bldP spid="36" grpId="0"/>
      <p:bldP spid="38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0B69-6289-4969-8414-57A4C62B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4. </a:t>
            </a:r>
            <a:r>
              <a:rPr lang="en-GB" noProof="0" dirty="0" err="1"/>
              <a:t>rjdverse</a:t>
            </a:r>
            <a:r>
              <a:rPr lang="en-GB" noProof="0" dirty="0"/>
              <a:t>: Overview </a:t>
            </a:r>
            <a:r>
              <a:rPr lang="en-GB" sz="3200" noProof="0" dirty="0"/>
              <a:t>(</a:t>
            </a:r>
            <a:r>
              <a:rPr lang="en-GB" sz="3200" noProof="0" dirty="0">
                <a:hlinkClick r:id="rId2"/>
              </a:rPr>
              <a:t>https://github.com/rjdverse</a:t>
            </a:r>
            <a:r>
              <a:rPr lang="en-GB" sz="3200" noProof="0" dirty="0"/>
              <a:t>)</a:t>
            </a:r>
            <a:endParaRPr lang="en-GB" noProof="0" dirty="0"/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3F1B12BB-BACD-56B8-2523-D1E9497F5C6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DD87AB-F1A1-4624-B7DD-9FE61105ACF5}"/>
              </a:ext>
            </a:extLst>
          </p:cNvPr>
          <p:cNvSpPr/>
          <p:nvPr/>
        </p:nvSpPr>
        <p:spPr>
          <a:xfrm>
            <a:off x="4775941" y="2495820"/>
            <a:ext cx="1881574" cy="98376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/>
              <a:t>rjd3toolkit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A7A8AF-D191-438A-91C6-CB0D06EAD51C}"/>
              </a:ext>
            </a:extLst>
          </p:cNvPr>
          <p:cNvSpPr/>
          <p:nvPr/>
        </p:nvSpPr>
        <p:spPr>
          <a:xfrm>
            <a:off x="569658" y="4442707"/>
            <a:ext cx="1641682" cy="55572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rjd3workspace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AFF2C70-0828-48EB-83C0-BC415662A719}"/>
              </a:ext>
            </a:extLst>
          </p:cNvPr>
          <p:cNvSpPr/>
          <p:nvPr/>
        </p:nvSpPr>
        <p:spPr>
          <a:xfrm>
            <a:off x="9521676" y="4886078"/>
            <a:ext cx="2508308" cy="37960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rjd3bench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2D538E8-058B-4D8C-AA04-7072ED15B1CC}"/>
              </a:ext>
            </a:extLst>
          </p:cNvPr>
          <p:cNvSpPr/>
          <p:nvPr/>
        </p:nvSpPr>
        <p:spPr>
          <a:xfrm>
            <a:off x="1699826" y="1839012"/>
            <a:ext cx="1881575" cy="4458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rjd3tramoseats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E69968C-9EE7-460A-A49F-39F0E570EE69}"/>
              </a:ext>
            </a:extLst>
          </p:cNvPr>
          <p:cNvSpPr/>
          <p:nvPr/>
        </p:nvSpPr>
        <p:spPr>
          <a:xfrm>
            <a:off x="1699826" y="2500443"/>
            <a:ext cx="1881574" cy="37315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rjd3x13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398E447-2E27-4DBC-9236-7AD0BAF658CC}"/>
              </a:ext>
            </a:extLst>
          </p:cNvPr>
          <p:cNvCxnSpPr>
            <a:cxnSpLocks/>
            <a:stCxn id="37" idx="1"/>
            <a:endCxn id="4" idx="2"/>
          </p:cNvCxnSpPr>
          <p:nvPr/>
        </p:nvCxnSpPr>
        <p:spPr>
          <a:xfrm rot="10800000">
            <a:off x="5716728" y="3479587"/>
            <a:ext cx="3804948" cy="15962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710484-8F16-46F1-AE92-6EC7B9471076}"/>
              </a:ext>
            </a:extLst>
          </p:cNvPr>
          <p:cNvSpPr/>
          <p:nvPr/>
        </p:nvSpPr>
        <p:spPr>
          <a:xfrm>
            <a:off x="9521676" y="5479226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rjd3nowcasting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7E2ED03-E97E-4931-BD40-2B663CF80E8C}"/>
              </a:ext>
            </a:extLst>
          </p:cNvPr>
          <p:cNvSpPr/>
          <p:nvPr/>
        </p:nvSpPr>
        <p:spPr>
          <a:xfrm>
            <a:off x="8293193" y="2380893"/>
            <a:ext cx="2508308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rjd3highfreq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5612EB-7650-4C59-8FB2-9EA09DC358B3}"/>
              </a:ext>
            </a:extLst>
          </p:cNvPr>
          <p:cNvSpPr/>
          <p:nvPr/>
        </p:nvSpPr>
        <p:spPr>
          <a:xfrm>
            <a:off x="8293193" y="3153222"/>
            <a:ext cx="2508307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7AFE70E-297C-4E80-9B1C-60C8E1DEE7EA}"/>
              </a:ext>
            </a:extLst>
          </p:cNvPr>
          <p:cNvSpPr/>
          <p:nvPr/>
        </p:nvSpPr>
        <p:spPr>
          <a:xfrm>
            <a:off x="9521676" y="5997218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rjd3cycle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2DA099-48A9-4596-BFFF-72B282FF6C64}"/>
              </a:ext>
            </a:extLst>
          </p:cNvPr>
          <p:cNvSpPr/>
          <p:nvPr/>
        </p:nvSpPr>
        <p:spPr>
          <a:xfrm>
            <a:off x="9521676" y="4325044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rjd3revisions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5B5856-9138-44FF-94D3-15E8B4310DDB}"/>
              </a:ext>
            </a:extLst>
          </p:cNvPr>
          <p:cNvSpPr/>
          <p:nvPr/>
        </p:nvSpPr>
        <p:spPr>
          <a:xfrm>
            <a:off x="9521676" y="1409493"/>
            <a:ext cx="1447520" cy="409242"/>
          </a:xfrm>
          <a:prstGeom prst="roundRect">
            <a:avLst/>
          </a:prstGeom>
          <a:pattFill prst="zigZ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rjd3sts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52274B9A-C811-4F83-A27A-9CB1F69C87FB}"/>
              </a:ext>
            </a:extLst>
          </p:cNvPr>
          <p:cNvCxnSpPr>
            <a:cxnSpLocks/>
            <a:stCxn id="28" idx="1"/>
            <a:endCxn id="4" idx="3"/>
          </p:cNvCxnSpPr>
          <p:nvPr/>
        </p:nvCxnSpPr>
        <p:spPr>
          <a:xfrm rot="10800000" flipV="1">
            <a:off x="6657515" y="2570694"/>
            <a:ext cx="1635678" cy="417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635DE035-726F-405B-B9B6-41683B2196A6}"/>
              </a:ext>
            </a:extLst>
          </p:cNvPr>
          <p:cNvCxnSpPr>
            <a:cxnSpLocks/>
            <a:stCxn id="31" idx="1"/>
            <a:endCxn id="4" idx="2"/>
          </p:cNvCxnSpPr>
          <p:nvPr/>
        </p:nvCxnSpPr>
        <p:spPr>
          <a:xfrm rot="10800000">
            <a:off x="5716728" y="3479587"/>
            <a:ext cx="3804948" cy="10352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5829E41-6F25-46E1-9F7E-E4C276859FDC}"/>
              </a:ext>
            </a:extLst>
          </p:cNvPr>
          <p:cNvSpPr txBox="1"/>
          <p:nvPr/>
        </p:nvSpPr>
        <p:spPr>
          <a:xfrm>
            <a:off x="1145827" y="5399668"/>
            <a:ext cx="4773335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60462-0386-44C7-A496-0FD1D8B3E94D}"/>
              </a:ext>
            </a:extLst>
          </p:cNvPr>
          <p:cNvSpPr txBox="1"/>
          <p:nvPr/>
        </p:nvSpPr>
        <p:spPr>
          <a:xfrm>
            <a:off x="448464" y="6123543"/>
            <a:ext cx="388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Design similar to the Java libraries !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2A79E5E-27EC-8709-432D-59BEA1597017}"/>
              </a:ext>
            </a:extLst>
          </p:cNvPr>
          <p:cNvSpPr/>
          <p:nvPr/>
        </p:nvSpPr>
        <p:spPr>
          <a:xfrm>
            <a:off x="1721996" y="3107351"/>
            <a:ext cx="1881574" cy="468525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rjd3providers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67C75A8-D420-B4A0-DAC0-172CD0414BA6}"/>
              </a:ext>
            </a:extLst>
          </p:cNvPr>
          <p:cNvCxnSpPr>
            <a:cxnSpLocks/>
            <a:stCxn id="45" idx="3"/>
            <a:endCxn id="4" idx="1"/>
          </p:cNvCxnSpPr>
          <p:nvPr/>
        </p:nvCxnSpPr>
        <p:spPr>
          <a:xfrm>
            <a:off x="3581400" y="2687022"/>
            <a:ext cx="1194541" cy="3006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2393A1D-4F53-9A21-B643-413CA0723464}"/>
              </a:ext>
            </a:extLst>
          </p:cNvPr>
          <p:cNvCxnSpPr>
            <a:cxnSpLocks/>
            <a:stCxn id="44" idx="3"/>
            <a:endCxn id="4" idx="1"/>
          </p:cNvCxnSpPr>
          <p:nvPr/>
        </p:nvCxnSpPr>
        <p:spPr>
          <a:xfrm>
            <a:off x="3581401" y="2061921"/>
            <a:ext cx="1194540" cy="9257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5AF33670-0DD6-8907-3503-E9555DCF52DD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3603570" y="2987704"/>
            <a:ext cx="1172371" cy="3539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8548C5DF-382F-88E4-EF45-E5E114F7B5BD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 flipV="1">
            <a:off x="2211340" y="3479587"/>
            <a:ext cx="3505388" cy="12409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D1443DA-A42D-A171-B629-CFA3CDF073AE}"/>
              </a:ext>
            </a:extLst>
          </p:cNvPr>
          <p:cNvCxnSpPr>
            <a:cxnSpLocks/>
            <a:stCxn id="10" idx="1"/>
            <a:endCxn id="25" idx="1"/>
          </p:cNvCxnSpPr>
          <p:nvPr/>
        </p:nvCxnSpPr>
        <p:spPr>
          <a:xfrm rot="10800000" flipH="1">
            <a:off x="569658" y="3341614"/>
            <a:ext cx="1152338" cy="1378954"/>
          </a:xfrm>
          <a:prstGeom prst="bentConnector3">
            <a:avLst>
              <a:gd name="adj1" fmla="val -1983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455EFCBC-64AB-499E-3382-DF50BF81039B}"/>
              </a:ext>
            </a:extLst>
          </p:cNvPr>
          <p:cNvCxnSpPr>
            <a:cxnSpLocks/>
            <a:stCxn id="10" idx="0"/>
            <a:endCxn id="44" idx="1"/>
          </p:cNvCxnSpPr>
          <p:nvPr/>
        </p:nvCxnSpPr>
        <p:spPr>
          <a:xfrm rot="5400000" flipH="1" flipV="1">
            <a:off x="354769" y="3097651"/>
            <a:ext cx="2380786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C14EE022-B35B-3995-6C16-6AA021BB19F2}"/>
              </a:ext>
            </a:extLst>
          </p:cNvPr>
          <p:cNvCxnSpPr>
            <a:cxnSpLocks/>
            <a:stCxn id="10" idx="0"/>
            <a:endCxn id="45" idx="1"/>
          </p:cNvCxnSpPr>
          <p:nvPr/>
        </p:nvCxnSpPr>
        <p:spPr>
          <a:xfrm rot="5400000" flipH="1" flipV="1">
            <a:off x="667320" y="3410202"/>
            <a:ext cx="1755685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9E2F010D-CCD0-2154-7B82-5EF6824650B4}"/>
              </a:ext>
            </a:extLst>
          </p:cNvPr>
          <p:cNvCxnSpPr>
            <a:cxnSpLocks/>
            <a:stCxn id="27" idx="1"/>
            <a:endCxn id="39" idx="3"/>
          </p:cNvCxnSpPr>
          <p:nvPr/>
        </p:nvCxnSpPr>
        <p:spPr>
          <a:xfrm rot="10800000">
            <a:off x="8209874" y="1612398"/>
            <a:ext cx="1311803" cy="17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47F8E916-3889-A783-CE14-5A9BE7AE4B25}"/>
              </a:ext>
            </a:extLst>
          </p:cNvPr>
          <p:cNvSpPr/>
          <p:nvPr/>
        </p:nvSpPr>
        <p:spPr>
          <a:xfrm>
            <a:off x="7814353" y="3694460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rjd3filters</a:t>
            </a:r>
          </a:p>
        </p:txBody>
      </p:sp>
      <p:cxnSp>
        <p:nvCxnSpPr>
          <p:cNvPr id="11" name="Connector: Elbow 97">
            <a:extLst>
              <a:ext uri="{FF2B5EF4-FFF2-40B4-BE49-F238E27FC236}">
                <a16:creationId xmlns:a16="http://schemas.microsoft.com/office/drawing/2014/main" id="{24767A32-A4F2-629F-AFA3-96D43C6CCBAC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rot="10800000">
            <a:off x="5716729" y="3479587"/>
            <a:ext cx="2097625" cy="40467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156">
            <a:extLst>
              <a:ext uri="{FF2B5EF4-FFF2-40B4-BE49-F238E27FC236}">
                <a16:creationId xmlns:a16="http://schemas.microsoft.com/office/drawing/2014/main" id="{5FBC906D-0FD2-083B-220D-F87CD8DD8844}"/>
              </a:ext>
            </a:extLst>
          </p:cNvPr>
          <p:cNvCxnSpPr>
            <a:cxnSpLocks/>
            <a:stCxn id="29" idx="1"/>
            <a:endCxn id="4" idx="3"/>
          </p:cNvCxnSpPr>
          <p:nvPr/>
        </p:nvCxnSpPr>
        <p:spPr>
          <a:xfrm rot="10800000">
            <a:off x="6657515" y="2987705"/>
            <a:ext cx="1635678" cy="355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AD193B68-363B-8319-CA88-39581CD8CC7C}"/>
              </a:ext>
            </a:extLst>
          </p:cNvPr>
          <p:cNvSpPr/>
          <p:nvPr/>
        </p:nvSpPr>
        <p:spPr>
          <a:xfrm>
            <a:off x="5013005" y="1384096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rjd3jars</a:t>
            </a:r>
          </a:p>
        </p:txBody>
      </p:sp>
      <p:sp>
        <p:nvSpPr>
          <p:cNvPr id="39" name="Rectangle: Rounded Corners 3">
            <a:extLst>
              <a:ext uri="{FF2B5EF4-FFF2-40B4-BE49-F238E27FC236}">
                <a16:creationId xmlns:a16="http://schemas.microsoft.com/office/drawing/2014/main" id="{2341796C-C6D6-CEEF-E610-0C692F7B291A}"/>
              </a:ext>
            </a:extLst>
          </p:cNvPr>
          <p:cNvSpPr/>
          <p:nvPr/>
        </p:nvSpPr>
        <p:spPr>
          <a:xfrm>
            <a:off x="6796947" y="1376343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 err="1"/>
              <a:t>rjdxjars</a:t>
            </a:r>
            <a:endParaRPr lang="en-GB" sz="1600" b="1" noProof="0" dirty="0"/>
          </a:p>
        </p:txBody>
      </p:sp>
      <p:cxnSp>
        <p:nvCxnSpPr>
          <p:cNvPr id="65" name="Connector: Elbow 84">
            <a:extLst>
              <a:ext uri="{FF2B5EF4-FFF2-40B4-BE49-F238E27FC236}">
                <a16:creationId xmlns:a16="http://schemas.microsoft.com/office/drawing/2014/main" id="{DF7B7100-1D93-029E-064C-82E48ED1F142}"/>
              </a:ext>
            </a:extLst>
          </p:cNvPr>
          <p:cNvCxnSpPr>
            <a:cxnSpLocks/>
            <a:stCxn id="28" idx="1"/>
            <a:endCxn id="39" idx="2"/>
          </p:cNvCxnSpPr>
          <p:nvPr/>
        </p:nvCxnSpPr>
        <p:spPr>
          <a:xfrm rot="10800000">
            <a:off x="7503411" y="1848452"/>
            <a:ext cx="789783" cy="72224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156">
            <a:extLst>
              <a:ext uri="{FF2B5EF4-FFF2-40B4-BE49-F238E27FC236}">
                <a16:creationId xmlns:a16="http://schemas.microsoft.com/office/drawing/2014/main" id="{9CA3BC64-E8EA-1D1E-DEE4-0EF796011971}"/>
              </a:ext>
            </a:extLst>
          </p:cNvPr>
          <p:cNvCxnSpPr>
            <a:cxnSpLocks/>
            <a:stCxn id="39" idx="1"/>
            <a:endCxn id="18" idx="3"/>
          </p:cNvCxnSpPr>
          <p:nvPr/>
        </p:nvCxnSpPr>
        <p:spPr>
          <a:xfrm rot="10800000" flipV="1">
            <a:off x="6425931" y="1612397"/>
            <a:ext cx="371016" cy="7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156">
            <a:extLst>
              <a:ext uri="{FF2B5EF4-FFF2-40B4-BE49-F238E27FC236}">
                <a16:creationId xmlns:a16="http://schemas.microsoft.com/office/drawing/2014/main" id="{826E563D-54A7-FE49-42B9-811DEA963AE1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rot="5400000" flipH="1" flipV="1">
            <a:off x="5398291" y="2174643"/>
            <a:ext cx="639615" cy="2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Connector: Elbow 156">
            <a:extLst>
              <a:ext uri="{FF2B5EF4-FFF2-40B4-BE49-F238E27FC236}">
                <a16:creationId xmlns:a16="http://schemas.microsoft.com/office/drawing/2014/main" id="{418BE242-CDA0-BB42-BA72-1FB0EAE01A53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rot="5400000" flipH="1" flipV="1">
            <a:off x="9350984" y="2956859"/>
            <a:ext cx="39272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F4771E-07CC-2689-FF39-A6261DB5E2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885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F910-6B8D-30D2-7D97-F3F11415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07AAD759-6FC1-F7A9-330C-6297D65A4DAF}"/>
              </a:ext>
            </a:extLst>
          </p:cNvPr>
          <p:cNvSpPr/>
          <p:nvPr/>
        </p:nvSpPr>
        <p:spPr>
          <a:xfrm>
            <a:off x="4582633" y="1084521"/>
            <a:ext cx="4157330" cy="1130861"/>
          </a:xfrm>
          <a:prstGeom prst="ellipse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ECEA5-6DBB-34F4-E51C-483794DB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4. </a:t>
            </a:r>
            <a:r>
              <a:rPr lang="en-GB" noProof="0" dirty="0" err="1"/>
              <a:t>rjdverse</a:t>
            </a:r>
            <a:r>
              <a:rPr lang="en-GB" noProof="0" dirty="0"/>
              <a:t>: Overview </a:t>
            </a:r>
            <a:r>
              <a:rPr lang="en-GB" sz="3200" noProof="0" dirty="0"/>
              <a:t>(Java libraries)</a:t>
            </a:r>
            <a:endParaRPr lang="en-GB" noProof="0" dirty="0"/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439884CC-E1B4-19D5-98C1-96F862148EB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AFA497-DC02-9511-CF2A-046CA985BBD1}"/>
              </a:ext>
            </a:extLst>
          </p:cNvPr>
          <p:cNvSpPr/>
          <p:nvPr/>
        </p:nvSpPr>
        <p:spPr>
          <a:xfrm>
            <a:off x="4775941" y="2495820"/>
            <a:ext cx="1881574" cy="98376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/>
              <a:t>rjd3toolkit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E5770E-BD39-6031-7E61-BE820E1E3C43}"/>
              </a:ext>
            </a:extLst>
          </p:cNvPr>
          <p:cNvSpPr/>
          <p:nvPr/>
        </p:nvSpPr>
        <p:spPr>
          <a:xfrm>
            <a:off x="569658" y="4442707"/>
            <a:ext cx="1641682" cy="55572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rjd3workspace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EC454B7-5300-5498-B664-CE6B0ECBF61A}"/>
              </a:ext>
            </a:extLst>
          </p:cNvPr>
          <p:cNvSpPr/>
          <p:nvPr/>
        </p:nvSpPr>
        <p:spPr>
          <a:xfrm>
            <a:off x="9521676" y="4886078"/>
            <a:ext cx="2508308" cy="37960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rjd3bench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12A380A-FB90-636C-040D-979809341CCE}"/>
              </a:ext>
            </a:extLst>
          </p:cNvPr>
          <p:cNvSpPr/>
          <p:nvPr/>
        </p:nvSpPr>
        <p:spPr>
          <a:xfrm>
            <a:off x="1699826" y="1839012"/>
            <a:ext cx="1881575" cy="4458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rjd3tramoseats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B64B483-1C90-5B5A-7186-EA20AA6EC231}"/>
              </a:ext>
            </a:extLst>
          </p:cNvPr>
          <p:cNvSpPr/>
          <p:nvPr/>
        </p:nvSpPr>
        <p:spPr>
          <a:xfrm>
            <a:off x="1699826" y="2500443"/>
            <a:ext cx="1881574" cy="37315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rjd3x13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C61032E-5490-4476-7D20-6859AEBCB88C}"/>
              </a:ext>
            </a:extLst>
          </p:cNvPr>
          <p:cNvCxnSpPr>
            <a:cxnSpLocks/>
            <a:stCxn id="37" idx="1"/>
            <a:endCxn id="4" idx="2"/>
          </p:cNvCxnSpPr>
          <p:nvPr/>
        </p:nvCxnSpPr>
        <p:spPr>
          <a:xfrm rot="10800000">
            <a:off x="5716728" y="3479587"/>
            <a:ext cx="3804948" cy="15962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9DAB940-EA86-69AF-1DF5-2C893EFDB16A}"/>
              </a:ext>
            </a:extLst>
          </p:cNvPr>
          <p:cNvSpPr/>
          <p:nvPr/>
        </p:nvSpPr>
        <p:spPr>
          <a:xfrm>
            <a:off x="9521676" y="5479226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rjd3nowcasting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658107-2732-8B64-29AF-669EF980000A}"/>
              </a:ext>
            </a:extLst>
          </p:cNvPr>
          <p:cNvSpPr/>
          <p:nvPr/>
        </p:nvSpPr>
        <p:spPr>
          <a:xfrm>
            <a:off x="8293193" y="2380893"/>
            <a:ext cx="2508308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rjd3highfreq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76287C-9BED-455B-21D2-AD9630AF2A13}"/>
              </a:ext>
            </a:extLst>
          </p:cNvPr>
          <p:cNvSpPr/>
          <p:nvPr/>
        </p:nvSpPr>
        <p:spPr>
          <a:xfrm>
            <a:off x="8293193" y="3153222"/>
            <a:ext cx="2508307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A655752-E9ED-99AD-7CD9-0B2F1494D9C2}"/>
              </a:ext>
            </a:extLst>
          </p:cNvPr>
          <p:cNvSpPr/>
          <p:nvPr/>
        </p:nvSpPr>
        <p:spPr>
          <a:xfrm>
            <a:off x="9521676" y="5997218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rjd3cycle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82D238-C307-07B3-A2C1-3C188B46A2AB}"/>
              </a:ext>
            </a:extLst>
          </p:cNvPr>
          <p:cNvSpPr/>
          <p:nvPr/>
        </p:nvSpPr>
        <p:spPr>
          <a:xfrm>
            <a:off x="9521676" y="4325044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rjd3revisions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B6A949D-BE80-FA1A-6218-6FAAA4867726}"/>
              </a:ext>
            </a:extLst>
          </p:cNvPr>
          <p:cNvSpPr/>
          <p:nvPr/>
        </p:nvSpPr>
        <p:spPr>
          <a:xfrm>
            <a:off x="9521676" y="1409493"/>
            <a:ext cx="1447520" cy="409242"/>
          </a:xfrm>
          <a:prstGeom prst="roundRect">
            <a:avLst/>
          </a:prstGeom>
          <a:pattFill prst="zigZ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rjd3sts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C0CA69E-3E96-F1B6-3FE8-077AD956402E}"/>
              </a:ext>
            </a:extLst>
          </p:cNvPr>
          <p:cNvCxnSpPr>
            <a:cxnSpLocks/>
            <a:stCxn id="28" idx="1"/>
            <a:endCxn id="4" idx="3"/>
          </p:cNvCxnSpPr>
          <p:nvPr/>
        </p:nvCxnSpPr>
        <p:spPr>
          <a:xfrm rot="10800000" flipV="1">
            <a:off x="6657515" y="2570694"/>
            <a:ext cx="1635678" cy="417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9314514C-5E0B-7BBC-9E3D-5CF9425B771B}"/>
              </a:ext>
            </a:extLst>
          </p:cNvPr>
          <p:cNvCxnSpPr>
            <a:cxnSpLocks/>
            <a:stCxn id="31" idx="1"/>
            <a:endCxn id="4" idx="2"/>
          </p:cNvCxnSpPr>
          <p:nvPr/>
        </p:nvCxnSpPr>
        <p:spPr>
          <a:xfrm rot="10800000">
            <a:off x="5716728" y="3479587"/>
            <a:ext cx="3804948" cy="10352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F24A35-79D4-14C2-B5E6-4BAFF189784D}"/>
              </a:ext>
            </a:extLst>
          </p:cNvPr>
          <p:cNvSpPr txBox="1"/>
          <p:nvPr/>
        </p:nvSpPr>
        <p:spPr>
          <a:xfrm>
            <a:off x="448464" y="6123543"/>
            <a:ext cx="388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Design similar to the Java libraries !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0B36B3-549D-B732-9829-95D3032321A5}"/>
              </a:ext>
            </a:extLst>
          </p:cNvPr>
          <p:cNvSpPr/>
          <p:nvPr/>
        </p:nvSpPr>
        <p:spPr>
          <a:xfrm>
            <a:off x="1721996" y="3107351"/>
            <a:ext cx="1881574" cy="468525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rjd3providers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CB802CD-CF51-328A-7C81-7F0C59EF2BE0}"/>
              </a:ext>
            </a:extLst>
          </p:cNvPr>
          <p:cNvCxnSpPr>
            <a:cxnSpLocks/>
            <a:stCxn id="45" idx="3"/>
            <a:endCxn id="4" idx="1"/>
          </p:cNvCxnSpPr>
          <p:nvPr/>
        </p:nvCxnSpPr>
        <p:spPr>
          <a:xfrm>
            <a:off x="3581400" y="2687022"/>
            <a:ext cx="1194541" cy="3006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1382678-78A7-565D-25A0-61C44F698D4D}"/>
              </a:ext>
            </a:extLst>
          </p:cNvPr>
          <p:cNvCxnSpPr>
            <a:cxnSpLocks/>
            <a:stCxn id="44" idx="3"/>
            <a:endCxn id="4" idx="1"/>
          </p:cNvCxnSpPr>
          <p:nvPr/>
        </p:nvCxnSpPr>
        <p:spPr>
          <a:xfrm>
            <a:off x="3581401" y="2061921"/>
            <a:ext cx="1194540" cy="9257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4770936-EAAC-ADE1-4C1B-7D0329BD9030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3603570" y="2987704"/>
            <a:ext cx="1172371" cy="3539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CA19D48-4F5A-074F-F69F-2BCE425799AC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 flipV="1">
            <a:off x="2211340" y="3479587"/>
            <a:ext cx="3505388" cy="12409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F230699-BE0F-6C82-4903-4CFDC9EEE925}"/>
              </a:ext>
            </a:extLst>
          </p:cNvPr>
          <p:cNvCxnSpPr>
            <a:cxnSpLocks/>
            <a:stCxn id="10" idx="1"/>
            <a:endCxn id="25" idx="1"/>
          </p:cNvCxnSpPr>
          <p:nvPr/>
        </p:nvCxnSpPr>
        <p:spPr>
          <a:xfrm rot="10800000" flipH="1">
            <a:off x="569658" y="3341614"/>
            <a:ext cx="1152338" cy="1378954"/>
          </a:xfrm>
          <a:prstGeom prst="bentConnector3">
            <a:avLst>
              <a:gd name="adj1" fmla="val -1983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E977635B-4730-1A12-4EB5-C20271941A84}"/>
              </a:ext>
            </a:extLst>
          </p:cNvPr>
          <p:cNvCxnSpPr>
            <a:cxnSpLocks/>
            <a:stCxn id="10" idx="0"/>
            <a:endCxn id="44" idx="1"/>
          </p:cNvCxnSpPr>
          <p:nvPr/>
        </p:nvCxnSpPr>
        <p:spPr>
          <a:xfrm rot="5400000" flipH="1" flipV="1">
            <a:off x="354769" y="3097651"/>
            <a:ext cx="2380786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49B947F-DD0F-42E9-CC22-DF7C7C1DCEF7}"/>
              </a:ext>
            </a:extLst>
          </p:cNvPr>
          <p:cNvCxnSpPr>
            <a:cxnSpLocks/>
            <a:stCxn id="10" idx="0"/>
            <a:endCxn id="45" idx="1"/>
          </p:cNvCxnSpPr>
          <p:nvPr/>
        </p:nvCxnSpPr>
        <p:spPr>
          <a:xfrm rot="5400000" flipH="1" flipV="1">
            <a:off x="667320" y="3410202"/>
            <a:ext cx="1755685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A092B240-E5C8-9CD6-70B5-3272BE35640C}"/>
              </a:ext>
            </a:extLst>
          </p:cNvPr>
          <p:cNvCxnSpPr>
            <a:cxnSpLocks/>
            <a:stCxn id="27" idx="1"/>
            <a:endCxn id="39" idx="3"/>
          </p:cNvCxnSpPr>
          <p:nvPr/>
        </p:nvCxnSpPr>
        <p:spPr>
          <a:xfrm rot="10800000">
            <a:off x="8209874" y="1612398"/>
            <a:ext cx="1311803" cy="17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36515D96-5E2B-3995-D8F8-61BC33580C87}"/>
              </a:ext>
            </a:extLst>
          </p:cNvPr>
          <p:cNvSpPr/>
          <p:nvPr/>
        </p:nvSpPr>
        <p:spPr>
          <a:xfrm>
            <a:off x="7814353" y="3694460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rjd3filters</a:t>
            </a:r>
          </a:p>
        </p:txBody>
      </p:sp>
      <p:cxnSp>
        <p:nvCxnSpPr>
          <p:cNvPr id="11" name="Connector: Elbow 97">
            <a:extLst>
              <a:ext uri="{FF2B5EF4-FFF2-40B4-BE49-F238E27FC236}">
                <a16:creationId xmlns:a16="http://schemas.microsoft.com/office/drawing/2014/main" id="{24AB4CEC-13BA-900B-A5BC-5A19DAF3F06B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rot="10800000">
            <a:off x="5716729" y="3479587"/>
            <a:ext cx="2097625" cy="40467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156">
            <a:extLst>
              <a:ext uri="{FF2B5EF4-FFF2-40B4-BE49-F238E27FC236}">
                <a16:creationId xmlns:a16="http://schemas.microsoft.com/office/drawing/2014/main" id="{CBC9CD76-6F67-DA24-8E84-B36633DC6BA6}"/>
              </a:ext>
            </a:extLst>
          </p:cNvPr>
          <p:cNvCxnSpPr>
            <a:cxnSpLocks/>
            <a:stCxn id="29" idx="1"/>
            <a:endCxn id="4" idx="3"/>
          </p:cNvCxnSpPr>
          <p:nvPr/>
        </p:nvCxnSpPr>
        <p:spPr>
          <a:xfrm rot="10800000">
            <a:off x="6657515" y="2987705"/>
            <a:ext cx="1635678" cy="355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C6748F06-6307-E57C-0928-03D135BF36D5}"/>
              </a:ext>
            </a:extLst>
          </p:cNvPr>
          <p:cNvSpPr/>
          <p:nvPr/>
        </p:nvSpPr>
        <p:spPr>
          <a:xfrm>
            <a:off x="5013005" y="1384096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rjd3jars</a:t>
            </a:r>
          </a:p>
        </p:txBody>
      </p:sp>
      <p:sp>
        <p:nvSpPr>
          <p:cNvPr id="39" name="Rectangle: Rounded Corners 3">
            <a:extLst>
              <a:ext uri="{FF2B5EF4-FFF2-40B4-BE49-F238E27FC236}">
                <a16:creationId xmlns:a16="http://schemas.microsoft.com/office/drawing/2014/main" id="{207F7A08-9816-2106-48F2-AEB6DF41F24B}"/>
              </a:ext>
            </a:extLst>
          </p:cNvPr>
          <p:cNvSpPr/>
          <p:nvPr/>
        </p:nvSpPr>
        <p:spPr>
          <a:xfrm>
            <a:off x="6796947" y="1376343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 err="1"/>
              <a:t>rjdxjars</a:t>
            </a:r>
            <a:endParaRPr lang="en-GB" sz="1600" b="1" noProof="0" dirty="0"/>
          </a:p>
        </p:txBody>
      </p:sp>
      <p:cxnSp>
        <p:nvCxnSpPr>
          <p:cNvPr id="65" name="Connector: Elbow 84">
            <a:extLst>
              <a:ext uri="{FF2B5EF4-FFF2-40B4-BE49-F238E27FC236}">
                <a16:creationId xmlns:a16="http://schemas.microsoft.com/office/drawing/2014/main" id="{64FB1FA9-E8F2-5D9F-8076-BA6D4ACC49B8}"/>
              </a:ext>
            </a:extLst>
          </p:cNvPr>
          <p:cNvCxnSpPr>
            <a:cxnSpLocks/>
            <a:stCxn id="28" idx="1"/>
            <a:endCxn id="39" idx="2"/>
          </p:cNvCxnSpPr>
          <p:nvPr/>
        </p:nvCxnSpPr>
        <p:spPr>
          <a:xfrm rot="10800000">
            <a:off x="7503411" y="1848452"/>
            <a:ext cx="789783" cy="72224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156">
            <a:extLst>
              <a:ext uri="{FF2B5EF4-FFF2-40B4-BE49-F238E27FC236}">
                <a16:creationId xmlns:a16="http://schemas.microsoft.com/office/drawing/2014/main" id="{6598AB2A-C57A-9004-9D6C-AE958B275DE3}"/>
              </a:ext>
            </a:extLst>
          </p:cNvPr>
          <p:cNvCxnSpPr>
            <a:cxnSpLocks/>
            <a:stCxn id="39" idx="1"/>
            <a:endCxn id="18" idx="3"/>
          </p:cNvCxnSpPr>
          <p:nvPr/>
        </p:nvCxnSpPr>
        <p:spPr>
          <a:xfrm rot="10800000" flipV="1">
            <a:off x="6425931" y="1612397"/>
            <a:ext cx="371016" cy="7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156">
            <a:extLst>
              <a:ext uri="{FF2B5EF4-FFF2-40B4-BE49-F238E27FC236}">
                <a16:creationId xmlns:a16="http://schemas.microsoft.com/office/drawing/2014/main" id="{7BFAA233-65FF-2D04-84CA-8C4478A51FCB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rot="5400000" flipH="1" flipV="1">
            <a:off x="5398291" y="2174643"/>
            <a:ext cx="639615" cy="2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Connector: Elbow 156">
            <a:extLst>
              <a:ext uri="{FF2B5EF4-FFF2-40B4-BE49-F238E27FC236}">
                <a16:creationId xmlns:a16="http://schemas.microsoft.com/office/drawing/2014/main" id="{32B85149-9B44-71E6-ADB6-4880BC59C0F3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rot="5400000" flipH="1" flipV="1">
            <a:off x="9350984" y="2956859"/>
            <a:ext cx="39272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A25279-2264-DA6A-C51D-201FE5CED9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642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514C-6382-AF68-D27C-0D2F5187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69260728-61F3-8FAE-07D3-DE53CD8D5A64}"/>
              </a:ext>
            </a:extLst>
          </p:cNvPr>
          <p:cNvSpPr/>
          <p:nvPr/>
        </p:nvSpPr>
        <p:spPr>
          <a:xfrm>
            <a:off x="1" y="1382821"/>
            <a:ext cx="6964670" cy="4401291"/>
          </a:xfrm>
          <a:prstGeom prst="ellipse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1DDBD-45CE-874F-F1CD-A2CF3072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4. </a:t>
            </a:r>
            <a:r>
              <a:rPr lang="en-GB" noProof="0" dirty="0" err="1"/>
              <a:t>rjdverse</a:t>
            </a:r>
            <a:r>
              <a:rPr lang="en-GB" noProof="0" dirty="0"/>
              <a:t>: Overview </a:t>
            </a:r>
            <a:r>
              <a:rPr lang="en-GB" sz="3200" noProof="0" dirty="0"/>
              <a:t>(main packages for SA)</a:t>
            </a:r>
            <a:endParaRPr lang="en-GB" noProof="0" dirty="0"/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2207B836-C1B7-5AD6-C431-BEEE170FA13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AD0696-F4B8-1C7F-E5CD-2EBF44AA0541}"/>
              </a:ext>
            </a:extLst>
          </p:cNvPr>
          <p:cNvSpPr/>
          <p:nvPr/>
        </p:nvSpPr>
        <p:spPr>
          <a:xfrm>
            <a:off x="4775941" y="2495820"/>
            <a:ext cx="1881574" cy="98376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/>
              <a:t>rjd3toolkit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A9FFB8-5D32-9311-A4C1-E8BAD7F9A9AD}"/>
              </a:ext>
            </a:extLst>
          </p:cNvPr>
          <p:cNvSpPr/>
          <p:nvPr/>
        </p:nvSpPr>
        <p:spPr>
          <a:xfrm>
            <a:off x="569658" y="4442707"/>
            <a:ext cx="1641682" cy="55572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rjd3workspace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7F268B6-FDDA-A213-992B-E6DA7D378F32}"/>
              </a:ext>
            </a:extLst>
          </p:cNvPr>
          <p:cNvSpPr/>
          <p:nvPr/>
        </p:nvSpPr>
        <p:spPr>
          <a:xfrm>
            <a:off x="9521676" y="4886078"/>
            <a:ext cx="2508308" cy="37960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rjd3bench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99D1D39-2A76-D7F5-047F-CBB9184455D8}"/>
              </a:ext>
            </a:extLst>
          </p:cNvPr>
          <p:cNvSpPr/>
          <p:nvPr/>
        </p:nvSpPr>
        <p:spPr>
          <a:xfrm>
            <a:off x="1699826" y="1839012"/>
            <a:ext cx="1881575" cy="4458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rjd3tramoseats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8E92415-898C-4AF8-BE59-109063A2BC68}"/>
              </a:ext>
            </a:extLst>
          </p:cNvPr>
          <p:cNvSpPr/>
          <p:nvPr/>
        </p:nvSpPr>
        <p:spPr>
          <a:xfrm>
            <a:off x="1699826" y="2500443"/>
            <a:ext cx="1881574" cy="37315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rjd3x13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509053D-98DA-A95E-C13F-9CCDC0398AB6}"/>
              </a:ext>
            </a:extLst>
          </p:cNvPr>
          <p:cNvCxnSpPr>
            <a:cxnSpLocks/>
            <a:stCxn id="37" idx="1"/>
            <a:endCxn id="4" idx="2"/>
          </p:cNvCxnSpPr>
          <p:nvPr/>
        </p:nvCxnSpPr>
        <p:spPr>
          <a:xfrm rot="10800000">
            <a:off x="5716728" y="3479587"/>
            <a:ext cx="3804948" cy="15962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D9E5F4-E429-2B72-CE18-2D5FA7F6895D}"/>
              </a:ext>
            </a:extLst>
          </p:cNvPr>
          <p:cNvSpPr/>
          <p:nvPr/>
        </p:nvSpPr>
        <p:spPr>
          <a:xfrm>
            <a:off x="9521676" y="5479226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rjd3nowcasting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E3EE7D-DD98-1B40-E429-0468D67F8ABF}"/>
              </a:ext>
            </a:extLst>
          </p:cNvPr>
          <p:cNvSpPr/>
          <p:nvPr/>
        </p:nvSpPr>
        <p:spPr>
          <a:xfrm>
            <a:off x="8293193" y="2380893"/>
            <a:ext cx="2508308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rjd3highfreq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B445224-22F4-7CD2-D2B0-03D6646ADEAC}"/>
              </a:ext>
            </a:extLst>
          </p:cNvPr>
          <p:cNvSpPr/>
          <p:nvPr/>
        </p:nvSpPr>
        <p:spPr>
          <a:xfrm>
            <a:off x="8293193" y="3153222"/>
            <a:ext cx="2508307" cy="379602"/>
          </a:xfrm>
          <a:prstGeom prst="round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3ADA459-18E0-B215-FF16-BCC00F307CD2}"/>
              </a:ext>
            </a:extLst>
          </p:cNvPr>
          <p:cNvSpPr/>
          <p:nvPr/>
        </p:nvSpPr>
        <p:spPr>
          <a:xfrm>
            <a:off x="9521676" y="5997218"/>
            <a:ext cx="2508308" cy="379602"/>
          </a:xfrm>
          <a:prstGeom prst="roundRect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rjd3cycle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849A39-CAC4-BCE1-A1E2-2A28B54C940D}"/>
              </a:ext>
            </a:extLst>
          </p:cNvPr>
          <p:cNvSpPr/>
          <p:nvPr/>
        </p:nvSpPr>
        <p:spPr>
          <a:xfrm>
            <a:off x="9521676" y="4325044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rjd3revisions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CD4ACCF-E1D0-F866-775A-BE8224D2BFBB}"/>
              </a:ext>
            </a:extLst>
          </p:cNvPr>
          <p:cNvSpPr/>
          <p:nvPr/>
        </p:nvSpPr>
        <p:spPr>
          <a:xfrm>
            <a:off x="9521676" y="1409493"/>
            <a:ext cx="1447520" cy="409242"/>
          </a:xfrm>
          <a:prstGeom prst="roundRect">
            <a:avLst/>
          </a:prstGeom>
          <a:pattFill prst="zigZ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rjd3sts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C6AD9A20-DD76-9C02-83DA-38DD7CF6612B}"/>
              </a:ext>
            </a:extLst>
          </p:cNvPr>
          <p:cNvCxnSpPr>
            <a:cxnSpLocks/>
            <a:stCxn id="28" idx="1"/>
            <a:endCxn id="4" idx="3"/>
          </p:cNvCxnSpPr>
          <p:nvPr/>
        </p:nvCxnSpPr>
        <p:spPr>
          <a:xfrm rot="10800000" flipV="1">
            <a:off x="6657515" y="2570694"/>
            <a:ext cx="1635678" cy="417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DFA5489-98E3-61A7-B17F-7AC4F3238439}"/>
              </a:ext>
            </a:extLst>
          </p:cNvPr>
          <p:cNvCxnSpPr>
            <a:cxnSpLocks/>
            <a:stCxn id="31" idx="1"/>
            <a:endCxn id="4" idx="2"/>
          </p:cNvCxnSpPr>
          <p:nvPr/>
        </p:nvCxnSpPr>
        <p:spPr>
          <a:xfrm rot="10800000">
            <a:off x="5716728" y="3479587"/>
            <a:ext cx="3804948" cy="10352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A9435B-D96F-F6C6-124F-CAFFBBF69955}"/>
              </a:ext>
            </a:extLst>
          </p:cNvPr>
          <p:cNvSpPr txBox="1"/>
          <p:nvPr/>
        </p:nvSpPr>
        <p:spPr>
          <a:xfrm>
            <a:off x="448464" y="6123543"/>
            <a:ext cx="388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Design similar to the Java libraries !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BA0624B-E482-4416-DD4B-9ACAE801411F}"/>
              </a:ext>
            </a:extLst>
          </p:cNvPr>
          <p:cNvSpPr/>
          <p:nvPr/>
        </p:nvSpPr>
        <p:spPr>
          <a:xfrm>
            <a:off x="1721996" y="3107351"/>
            <a:ext cx="1881574" cy="468525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rjd3providers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4051F91-2DCD-E2BB-7AC1-6343C0CD0CCA}"/>
              </a:ext>
            </a:extLst>
          </p:cNvPr>
          <p:cNvCxnSpPr>
            <a:cxnSpLocks/>
            <a:stCxn id="45" idx="3"/>
            <a:endCxn id="4" idx="1"/>
          </p:cNvCxnSpPr>
          <p:nvPr/>
        </p:nvCxnSpPr>
        <p:spPr>
          <a:xfrm>
            <a:off x="3581400" y="2687022"/>
            <a:ext cx="1194541" cy="3006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F3978CE-50FF-6649-85D2-70AD4985AD3B}"/>
              </a:ext>
            </a:extLst>
          </p:cNvPr>
          <p:cNvCxnSpPr>
            <a:cxnSpLocks/>
            <a:stCxn id="44" idx="3"/>
            <a:endCxn id="4" idx="1"/>
          </p:cNvCxnSpPr>
          <p:nvPr/>
        </p:nvCxnSpPr>
        <p:spPr>
          <a:xfrm>
            <a:off x="3581401" y="2061921"/>
            <a:ext cx="1194540" cy="9257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D8423C7-867E-D156-A928-ED4EB63C3C99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3603570" y="2987704"/>
            <a:ext cx="1172371" cy="3539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DC84594-F6C3-2196-D38F-3E5C12EFBD73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 flipV="1">
            <a:off x="2211340" y="3479587"/>
            <a:ext cx="3505388" cy="12409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5669680-057E-2FD9-2036-DF6E577CEF3A}"/>
              </a:ext>
            </a:extLst>
          </p:cNvPr>
          <p:cNvCxnSpPr>
            <a:cxnSpLocks/>
            <a:stCxn id="10" idx="1"/>
            <a:endCxn id="25" idx="1"/>
          </p:cNvCxnSpPr>
          <p:nvPr/>
        </p:nvCxnSpPr>
        <p:spPr>
          <a:xfrm rot="10800000" flipH="1">
            <a:off x="569658" y="3341614"/>
            <a:ext cx="1152338" cy="1378954"/>
          </a:xfrm>
          <a:prstGeom prst="bentConnector3">
            <a:avLst>
              <a:gd name="adj1" fmla="val -1983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89A84B1F-2B08-CADA-2207-0AB72EE8DD80}"/>
              </a:ext>
            </a:extLst>
          </p:cNvPr>
          <p:cNvCxnSpPr>
            <a:cxnSpLocks/>
            <a:stCxn id="10" idx="0"/>
            <a:endCxn id="44" idx="1"/>
          </p:cNvCxnSpPr>
          <p:nvPr/>
        </p:nvCxnSpPr>
        <p:spPr>
          <a:xfrm rot="5400000" flipH="1" flipV="1">
            <a:off x="354769" y="3097651"/>
            <a:ext cx="2380786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9CC6438-2972-E9D5-BBF0-A072117ED9AC}"/>
              </a:ext>
            </a:extLst>
          </p:cNvPr>
          <p:cNvCxnSpPr>
            <a:cxnSpLocks/>
            <a:stCxn id="10" idx="0"/>
            <a:endCxn id="45" idx="1"/>
          </p:cNvCxnSpPr>
          <p:nvPr/>
        </p:nvCxnSpPr>
        <p:spPr>
          <a:xfrm rot="5400000" flipH="1" flipV="1">
            <a:off x="667320" y="3410202"/>
            <a:ext cx="1755685" cy="3093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3181538B-1377-4F58-EE0A-9394C3FFBE33}"/>
              </a:ext>
            </a:extLst>
          </p:cNvPr>
          <p:cNvCxnSpPr>
            <a:cxnSpLocks/>
            <a:stCxn id="27" idx="1"/>
            <a:endCxn id="39" idx="3"/>
          </p:cNvCxnSpPr>
          <p:nvPr/>
        </p:nvCxnSpPr>
        <p:spPr>
          <a:xfrm rot="10800000">
            <a:off x="8209874" y="1612398"/>
            <a:ext cx="1311803" cy="17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B1E5850D-9F23-D0E7-5812-825001835834}"/>
              </a:ext>
            </a:extLst>
          </p:cNvPr>
          <p:cNvSpPr/>
          <p:nvPr/>
        </p:nvSpPr>
        <p:spPr>
          <a:xfrm>
            <a:off x="7814353" y="3694460"/>
            <a:ext cx="2508308" cy="37960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rjd3filters</a:t>
            </a:r>
          </a:p>
        </p:txBody>
      </p:sp>
      <p:cxnSp>
        <p:nvCxnSpPr>
          <p:cNvPr id="11" name="Connector: Elbow 97">
            <a:extLst>
              <a:ext uri="{FF2B5EF4-FFF2-40B4-BE49-F238E27FC236}">
                <a16:creationId xmlns:a16="http://schemas.microsoft.com/office/drawing/2014/main" id="{AF4F17CA-019B-C0EA-F8D1-B99129B54E1B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rot="10800000">
            <a:off x="5716729" y="3479587"/>
            <a:ext cx="2097625" cy="40467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156">
            <a:extLst>
              <a:ext uri="{FF2B5EF4-FFF2-40B4-BE49-F238E27FC236}">
                <a16:creationId xmlns:a16="http://schemas.microsoft.com/office/drawing/2014/main" id="{67CBEEA2-C58C-E136-621C-1E5F17802A68}"/>
              </a:ext>
            </a:extLst>
          </p:cNvPr>
          <p:cNvCxnSpPr>
            <a:cxnSpLocks/>
            <a:stCxn id="29" idx="1"/>
            <a:endCxn id="4" idx="3"/>
          </p:cNvCxnSpPr>
          <p:nvPr/>
        </p:nvCxnSpPr>
        <p:spPr>
          <a:xfrm rot="10800000">
            <a:off x="6657515" y="2987705"/>
            <a:ext cx="1635678" cy="355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E1805B42-D758-BA67-C029-5917E452739F}"/>
              </a:ext>
            </a:extLst>
          </p:cNvPr>
          <p:cNvSpPr/>
          <p:nvPr/>
        </p:nvSpPr>
        <p:spPr>
          <a:xfrm>
            <a:off x="5013005" y="1384096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rjd3jars</a:t>
            </a:r>
          </a:p>
        </p:txBody>
      </p:sp>
      <p:sp>
        <p:nvSpPr>
          <p:cNvPr id="39" name="Rectangle: Rounded Corners 3">
            <a:extLst>
              <a:ext uri="{FF2B5EF4-FFF2-40B4-BE49-F238E27FC236}">
                <a16:creationId xmlns:a16="http://schemas.microsoft.com/office/drawing/2014/main" id="{85F75A6E-71C9-42D8-2D1E-066DC9F21CF5}"/>
              </a:ext>
            </a:extLst>
          </p:cNvPr>
          <p:cNvSpPr/>
          <p:nvPr/>
        </p:nvSpPr>
        <p:spPr>
          <a:xfrm>
            <a:off x="6796947" y="1376343"/>
            <a:ext cx="1412926" cy="47210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 err="1"/>
              <a:t>rjdxjars</a:t>
            </a:r>
            <a:endParaRPr lang="en-GB" sz="1600" b="1" noProof="0" dirty="0"/>
          </a:p>
        </p:txBody>
      </p:sp>
      <p:cxnSp>
        <p:nvCxnSpPr>
          <p:cNvPr id="65" name="Connector: Elbow 84">
            <a:extLst>
              <a:ext uri="{FF2B5EF4-FFF2-40B4-BE49-F238E27FC236}">
                <a16:creationId xmlns:a16="http://schemas.microsoft.com/office/drawing/2014/main" id="{BA23DC6D-5CF2-731E-36B1-2B530D123EF0}"/>
              </a:ext>
            </a:extLst>
          </p:cNvPr>
          <p:cNvCxnSpPr>
            <a:cxnSpLocks/>
            <a:stCxn id="28" idx="1"/>
            <a:endCxn id="39" idx="2"/>
          </p:cNvCxnSpPr>
          <p:nvPr/>
        </p:nvCxnSpPr>
        <p:spPr>
          <a:xfrm rot="10800000">
            <a:off x="7503411" y="1848452"/>
            <a:ext cx="789783" cy="72224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156">
            <a:extLst>
              <a:ext uri="{FF2B5EF4-FFF2-40B4-BE49-F238E27FC236}">
                <a16:creationId xmlns:a16="http://schemas.microsoft.com/office/drawing/2014/main" id="{B898FCAF-A148-28E1-3F0E-E4EBACFDBE07}"/>
              </a:ext>
            </a:extLst>
          </p:cNvPr>
          <p:cNvCxnSpPr>
            <a:cxnSpLocks/>
            <a:stCxn id="39" idx="1"/>
            <a:endCxn id="18" idx="3"/>
          </p:cNvCxnSpPr>
          <p:nvPr/>
        </p:nvCxnSpPr>
        <p:spPr>
          <a:xfrm rot="10800000" flipV="1">
            <a:off x="6425931" y="1612397"/>
            <a:ext cx="371016" cy="7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156">
            <a:extLst>
              <a:ext uri="{FF2B5EF4-FFF2-40B4-BE49-F238E27FC236}">
                <a16:creationId xmlns:a16="http://schemas.microsoft.com/office/drawing/2014/main" id="{DB937E52-40BE-4CD0-C911-B3B63CFEE502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rot="5400000" flipH="1" flipV="1">
            <a:off x="5398291" y="2174643"/>
            <a:ext cx="639615" cy="2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Connector: Elbow 156">
            <a:extLst>
              <a:ext uri="{FF2B5EF4-FFF2-40B4-BE49-F238E27FC236}">
                <a16:creationId xmlns:a16="http://schemas.microsoft.com/office/drawing/2014/main" id="{A55D41BB-8F54-38A3-CF5A-8EA5F39B789B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rot="5400000" flipH="1" flipV="1">
            <a:off x="9350984" y="2956859"/>
            <a:ext cx="39272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9384299-0673-6D11-E4DA-7D97FBCAB8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2189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95649A-2B15-4406-BC52-3E1D58692103}"/>
              </a:ext>
            </a:extLst>
          </p:cNvPr>
          <p:cNvSpPr/>
          <p:nvPr/>
        </p:nvSpPr>
        <p:spPr>
          <a:xfrm>
            <a:off x="1122243" y="755780"/>
            <a:ext cx="2508308" cy="65203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rjd3tramoseats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85320-608E-4822-9C6E-543C4C82FC55}"/>
              </a:ext>
            </a:extLst>
          </p:cNvPr>
          <p:cNvSpPr/>
          <p:nvPr/>
        </p:nvSpPr>
        <p:spPr>
          <a:xfrm>
            <a:off x="2957804" y="2070617"/>
            <a:ext cx="2341984" cy="583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 err="1"/>
              <a:t>inst</a:t>
            </a:r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E91856-49EC-4A97-86FA-E3693A09621C}"/>
              </a:ext>
            </a:extLst>
          </p:cNvPr>
          <p:cNvSpPr/>
          <p:nvPr/>
        </p:nvSpPr>
        <p:spPr>
          <a:xfrm>
            <a:off x="6214188" y="1407816"/>
            <a:ext cx="2341984" cy="583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Proto files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ACB735-E3A2-40CD-ABBF-66E7282ABAF1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189909" y="1594304"/>
            <a:ext cx="954382" cy="5814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7945822-A91A-4A2D-B5F7-9E228E582AB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299788" y="1699398"/>
            <a:ext cx="914400" cy="6628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4A1081C-9E82-4F72-A469-B6BBFB7AB72D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5299788" y="2362199"/>
            <a:ext cx="914400" cy="7752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03066ED-A2FD-4B45-8B77-D9F639107F55}"/>
              </a:ext>
            </a:extLst>
          </p:cNvPr>
          <p:cNvSpPr/>
          <p:nvPr/>
        </p:nvSpPr>
        <p:spPr>
          <a:xfrm>
            <a:off x="6214188" y="2845837"/>
            <a:ext cx="2341984" cy="583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Java package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866F35-687B-4E43-AB32-BF21D6300EFE}"/>
              </a:ext>
            </a:extLst>
          </p:cNvPr>
          <p:cNvSpPr/>
          <p:nvPr/>
        </p:nvSpPr>
        <p:spPr>
          <a:xfrm>
            <a:off x="2957804" y="3429000"/>
            <a:ext cx="2341984" cy="583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R files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2CF78F-E0A9-489E-817D-338D02042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574" y="2093564"/>
            <a:ext cx="1714739" cy="381053"/>
          </a:xfrm>
          <a:prstGeom prst="rect">
            <a:avLst/>
          </a:prstGeom>
          <a:ln>
            <a:solidFill>
              <a:schemeClr val="accent3">
                <a:shade val="50000"/>
              </a:schemeClr>
            </a:solidFill>
          </a:ln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D37A5AD-F8B6-42FF-B8D2-30BDB988E98A}"/>
              </a:ext>
            </a:extLst>
          </p:cNvPr>
          <p:cNvCxnSpPr>
            <a:cxnSpLocks/>
            <a:stCxn id="4" idx="2"/>
            <a:endCxn id="20" idx="1"/>
          </p:cNvCxnSpPr>
          <p:nvPr/>
        </p:nvCxnSpPr>
        <p:spPr>
          <a:xfrm rot="16200000" flipH="1">
            <a:off x="1510718" y="2273495"/>
            <a:ext cx="2312765" cy="5814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177068A2-13D4-4E4E-A805-79CA0F5C4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028" y="4111235"/>
            <a:ext cx="4277322" cy="971686"/>
          </a:xfrm>
          <a:prstGeom prst="rect">
            <a:avLst/>
          </a:prstGeom>
          <a:ln>
            <a:solidFill>
              <a:schemeClr val="accent3">
                <a:shade val="50000"/>
              </a:schemeClr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12675D2-846A-727F-6DDA-FBB241AF1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574" y="3601355"/>
            <a:ext cx="2619741" cy="1190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15699A33-F00A-E744-ACCA-0AD04CC3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C13CFE5-03ED-4A7B-23E1-222842E0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E792-0364-4011-8053-26F035783A3A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1912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E026-D238-4AF1-8F4A-C306A5A4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5. Objectives of 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19A8F-D80B-4FDC-B623-698C487B82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800" noProof="0" dirty="0"/>
              <a:t>High-level functions with most common results</a:t>
            </a:r>
          </a:p>
          <a:p>
            <a:r>
              <a:rPr lang="en-GB" sz="2800" noProof="0" dirty="0"/>
              <a:t>Many low-level functions</a:t>
            </a:r>
          </a:p>
          <a:p>
            <a:pPr lvl="1"/>
            <a:r>
              <a:rPr lang="en-GB" sz="2400" noProof="0" dirty="0"/>
              <a:t>Advanced users</a:t>
            </a:r>
          </a:p>
          <a:p>
            <a:pPr lvl="1"/>
            <a:r>
              <a:rPr lang="en-GB" sz="2400" noProof="0" dirty="0"/>
              <a:t>Research</a:t>
            </a:r>
          </a:p>
          <a:p>
            <a:pPr lvl="1"/>
            <a:r>
              <a:rPr lang="en-GB" sz="2400" noProof="0" dirty="0"/>
              <a:t>Training</a:t>
            </a:r>
          </a:p>
          <a:p>
            <a:pPr lvl="1"/>
            <a:r>
              <a:rPr lang="en-GB" sz="2400" noProof="0" dirty="0"/>
              <a:t>Additional tools</a:t>
            </a:r>
            <a:endParaRPr lang="en-GB" noProof="0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11D6C85-A84B-E7AF-DB34-D16218EA28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AB4255-399D-87BE-1AF4-3E8CCEAC0F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2617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55A1-78C9-352D-8AC1-F6987AE9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6. Installing the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06D7-6535-6D75-9551-7A6E63F7CB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If need be, referencing the correct java runtime (&gt;= 21.0)</a:t>
            </a:r>
          </a:p>
          <a:p>
            <a:endParaRPr lang="en-GB" sz="2400" noProof="0" dirty="0"/>
          </a:p>
          <a:p>
            <a:endParaRPr lang="en-GB" sz="2400" noProof="0" dirty="0"/>
          </a:p>
          <a:p>
            <a:pPr lvl="1"/>
            <a:r>
              <a:rPr lang="en-GB" sz="2000" noProof="0" dirty="0"/>
              <a:t>Set your JAVA_HOME variable (tip: use the </a:t>
            </a:r>
            <a:r>
              <a:rPr lang="en-GB" sz="2000" noProof="0" dirty="0" err="1"/>
              <a:t>jre</a:t>
            </a:r>
            <a:r>
              <a:rPr lang="en-GB" sz="2000" noProof="0" dirty="0"/>
              <a:t> provided with JD+)</a:t>
            </a:r>
          </a:p>
          <a:p>
            <a:endParaRPr lang="en-GB" sz="2400" noProof="0" dirty="0"/>
          </a:p>
          <a:p>
            <a:pPr lvl="1"/>
            <a:endParaRPr lang="en-GB" sz="2000" noProof="0" dirty="0"/>
          </a:p>
          <a:p>
            <a:endParaRPr lang="en-GB" sz="2400" noProof="0" dirty="0"/>
          </a:p>
          <a:p>
            <a:r>
              <a:rPr lang="en-GB" sz="2400" noProof="0" dirty="0"/>
              <a:t>Install the various packages (internet access needed)</a:t>
            </a:r>
          </a:p>
          <a:p>
            <a:pPr lvl="1"/>
            <a:r>
              <a:rPr lang="en-GB" sz="2000" noProof="0" dirty="0"/>
              <a:t>Install from CRAN for the main packages</a:t>
            </a:r>
          </a:p>
          <a:p>
            <a:pPr lvl="1"/>
            <a:r>
              <a:rPr lang="en-GB" sz="2000" noProof="0" dirty="0"/>
              <a:t># </a:t>
            </a:r>
            <a:r>
              <a:rPr lang="en-GB" sz="2000" noProof="0" dirty="0" err="1"/>
              <a:t>install.packages</a:t>
            </a:r>
            <a:r>
              <a:rPr lang="en-GB" sz="2000" noProof="0" dirty="0"/>
              <a:t>("remotes")</a:t>
            </a:r>
          </a:p>
          <a:p>
            <a:pPr lvl="1"/>
            <a:r>
              <a:rPr lang="en-GB" sz="2000" noProof="0" dirty="0"/>
              <a:t>remotes::</a:t>
            </a:r>
            <a:r>
              <a:rPr lang="en-GB" sz="2000" noProof="0" dirty="0" err="1"/>
              <a:t>install_github</a:t>
            </a:r>
            <a:r>
              <a:rPr lang="en-GB" sz="2000" noProof="0" dirty="0"/>
              <a:t>("</a:t>
            </a:r>
            <a:r>
              <a:rPr lang="en-GB" sz="2000" noProof="0" dirty="0" err="1"/>
              <a:t>rjdverse</a:t>
            </a:r>
            <a:r>
              <a:rPr lang="en-GB" sz="2000" noProof="0" dirty="0"/>
              <a:t>/rjd3workspace@*release") 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5B2EE932-E4D9-A85A-101C-91873C326AE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1DAD5C2-2D33-1185-4020-86A5C6F42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07" y="1942311"/>
            <a:ext cx="3970399" cy="71916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6873EC0-00B5-B604-BA85-4C57CB350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26" y="3340594"/>
            <a:ext cx="5397631" cy="91588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8639300-52E3-F85D-CA72-4F072E18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546" y="3340595"/>
            <a:ext cx="3926732" cy="91588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97343B-F279-39E6-B005-B0657968E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3773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5C743-A837-68FB-BEB2-A0B3CC81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6. Installing the packages (</a:t>
            </a:r>
            <a:r>
              <a:rPr lang="en-GB" noProof="0" dirty="0" err="1"/>
              <a:t>cont</a:t>
            </a:r>
            <a:r>
              <a:rPr lang="en-GB" noProof="0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FEE72D-C9D0-21BD-05D9-74FFAC7C7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i="1" noProof="0" dirty="0"/>
              <a:t>remotes::</a:t>
            </a:r>
            <a:r>
              <a:rPr lang="en-GB" sz="2800" i="1" noProof="0" dirty="0" err="1"/>
              <a:t>install_github</a:t>
            </a:r>
            <a:r>
              <a:rPr lang="en-GB" sz="2800" i="1" noProof="0" dirty="0"/>
              <a:t>("</a:t>
            </a:r>
            <a:r>
              <a:rPr lang="en-GB" sz="2800" i="1" noProof="0" dirty="0" err="1"/>
              <a:t>rjdverse</a:t>
            </a:r>
            <a:r>
              <a:rPr lang="en-GB" sz="2800" i="1" noProof="0" dirty="0"/>
              <a:t>/rjd3filters@*release")</a:t>
            </a:r>
          </a:p>
          <a:p>
            <a:r>
              <a:rPr lang="en-GB" sz="2800" i="1" noProof="0" dirty="0"/>
              <a:t>remotes::</a:t>
            </a:r>
            <a:r>
              <a:rPr lang="en-GB" sz="2800" i="1" noProof="0" dirty="0" err="1"/>
              <a:t>install_github</a:t>
            </a:r>
            <a:r>
              <a:rPr lang="en-GB" sz="2800" i="1" noProof="0" dirty="0"/>
              <a:t>("</a:t>
            </a:r>
            <a:r>
              <a:rPr lang="en-GB" sz="2800" i="1" noProof="0" dirty="0" err="1"/>
              <a:t>rjdverse</a:t>
            </a:r>
            <a:r>
              <a:rPr lang="en-GB" sz="2800" i="1" noProof="0" dirty="0"/>
              <a:t>/rjd3sts@*release")</a:t>
            </a:r>
          </a:p>
          <a:p>
            <a:r>
              <a:rPr lang="en-GB" sz="2800" i="1" noProof="0" dirty="0"/>
              <a:t>remotes::</a:t>
            </a:r>
            <a:r>
              <a:rPr lang="en-GB" sz="2800" i="1" noProof="0" dirty="0" err="1"/>
              <a:t>install_github</a:t>
            </a:r>
            <a:r>
              <a:rPr lang="en-GB" sz="2800" i="1" noProof="0" dirty="0"/>
              <a:t>("</a:t>
            </a:r>
            <a:r>
              <a:rPr lang="en-GB" sz="2800" i="1" noProof="0" dirty="0" err="1"/>
              <a:t>rjdverse</a:t>
            </a:r>
            <a:r>
              <a:rPr lang="en-GB" sz="2800" i="1" noProof="0" dirty="0"/>
              <a:t>/rjd3highfreq@*release")</a:t>
            </a:r>
          </a:p>
          <a:p>
            <a:r>
              <a:rPr lang="en-GB" sz="2800" i="1" noProof="0" dirty="0"/>
              <a:t>remotes::</a:t>
            </a:r>
            <a:r>
              <a:rPr lang="en-GB" sz="2800" i="1" noProof="0" dirty="0" err="1"/>
              <a:t>install_github</a:t>
            </a:r>
            <a:r>
              <a:rPr lang="en-GB" sz="2800" i="1" noProof="0" dirty="0"/>
              <a:t>("</a:t>
            </a:r>
            <a:r>
              <a:rPr lang="en-GB" sz="2800" i="1" noProof="0" dirty="0" err="1"/>
              <a:t>rjdverse</a:t>
            </a:r>
            <a:r>
              <a:rPr lang="en-GB" sz="2800" i="1" noProof="0" dirty="0"/>
              <a:t>/rjd3x11plus@*release")</a:t>
            </a:r>
          </a:p>
          <a:p>
            <a:endParaRPr lang="en-GB" sz="2800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715EEF82-C545-CA98-1A57-72D1A07D197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46455E-968B-2384-8BD1-8B9409654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6838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EFB3-CBD2-3E08-5B44-B206908A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7.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9E25-9CF1-EF6E-A054-FE4682B8A8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Reading Excel files (JD+-like) and detecting errors</a:t>
            </a:r>
          </a:p>
          <a:p>
            <a:endParaRPr lang="en-GB" sz="2400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sz="2400" noProof="0" dirty="0"/>
          </a:p>
          <a:p>
            <a:r>
              <a:rPr lang="en-GB" sz="2400" noProof="0" dirty="0"/>
              <a:t>Refreshing a workspace</a:t>
            </a:r>
          </a:p>
          <a:p>
            <a:endParaRPr lang="en-GB" noProof="0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5D869BE-6E6B-348D-D378-6CC37610C42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D90FC0-93EB-14C5-77CB-FC990AA5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0" y="1870075"/>
            <a:ext cx="8181135" cy="1558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ECC140-1613-1821-0CC9-CB2AA63D6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67" y="4021958"/>
            <a:ext cx="8186918" cy="2364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F49FD5-F005-544F-31D9-570040FD3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2780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011E-B6A2-F605-62D2-75F2312C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8. Final remarks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29CED5-DA02-0CE0-826D-32FB277D1D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8FE792-0364-4011-8053-26F035783A3A}" type="slidenum">
              <a:rPr lang="en-GB" noProof="0" smtClean="0"/>
              <a:t>13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DE8C5-FE9D-F4B0-826C-E1C01E979E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800" noProof="0" dirty="0"/>
              <a:t>Many features provided in the Java libraries can be called from R</a:t>
            </a:r>
          </a:p>
          <a:p>
            <a:endParaRPr lang="en-GB" sz="2800" noProof="0" dirty="0"/>
          </a:p>
          <a:p>
            <a:r>
              <a:rPr lang="en-GB" sz="2800" noProof="0" dirty="0"/>
              <a:t>Most tasks can be automated</a:t>
            </a:r>
          </a:p>
          <a:p>
            <a:r>
              <a:rPr lang="en-GB" sz="2800" noProof="0" dirty="0"/>
              <a:t>Many additional tools could be developed in R 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F4A3B4D-A573-4898-5AF0-72125FFCB46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RJD+</a:t>
            </a:r>
          </a:p>
        </p:txBody>
      </p:sp>
    </p:spTree>
    <p:extLst>
      <p:ext uri="{BB962C8B-B14F-4D97-AF65-F5344CB8AC3E}">
        <p14:creationId xmlns:p14="http://schemas.microsoft.com/office/powerpoint/2010/main" val="2240742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E084FC-5A6D-B3C7-3A17-9C4CA04805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44</TotalTime>
  <Words>449</Words>
  <Application>Microsoft Office PowerPoint</Application>
  <PresentationFormat>Grand écran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ESTAT Theme</vt:lpstr>
      <vt:lpstr>1.3 JD+ and R</vt:lpstr>
      <vt:lpstr>1. Main requirements</vt:lpstr>
      <vt:lpstr>2. Technical design of Rjdemetra (v2)</vt:lpstr>
      <vt:lpstr>3. Technical design of rjdverse (v3)</vt:lpstr>
      <vt:lpstr>4. rjdverse: Overview (https://github.com/rjdverse)</vt:lpstr>
      <vt:lpstr>4. rjdverse: Overview (Java libraries)</vt:lpstr>
      <vt:lpstr>4. rjdverse: Overview (main packages for SA)</vt:lpstr>
      <vt:lpstr>Présentation PowerPoint</vt:lpstr>
      <vt:lpstr>5. Objectives of R packages</vt:lpstr>
      <vt:lpstr>6. Installing the packages</vt:lpstr>
      <vt:lpstr>6. Installing the packages (cont)</vt:lpstr>
      <vt:lpstr>7. Examples</vt:lpstr>
      <vt:lpstr>8. Final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73</cp:revision>
  <dcterms:created xsi:type="dcterms:W3CDTF">2024-11-22T11:11:00Z</dcterms:created>
  <dcterms:modified xsi:type="dcterms:W3CDTF">2026-10-01T08:14:03Z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