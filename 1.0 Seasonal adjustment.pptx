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1"/>
  </p:notesMasterIdLst>
  <p:handoutMasterIdLst>
    <p:handoutMasterId r:id="rId22"/>
  </p:handoutMasterIdLst>
  <p:sldIdLst>
    <p:sldId id="256" r:id="rId5"/>
    <p:sldId id="283" r:id="rId6"/>
    <p:sldId id="284" r:id="rId7"/>
    <p:sldId id="288" r:id="rId8"/>
    <p:sldId id="292" r:id="rId9"/>
    <p:sldId id="293" r:id="rId10"/>
    <p:sldId id="289" r:id="rId11"/>
    <p:sldId id="285" r:id="rId12"/>
    <p:sldId id="299" r:id="rId13"/>
    <p:sldId id="300" r:id="rId14"/>
    <p:sldId id="301" r:id="rId15"/>
    <p:sldId id="294" r:id="rId16"/>
    <p:sldId id="295" r:id="rId17"/>
    <p:sldId id="296" r:id="rId18"/>
    <p:sldId id="286" r:id="rId19"/>
    <p:sldId id="261" r:id="rId20"/>
  </p:sldIdLst>
  <p:sldSz cx="12192000" cy="6858000"/>
  <p:notesSz cx="6858000" cy="9144000"/>
  <p:custDataLst>
    <p:tags r:id="rId23"/>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AA4A9A-08D4-41EC-A222-5D5926BFFED6}" v="2" dt="2025-07-04T13:46:36.3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81100" autoAdjust="0"/>
  </p:normalViewPr>
  <p:slideViewPr>
    <p:cSldViewPr snapToGrid="0">
      <p:cViewPr varScale="1">
        <p:scale>
          <a:sx n="71" d="100"/>
          <a:sy n="71" d="100"/>
        </p:scale>
        <p:origin x="693" y="51"/>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gs" Target="tags/tag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64"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Retail sales - total</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all!$C$1</c:f>
              <c:strCache>
                <c:ptCount val="1"/>
                <c:pt idx="0">
                  <c:v>sa_prophet</c:v>
                </c:pt>
              </c:strCache>
            </c:strRef>
          </c:tx>
          <c:spPr>
            <a:ln w="28575" cap="rnd">
              <a:solidFill>
                <a:schemeClr val="accent2"/>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all!$C$371:$C$438</c:f>
              <c:numCache>
                <c:formatCode>General</c:formatCode>
                <c:ptCount val="68"/>
                <c:pt idx="0">
                  <c:v>22235.586656550699</c:v>
                </c:pt>
                <c:pt idx="1">
                  <c:v>21737.418689391699</c:v>
                </c:pt>
                <c:pt idx="2">
                  <c:v>22082.1463773867</c:v>
                </c:pt>
                <c:pt idx="3">
                  <c:v>21705.408856586699</c:v>
                </c:pt>
                <c:pt idx="4">
                  <c:v>21814.0874931281</c:v>
                </c:pt>
                <c:pt idx="5">
                  <c:v>22065.451718030701</c:v>
                </c:pt>
                <c:pt idx="6">
                  <c:v>22067.286446175</c:v>
                </c:pt>
                <c:pt idx="7">
                  <c:v>22755.057821764502</c:v>
                </c:pt>
                <c:pt idx="8">
                  <c:v>22304.5995679384</c:v>
                </c:pt>
                <c:pt idx="9">
                  <c:v>22605.902398234099</c:v>
                </c:pt>
                <c:pt idx="10">
                  <c:v>22802.260473760402</c:v>
                </c:pt>
                <c:pt idx="11">
                  <c:v>21944.090381280399</c:v>
                </c:pt>
                <c:pt idx="12">
                  <c:v>23680.4921109192</c:v>
                </c:pt>
                <c:pt idx="13">
                  <c:v>22868.416770677901</c:v>
                </c:pt>
                <c:pt idx="14">
                  <c:v>23104.820862602901</c:v>
                </c:pt>
                <c:pt idx="15">
                  <c:v>23139.3142267699</c:v>
                </c:pt>
                <c:pt idx="16">
                  <c:v>22991.633000993301</c:v>
                </c:pt>
                <c:pt idx="17">
                  <c:v>23171.034908547699</c:v>
                </c:pt>
                <c:pt idx="18">
                  <c:v>23582.330183147798</c:v>
                </c:pt>
                <c:pt idx="19">
                  <c:v>23623.192467335401</c:v>
                </c:pt>
                <c:pt idx="20">
                  <c:v>23902.413474848599</c:v>
                </c:pt>
                <c:pt idx="21">
                  <c:v>24036.430350753399</c:v>
                </c:pt>
                <c:pt idx="22">
                  <c:v>23850.507920142001</c:v>
                </c:pt>
                <c:pt idx="23">
                  <c:v>22896.779020362501</c:v>
                </c:pt>
                <c:pt idx="24">
                  <c:v>24617.9365987985</c:v>
                </c:pt>
                <c:pt idx="25">
                  <c:v>23943.431621854201</c:v>
                </c:pt>
                <c:pt idx="26">
                  <c:v>24358.796628505101</c:v>
                </c:pt>
                <c:pt idx="27">
                  <c:v>24005.527845648201</c:v>
                </c:pt>
                <c:pt idx="28">
                  <c:v>23940.922631731399</c:v>
                </c:pt>
                <c:pt idx="29">
                  <c:v>24436.9279445838</c:v>
                </c:pt>
                <c:pt idx="30">
                  <c:v>24746.7103071038</c:v>
                </c:pt>
                <c:pt idx="31">
                  <c:v>24542.125934998901</c:v>
                </c:pt>
                <c:pt idx="32">
                  <c:v>24930.474757035601</c:v>
                </c:pt>
                <c:pt idx="33">
                  <c:v>25103.8766176891</c:v>
                </c:pt>
                <c:pt idx="34">
                  <c:v>24872.713251843801</c:v>
                </c:pt>
                <c:pt idx="35">
                  <c:v>24006.4103003337</c:v>
                </c:pt>
                <c:pt idx="36">
                  <c:v>25411.141593096199</c:v>
                </c:pt>
                <c:pt idx="37">
                  <c:v>25639.456200148299</c:v>
                </c:pt>
                <c:pt idx="38">
                  <c:v>25268.774754649701</c:v>
                </c:pt>
                <c:pt idx="39">
                  <c:v>25276.724724580701</c:v>
                </c:pt>
                <c:pt idx="40">
                  <c:v>24495.890086643401</c:v>
                </c:pt>
                <c:pt idx="41">
                  <c:v>25439.193490404999</c:v>
                </c:pt>
                <c:pt idx="42">
                  <c:v>25207.6919905467</c:v>
                </c:pt>
                <c:pt idx="43">
                  <c:v>25445.351334701802</c:v>
                </c:pt>
                <c:pt idx="44">
                  <c:v>25895.433671895498</c:v>
                </c:pt>
                <c:pt idx="45">
                  <c:v>25727.908479360402</c:v>
                </c:pt>
                <c:pt idx="46">
                  <c:v>25615.6666747159</c:v>
                </c:pt>
                <c:pt idx="47">
                  <c:v>24948.964540932298</c:v>
                </c:pt>
                <c:pt idx="48">
                  <c:v>26159.112393332201</c:v>
                </c:pt>
                <c:pt idx="49">
                  <c:v>25471.3377164839</c:v>
                </c:pt>
                <c:pt idx="50">
                  <c:v>25901.309313117599</c:v>
                </c:pt>
                <c:pt idx="51">
                  <c:v>25900.861432756501</c:v>
                </c:pt>
                <c:pt idx="52">
                  <c:v>25522.919034602201</c:v>
                </c:pt>
                <c:pt idx="53">
                  <c:v>26463.926046059401</c:v>
                </c:pt>
                <c:pt idx="54">
                  <c:v>25976.758489642099</c:v>
                </c:pt>
                <c:pt idx="55">
                  <c:v>26114.383784427599</c:v>
                </c:pt>
              </c:numCache>
            </c:numRef>
          </c:val>
          <c:smooth val="0"/>
          <c:extLst>
            <c:ext xmlns:c16="http://schemas.microsoft.com/office/drawing/2014/chart" uri="{C3380CC4-5D6E-409C-BE32-E72D297353CC}">
              <c16:uniqueId val="{00000000-F743-4A8D-AFAF-BD7124C78498}"/>
            </c:ext>
          </c:extLst>
        </c:ser>
        <c:ser>
          <c:idx val="2"/>
          <c:order val="1"/>
          <c:tx>
            <c:strRef>
              <c:f>all!$D$1</c:f>
              <c:strCache>
                <c:ptCount val="1"/>
                <c:pt idx="0">
                  <c:v>sa_stl</c:v>
                </c:pt>
              </c:strCache>
            </c:strRef>
          </c:tx>
          <c:spPr>
            <a:ln w="28575" cap="rnd">
              <a:solidFill>
                <a:schemeClr val="accent3"/>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all!$D$371:$D$438</c:f>
              <c:numCache>
                <c:formatCode>General</c:formatCode>
                <c:ptCount val="68"/>
                <c:pt idx="0">
                  <c:v>21758.969784414399</c:v>
                </c:pt>
                <c:pt idx="1">
                  <c:v>21781.0051718012</c:v>
                </c:pt>
                <c:pt idx="2">
                  <c:v>21942.4211707465</c:v>
                </c:pt>
                <c:pt idx="3">
                  <c:v>21846.754785259302</c:v>
                </c:pt>
                <c:pt idx="4">
                  <c:v>22091.7527183647</c:v>
                </c:pt>
                <c:pt idx="5">
                  <c:v>21995.592935542401</c:v>
                </c:pt>
                <c:pt idx="6">
                  <c:v>22039.4410196262</c:v>
                </c:pt>
                <c:pt idx="7">
                  <c:v>22435.272016837702</c:v>
                </c:pt>
                <c:pt idx="8">
                  <c:v>22186.607893750999</c:v>
                </c:pt>
                <c:pt idx="9">
                  <c:v>22441.139759169499</c:v>
                </c:pt>
                <c:pt idx="10">
                  <c:v>22738.278798754302</c:v>
                </c:pt>
                <c:pt idx="11">
                  <c:v>22743.7279443884</c:v>
                </c:pt>
                <c:pt idx="12">
                  <c:v>23070.8232376333</c:v>
                </c:pt>
                <c:pt idx="13">
                  <c:v>22856.3672011893</c:v>
                </c:pt>
                <c:pt idx="14">
                  <c:v>22929.676705801801</c:v>
                </c:pt>
                <c:pt idx="15">
                  <c:v>23263.3719747135</c:v>
                </c:pt>
                <c:pt idx="16">
                  <c:v>23296.982566359198</c:v>
                </c:pt>
                <c:pt idx="17">
                  <c:v>23170.1930763163</c:v>
                </c:pt>
                <c:pt idx="18">
                  <c:v>23506.9978939996</c:v>
                </c:pt>
                <c:pt idx="19">
                  <c:v>23441.110421670001</c:v>
                </c:pt>
                <c:pt idx="20">
                  <c:v>23668.371116117301</c:v>
                </c:pt>
                <c:pt idx="21">
                  <c:v>23853.5396886583</c:v>
                </c:pt>
                <c:pt idx="22">
                  <c:v>23737.1687380771</c:v>
                </c:pt>
                <c:pt idx="23">
                  <c:v>23753.2568035964</c:v>
                </c:pt>
                <c:pt idx="24">
                  <c:v>24060.726815413502</c:v>
                </c:pt>
                <c:pt idx="25">
                  <c:v>23867.264058364999</c:v>
                </c:pt>
                <c:pt idx="26">
                  <c:v>24155.489327928801</c:v>
                </c:pt>
                <c:pt idx="27">
                  <c:v>24078.321059782302</c:v>
                </c:pt>
                <c:pt idx="28">
                  <c:v>24285.218933680098</c:v>
                </c:pt>
                <c:pt idx="29">
                  <c:v>24360.927513920698</c:v>
                </c:pt>
                <c:pt idx="30">
                  <c:v>24633.059885066701</c:v>
                </c:pt>
                <c:pt idx="31">
                  <c:v>24452.728378309599</c:v>
                </c:pt>
                <c:pt idx="32">
                  <c:v>24610.181853255999</c:v>
                </c:pt>
                <c:pt idx="33">
                  <c:v>24952.760576524601</c:v>
                </c:pt>
                <c:pt idx="34">
                  <c:v>24717.292141932699</c:v>
                </c:pt>
                <c:pt idx="35">
                  <c:v>25147.033071072201</c:v>
                </c:pt>
                <c:pt idx="36">
                  <c:v>24902.8117434124</c:v>
                </c:pt>
                <c:pt idx="37">
                  <c:v>25404.9369354876</c:v>
                </c:pt>
                <c:pt idx="38">
                  <c:v>25100.002915350298</c:v>
                </c:pt>
                <c:pt idx="39">
                  <c:v>25236.826272611899</c:v>
                </c:pt>
                <c:pt idx="40">
                  <c:v>24914.786651974198</c:v>
                </c:pt>
                <c:pt idx="41">
                  <c:v>25209.481222616101</c:v>
                </c:pt>
                <c:pt idx="42">
                  <c:v>25186.3258340553</c:v>
                </c:pt>
                <c:pt idx="43">
                  <c:v>25249.066773695002</c:v>
                </c:pt>
                <c:pt idx="44">
                  <c:v>25661.9348941678</c:v>
                </c:pt>
                <c:pt idx="45">
                  <c:v>25469.480028558399</c:v>
                </c:pt>
                <c:pt idx="46">
                  <c:v>25714.642106714899</c:v>
                </c:pt>
                <c:pt idx="47">
                  <c:v>26273.711504420698</c:v>
                </c:pt>
                <c:pt idx="48">
                  <c:v>25464.805429104301</c:v>
                </c:pt>
                <c:pt idx="49">
                  <c:v>25300.494061862599</c:v>
                </c:pt>
                <c:pt idx="50">
                  <c:v>25702.731223843701</c:v>
                </c:pt>
                <c:pt idx="51">
                  <c:v>25843.5407641274</c:v>
                </c:pt>
                <c:pt idx="52">
                  <c:v>25920.889969755499</c:v>
                </c:pt>
                <c:pt idx="53">
                  <c:v>26203.4627216314</c:v>
                </c:pt>
                <c:pt idx="54">
                  <c:v>25907.227971951001</c:v>
                </c:pt>
                <c:pt idx="55">
                  <c:v>25951.863954318302</c:v>
                </c:pt>
              </c:numCache>
            </c:numRef>
          </c:val>
          <c:smooth val="0"/>
          <c:extLst>
            <c:ext xmlns:c16="http://schemas.microsoft.com/office/drawing/2014/chart" uri="{C3380CC4-5D6E-409C-BE32-E72D297353CC}">
              <c16:uniqueId val="{00000001-F743-4A8D-AFAF-BD7124C78498}"/>
            </c:ext>
          </c:extLst>
        </c:ser>
        <c:ser>
          <c:idx val="3"/>
          <c:order val="2"/>
          <c:tx>
            <c:strRef>
              <c:f>all!$E$1</c:f>
              <c:strCache>
                <c:ptCount val="1"/>
                <c:pt idx="0">
                  <c:v>sa_camplet</c:v>
                </c:pt>
              </c:strCache>
            </c:strRef>
          </c:tx>
          <c:spPr>
            <a:ln w="28575" cap="rnd">
              <a:solidFill>
                <a:schemeClr val="accent4"/>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all!$E$371:$E$438</c:f>
              <c:numCache>
                <c:formatCode>General</c:formatCode>
                <c:ptCount val="68"/>
                <c:pt idx="0">
                  <c:v>21987.980461519699</c:v>
                </c:pt>
                <c:pt idx="1">
                  <c:v>21678.094208308801</c:v>
                </c:pt>
                <c:pt idx="2">
                  <c:v>21909.9851833873</c:v>
                </c:pt>
                <c:pt idx="3">
                  <c:v>21832.537660017799</c:v>
                </c:pt>
                <c:pt idx="4">
                  <c:v>22045.927786429402</c:v>
                </c:pt>
                <c:pt idx="5">
                  <c:v>21799.870297641599</c:v>
                </c:pt>
                <c:pt idx="6">
                  <c:v>21966.672981168998</c:v>
                </c:pt>
                <c:pt idx="7">
                  <c:v>22239.214745922101</c:v>
                </c:pt>
                <c:pt idx="8">
                  <c:v>22104.426839922799</c:v>
                </c:pt>
                <c:pt idx="9">
                  <c:v>22504.055065783501</c:v>
                </c:pt>
                <c:pt idx="10">
                  <c:v>22681.984798291302</c:v>
                </c:pt>
                <c:pt idx="11">
                  <c:v>22906.427334231401</c:v>
                </c:pt>
                <c:pt idx="12">
                  <c:v>23119.615709395501</c:v>
                </c:pt>
                <c:pt idx="13">
                  <c:v>22781.0425138807</c:v>
                </c:pt>
                <c:pt idx="14">
                  <c:v>22900.086727795799</c:v>
                </c:pt>
                <c:pt idx="15">
                  <c:v>23205.559775561502</c:v>
                </c:pt>
                <c:pt idx="16">
                  <c:v>23189.450928809802</c:v>
                </c:pt>
                <c:pt idx="17">
                  <c:v>23127.451210325002</c:v>
                </c:pt>
                <c:pt idx="18">
                  <c:v>23497.179882611901</c:v>
                </c:pt>
                <c:pt idx="19">
                  <c:v>23273.193804196198</c:v>
                </c:pt>
                <c:pt idx="20">
                  <c:v>23715.095057752002</c:v>
                </c:pt>
                <c:pt idx="21">
                  <c:v>23913.668355261201</c:v>
                </c:pt>
                <c:pt idx="22">
                  <c:v>23737.922710541501</c:v>
                </c:pt>
                <c:pt idx="23">
                  <c:v>24054.3174447438</c:v>
                </c:pt>
                <c:pt idx="24">
                  <c:v>23971.744125353998</c:v>
                </c:pt>
                <c:pt idx="25">
                  <c:v>23899.178060182501</c:v>
                </c:pt>
                <c:pt idx="26">
                  <c:v>24167.1177981541</c:v>
                </c:pt>
                <c:pt idx="27">
                  <c:v>24084.872702964902</c:v>
                </c:pt>
                <c:pt idx="28">
                  <c:v>24178.369754047701</c:v>
                </c:pt>
                <c:pt idx="29">
                  <c:v>24430.411514552801</c:v>
                </c:pt>
                <c:pt idx="30">
                  <c:v>24529.4016275373</c:v>
                </c:pt>
                <c:pt idx="31">
                  <c:v>24395.847934732101</c:v>
                </c:pt>
                <c:pt idx="32">
                  <c:v>24612.440019250698</c:v>
                </c:pt>
                <c:pt idx="33">
                  <c:v>24844.628340642601</c:v>
                </c:pt>
                <c:pt idx="34">
                  <c:v>24761.4409035139</c:v>
                </c:pt>
                <c:pt idx="35">
                  <c:v>25274.0585926924</c:v>
                </c:pt>
                <c:pt idx="36">
                  <c:v>24865.400819562499</c:v>
                </c:pt>
                <c:pt idx="37">
                  <c:v>25350.087131171898</c:v>
                </c:pt>
                <c:pt idx="38">
                  <c:v>25132.2475993847</c:v>
                </c:pt>
                <c:pt idx="39">
                  <c:v>25316.324234321699</c:v>
                </c:pt>
                <c:pt idx="40">
                  <c:v>25028.6982513492</c:v>
                </c:pt>
                <c:pt idx="41">
                  <c:v>25327.831615962001</c:v>
                </c:pt>
                <c:pt idx="42">
                  <c:v>25184.2616536235</c:v>
                </c:pt>
                <c:pt idx="43">
                  <c:v>25322.468756021801</c:v>
                </c:pt>
                <c:pt idx="44">
                  <c:v>25637.005006416901</c:v>
                </c:pt>
                <c:pt idx="45">
                  <c:v>25406.745557991999</c:v>
                </c:pt>
                <c:pt idx="46">
                  <c:v>25734.908078949102</c:v>
                </c:pt>
                <c:pt idx="47">
                  <c:v>26085.925086453</c:v>
                </c:pt>
                <c:pt idx="48">
                  <c:v>25581.703050965301</c:v>
                </c:pt>
                <c:pt idx="49">
                  <c:v>25306.6318215018</c:v>
                </c:pt>
                <c:pt idx="50">
                  <c:v>25724.649199794902</c:v>
                </c:pt>
                <c:pt idx="51">
                  <c:v>25826.769189218299</c:v>
                </c:pt>
                <c:pt idx="52">
                  <c:v>26030.252194894201</c:v>
                </c:pt>
                <c:pt idx="53">
                  <c:v>26193.627205320699</c:v>
                </c:pt>
                <c:pt idx="54">
                  <c:v>26001.934440096698</c:v>
                </c:pt>
                <c:pt idx="55">
                  <c:v>26066.331252007301</c:v>
                </c:pt>
              </c:numCache>
            </c:numRef>
          </c:val>
          <c:smooth val="0"/>
          <c:extLst>
            <c:ext xmlns:c16="http://schemas.microsoft.com/office/drawing/2014/chart" uri="{C3380CC4-5D6E-409C-BE32-E72D297353CC}">
              <c16:uniqueId val="{00000002-F743-4A8D-AFAF-BD7124C78498}"/>
            </c:ext>
          </c:extLst>
        </c:ser>
        <c:ser>
          <c:idx val="4"/>
          <c:order val="3"/>
          <c:tx>
            <c:strRef>
              <c:f>all!$F$1</c:f>
              <c:strCache>
                <c:ptCount val="1"/>
                <c:pt idx="0">
                  <c:v>sa_sts</c:v>
                </c:pt>
              </c:strCache>
            </c:strRef>
          </c:tx>
          <c:spPr>
            <a:ln w="28575" cap="rnd">
              <a:solidFill>
                <a:schemeClr val="accent5"/>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all!$F$371:$F$438</c:f>
              <c:numCache>
                <c:formatCode>General</c:formatCode>
                <c:ptCount val="68"/>
                <c:pt idx="0">
                  <c:v>21768.207543207001</c:v>
                </c:pt>
                <c:pt idx="1">
                  <c:v>21790.779697154601</c:v>
                </c:pt>
                <c:pt idx="2">
                  <c:v>21945.3117844187</c:v>
                </c:pt>
                <c:pt idx="3">
                  <c:v>21828.515750408598</c:v>
                </c:pt>
                <c:pt idx="4">
                  <c:v>22010.524727548</c:v>
                </c:pt>
                <c:pt idx="5">
                  <c:v>22061.910397003401</c:v>
                </c:pt>
                <c:pt idx="6">
                  <c:v>22077.254727885302</c:v>
                </c:pt>
                <c:pt idx="7">
                  <c:v>22359.185507384202</c:v>
                </c:pt>
                <c:pt idx="8">
                  <c:v>22333.5764813194</c:v>
                </c:pt>
                <c:pt idx="9">
                  <c:v>22508.508828804799</c:v>
                </c:pt>
                <c:pt idx="10">
                  <c:v>22632.623543287398</c:v>
                </c:pt>
                <c:pt idx="11">
                  <c:v>22847.852006862198</c:v>
                </c:pt>
                <c:pt idx="12">
                  <c:v>23055.686432760402</c:v>
                </c:pt>
                <c:pt idx="13">
                  <c:v>22910.011573066098</c:v>
                </c:pt>
                <c:pt idx="14">
                  <c:v>23089.870000245901</c:v>
                </c:pt>
                <c:pt idx="15">
                  <c:v>23260.396349958901</c:v>
                </c:pt>
                <c:pt idx="16">
                  <c:v>23156.734784173699</c:v>
                </c:pt>
                <c:pt idx="17">
                  <c:v>23259.687006409</c:v>
                </c:pt>
                <c:pt idx="18">
                  <c:v>23499.4483453051</c:v>
                </c:pt>
                <c:pt idx="19">
                  <c:v>23485.566516458599</c:v>
                </c:pt>
                <c:pt idx="20">
                  <c:v>23722.1321844878</c:v>
                </c:pt>
                <c:pt idx="21">
                  <c:v>23794.174144692999</c:v>
                </c:pt>
                <c:pt idx="22">
                  <c:v>23868.698184463301</c:v>
                </c:pt>
                <c:pt idx="23">
                  <c:v>23760.8603642669</c:v>
                </c:pt>
                <c:pt idx="24">
                  <c:v>23971.4964404614</c:v>
                </c:pt>
                <c:pt idx="25">
                  <c:v>23955.572534927</c:v>
                </c:pt>
                <c:pt idx="26">
                  <c:v>24357.6790821457</c:v>
                </c:pt>
                <c:pt idx="27">
                  <c:v>24102.54403605</c:v>
                </c:pt>
                <c:pt idx="28">
                  <c:v>24300.2357231979</c:v>
                </c:pt>
                <c:pt idx="29">
                  <c:v>24398.850137556699</c:v>
                </c:pt>
                <c:pt idx="30">
                  <c:v>24509.072505767199</c:v>
                </c:pt>
                <c:pt idx="31">
                  <c:v>24600.050190911999</c:v>
                </c:pt>
                <c:pt idx="32">
                  <c:v>24701.516242637401</c:v>
                </c:pt>
                <c:pt idx="33">
                  <c:v>24806.1752444177</c:v>
                </c:pt>
                <c:pt idx="34">
                  <c:v>24854.0904302218</c:v>
                </c:pt>
                <c:pt idx="35">
                  <c:v>24903.0827991531</c:v>
                </c:pt>
                <c:pt idx="36">
                  <c:v>25003.332776427</c:v>
                </c:pt>
                <c:pt idx="37">
                  <c:v>25600.0872651073</c:v>
                </c:pt>
                <c:pt idx="38">
                  <c:v>25179.0757310714</c:v>
                </c:pt>
                <c:pt idx="39">
                  <c:v>25149.336983468598</c:v>
                </c:pt>
                <c:pt idx="40">
                  <c:v>25136.716658264701</c:v>
                </c:pt>
                <c:pt idx="41">
                  <c:v>25265.022197050599</c:v>
                </c:pt>
                <c:pt idx="42">
                  <c:v>25213.765891815699</c:v>
                </c:pt>
                <c:pt idx="43">
                  <c:v>25355.380351743101</c:v>
                </c:pt>
                <c:pt idx="44">
                  <c:v>25549.1983390075</c:v>
                </c:pt>
                <c:pt idx="45">
                  <c:v>25632.003398701399</c:v>
                </c:pt>
                <c:pt idx="46">
                  <c:v>25694.077096427998</c:v>
                </c:pt>
                <c:pt idx="47">
                  <c:v>25599.0048299173</c:v>
                </c:pt>
                <c:pt idx="48">
                  <c:v>25742.3834195294</c:v>
                </c:pt>
                <c:pt idx="49">
                  <c:v>25503.394173867699</c:v>
                </c:pt>
                <c:pt idx="50">
                  <c:v>25667.099816054</c:v>
                </c:pt>
                <c:pt idx="51">
                  <c:v>26045.0008192731</c:v>
                </c:pt>
                <c:pt idx="52">
                  <c:v>26033.558661978801</c:v>
                </c:pt>
                <c:pt idx="53">
                  <c:v>26128.519518535701</c:v>
                </c:pt>
                <c:pt idx="54">
                  <c:v>26078.206529336199</c:v>
                </c:pt>
                <c:pt idx="55">
                  <c:v>26047.602720694402</c:v>
                </c:pt>
              </c:numCache>
            </c:numRef>
          </c:val>
          <c:smooth val="0"/>
          <c:extLst>
            <c:ext xmlns:c16="http://schemas.microsoft.com/office/drawing/2014/chart" uri="{C3380CC4-5D6E-409C-BE32-E72D297353CC}">
              <c16:uniqueId val="{00000003-F743-4A8D-AFAF-BD7124C78498}"/>
            </c:ext>
          </c:extLst>
        </c:ser>
        <c:ser>
          <c:idx val="5"/>
          <c:order val="4"/>
          <c:tx>
            <c:strRef>
              <c:f>all!$G$1</c:f>
              <c:strCache>
                <c:ptCount val="1"/>
                <c:pt idx="0">
                  <c:v>sa_ts0</c:v>
                </c:pt>
              </c:strCache>
            </c:strRef>
          </c:tx>
          <c:spPr>
            <a:ln w="28575" cap="rnd">
              <a:solidFill>
                <a:schemeClr val="accent6"/>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all!$G$371:$G$438</c:f>
              <c:numCache>
                <c:formatCode>General</c:formatCode>
                <c:ptCount val="68"/>
                <c:pt idx="0">
                  <c:v>21760.3768429581</c:v>
                </c:pt>
                <c:pt idx="1">
                  <c:v>21784.284891978499</c:v>
                </c:pt>
                <c:pt idx="2">
                  <c:v>21928.921065464401</c:v>
                </c:pt>
                <c:pt idx="3">
                  <c:v>21867.4408531183</c:v>
                </c:pt>
                <c:pt idx="4">
                  <c:v>22074.3590137549</c:v>
                </c:pt>
                <c:pt idx="5">
                  <c:v>22009.901711890801</c:v>
                </c:pt>
                <c:pt idx="6">
                  <c:v>22067.6640739953</c:v>
                </c:pt>
                <c:pt idx="7">
                  <c:v>22402.151796235801</c:v>
                </c:pt>
                <c:pt idx="8">
                  <c:v>22221.352759559399</c:v>
                </c:pt>
                <c:pt idx="9">
                  <c:v>22453.561961466301</c:v>
                </c:pt>
                <c:pt idx="10">
                  <c:v>22705.224384363799</c:v>
                </c:pt>
                <c:pt idx="11">
                  <c:v>22734.656449895101</c:v>
                </c:pt>
                <c:pt idx="12">
                  <c:v>23020.6306033279</c:v>
                </c:pt>
                <c:pt idx="13">
                  <c:v>22898.385140762599</c:v>
                </c:pt>
                <c:pt idx="14">
                  <c:v>22959.665101840699</c:v>
                </c:pt>
                <c:pt idx="15">
                  <c:v>23229.6215118869</c:v>
                </c:pt>
                <c:pt idx="16">
                  <c:v>23281.137641821901</c:v>
                </c:pt>
                <c:pt idx="17">
                  <c:v>23202.896939474798</c:v>
                </c:pt>
                <c:pt idx="18">
                  <c:v>23479.625459032199</c:v>
                </c:pt>
                <c:pt idx="19">
                  <c:v>23460.673722131101</c:v>
                </c:pt>
                <c:pt idx="20">
                  <c:v>23673.604319747301</c:v>
                </c:pt>
                <c:pt idx="21">
                  <c:v>23784.838947322201</c:v>
                </c:pt>
                <c:pt idx="22">
                  <c:v>23751.970440728299</c:v>
                </c:pt>
                <c:pt idx="23">
                  <c:v>23774.226344308499</c:v>
                </c:pt>
                <c:pt idx="24">
                  <c:v>24012.1683385459</c:v>
                </c:pt>
                <c:pt idx="25">
                  <c:v>23903.250399954301</c:v>
                </c:pt>
                <c:pt idx="26">
                  <c:v>24168.276457294502</c:v>
                </c:pt>
                <c:pt idx="27">
                  <c:v>24111.525147574899</c:v>
                </c:pt>
                <c:pt idx="28">
                  <c:v>24328.044687156598</c:v>
                </c:pt>
                <c:pt idx="29">
                  <c:v>24410.5675372976</c:v>
                </c:pt>
                <c:pt idx="30">
                  <c:v>24599.480444719899</c:v>
                </c:pt>
                <c:pt idx="31">
                  <c:v>24532.371779245499</c:v>
                </c:pt>
                <c:pt idx="32">
                  <c:v>24582.316023122301</c:v>
                </c:pt>
                <c:pt idx="33">
                  <c:v>24853.614903587299</c:v>
                </c:pt>
                <c:pt idx="34">
                  <c:v>24737.575142315902</c:v>
                </c:pt>
                <c:pt idx="35">
                  <c:v>24939.224063078502</c:v>
                </c:pt>
                <c:pt idx="36">
                  <c:v>24959.4696532577</c:v>
                </c:pt>
                <c:pt idx="37">
                  <c:v>25384.156123132499</c:v>
                </c:pt>
                <c:pt idx="38">
                  <c:v>25128.951857459899</c:v>
                </c:pt>
                <c:pt idx="39">
                  <c:v>25241.918543702301</c:v>
                </c:pt>
                <c:pt idx="40">
                  <c:v>25054.617778781299</c:v>
                </c:pt>
                <c:pt idx="41">
                  <c:v>25217.096667039601</c:v>
                </c:pt>
                <c:pt idx="42">
                  <c:v>25265.1563782878</c:v>
                </c:pt>
                <c:pt idx="43">
                  <c:v>25378.757430411501</c:v>
                </c:pt>
                <c:pt idx="44">
                  <c:v>25545.335344764801</c:v>
                </c:pt>
                <c:pt idx="45">
                  <c:v>25440.322375139</c:v>
                </c:pt>
                <c:pt idx="46">
                  <c:v>25651.581310779398</c:v>
                </c:pt>
                <c:pt idx="47">
                  <c:v>25843.096465356</c:v>
                </c:pt>
                <c:pt idx="48">
                  <c:v>25606.467982088801</c:v>
                </c:pt>
                <c:pt idx="49">
                  <c:v>25490.428313785898</c:v>
                </c:pt>
                <c:pt idx="50">
                  <c:v>25765.3512999384</c:v>
                </c:pt>
                <c:pt idx="51">
                  <c:v>25850.3257897697</c:v>
                </c:pt>
                <c:pt idx="52">
                  <c:v>25998.553886638401</c:v>
                </c:pt>
                <c:pt idx="53">
                  <c:v>26102.602396948299</c:v>
                </c:pt>
                <c:pt idx="54">
                  <c:v>26030.712002707802</c:v>
                </c:pt>
                <c:pt idx="55">
                  <c:v>26098.572580654301</c:v>
                </c:pt>
              </c:numCache>
            </c:numRef>
          </c:val>
          <c:smooth val="0"/>
          <c:extLst>
            <c:ext xmlns:c16="http://schemas.microsoft.com/office/drawing/2014/chart" uri="{C3380CC4-5D6E-409C-BE32-E72D297353CC}">
              <c16:uniqueId val="{00000004-F743-4A8D-AFAF-BD7124C78498}"/>
            </c:ext>
          </c:extLst>
        </c:ser>
        <c:ser>
          <c:idx val="6"/>
          <c:order val="5"/>
          <c:tx>
            <c:strRef>
              <c:f>all!$H$1</c:f>
              <c:strCache>
                <c:ptCount val="1"/>
                <c:pt idx="0">
                  <c:v>sa_ts</c:v>
                </c:pt>
              </c:strCache>
            </c:strRef>
          </c:tx>
          <c:spPr>
            <a:ln w="28575" cap="rnd">
              <a:solidFill>
                <a:schemeClr val="accent1">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all!$H$371:$H$438</c:f>
              <c:numCache>
                <c:formatCode>General</c:formatCode>
                <c:ptCount val="68"/>
                <c:pt idx="0">
                  <c:v>21655.212067313299</c:v>
                </c:pt>
                <c:pt idx="1">
                  <c:v>21965.8120664415</c:v>
                </c:pt>
                <c:pt idx="2">
                  <c:v>21900.828463984399</c:v>
                </c:pt>
                <c:pt idx="3">
                  <c:v>21985.373067040098</c:v>
                </c:pt>
                <c:pt idx="4">
                  <c:v>21930.291417275199</c:v>
                </c:pt>
                <c:pt idx="5">
                  <c:v>22138.020948843801</c:v>
                </c:pt>
                <c:pt idx="6">
                  <c:v>22047.206568343699</c:v>
                </c:pt>
                <c:pt idx="7">
                  <c:v>22242.348750894002</c:v>
                </c:pt>
                <c:pt idx="8">
                  <c:v>22452.571139309599</c:v>
                </c:pt>
                <c:pt idx="9">
                  <c:v>22413.488512346801</c:v>
                </c:pt>
                <c:pt idx="10">
                  <c:v>22579.935974579199</c:v>
                </c:pt>
                <c:pt idx="11">
                  <c:v>23019.1007019561</c:v>
                </c:pt>
                <c:pt idx="12">
                  <c:v>22945.135218507101</c:v>
                </c:pt>
                <c:pt idx="13">
                  <c:v>23060.1091025227</c:v>
                </c:pt>
                <c:pt idx="14">
                  <c:v>23247.2113018083</c:v>
                </c:pt>
                <c:pt idx="15">
                  <c:v>23166.8611840091</c:v>
                </c:pt>
                <c:pt idx="16">
                  <c:v>23057.843729219399</c:v>
                </c:pt>
                <c:pt idx="17">
                  <c:v>23426.496597554898</c:v>
                </c:pt>
                <c:pt idx="18">
                  <c:v>23387.311380574502</c:v>
                </c:pt>
                <c:pt idx="19">
                  <c:v>23570.836694326001</c:v>
                </c:pt>
                <c:pt idx="20">
                  <c:v>23723.382285841799</c:v>
                </c:pt>
                <c:pt idx="21">
                  <c:v>23691.229733615</c:v>
                </c:pt>
                <c:pt idx="22">
                  <c:v>23934.8575170726</c:v>
                </c:pt>
                <c:pt idx="23">
                  <c:v>23770.700048985898</c:v>
                </c:pt>
                <c:pt idx="24">
                  <c:v>23826.624668904398</c:v>
                </c:pt>
                <c:pt idx="25">
                  <c:v>24120.8238599008</c:v>
                </c:pt>
                <c:pt idx="26">
                  <c:v>24567.058980370799</c:v>
                </c:pt>
                <c:pt idx="27">
                  <c:v>23959.679051937201</c:v>
                </c:pt>
                <c:pt idx="28">
                  <c:v>24391.328139478701</c:v>
                </c:pt>
                <c:pt idx="29">
                  <c:v>24444.743461783899</c:v>
                </c:pt>
                <c:pt idx="30">
                  <c:v>24378.302422585599</c:v>
                </c:pt>
                <c:pt idx="31">
                  <c:v>24757.853700261101</c:v>
                </c:pt>
                <c:pt idx="32">
                  <c:v>24618.147376366102</c:v>
                </c:pt>
                <c:pt idx="33">
                  <c:v>24657.458546199399</c:v>
                </c:pt>
                <c:pt idx="34">
                  <c:v>25014.442094507802</c:v>
                </c:pt>
                <c:pt idx="35">
                  <c:v>24812.534437156501</c:v>
                </c:pt>
                <c:pt idx="36">
                  <c:v>25039.992915446099</c:v>
                </c:pt>
                <c:pt idx="37">
                  <c:v>25086.6597195533</c:v>
                </c:pt>
                <c:pt idx="38">
                  <c:v>24887.024812079799</c:v>
                </c:pt>
                <c:pt idx="39">
                  <c:v>25233.695461728901</c:v>
                </c:pt>
                <c:pt idx="40">
                  <c:v>25311.967712006001</c:v>
                </c:pt>
                <c:pt idx="41">
                  <c:v>25142.606653033501</c:v>
                </c:pt>
                <c:pt idx="42">
                  <c:v>25293.7407184199</c:v>
                </c:pt>
                <c:pt idx="43">
                  <c:v>25366.517559738899</c:v>
                </c:pt>
                <c:pt idx="44">
                  <c:v>25453.659874783101</c:v>
                </c:pt>
                <c:pt idx="45">
                  <c:v>25779.134337673298</c:v>
                </c:pt>
                <c:pt idx="46">
                  <c:v>25575.4727668778</c:v>
                </c:pt>
                <c:pt idx="47">
                  <c:v>25542.1396170035</c:v>
                </c:pt>
                <c:pt idx="48">
                  <c:v>25868.207621200199</c:v>
                </c:pt>
                <c:pt idx="49">
                  <c:v>25711.634604377301</c:v>
                </c:pt>
                <c:pt idx="50">
                  <c:v>25628.2242401529</c:v>
                </c:pt>
                <c:pt idx="51">
                  <c:v>26065.935290467802</c:v>
                </c:pt>
                <c:pt idx="52">
                  <c:v>25971.671713453699</c:v>
                </c:pt>
                <c:pt idx="53">
                  <c:v>26060.580231870401</c:v>
                </c:pt>
                <c:pt idx="54">
                  <c:v>26215.4467542122</c:v>
                </c:pt>
                <c:pt idx="55">
                  <c:v>25922.254636248199</c:v>
                </c:pt>
              </c:numCache>
            </c:numRef>
          </c:val>
          <c:smooth val="0"/>
          <c:extLst>
            <c:ext xmlns:c16="http://schemas.microsoft.com/office/drawing/2014/chart" uri="{C3380CC4-5D6E-409C-BE32-E72D297353CC}">
              <c16:uniqueId val="{00000005-F743-4A8D-AFAF-BD7124C78498}"/>
            </c:ext>
          </c:extLst>
        </c:ser>
        <c:ser>
          <c:idx val="7"/>
          <c:order val="6"/>
          <c:tx>
            <c:strRef>
              <c:f>all!$I$1</c:f>
              <c:strCache>
                <c:ptCount val="1"/>
                <c:pt idx="0">
                  <c:v>sa_x11</c:v>
                </c:pt>
              </c:strCache>
            </c:strRef>
          </c:tx>
          <c:spPr>
            <a:ln w="28575" cap="rnd">
              <a:solidFill>
                <a:schemeClr val="accent2">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all!$I$371:$I$438</c:f>
              <c:numCache>
                <c:formatCode>General</c:formatCode>
                <c:ptCount val="68"/>
                <c:pt idx="0">
                  <c:v>21650.036400396399</c:v>
                </c:pt>
                <c:pt idx="1">
                  <c:v>21796.543427890199</c:v>
                </c:pt>
                <c:pt idx="2">
                  <c:v>21929.6616681417</c:v>
                </c:pt>
                <c:pt idx="3">
                  <c:v>21778.701316126899</c:v>
                </c:pt>
                <c:pt idx="4">
                  <c:v>22122.985841237802</c:v>
                </c:pt>
                <c:pt idx="5">
                  <c:v>22055.5894139501</c:v>
                </c:pt>
                <c:pt idx="6">
                  <c:v>22014.7121503501</c:v>
                </c:pt>
                <c:pt idx="7">
                  <c:v>22545.083243475601</c:v>
                </c:pt>
                <c:pt idx="8">
                  <c:v>22164.970315193201</c:v>
                </c:pt>
                <c:pt idx="9">
                  <c:v>22466.114862510702</c:v>
                </c:pt>
                <c:pt idx="10">
                  <c:v>22776.3287106237</c:v>
                </c:pt>
                <c:pt idx="11">
                  <c:v>22694.566823486599</c:v>
                </c:pt>
                <c:pt idx="12">
                  <c:v>23088.6406961008</c:v>
                </c:pt>
                <c:pt idx="13">
                  <c:v>22818.5745278508</c:v>
                </c:pt>
                <c:pt idx="14">
                  <c:v>22915.222781875698</c:v>
                </c:pt>
                <c:pt idx="15">
                  <c:v>23198.560138628302</c:v>
                </c:pt>
                <c:pt idx="16">
                  <c:v>23295.164478640101</c:v>
                </c:pt>
                <c:pt idx="17">
                  <c:v>23142.116320023899</c:v>
                </c:pt>
                <c:pt idx="18">
                  <c:v>23512.960145253801</c:v>
                </c:pt>
                <c:pt idx="19">
                  <c:v>23486.4979738863</c:v>
                </c:pt>
                <c:pt idx="20">
                  <c:v>23671.460216346801</c:v>
                </c:pt>
                <c:pt idx="21">
                  <c:v>23864.0734115835</c:v>
                </c:pt>
                <c:pt idx="22">
                  <c:v>23750.279364139002</c:v>
                </c:pt>
                <c:pt idx="23">
                  <c:v>23887.5820545602</c:v>
                </c:pt>
                <c:pt idx="24">
                  <c:v>24046.904170186201</c:v>
                </c:pt>
                <c:pt idx="25">
                  <c:v>23784.899936330599</c:v>
                </c:pt>
                <c:pt idx="26">
                  <c:v>24138.050583266198</c:v>
                </c:pt>
                <c:pt idx="27">
                  <c:v>24055.978444875302</c:v>
                </c:pt>
                <c:pt idx="28">
                  <c:v>24249.853476239401</c:v>
                </c:pt>
                <c:pt idx="29">
                  <c:v>24370.786334880198</c:v>
                </c:pt>
                <c:pt idx="30">
                  <c:v>24639.3705084912</c:v>
                </c:pt>
                <c:pt idx="31">
                  <c:v>24487.604693967201</c:v>
                </c:pt>
                <c:pt idx="32">
                  <c:v>24600.0188519246</c:v>
                </c:pt>
                <c:pt idx="33">
                  <c:v>24921.431534513598</c:v>
                </c:pt>
                <c:pt idx="34">
                  <c:v>24707.873539152599</c:v>
                </c:pt>
                <c:pt idx="35">
                  <c:v>25314.8932076934</c:v>
                </c:pt>
                <c:pt idx="36">
                  <c:v>24887.886498642001</c:v>
                </c:pt>
                <c:pt idx="37">
                  <c:v>25298.515612455099</c:v>
                </c:pt>
                <c:pt idx="38">
                  <c:v>25089.786181111998</c:v>
                </c:pt>
                <c:pt idx="39">
                  <c:v>25219.782183083</c:v>
                </c:pt>
                <c:pt idx="40">
                  <c:v>24901.538912567401</c:v>
                </c:pt>
                <c:pt idx="41">
                  <c:v>25217.564700132101</c:v>
                </c:pt>
                <c:pt idx="42">
                  <c:v>25196.735026084501</c:v>
                </c:pt>
                <c:pt idx="43">
                  <c:v>25316.4863527788</c:v>
                </c:pt>
                <c:pt idx="44">
                  <c:v>25638.0747596439</c:v>
                </c:pt>
                <c:pt idx="45">
                  <c:v>25412.042092666001</c:v>
                </c:pt>
                <c:pt idx="46">
                  <c:v>25704.1689220833</c:v>
                </c:pt>
                <c:pt idx="47">
                  <c:v>26450.4469756908</c:v>
                </c:pt>
                <c:pt idx="48">
                  <c:v>25446.660130329899</c:v>
                </c:pt>
                <c:pt idx="49">
                  <c:v>25181.755994084098</c:v>
                </c:pt>
                <c:pt idx="50">
                  <c:v>25695.7784886226</c:v>
                </c:pt>
                <c:pt idx="51">
                  <c:v>25828.366297733901</c:v>
                </c:pt>
                <c:pt idx="52">
                  <c:v>25918.621858966599</c:v>
                </c:pt>
                <c:pt idx="53">
                  <c:v>26202.767559175802</c:v>
                </c:pt>
                <c:pt idx="54">
                  <c:v>25911.541794653898</c:v>
                </c:pt>
                <c:pt idx="55">
                  <c:v>26027.284946454602</c:v>
                </c:pt>
              </c:numCache>
            </c:numRef>
          </c:val>
          <c:smooth val="0"/>
          <c:extLst>
            <c:ext xmlns:c16="http://schemas.microsoft.com/office/drawing/2014/chart" uri="{C3380CC4-5D6E-409C-BE32-E72D297353CC}">
              <c16:uniqueId val="{00000006-F743-4A8D-AFAF-BD7124C78498}"/>
            </c:ext>
          </c:extLst>
        </c:ser>
        <c:ser>
          <c:idx val="8"/>
          <c:order val="7"/>
          <c:tx>
            <c:strRef>
              <c:f>all!$J$1</c:f>
              <c:strCache>
                <c:ptCount val="1"/>
                <c:pt idx="0">
                  <c:v>sa_x13</c:v>
                </c:pt>
              </c:strCache>
            </c:strRef>
          </c:tx>
          <c:spPr>
            <a:ln w="28575" cap="rnd">
              <a:solidFill>
                <a:schemeClr val="accent3">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all!$J$371:$J$438</c:f>
              <c:numCache>
                <c:formatCode>General</c:formatCode>
                <c:ptCount val="68"/>
                <c:pt idx="0">
                  <c:v>21607.395372295101</c:v>
                </c:pt>
                <c:pt idx="1">
                  <c:v>21912.5619909376</c:v>
                </c:pt>
                <c:pt idx="2">
                  <c:v>21961.7301503044</c:v>
                </c:pt>
                <c:pt idx="3">
                  <c:v>21914.563638319501</c:v>
                </c:pt>
                <c:pt idx="4">
                  <c:v>21863.198541142301</c:v>
                </c:pt>
                <c:pt idx="5">
                  <c:v>22106.8043323579</c:v>
                </c:pt>
                <c:pt idx="6">
                  <c:v>22008.817318231999</c:v>
                </c:pt>
                <c:pt idx="7">
                  <c:v>22193.408011218002</c:v>
                </c:pt>
                <c:pt idx="8">
                  <c:v>22423.435544303698</c:v>
                </c:pt>
                <c:pt idx="9">
                  <c:v>22431.124696537299</c:v>
                </c:pt>
                <c:pt idx="10">
                  <c:v>22559.027748922101</c:v>
                </c:pt>
                <c:pt idx="11">
                  <c:v>23057.0774931862</c:v>
                </c:pt>
                <c:pt idx="12">
                  <c:v>22909.626653248099</c:v>
                </c:pt>
                <c:pt idx="13">
                  <c:v>23013.9315425104</c:v>
                </c:pt>
                <c:pt idx="14">
                  <c:v>23455.797209133201</c:v>
                </c:pt>
                <c:pt idx="15">
                  <c:v>22988.968197189999</c:v>
                </c:pt>
                <c:pt idx="16">
                  <c:v>22988.6363521003</c:v>
                </c:pt>
                <c:pt idx="17">
                  <c:v>23382.461605180499</c:v>
                </c:pt>
                <c:pt idx="18">
                  <c:v>23344.8189446168</c:v>
                </c:pt>
                <c:pt idx="19">
                  <c:v>23533.029982010499</c:v>
                </c:pt>
                <c:pt idx="20">
                  <c:v>23677.910347999601</c:v>
                </c:pt>
                <c:pt idx="21">
                  <c:v>23703.491314777501</c:v>
                </c:pt>
                <c:pt idx="22">
                  <c:v>23932.057388157598</c:v>
                </c:pt>
                <c:pt idx="23">
                  <c:v>23779.1610499333</c:v>
                </c:pt>
                <c:pt idx="24">
                  <c:v>23772.107354380099</c:v>
                </c:pt>
                <c:pt idx="25">
                  <c:v>24088.063214665501</c:v>
                </c:pt>
                <c:pt idx="26">
                  <c:v>24593.3543533175</c:v>
                </c:pt>
                <c:pt idx="27">
                  <c:v>23930.274477133698</c:v>
                </c:pt>
                <c:pt idx="28">
                  <c:v>24358.9964841498</c:v>
                </c:pt>
                <c:pt idx="29">
                  <c:v>24391.921376046201</c:v>
                </c:pt>
                <c:pt idx="30">
                  <c:v>24329.536751124499</c:v>
                </c:pt>
                <c:pt idx="31">
                  <c:v>24719.851013260301</c:v>
                </c:pt>
                <c:pt idx="32">
                  <c:v>24574.611310464399</c:v>
                </c:pt>
                <c:pt idx="33">
                  <c:v>24697.560277030501</c:v>
                </c:pt>
                <c:pt idx="34">
                  <c:v>24996.1720337107</c:v>
                </c:pt>
                <c:pt idx="35">
                  <c:v>24795.697797611501</c:v>
                </c:pt>
                <c:pt idx="36">
                  <c:v>25010.9646184388</c:v>
                </c:pt>
                <c:pt idx="37">
                  <c:v>24965.748600229199</c:v>
                </c:pt>
                <c:pt idx="38">
                  <c:v>24940.212248795298</c:v>
                </c:pt>
                <c:pt idx="39">
                  <c:v>25153.6387702793</c:v>
                </c:pt>
                <c:pt idx="40">
                  <c:v>25273.677832332301</c:v>
                </c:pt>
                <c:pt idx="41">
                  <c:v>25091.8462767612</c:v>
                </c:pt>
                <c:pt idx="42">
                  <c:v>25288.970030851</c:v>
                </c:pt>
                <c:pt idx="43">
                  <c:v>25268.718526497501</c:v>
                </c:pt>
                <c:pt idx="44">
                  <c:v>25406.124110954901</c:v>
                </c:pt>
                <c:pt idx="45">
                  <c:v>25866.0048997296</c:v>
                </c:pt>
                <c:pt idx="46">
                  <c:v>25519.153279767499</c:v>
                </c:pt>
                <c:pt idx="47">
                  <c:v>25526.665153983598</c:v>
                </c:pt>
                <c:pt idx="48">
                  <c:v>25838.618951095101</c:v>
                </c:pt>
                <c:pt idx="49">
                  <c:v>25680.1043104073</c:v>
                </c:pt>
                <c:pt idx="50">
                  <c:v>25722.804455820798</c:v>
                </c:pt>
                <c:pt idx="51">
                  <c:v>25945.5114485987</c:v>
                </c:pt>
                <c:pt idx="52">
                  <c:v>25918.237443343001</c:v>
                </c:pt>
                <c:pt idx="53">
                  <c:v>26030.465336334499</c:v>
                </c:pt>
                <c:pt idx="54">
                  <c:v>26217.517297342001</c:v>
                </c:pt>
                <c:pt idx="55">
                  <c:v>25786.875335456101</c:v>
                </c:pt>
              </c:numCache>
            </c:numRef>
          </c:val>
          <c:smooth val="0"/>
          <c:extLst>
            <c:ext xmlns:c16="http://schemas.microsoft.com/office/drawing/2014/chart" uri="{C3380CC4-5D6E-409C-BE32-E72D297353CC}">
              <c16:uniqueId val="{00000007-F743-4A8D-AFAF-BD7124C78498}"/>
            </c:ext>
          </c:extLst>
        </c:ser>
        <c:dLbls>
          <c:showLegendKey val="0"/>
          <c:showVal val="0"/>
          <c:showCatName val="0"/>
          <c:showSerName val="0"/>
          <c:showPercent val="0"/>
          <c:showBubbleSize val="0"/>
        </c:dLbls>
        <c:smooth val="0"/>
        <c:axId val="1996481984"/>
        <c:axId val="1798737648"/>
      </c:lineChart>
      <c:dateAx>
        <c:axId val="1996481984"/>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8737648"/>
        <c:crosses val="autoZero"/>
        <c:auto val="1"/>
        <c:lblOffset val="100"/>
        <c:baseTimeUnit val="months"/>
      </c:dateAx>
      <c:valAx>
        <c:axId val="1798737648"/>
        <c:scaling>
          <c:orientation val="minMax"/>
          <c:min val="21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964819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Retail sales - total</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2"/>
          <c:order val="0"/>
          <c:tx>
            <c:strRef>
              <c:f>all!$D$1</c:f>
              <c:strCache>
                <c:ptCount val="1"/>
                <c:pt idx="0">
                  <c:v>sa_stl</c:v>
                </c:pt>
              </c:strCache>
            </c:strRef>
          </c:tx>
          <c:spPr>
            <a:ln w="28575" cap="rnd">
              <a:solidFill>
                <a:schemeClr val="accent3"/>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all!$D$371:$D$438</c:f>
              <c:numCache>
                <c:formatCode>General</c:formatCode>
                <c:ptCount val="68"/>
                <c:pt idx="0">
                  <c:v>21758.969784414399</c:v>
                </c:pt>
                <c:pt idx="1">
                  <c:v>21781.0051718012</c:v>
                </c:pt>
                <c:pt idx="2">
                  <c:v>21942.4211707465</c:v>
                </c:pt>
                <c:pt idx="3">
                  <c:v>21846.754785259302</c:v>
                </c:pt>
                <c:pt idx="4">
                  <c:v>22091.7527183647</c:v>
                </c:pt>
                <c:pt idx="5">
                  <c:v>21995.592935542401</c:v>
                </c:pt>
                <c:pt idx="6">
                  <c:v>22039.4410196262</c:v>
                </c:pt>
                <c:pt idx="7">
                  <c:v>22435.272016837702</c:v>
                </c:pt>
                <c:pt idx="8">
                  <c:v>22186.607893750999</c:v>
                </c:pt>
                <c:pt idx="9">
                  <c:v>22441.139759169499</c:v>
                </c:pt>
                <c:pt idx="10">
                  <c:v>22738.278798754302</c:v>
                </c:pt>
                <c:pt idx="11">
                  <c:v>22743.7279443884</c:v>
                </c:pt>
                <c:pt idx="12">
                  <c:v>23070.8232376333</c:v>
                </c:pt>
                <c:pt idx="13">
                  <c:v>22856.3672011893</c:v>
                </c:pt>
                <c:pt idx="14">
                  <c:v>22929.676705801801</c:v>
                </c:pt>
                <c:pt idx="15">
                  <c:v>23263.3719747135</c:v>
                </c:pt>
                <c:pt idx="16">
                  <c:v>23296.982566359198</c:v>
                </c:pt>
                <c:pt idx="17">
                  <c:v>23170.1930763163</c:v>
                </c:pt>
                <c:pt idx="18">
                  <c:v>23506.9978939996</c:v>
                </c:pt>
                <c:pt idx="19">
                  <c:v>23441.110421670001</c:v>
                </c:pt>
                <c:pt idx="20">
                  <c:v>23668.371116117301</c:v>
                </c:pt>
                <c:pt idx="21">
                  <c:v>23853.5396886583</c:v>
                </c:pt>
                <c:pt idx="22">
                  <c:v>23737.1687380771</c:v>
                </c:pt>
                <c:pt idx="23">
                  <c:v>23753.2568035964</c:v>
                </c:pt>
                <c:pt idx="24">
                  <c:v>24060.726815413502</c:v>
                </c:pt>
                <c:pt idx="25">
                  <c:v>23867.264058364999</c:v>
                </c:pt>
                <c:pt idx="26">
                  <c:v>24155.489327928801</c:v>
                </c:pt>
                <c:pt idx="27">
                  <c:v>24078.321059782302</c:v>
                </c:pt>
                <c:pt idx="28">
                  <c:v>24285.218933680098</c:v>
                </c:pt>
                <c:pt idx="29">
                  <c:v>24360.927513920698</c:v>
                </c:pt>
                <c:pt idx="30">
                  <c:v>24633.059885066701</c:v>
                </c:pt>
                <c:pt idx="31">
                  <c:v>24452.728378309599</c:v>
                </c:pt>
                <c:pt idx="32">
                  <c:v>24610.181853255999</c:v>
                </c:pt>
                <c:pt idx="33">
                  <c:v>24952.760576524601</c:v>
                </c:pt>
                <c:pt idx="34">
                  <c:v>24717.292141932699</c:v>
                </c:pt>
                <c:pt idx="35">
                  <c:v>25147.033071072201</c:v>
                </c:pt>
                <c:pt idx="36">
                  <c:v>24902.8117434124</c:v>
                </c:pt>
                <c:pt idx="37">
                  <c:v>25404.9369354876</c:v>
                </c:pt>
                <c:pt idx="38">
                  <c:v>25100.002915350298</c:v>
                </c:pt>
                <c:pt idx="39">
                  <c:v>25236.826272611899</c:v>
                </c:pt>
                <c:pt idx="40">
                  <c:v>24914.786651974198</c:v>
                </c:pt>
                <c:pt idx="41">
                  <c:v>25209.481222616101</c:v>
                </c:pt>
                <c:pt idx="42">
                  <c:v>25186.3258340553</c:v>
                </c:pt>
                <c:pt idx="43">
                  <c:v>25249.066773695002</c:v>
                </c:pt>
                <c:pt idx="44">
                  <c:v>25661.9348941678</c:v>
                </c:pt>
                <c:pt idx="45">
                  <c:v>25469.480028558399</c:v>
                </c:pt>
                <c:pt idx="46">
                  <c:v>25714.642106714899</c:v>
                </c:pt>
                <c:pt idx="47">
                  <c:v>26273.711504420698</c:v>
                </c:pt>
                <c:pt idx="48">
                  <c:v>25464.805429104301</c:v>
                </c:pt>
                <c:pt idx="49">
                  <c:v>25300.494061862599</c:v>
                </c:pt>
                <c:pt idx="50">
                  <c:v>25702.731223843701</c:v>
                </c:pt>
                <c:pt idx="51">
                  <c:v>25843.5407641274</c:v>
                </c:pt>
                <c:pt idx="52">
                  <c:v>25920.889969755499</c:v>
                </c:pt>
                <c:pt idx="53">
                  <c:v>26203.4627216314</c:v>
                </c:pt>
                <c:pt idx="54">
                  <c:v>25907.227971951001</c:v>
                </c:pt>
                <c:pt idx="55">
                  <c:v>25951.863954318302</c:v>
                </c:pt>
              </c:numCache>
            </c:numRef>
          </c:val>
          <c:smooth val="0"/>
          <c:extLst>
            <c:ext xmlns:c16="http://schemas.microsoft.com/office/drawing/2014/chart" uri="{C3380CC4-5D6E-409C-BE32-E72D297353CC}">
              <c16:uniqueId val="{00000001-F743-4A8D-AFAF-BD7124C78498}"/>
            </c:ext>
          </c:extLst>
        </c:ser>
        <c:ser>
          <c:idx val="3"/>
          <c:order val="1"/>
          <c:tx>
            <c:strRef>
              <c:f>all!$E$1</c:f>
              <c:strCache>
                <c:ptCount val="1"/>
                <c:pt idx="0">
                  <c:v>sa_camplet</c:v>
                </c:pt>
              </c:strCache>
            </c:strRef>
          </c:tx>
          <c:spPr>
            <a:ln w="28575" cap="rnd">
              <a:solidFill>
                <a:schemeClr val="accent4"/>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all!$E$371:$E$438</c:f>
              <c:numCache>
                <c:formatCode>General</c:formatCode>
                <c:ptCount val="68"/>
                <c:pt idx="0">
                  <c:v>21987.980461519699</c:v>
                </c:pt>
                <c:pt idx="1">
                  <c:v>21678.094208308801</c:v>
                </c:pt>
                <c:pt idx="2">
                  <c:v>21909.9851833873</c:v>
                </c:pt>
                <c:pt idx="3">
                  <c:v>21832.537660017799</c:v>
                </c:pt>
                <c:pt idx="4">
                  <c:v>22045.927786429402</c:v>
                </c:pt>
                <c:pt idx="5">
                  <c:v>21799.870297641599</c:v>
                </c:pt>
                <c:pt idx="6">
                  <c:v>21966.672981168998</c:v>
                </c:pt>
                <c:pt idx="7">
                  <c:v>22239.214745922101</c:v>
                </c:pt>
                <c:pt idx="8">
                  <c:v>22104.426839922799</c:v>
                </c:pt>
                <c:pt idx="9">
                  <c:v>22504.055065783501</c:v>
                </c:pt>
                <c:pt idx="10">
                  <c:v>22681.984798291302</c:v>
                </c:pt>
                <c:pt idx="11">
                  <c:v>22906.427334231401</c:v>
                </c:pt>
                <c:pt idx="12">
                  <c:v>23119.615709395501</c:v>
                </c:pt>
                <c:pt idx="13">
                  <c:v>22781.0425138807</c:v>
                </c:pt>
                <c:pt idx="14">
                  <c:v>22900.086727795799</c:v>
                </c:pt>
                <c:pt idx="15">
                  <c:v>23205.559775561502</c:v>
                </c:pt>
                <c:pt idx="16">
                  <c:v>23189.450928809802</c:v>
                </c:pt>
                <c:pt idx="17">
                  <c:v>23127.451210325002</c:v>
                </c:pt>
                <c:pt idx="18">
                  <c:v>23497.179882611901</c:v>
                </c:pt>
                <c:pt idx="19">
                  <c:v>23273.193804196198</c:v>
                </c:pt>
                <c:pt idx="20">
                  <c:v>23715.095057752002</c:v>
                </c:pt>
                <c:pt idx="21">
                  <c:v>23913.668355261201</c:v>
                </c:pt>
                <c:pt idx="22">
                  <c:v>23737.922710541501</c:v>
                </c:pt>
                <c:pt idx="23">
                  <c:v>24054.3174447438</c:v>
                </c:pt>
                <c:pt idx="24">
                  <c:v>23971.744125353998</c:v>
                </c:pt>
                <c:pt idx="25">
                  <c:v>23899.178060182501</c:v>
                </c:pt>
                <c:pt idx="26">
                  <c:v>24167.1177981541</c:v>
                </c:pt>
                <c:pt idx="27">
                  <c:v>24084.872702964902</c:v>
                </c:pt>
                <c:pt idx="28">
                  <c:v>24178.369754047701</c:v>
                </c:pt>
                <c:pt idx="29">
                  <c:v>24430.411514552801</c:v>
                </c:pt>
                <c:pt idx="30">
                  <c:v>24529.4016275373</c:v>
                </c:pt>
                <c:pt idx="31">
                  <c:v>24395.847934732101</c:v>
                </c:pt>
                <c:pt idx="32">
                  <c:v>24612.440019250698</c:v>
                </c:pt>
                <c:pt idx="33">
                  <c:v>24844.628340642601</c:v>
                </c:pt>
                <c:pt idx="34">
                  <c:v>24761.4409035139</c:v>
                </c:pt>
                <c:pt idx="35">
                  <c:v>25274.0585926924</c:v>
                </c:pt>
                <c:pt idx="36">
                  <c:v>24865.400819562499</c:v>
                </c:pt>
                <c:pt idx="37">
                  <c:v>25350.087131171898</c:v>
                </c:pt>
                <c:pt idx="38">
                  <c:v>25132.2475993847</c:v>
                </c:pt>
                <c:pt idx="39">
                  <c:v>25316.324234321699</c:v>
                </c:pt>
                <c:pt idx="40">
                  <c:v>25028.6982513492</c:v>
                </c:pt>
                <c:pt idx="41">
                  <c:v>25327.831615962001</c:v>
                </c:pt>
                <c:pt idx="42">
                  <c:v>25184.2616536235</c:v>
                </c:pt>
                <c:pt idx="43">
                  <c:v>25322.468756021801</c:v>
                </c:pt>
                <c:pt idx="44">
                  <c:v>25637.005006416901</c:v>
                </c:pt>
                <c:pt idx="45">
                  <c:v>25406.745557991999</c:v>
                </c:pt>
                <c:pt idx="46">
                  <c:v>25734.908078949102</c:v>
                </c:pt>
                <c:pt idx="47">
                  <c:v>26085.925086453</c:v>
                </c:pt>
                <c:pt idx="48">
                  <c:v>25581.703050965301</c:v>
                </c:pt>
                <c:pt idx="49">
                  <c:v>25306.6318215018</c:v>
                </c:pt>
                <c:pt idx="50">
                  <c:v>25724.649199794902</c:v>
                </c:pt>
                <c:pt idx="51">
                  <c:v>25826.769189218299</c:v>
                </c:pt>
                <c:pt idx="52">
                  <c:v>26030.252194894201</c:v>
                </c:pt>
                <c:pt idx="53">
                  <c:v>26193.627205320699</c:v>
                </c:pt>
                <c:pt idx="54">
                  <c:v>26001.934440096698</c:v>
                </c:pt>
                <c:pt idx="55">
                  <c:v>26066.331252007301</c:v>
                </c:pt>
              </c:numCache>
            </c:numRef>
          </c:val>
          <c:smooth val="0"/>
          <c:extLst>
            <c:ext xmlns:c16="http://schemas.microsoft.com/office/drawing/2014/chart" uri="{C3380CC4-5D6E-409C-BE32-E72D297353CC}">
              <c16:uniqueId val="{00000002-F743-4A8D-AFAF-BD7124C78498}"/>
            </c:ext>
          </c:extLst>
        </c:ser>
        <c:ser>
          <c:idx val="4"/>
          <c:order val="2"/>
          <c:tx>
            <c:strRef>
              <c:f>all!$F$1</c:f>
              <c:strCache>
                <c:ptCount val="1"/>
                <c:pt idx="0">
                  <c:v>sa_sts</c:v>
                </c:pt>
              </c:strCache>
            </c:strRef>
          </c:tx>
          <c:spPr>
            <a:ln w="28575" cap="rnd">
              <a:solidFill>
                <a:schemeClr val="accent5"/>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all!$F$371:$F$438</c:f>
              <c:numCache>
                <c:formatCode>General</c:formatCode>
                <c:ptCount val="68"/>
                <c:pt idx="0">
                  <c:v>21768.207543207001</c:v>
                </c:pt>
                <c:pt idx="1">
                  <c:v>21790.779697154601</c:v>
                </c:pt>
                <c:pt idx="2">
                  <c:v>21945.3117844187</c:v>
                </c:pt>
                <c:pt idx="3">
                  <c:v>21828.515750408598</c:v>
                </c:pt>
                <c:pt idx="4">
                  <c:v>22010.524727548</c:v>
                </c:pt>
                <c:pt idx="5">
                  <c:v>22061.910397003401</c:v>
                </c:pt>
                <c:pt idx="6">
                  <c:v>22077.254727885302</c:v>
                </c:pt>
                <c:pt idx="7">
                  <c:v>22359.185507384202</c:v>
                </c:pt>
                <c:pt idx="8">
                  <c:v>22333.5764813194</c:v>
                </c:pt>
                <c:pt idx="9">
                  <c:v>22508.508828804799</c:v>
                </c:pt>
                <c:pt idx="10">
                  <c:v>22632.623543287398</c:v>
                </c:pt>
                <c:pt idx="11">
                  <c:v>22847.852006862198</c:v>
                </c:pt>
                <c:pt idx="12">
                  <c:v>23055.686432760402</c:v>
                </c:pt>
                <c:pt idx="13">
                  <c:v>22910.011573066098</c:v>
                </c:pt>
                <c:pt idx="14">
                  <c:v>23089.870000245901</c:v>
                </c:pt>
                <c:pt idx="15">
                  <c:v>23260.396349958901</c:v>
                </c:pt>
                <c:pt idx="16">
                  <c:v>23156.734784173699</c:v>
                </c:pt>
                <c:pt idx="17">
                  <c:v>23259.687006409</c:v>
                </c:pt>
                <c:pt idx="18">
                  <c:v>23499.4483453051</c:v>
                </c:pt>
                <c:pt idx="19">
                  <c:v>23485.566516458599</c:v>
                </c:pt>
                <c:pt idx="20">
                  <c:v>23722.1321844878</c:v>
                </c:pt>
                <c:pt idx="21">
                  <c:v>23794.174144692999</c:v>
                </c:pt>
                <c:pt idx="22">
                  <c:v>23868.698184463301</c:v>
                </c:pt>
                <c:pt idx="23">
                  <c:v>23760.8603642669</c:v>
                </c:pt>
                <c:pt idx="24">
                  <c:v>23971.4964404614</c:v>
                </c:pt>
                <c:pt idx="25">
                  <c:v>23955.572534927</c:v>
                </c:pt>
                <c:pt idx="26">
                  <c:v>24357.6790821457</c:v>
                </c:pt>
                <c:pt idx="27">
                  <c:v>24102.54403605</c:v>
                </c:pt>
                <c:pt idx="28">
                  <c:v>24300.2357231979</c:v>
                </c:pt>
                <c:pt idx="29">
                  <c:v>24398.850137556699</c:v>
                </c:pt>
                <c:pt idx="30">
                  <c:v>24509.072505767199</c:v>
                </c:pt>
                <c:pt idx="31">
                  <c:v>24600.050190911999</c:v>
                </c:pt>
                <c:pt idx="32">
                  <c:v>24701.516242637401</c:v>
                </c:pt>
                <c:pt idx="33">
                  <c:v>24806.1752444177</c:v>
                </c:pt>
                <c:pt idx="34">
                  <c:v>24854.0904302218</c:v>
                </c:pt>
                <c:pt idx="35">
                  <c:v>24903.0827991531</c:v>
                </c:pt>
                <c:pt idx="36">
                  <c:v>25003.332776427</c:v>
                </c:pt>
                <c:pt idx="37">
                  <c:v>25600.0872651073</c:v>
                </c:pt>
                <c:pt idx="38">
                  <c:v>25179.0757310714</c:v>
                </c:pt>
                <c:pt idx="39">
                  <c:v>25149.336983468598</c:v>
                </c:pt>
                <c:pt idx="40">
                  <c:v>25136.716658264701</c:v>
                </c:pt>
                <c:pt idx="41">
                  <c:v>25265.022197050599</c:v>
                </c:pt>
                <c:pt idx="42">
                  <c:v>25213.765891815699</c:v>
                </c:pt>
                <c:pt idx="43">
                  <c:v>25355.380351743101</c:v>
                </c:pt>
                <c:pt idx="44">
                  <c:v>25549.1983390075</c:v>
                </c:pt>
                <c:pt idx="45">
                  <c:v>25632.003398701399</c:v>
                </c:pt>
                <c:pt idx="46">
                  <c:v>25694.077096427998</c:v>
                </c:pt>
                <c:pt idx="47">
                  <c:v>25599.0048299173</c:v>
                </c:pt>
                <c:pt idx="48">
                  <c:v>25742.3834195294</c:v>
                </c:pt>
                <c:pt idx="49">
                  <c:v>25503.394173867699</c:v>
                </c:pt>
                <c:pt idx="50">
                  <c:v>25667.099816054</c:v>
                </c:pt>
                <c:pt idx="51">
                  <c:v>26045.0008192731</c:v>
                </c:pt>
                <c:pt idx="52">
                  <c:v>26033.558661978801</c:v>
                </c:pt>
                <c:pt idx="53">
                  <c:v>26128.519518535701</c:v>
                </c:pt>
                <c:pt idx="54">
                  <c:v>26078.206529336199</c:v>
                </c:pt>
                <c:pt idx="55">
                  <c:v>26047.602720694402</c:v>
                </c:pt>
              </c:numCache>
            </c:numRef>
          </c:val>
          <c:smooth val="0"/>
          <c:extLst>
            <c:ext xmlns:c16="http://schemas.microsoft.com/office/drawing/2014/chart" uri="{C3380CC4-5D6E-409C-BE32-E72D297353CC}">
              <c16:uniqueId val="{00000003-F743-4A8D-AFAF-BD7124C78498}"/>
            </c:ext>
          </c:extLst>
        </c:ser>
        <c:ser>
          <c:idx val="5"/>
          <c:order val="3"/>
          <c:tx>
            <c:strRef>
              <c:f>all!$G$1</c:f>
              <c:strCache>
                <c:ptCount val="1"/>
                <c:pt idx="0">
                  <c:v>sa_ts0</c:v>
                </c:pt>
              </c:strCache>
            </c:strRef>
          </c:tx>
          <c:spPr>
            <a:ln w="28575" cap="rnd">
              <a:solidFill>
                <a:schemeClr val="accent6"/>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all!$G$371:$G$438</c:f>
              <c:numCache>
                <c:formatCode>General</c:formatCode>
                <c:ptCount val="68"/>
                <c:pt idx="0">
                  <c:v>21760.3768429581</c:v>
                </c:pt>
                <c:pt idx="1">
                  <c:v>21784.284891978499</c:v>
                </c:pt>
                <c:pt idx="2">
                  <c:v>21928.921065464401</c:v>
                </c:pt>
                <c:pt idx="3">
                  <c:v>21867.4408531183</c:v>
                </c:pt>
                <c:pt idx="4">
                  <c:v>22074.3590137549</c:v>
                </c:pt>
                <c:pt idx="5">
                  <c:v>22009.901711890801</c:v>
                </c:pt>
                <c:pt idx="6">
                  <c:v>22067.6640739953</c:v>
                </c:pt>
                <c:pt idx="7">
                  <c:v>22402.151796235801</c:v>
                </c:pt>
                <c:pt idx="8">
                  <c:v>22221.352759559399</c:v>
                </c:pt>
                <c:pt idx="9">
                  <c:v>22453.561961466301</c:v>
                </c:pt>
                <c:pt idx="10">
                  <c:v>22705.224384363799</c:v>
                </c:pt>
                <c:pt idx="11">
                  <c:v>22734.656449895101</c:v>
                </c:pt>
                <c:pt idx="12">
                  <c:v>23020.6306033279</c:v>
                </c:pt>
                <c:pt idx="13">
                  <c:v>22898.385140762599</c:v>
                </c:pt>
                <c:pt idx="14">
                  <c:v>22959.665101840699</c:v>
                </c:pt>
                <c:pt idx="15">
                  <c:v>23229.6215118869</c:v>
                </c:pt>
                <c:pt idx="16">
                  <c:v>23281.137641821901</c:v>
                </c:pt>
                <c:pt idx="17">
                  <c:v>23202.896939474798</c:v>
                </c:pt>
                <c:pt idx="18">
                  <c:v>23479.625459032199</c:v>
                </c:pt>
                <c:pt idx="19">
                  <c:v>23460.673722131101</c:v>
                </c:pt>
                <c:pt idx="20">
                  <c:v>23673.604319747301</c:v>
                </c:pt>
                <c:pt idx="21">
                  <c:v>23784.838947322201</c:v>
                </c:pt>
                <c:pt idx="22">
                  <c:v>23751.970440728299</c:v>
                </c:pt>
                <c:pt idx="23">
                  <c:v>23774.226344308499</c:v>
                </c:pt>
                <c:pt idx="24">
                  <c:v>24012.1683385459</c:v>
                </c:pt>
                <c:pt idx="25">
                  <c:v>23903.250399954301</c:v>
                </c:pt>
                <c:pt idx="26">
                  <c:v>24168.276457294502</c:v>
                </c:pt>
                <c:pt idx="27">
                  <c:v>24111.525147574899</c:v>
                </c:pt>
                <c:pt idx="28">
                  <c:v>24328.044687156598</c:v>
                </c:pt>
                <c:pt idx="29">
                  <c:v>24410.5675372976</c:v>
                </c:pt>
                <c:pt idx="30">
                  <c:v>24599.480444719899</c:v>
                </c:pt>
                <c:pt idx="31">
                  <c:v>24532.371779245499</c:v>
                </c:pt>
                <c:pt idx="32">
                  <c:v>24582.316023122301</c:v>
                </c:pt>
                <c:pt idx="33">
                  <c:v>24853.614903587299</c:v>
                </c:pt>
                <c:pt idx="34">
                  <c:v>24737.575142315902</c:v>
                </c:pt>
                <c:pt idx="35">
                  <c:v>24939.224063078502</c:v>
                </c:pt>
                <c:pt idx="36">
                  <c:v>24959.4696532577</c:v>
                </c:pt>
                <c:pt idx="37">
                  <c:v>25384.156123132499</c:v>
                </c:pt>
                <c:pt idx="38">
                  <c:v>25128.951857459899</c:v>
                </c:pt>
                <c:pt idx="39">
                  <c:v>25241.918543702301</c:v>
                </c:pt>
                <c:pt idx="40">
                  <c:v>25054.617778781299</c:v>
                </c:pt>
                <c:pt idx="41">
                  <c:v>25217.096667039601</c:v>
                </c:pt>
                <c:pt idx="42">
                  <c:v>25265.1563782878</c:v>
                </c:pt>
                <c:pt idx="43">
                  <c:v>25378.757430411501</c:v>
                </c:pt>
                <c:pt idx="44">
                  <c:v>25545.335344764801</c:v>
                </c:pt>
                <c:pt idx="45">
                  <c:v>25440.322375139</c:v>
                </c:pt>
                <c:pt idx="46">
                  <c:v>25651.581310779398</c:v>
                </c:pt>
                <c:pt idx="47">
                  <c:v>25843.096465356</c:v>
                </c:pt>
                <c:pt idx="48">
                  <c:v>25606.467982088801</c:v>
                </c:pt>
                <c:pt idx="49">
                  <c:v>25490.428313785898</c:v>
                </c:pt>
                <c:pt idx="50">
                  <c:v>25765.3512999384</c:v>
                </c:pt>
                <c:pt idx="51">
                  <c:v>25850.3257897697</c:v>
                </c:pt>
                <c:pt idx="52">
                  <c:v>25998.553886638401</c:v>
                </c:pt>
                <c:pt idx="53">
                  <c:v>26102.602396948299</c:v>
                </c:pt>
                <c:pt idx="54">
                  <c:v>26030.712002707802</c:v>
                </c:pt>
                <c:pt idx="55">
                  <c:v>26098.572580654301</c:v>
                </c:pt>
              </c:numCache>
            </c:numRef>
          </c:val>
          <c:smooth val="0"/>
          <c:extLst>
            <c:ext xmlns:c16="http://schemas.microsoft.com/office/drawing/2014/chart" uri="{C3380CC4-5D6E-409C-BE32-E72D297353CC}">
              <c16:uniqueId val="{00000004-F743-4A8D-AFAF-BD7124C78498}"/>
            </c:ext>
          </c:extLst>
        </c:ser>
        <c:ser>
          <c:idx val="6"/>
          <c:order val="4"/>
          <c:tx>
            <c:strRef>
              <c:f>all!$H$1</c:f>
              <c:strCache>
                <c:ptCount val="1"/>
                <c:pt idx="0">
                  <c:v>sa_ts</c:v>
                </c:pt>
              </c:strCache>
            </c:strRef>
          </c:tx>
          <c:spPr>
            <a:ln w="28575" cap="rnd">
              <a:solidFill>
                <a:schemeClr val="accent1">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all!$H$371:$H$438</c:f>
              <c:numCache>
                <c:formatCode>General</c:formatCode>
                <c:ptCount val="68"/>
                <c:pt idx="0">
                  <c:v>21655.212067313299</c:v>
                </c:pt>
                <c:pt idx="1">
                  <c:v>21965.8120664415</c:v>
                </c:pt>
                <c:pt idx="2">
                  <c:v>21900.828463984399</c:v>
                </c:pt>
                <c:pt idx="3">
                  <c:v>21985.373067040098</c:v>
                </c:pt>
                <c:pt idx="4">
                  <c:v>21930.291417275199</c:v>
                </c:pt>
                <c:pt idx="5">
                  <c:v>22138.020948843801</c:v>
                </c:pt>
                <c:pt idx="6">
                  <c:v>22047.206568343699</c:v>
                </c:pt>
                <c:pt idx="7">
                  <c:v>22242.348750894002</c:v>
                </c:pt>
                <c:pt idx="8">
                  <c:v>22452.571139309599</c:v>
                </c:pt>
                <c:pt idx="9">
                  <c:v>22413.488512346801</c:v>
                </c:pt>
                <c:pt idx="10">
                  <c:v>22579.935974579199</c:v>
                </c:pt>
                <c:pt idx="11">
                  <c:v>23019.1007019561</c:v>
                </c:pt>
                <c:pt idx="12">
                  <c:v>22945.135218507101</c:v>
                </c:pt>
                <c:pt idx="13">
                  <c:v>23060.1091025227</c:v>
                </c:pt>
                <c:pt idx="14">
                  <c:v>23247.2113018083</c:v>
                </c:pt>
                <c:pt idx="15">
                  <c:v>23166.8611840091</c:v>
                </c:pt>
                <c:pt idx="16">
                  <c:v>23057.843729219399</c:v>
                </c:pt>
                <c:pt idx="17">
                  <c:v>23426.496597554898</c:v>
                </c:pt>
                <c:pt idx="18">
                  <c:v>23387.311380574502</c:v>
                </c:pt>
                <c:pt idx="19">
                  <c:v>23570.836694326001</c:v>
                </c:pt>
                <c:pt idx="20">
                  <c:v>23723.382285841799</c:v>
                </c:pt>
                <c:pt idx="21">
                  <c:v>23691.229733615</c:v>
                </c:pt>
                <c:pt idx="22">
                  <c:v>23934.8575170726</c:v>
                </c:pt>
                <c:pt idx="23">
                  <c:v>23770.700048985898</c:v>
                </c:pt>
                <c:pt idx="24">
                  <c:v>23826.624668904398</c:v>
                </c:pt>
                <c:pt idx="25">
                  <c:v>24120.8238599008</c:v>
                </c:pt>
                <c:pt idx="26">
                  <c:v>24567.058980370799</c:v>
                </c:pt>
                <c:pt idx="27">
                  <c:v>23959.679051937201</c:v>
                </c:pt>
                <c:pt idx="28">
                  <c:v>24391.328139478701</c:v>
                </c:pt>
                <c:pt idx="29">
                  <c:v>24444.743461783899</c:v>
                </c:pt>
                <c:pt idx="30">
                  <c:v>24378.302422585599</c:v>
                </c:pt>
                <c:pt idx="31">
                  <c:v>24757.853700261101</c:v>
                </c:pt>
                <c:pt idx="32">
                  <c:v>24618.147376366102</c:v>
                </c:pt>
                <c:pt idx="33">
                  <c:v>24657.458546199399</c:v>
                </c:pt>
                <c:pt idx="34">
                  <c:v>25014.442094507802</c:v>
                </c:pt>
                <c:pt idx="35">
                  <c:v>24812.534437156501</c:v>
                </c:pt>
                <c:pt idx="36">
                  <c:v>25039.992915446099</c:v>
                </c:pt>
                <c:pt idx="37">
                  <c:v>25086.6597195533</c:v>
                </c:pt>
                <c:pt idx="38">
                  <c:v>24887.024812079799</c:v>
                </c:pt>
                <c:pt idx="39">
                  <c:v>25233.695461728901</c:v>
                </c:pt>
                <c:pt idx="40">
                  <c:v>25311.967712006001</c:v>
                </c:pt>
                <c:pt idx="41">
                  <c:v>25142.606653033501</c:v>
                </c:pt>
                <c:pt idx="42">
                  <c:v>25293.7407184199</c:v>
                </c:pt>
                <c:pt idx="43">
                  <c:v>25366.517559738899</c:v>
                </c:pt>
                <c:pt idx="44">
                  <c:v>25453.659874783101</c:v>
                </c:pt>
                <c:pt idx="45">
                  <c:v>25779.134337673298</c:v>
                </c:pt>
                <c:pt idx="46">
                  <c:v>25575.4727668778</c:v>
                </c:pt>
                <c:pt idx="47">
                  <c:v>25542.1396170035</c:v>
                </c:pt>
                <c:pt idx="48">
                  <c:v>25868.207621200199</c:v>
                </c:pt>
                <c:pt idx="49">
                  <c:v>25711.634604377301</c:v>
                </c:pt>
                <c:pt idx="50">
                  <c:v>25628.2242401529</c:v>
                </c:pt>
                <c:pt idx="51">
                  <c:v>26065.935290467802</c:v>
                </c:pt>
                <c:pt idx="52">
                  <c:v>25971.671713453699</c:v>
                </c:pt>
                <c:pt idx="53">
                  <c:v>26060.580231870401</c:v>
                </c:pt>
                <c:pt idx="54">
                  <c:v>26215.4467542122</c:v>
                </c:pt>
                <c:pt idx="55">
                  <c:v>25922.254636248199</c:v>
                </c:pt>
              </c:numCache>
            </c:numRef>
          </c:val>
          <c:smooth val="0"/>
          <c:extLst>
            <c:ext xmlns:c16="http://schemas.microsoft.com/office/drawing/2014/chart" uri="{C3380CC4-5D6E-409C-BE32-E72D297353CC}">
              <c16:uniqueId val="{00000005-F743-4A8D-AFAF-BD7124C78498}"/>
            </c:ext>
          </c:extLst>
        </c:ser>
        <c:ser>
          <c:idx val="7"/>
          <c:order val="5"/>
          <c:tx>
            <c:strRef>
              <c:f>all!$I$1</c:f>
              <c:strCache>
                <c:ptCount val="1"/>
                <c:pt idx="0">
                  <c:v>sa_x11</c:v>
                </c:pt>
              </c:strCache>
            </c:strRef>
          </c:tx>
          <c:spPr>
            <a:ln w="28575" cap="rnd">
              <a:solidFill>
                <a:schemeClr val="accent2">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all!$I$371:$I$438</c:f>
              <c:numCache>
                <c:formatCode>General</c:formatCode>
                <c:ptCount val="68"/>
                <c:pt idx="0">
                  <c:v>21650.036400396399</c:v>
                </c:pt>
                <c:pt idx="1">
                  <c:v>21796.543427890199</c:v>
                </c:pt>
                <c:pt idx="2">
                  <c:v>21929.6616681417</c:v>
                </c:pt>
                <c:pt idx="3">
                  <c:v>21778.701316126899</c:v>
                </c:pt>
                <c:pt idx="4">
                  <c:v>22122.985841237802</c:v>
                </c:pt>
                <c:pt idx="5">
                  <c:v>22055.5894139501</c:v>
                </c:pt>
                <c:pt idx="6">
                  <c:v>22014.7121503501</c:v>
                </c:pt>
                <c:pt idx="7">
                  <c:v>22545.083243475601</c:v>
                </c:pt>
                <c:pt idx="8">
                  <c:v>22164.970315193201</c:v>
                </c:pt>
                <c:pt idx="9">
                  <c:v>22466.114862510702</c:v>
                </c:pt>
                <c:pt idx="10">
                  <c:v>22776.3287106237</c:v>
                </c:pt>
                <c:pt idx="11">
                  <c:v>22694.566823486599</c:v>
                </c:pt>
                <c:pt idx="12">
                  <c:v>23088.6406961008</c:v>
                </c:pt>
                <c:pt idx="13">
                  <c:v>22818.5745278508</c:v>
                </c:pt>
                <c:pt idx="14">
                  <c:v>22915.222781875698</c:v>
                </c:pt>
                <c:pt idx="15">
                  <c:v>23198.560138628302</c:v>
                </c:pt>
                <c:pt idx="16">
                  <c:v>23295.164478640101</c:v>
                </c:pt>
                <c:pt idx="17">
                  <c:v>23142.116320023899</c:v>
                </c:pt>
                <c:pt idx="18">
                  <c:v>23512.960145253801</c:v>
                </c:pt>
                <c:pt idx="19">
                  <c:v>23486.4979738863</c:v>
                </c:pt>
                <c:pt idx="20">
                  <c:v>23671.460216346801</c:v>
                </c:pt>
                <c:pt idx="21">
                  <c:v>23864.0734115835</c:v>
                </c:pt>
                <c:pt idx="22">
                  <c:v>23750.279364139002</c:v>
                </c:pt>
                <c:pt idx="23">
                  <c:v>23887.5820545602</c:v>
                </c:pt>
                <c:pt idx="24">
                  <c:v>24046.904170186201</c:v>
                </c:pt>
                <c:pt idx="25">
                  <c:v>23784.899936330599</c:v>
                </c:pt>
                <c:pt idx="26">
                  <c:v>24138.050583266198</c:v>
                </c:pt>
                <c:pt idx="27">
                  <c:v>24055.978444875302</c:v>
                </c:pt>
                <c:pt idx="28">
                  <c:v>24249.853476239401</c:v>
                </c:pt>
                <c:pt idx="29">
                  <c:v>24370.786334880198</c:v>
                </c:pt>
                <c:pt idx="30">
                  <c:v>24639.3705084912</c:v>
                </c:pt>
                <c:pt idx="31">
                  <c:v>24487.604693967201</c:v>
                </c:pt>
                <c:pt idx="32">
                  <c:v>24600.0188519246</c:v>
                </c:pt>
                <c:pt idx="33">
                  <c:v>24921.431534513598</c:v>
                </c:pt>
                <c:pt idx="34">
                  <c:v>24707.873539152599</c:v>
                </c:pt>
                <c:pt idx="35">
                  <c:v>25314.8932076934</c:v>
                </c:pt>
                <c:pt idx="36">
                  <c:v>24887.886498642001</c:v>
                </c:pt>
                <c:pt idx="37">
                  <c:v>25298.515612455099</c:v>
                </c:pt>
                <c:pt idx="38">
                  <c:v>25089.786181111998</c:v>
                </c:pt>
                <c:pt idx="39">
                  <c:v>25219.782183083</c:v>
                </c:pt>
                <c:pt idx="40">
                  <c:v>24901.538912567401</c:v>
                </c:pt>
                <c:pt idx="41">
                  <c:v>25217.564700132101</c:v>
                </c:pt>
                <c:pt idx="42">
                  <c:v>25196.735026084501</c:v>
                </c:pt>
                <c:pt idx="43">
                  <c:v>25316.4863527788</c:v>
                </c:pt>
                <c:pt idx="44">
                  <c:v>25638.0747596439</c:v>
                </c:pt>
                <c:pt idx="45">
                  <c:v>25412.042092666001</c:v>
                </c:pt>
                <c:pt idx="46">
                  <c:v>25704.1689220833</c:v>
                </c:pt>
                <c:pt idx="47">
                  <c:v>26450.4469756908</c:v>
                </c:pt>
                <c:pt idx="48">
                  <c:v>25446.660130329899</c:v>
                </c:pt>
                <c:pt idx="49">
                  <c:v>25181.755994084098</c:v>
                </c:pt>
                <c:pt idx="50">
                  <c:v>25695.7784886226</c:v>
                </c:pt>
                <c:pt idx="51">
                  <c:v>25828.366297733901</c:v>
                </c:pt>
                <c:pt idx="52">
                  <c:v>25918.621858966599</c:v>
                </c:pt>
                <c:pt idx="53">
                  <c:v>26202.767559175802</c:v>
                </c:pt>
                <c:pt idx="54">
                  <c:v>25911.541794653898</c:v>
                </c:pt>
                <c:pt idx="55">
                  <c:v>26027.284946454602</c:v>
                </c:pt>
              </c:numCache>
            </c:numRef>
          </c:val>
          <c:smooth val="0"/>
          <c:extLst>
            <c:ext xmlns:c16="http://schemas.microsoft.com/office/drawing/2014/chart" uri="{C3380CC4-5D6E-409C-BE32-E72D297353CC}">
              <c16:uniqueId val="{00000006-F743-4A8D-AFAF-BD7124C78498}"/>
            </c:ext>
          </c:extLst>
        </c:ser>
        <c:ser>
          <c:idx val="8"/>
          <c:order val="6"/>
          <c:tx>
            <c:strRef>
              <c:f>all!$J$1</c:f>
              <c:strCache>
                <c:ptCount val="1"/>
                <c:pt idx="0">
                  <c:v>sa_x13</c:v>
                </c:pt>
              </c:strCache>
            </c:strRef>
          </c:tx>
          <c:spPr>
            <a:ln w="28575" cap="rnd">
              <a:solidFill>
                <a:schemeClr val="accent3">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all!$J$371:$J$438</c:f>
              <c:numCache>
                <c:formatCode>General</c:formatCode>
                <c:ptCount val="68"/>
                <c:pt idx="0">
                  <c:v>21607.395372295101</c:v>
                </c:pt>
                <c:pt idx="1">
                  <c:v>21912.5619909376</c:v>
                </c:pt>
                <c:pt idx="2">
                  <c:v>21961.7301503044</c:v>
                </c:pt>
                <c:pt idx="3">
                  <c:v>21914.563638319501</c:v>
                </c:pt>
                <c:pt idx="4">
                  <c:v>21863.198541142301</c:v>
                </c:pt>
                <c:pt idx="5">
                  <c:v>22106.8043323579</c:v>
                </c:pt>
                <c:pt idx="6">
                  <c:v>22008.817318231999</c:v>
                </c:pt>
                <c:pt idx="7">
                  <c:v>22193.408011218002</c:v>
                </c:pt>
                <c:pt idx="8">
                  <c:v>22423.435544303698</c:v>
                </c:pt>
                <c:pt idx="9">
                  <c:v>22431.124696537299</c:v>
                </c:pt>
                <c:pt idx="10">
                  <c:v>22559.027748922101</c:v>
                </c:pt>
                <c:pt idx="11">
                  <c:v>23057.0774931862</c:v>
                </c:pt>
                <c:pt idx="12">
                  <c:v>22909.626653248099</c:v>
                </c:pt>
                <c:pt idx="13">
                  <c:v>23013.9315425104</c:v>
                </c:pt>
                <c:pt idx="14">
                  <c:v>23455.797209133201</c:v>
                </c:pt>
                <c:pt idx="15">
                  <c:v>22988.968197189999</c:v>
                </c:pt>
                <c:pt idx="16">
                  <c:v>22988.6363521003</c:v>
                </c:pt>
                <c:pt idx="17">
                  <c:v>23382.461605180499</c:v>
                </c:pt>
                <c:pt idx="18">
                  <c:v>23344.8189446168</c:v>
                </c:pt>
                <c:pt idx="19">
                  <c:v>23533.029982010499</c:v>
                </c:pt>
                <c:pt idx="20">
                  <c:v>23677.910347999601</c:v>
                </c:pt>
                <c:pt idx="21">
                  <c:v>23703.491314777501</c:v>
                </c:pt>
                <c:pt idx="22">
                  <c:v>23932.057388157598</c:v>
                </c:pt>
                <c:pt idx="23">
                  <c:v>23779.1610499333</c:v>
                </c:pt>
                <c:pt idx="24">
                  <c:v>23772.107354380099</c:v>
                </c:pt>
                <c:pt idx="25">
                  <c:v>24088.063214665501</c:v>
                </c:pt>
                <c:pt idx="26">
                  <c:v>24593.3543533175</c:v>
                </c:pt>
                <c:pt idx="27">
                  <c:v>23930.274477133698</c:v>
                </c:pt>
                <c:pt idx="28">
                  <c:v>24358.9964841498</c:v>
                </c:pt>
                <c:pt idx="29">
                  <c:v>24391.921376046201</c:v>
                </c:pt>
                <c:pt idx="30">
                  <c:v>24329.536751124499</c:v>
                </c:pt>
                <c:pt idx="31">
                  <c:v>24719.851013260301</c:v>
                </c:pt>
                <c:pt idx="32">
                  <c:v>24574.611310464399</c:v>
                </c:pt>
                <c:pt idx="33">
                  <c:v>24697.560277030501</c:v>
                </c:pt>
                <c:pt idx="34">
                  <c:v>24996.1720337107</c:v>
                </c:pt>
                <c:pt idx="35">
                  <c:v>24795.697797611501</c:v>
                </c:pt>
                <c:pt idx="36">
                  <c:v>25010.9646184388</c:v>
                </c:pt>
                <c:pt idx="37">
                  <c:v>24965.748600229199</c:v>
                </c:pt>
                <c:pt idx="38">
                  <c:v>24940.212248795298</c:v>
                </c:pt>
                <c:pt idx="39">
                  <c:v>25153.6387702793</c:v>
                </c:pt>
                <c:pt idx="40">
                  <c:v>25273.677832332301</c:v>
                </c:pt>
                <c:pt idx="41">
                  <c:v>25091.8462767612</c:v>
                </c:pt>
                <c:pt idx="42">
                  <c:v>25288.970030851</c:v>
                </c:pt>
                <c:pt idx="43">
                  <c:v>25268.718526497501</c:v>
                </c:pt>
                <c:pt idx="44">
                  <c:v>25406.124110954901</c:v>
                </c:pt>
                <c:pt idx="45">
                  <c:v>25866.0048997296</c:v>
                </c:pt>
                <c:pt idx="46">
                  <c:v>25519.153279767499</c:v>
                </c:pt>
                <c:pt idx="47">
                  <c:v>25526.665153983598</c:v>
                </c:pt>
                <c:pt idx="48">
                  <c:v>25838.618951095101</c:v>
                </c:pt>
                <c:pt idx="49">
                  <c:v>25680.1043104073</c:v>
                </c:pt>
                <c:pt idx="50">
                  <c:v>25722.804455820798</c:v>
                </c:pt>
                <c:pt idx="51">
                  <c:v>25945.5114485987</c:v>
                </c:pt>
                <c:pt idx="52">
                  <c:v>25918.237443343001</c:v>
                </c:pt>
                <c:pt idx="53">
                  <c:v>26030.465336334499</c:v>
                </c:pt>
                <c:pt idx="54">
                  <c:v>26217.517297342001</c:v>
                </c:pt>
                <c:pt idx="55">
                  <c:v>25786.875335456101</c:v>
                </c:pt>
              </c:numCache>
            </c:numRef>
          </c:val>
          <c:smooth val="0"/>
          <c:extLst>
            <c:ext xmlns:c16="http://schemas.microsoft.com/office/drawing/2014/chart" uri="{C3380CC4-5D6E-409C-BE32-E72D297353CC}">
              <c16:uniqueId val="{00000007-F743-4A8D-AFAF-BD7124C78498}"/>
            </c:ext>
          </c:extLst>
        </c:ser>
        <c:dLbls>
          <c:showLegendKey val="0"/>
          <c:showVal val="0"/>
          <c:showCatName val="0"/>
          <c:showSerName val="0"/>
          <c:showPercent val="0"/>
          <c:showBubbleSize val="0"/>
        </c:dLbls>
        <c:smooth val="0"/>
        <c:axId val="1996481984"/>
        <c:axId val="1798737648"/>
      </c:lineChart>
      <c:dateAx>
        <c:axId val="1996481984"/>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8737648"/>
        <c:crosses val="autoZero"/>
        <c:auto val="1"/>
        <c:lblOffset val="100"/>
        <c:baseTimeUnit val="months"/>
      </c:dateAx>
      <c:valAx>
        <c:axId val="1798737648"/>
        <c:scaling>
          <c:orientation val="minMax"/>
          <c:min val="21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964819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Retail sales - total</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2"/>
          <c:order val="0"/>
          <c:tx>
            <c:strRef>
              <c:f>all!$D$1</c:f>
              <c:strCache>
                <c:ptCount val="1"/>
                <c:pt idx="0">
                  <c:v>sa_stl</c:v>
                </c:pt>
              </c:strCache>
            </c:strRef>
          </c:tx>
          <c:spPr>
            <a:ln w="28575" cap="rnd">
              <a:solidFill>
                <a:schemeClr val="accent3"/>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all!$D$371:$D$438</c:f>
              <c:numCache>
                <c:formatCode>General</c:formatCode>
                <c:ptCount val="68"/>
                <c:pt idx="0">
                  <c:v>21758.969784414399</c:v>
                </c:pt>
                <c:pt idx="1">
                  <c:v>21781.0051718012</c:v>
                </c:pt>
                <c:pt idx="2">
                  <c:v>21942.4211707465</c:v>
                </c:pt>
                <c:pt idx="3">
                  <c:v>21846.754785259302</c:v>
                </c:pt>
                <c:pt idx="4">
                  <c:v>22091.7527183647</c:v>
                </c:pt>
                <c:pt idx="5">
                  <c:v>21995.592935542401</c:v>
                </c:pt>
                <c:pt idx="6">
                  <c:v>22039.4410196262</c:v>
                </c:pt>
                <c:pt idx="7">
                  <c:v>22435.272016837702</c:v>
                </c:pt>
                <c:pt idx="8">
                  <c:v>22186.607893750999</c:v>
                </c:pt>
                <c:pt idx="9">
                  <c:v>22441.139759169499</c:v>
                </c:pt>
                <c:pt idx="10">
                  <c:v>22738.278798754302</c:v>
                </c:pt>
                <c:pt idx="11">
                  <c:v>22743.7279443884</c:v>
                </c:pt>
                <c:pt idx="12">
                  <c:v>23070.8232376333</c:v>
                </c:pt>
                <c:pt idx="13">
                  <c:v>22856.3672011893</c:v>
                </c:pt>
                <c:pt idx="14">
                  <c:v>22929.676705801801</c:v>
                </c:pt>
                <c:pt idx="15">
                  <c:v>23263.3719747135</c:v>
                </c:pt>
                <c:pt idx="16">
                  <c:v>23296.982566359198</c:v>
                </c:pt>
                <c:pt idx="17">
                  <c:v>23170.1930763163</c:v>
                </c:pt>
                <c:pt idx="18">
                  <c:v>23506.9978939996</c:v>
                </c:pt>
                <c:pt idx="19">
                  <c:v>23441.110421670001</c:v>
                </c:pt>
                <c:pt idx="20">
                  <c:v>23668.371116117301</c:v>
                </c:pt>
                <c:pt idx="21">
                  <c:v>23853.5396886583</c:v>
                </c:pt>
                <c:pt idx="22">
                  <c:v>23737.1687380771</c:v>
                </c:pt>
                <c:pt idx="23">
                  <c:v>23753.2568035964</c:v>
                </c:pt>
                <c:pt idx="24">
                  <c:v>24060.726815413502</c:v>
                </c:pt>
                <c:pt idx="25">
                  <c:v>23867.264058364999</c:v>
                </c:pt>
                <c:pt idx="26">
                  <c:v>24155.489327928801</c:v>
                </c:pt>
                <c:pt idx="27">
                  <c:v>24078.321059782302</c:v>
                </c:pt>
                <c:pt idx="28">
                  <c:v>24285.218933680098</c:v>
                </c:pt>
                <c:pt idx="29">
                  <c:v>24360.927513920698</c:v>
                </c:pt>
                <c:pt idx="30">
                  <c:v>24633.059885066701</c:v>
                </c:pt>
                <c:pt idx="31">
                  <c:v>24452.728378309599</c:v>
                </c:pt>
                <c:pt idx="32">
                  <c:v>24610.181853255999</c:v>
                </c:pt>
                <c:pt idx="33">
                  <c:v>24952.760576524601</c:v>
                </c:pt>
                <c:pt idx="34">
                  <c:v>24717.292141932699</c:v>
                </c:pt>
                <c:pt idx="35">
                  <c:v>25147.033071072201</c:v>
                </c:pt>
                <c:pt idx="36">
                  <c:v>24902.8117434124</c:v>
                </c:pt>
                <c:pt idx="37">
                  <c:v>25404.9369354876</c:v>
                </c:pt>
                <c:pt idx="38">
                  <c:v>25100.002915350298</c:v>
                </c:pt>
                <c:pt idx="39">
                  <c:v>25236.826272611899</c:v>
                </c:pt>
                <c:pt idx="40">
                  <c:v>24914.786651974198</c:v>
                </c:pt>
                <c:pt idx="41">
                  <c:v>25209.481222616101</c:v>
                </c:pt>
                <c:pt idx="42">
                  <c:v>25186.3258340553</c:v>
                </c:pt>
                <c:pt idx="43">
                  <c:v>25249.066773695002</c:v>
                </c:pt>
                <c:pt idx="44">
                  <c:v>25661.9348941678</c:v>
                </c:pt>
                <c:pt idx="45">
                  <c:v>25469.480028558399</c:v>
                </c:pt>
                <c:pt idx="46">
                  <c:v>25714.642106714899</c:v>
                </c:pt>
                <c:pt idx="47">
                  <c:v>26273.711504420698</c:v>
                </c:pt>
                <c:pt idx="48">
                  <c:v>25464.805429104301</c:v>
                </c:pt>
                <c:pt idx="49">
                  <c:v>25300.494061862599</c:v>
                </c:pt>
                <c:pt idx="50">
                  <c:v>25702.731223843701</c:v>
                </c:pt>
                <c:pt idx="51">
                  <c:v>25843.5407641274</c:v>
                </c:pt>
                <c:pt idx="52">
                  <c:v>25920.889969755499</c:v>
                </c:pt>
                <c:pt idx="53">
                  <c:v>26203.4627216314</c:v>
                </c:pt>
                <c:pt idx="54">
                  <c:v>25907.227971951001</c:v>
                </c:pt>
                <c:pt idx="55">
                  <c:v>25951.863954318302</c:v>
                </c:pt>
              </c:numCache>
            </c:numRef>
          </c:val>
          <c:smooth val="0"/>
          <c:extLst>
            <c:ext xmlns:c16="http://schemas.microsoft.com/office/drawing/2014/chart" uri="{C3380CC4-5D6E-409C-BE32-E72D297353CC}">
              <c16:uniqueId val="{00000001-F743-4A8D-AFAF-BD7124C78498}"/>
            </c:ext>
          </c:extLst>
        </c:ser>
        <c:ser>
          <c:idx val="3"/>
          <c:order val="1"/>
          <c:tx>
            <c:strRef>
              <c:f>all!$E$1</c:f>
              <c:strCache>
                <c:ptCount val="1"/>
                <c:pt idx="0">
                  <c:v>sa_camplet</c:v>
                </c:pt>
              </c:strCache>
            </c:strRef>
          </c:tx>
          <c:spPr>
            <a:ln w="28575" cap="rnd">
              <a:solidFill>
                <a:schemeClr val="accent4"/>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all!$E$371:$E$438</c:f>
              <c:numCache>
                <c:formatCode>General</c:formatCode>
                <c:ptCount val="68"/>
                <c:pt idx="0">
                  <c:v>21987.980461519699</c:v>
                </c:pt>
                <c:pt idx="1">
                  <c:v>21678.094208308801</c:v>
                </c:pt>
                <c:pt idx="2">
                  <c:v>21909.9851833873</c:v>
                </c:pt>
                <c:pt idx="3">
                  <c:v>21832.537660017799</c:v>
                </c:pt>
                <c:pt idx="4">
                  <c:v>22045.927786429402</c:v>
                </c:pt>
                <c:pt idx="5">
                  <c:v>21799.870297641599</c:v>
                </c:pt>
                <c:pt idx="6">
                  <c:v>21966.672981168998</c:v>
                </c:pt>
                <c:pt idx="7">
                  <c:v>22239.214745922101</c:v>
                </c:pt>
                <c:pt idx="8">
                  <c:v>22104.426839922799</c:v>
                </c:pt>
                <c:pt idx="9">
                  <c:v>22504.055065783501</c:v>
                </c:pt>
                <c:pt idx="10">
                  <c:v>22681.984798291302</c:v>
                </c:pt>
                <c:pt idx="11">
                  <c:v>22906.427334231401</c:v>
                </c:pt>
                <c:pt idx="12">
                  <c:v>23119.615709395501</c:v>
                </c:pt>
                <c:pt idx="13">
                  <c:v>22781.0425138807</c:v>
                </c:pt>
                <c:pt idx="14">
                  <c:v>22900.086727795799</c:v>
                </c:pt>
                <c:pt idx="15">
                  <c:v>23205.559775561502</c:v>
                </c:pt>
                <c:pt idx="16">
                  <c:v>23189.450928809802</c:v>
                </c:pt>
                <c:pt idx="17">
                  <c:v>23127.451210325002</c:v>
                </c:pt>
                <c:pt idx="18">
                  <c:v>23497.179882611901</c:v>
                </c:pt>
                <c:pt idx="19">
                  <c:v>23273.193804196198</c:v>
                </c:pt>
                <c:pt idx="20">
                  <c:v>23715.095057752002</c:v>
                </c:pt>
                <c:pt idx="21">
                  <c:v>23913.668355261201</c:v>
                </c:pt>
                <c:pt idx="22">
                  <c:v>23737.922710541501</c:v>
                </c:pt>
                <c:pt idx="23">
                  <c:v>24054.3174447438</c:v>
                </c:pt>
                <c:pt idx="24">
                  <c:v>23971.744125353998</c:v>
                </c:pt>
                <c:pt idx="25">
                  <c:v>23899.178060182501</c:v>
                </c:pt>
                <c:pt idx="26">
                  <c:v>24167.1177981541</c:v>
                </c:pt>
                <c:pt idx="27">
                  <c:v>24084.872702964902</c:v>
                </c:pt>
                <c:pt idx="28">
                  <c:v>24178.369754047701</c:v>
                </c:pt>
                <c:pt idx="29">
                  <c:v>24430.411514552801</c:v>
                </c:pt>
                <c:pt idx="30">
                  <c:v>24529.4016275373</c:v>
                </c:pt>
                <c:pt idx="31">
                  <c:v>24395.847934732101</c:v>
                </c:pt>
                <c:pt idx="32">
                  <c:v>24612.440019250698</c:v>
                </c:pt>
                <c:pt idx="33">
                  <c:v>24844.628340642601</c:v>
                </c:pt>
                <c:pt idx="34">
                  <c:v>24761.4409035139</c:v>
                </c:pt>
                <c:pt idx="35">
                  <c:v>25274.0585926924</c:v>
                </c:pt>
                <c:pt idx="36">
                  <c:v>24865.400819562499</c:v>
                </c:pt>
                <c:pt idx="37">
                  <c:v>25350.087131171898</c:v>
                </c:pt>
                <c:pt idx="38">
                  <c:v>25132.2475993847</c:v>
                </c:pt>
                <c:pt idx="39">
                  <c:v>25316.324234321699</c:v>
                </c:pt>
                <c:pt idx="40">
                  <c:v>25028.6982513492</c:v>
                </c:pt>
                <c:pt idx="41">
                  <c:v>25327.831615962001</c:v>
                </c:pt>
                <c:pt idx="42">
                  <c:v>25184.2616536235</c:v>
                </c:pt>
                <c:pt idx="43">
                  <c:v>25322.468756021801</c:v>
                </c:pt>
                <c:pt idx="44">
                  <c:v>25637.005006416901</c:v>
                </c:pt>
                <c:pt idx="45">
                  <c:v>25406.745557991999</c:v>
                </c:pt>
                <c:pt idx="46">
                  <c:v>25734.908078949102</c:v>
                </c:pt>
                <c:pt idx="47">
                  <c:v>26085.925086453</c:v>
                </c:pt>
                <c:pt idx="48">
                  <c:v>25581.703050965301</c:v>
                </c:pt>
                <c:pt idx="49">
                  <c:v>25306.6318215018</c:v>
                </c:pt>
                <c:pt idx="50">
                  <c:v>25724.649199794902</c:v>
                </c:pt>
                <c:pt idx="51">
                  <c:v>25826.769189218299</c:v>
                </c:pt>
                <c:pt idx="52">
                  <c:v>26030.252194894201</c:v>
                </c:pt>
                <c:pt idx="53">
                  <c:v>26193.627205320699</c:v>
                </c:pt>
                <c:pt idx="54">
                  <c:v>26001.934440096698</c:v>
                </c:pt>
                <c:pt idx="55">
                  <c:v>26066.331252007301</c:v>
                </c:pt>
              </c:numCache>
            </c:numRef>
          </c:val>
          <c:smooth val="0"/>
          <c:extLst>
            <c:ext xmlns:c16="http://schemas.microsoft.com/office/drawing/2014/chart" uri="{C3380CC4-5D6E-409C-BE32-E72D297353CC}">
              <c16:uniqueId val="{00000002-F743-4A8D-AFAF-BD7124C78498}"/>
            </c:ext>
          </c:extLst>
        </c:ser>
        <c:ser>
          <c:idx val="4"/>
          <c:order val="2"/>
          <c:tx>
            <c:strRef>
              <c:f>all!$F$1</c:f>
              <c:strCache>
                <c:ptCount val="1"/>
                <c:pt idx="0">
                  <c:v>sa_sts</c:v>
                </c:pt>
              </c:strCache>
            </c:strRef>
          </c:tx>
          <c:spPr>
            <a:ln w="28575" cap="rnd">
              <a:solidFill>
                <a:schemeClr val="accent5"/>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all!$F$371:$F$438</c:f>
              <c:numCache>
                <c:formatCode>General</c:formatCode>
                <c:ptCount val="68"/>
                <c:pt idx="0">
                  <c:v>21768.207543207001</c:v>
                </c:pt>
                <c:pt idx="1">
                  <c:v>21790.779697154601</c:v>
                </c:pt>
                <c:pt idx="2">
                  <c:v>21945.3117844187</c:v>
                </c:pt>
                <c:pt idx="3">
                  <c:v>21828.515750408598</c:v>
                </c:pt>
                <c:pt idx="4">
                  <c:v>22010.524727548</c:v>
                </c:pt>
                <c:pt idx="5">
                  <c:v>22061.910397003401</c:v>
                </c:pt>
                <c:pt idx="6">
                  <c:v>22077.254727885302</c:v>
                </c:pt>
                <c:pt idx="7">
                  <c:v>22359.185507384202</c:v>
                </c:pt>
                <c:pt idx="8">
                  <c:v>22333.5764813194</c:v>
                </c:pt>
                <c:pt idx="9">
                  <c:v>22508.508828804799</c:v>
                </c:pt>
                <c:pt idx="10">
                  <c:v>22632.623543287398</c:v>
                </c:pt>
                <c:pt idx="11">
                  <c:v>22847.852006862198</c:v>
                </c:pt>
                <c:pt idx="12">
                  <c:v>23055.686432760402</c:v>
                </c:pt>
                <c:pt idx="13">
                  <c:v>22910.011573066098</c:v>
                </c:pt>
                <c:pt idx="14">
                  <c:v>23089.870000245901</c:v>
                </c:pt>
                <c:pt idx="15">
                  <c:v>23260.396349958901</c:v>
                </c:pt>
                <c:pt idx="16">
                  <c:v>23156.734784173699</c:v>
                </c:pt>
                <c:pt idx="17">
                  <c:v>23259.687006409</c:v>
                </c:pt>
                <c:pt idx="18">
                  <c:v>23499.4483453051</c:v>
                </c:pt>
                <c:pt idx="19">
                  <c:v>23485.566516458599</c:v>
                </c:pt>
                <c:pt idx="20">
                  <c:v>23722.1321844878</c:v>
                </c:pt>
                <c:pt idx="21">
                  <c:v>23794.174144692999</c:v>
                </c:pt>
                <c:pt idx="22">
                  <c:v>23868.698184463301</c:v>
                </c:pt>
                <c:pt idx="23">
                  <c:v>23760.8603642669</c:v>
                </c:pt>
                <c:pt idx="24">
                  <c:v>23971.4964404614</c:v>
                </c:pt>
                <c:pt idx="25">
                  <c:v>23955.572534927</c:v>
                </c:pt>
                <c:pt idx="26">
                  <c:v>24357.6790821457</c:v>
                </c:pt>
                <c:pt idx="27">
                  <c:v>24102.54403605</c:v>
                </c:pt>
                <c:pt idx="28">
                  <c:v>24300.2357231979</c:v>
                </c:pt>
                <c:pt idx="29">
                  <c:v>24398.850137556699</c:v>
                </c:pt>
                <c:pt idx="30">
                  <c:v>24509.072505767199</c:v>
                </c:pt>
                <c:pt idx="31">
                  <c:v>24600.050190911999</c:v>
                </c:pt>
                <c:pt idx="32">
                  <c:v>24701.516242637401</c:v>
                </c:pt>
                <c:pt idx="33">
                  <c:v>24806.1752444177</c:v>
                </c:pt>
                <c:pt idx="34">
                  <c:v>24854.0904302218</c:v>
                </c:pt>
                <c:pt idx="35">
                  <c:v>24903.0827991531</c:v>
                </c:pt>
                <c:pt idx="36">
                  <c:v>25003.332776427</c:v>
                </c:pt>
                <c:pt idx="37">
                  <c:v>25600.0872651073</c:v>
                </c:pt>
                <c:pt idx="38">
                  <c:v>25179.0757310714</c:v>
                </c:pt>
                <c:pt idx="39">
                  <c:v>25149.336983468598</c:v>
                </c:pt>
                <c:pt idx="40">
                  <c:v>25136.716658264701</c:v>
                </c:pt>
                <c:pt idx="41">
                  <c:v>25265.022197050599</c:v>
                </c:pt>
                <c:pt idx="42">
                  <c:v>25213.765891815699</c:v>
                </c:pt>
                <c:pt idx="43">
                  <c:v>25355.380351743101</c:v>
                </c:pt>
                <c:pt idx="44">
                  <c:v>25549.1983390075</c:v>
                </c:pt>
                <c:pt idx="45">
                  <c:v>25632.003398701399</c:v>
                </c:pt>
                <c:pt idx="46">
                  <c:v>25694.077096427998</c:v>
                </c:pt>
                <c:pt idx="47">
                  <c:v>25599.0048299173</c:v>
                </c:pt>
                <c:pt idx="48">
                  <c:v>25742.3834195294</c:v>
                </c:pt>
                <c:pt idx="49">
                  <c:v>25503.394173867699</c:v>
                </c:pt>
                <c:pt idx="50">
                  <c:v>25667.099816054</c:v>
                </c:pt>
                <c:pt idx="51">
                  <c:v>26045.0008192731</c:v>
                </c:pt>
                <c:pt idx="52">
                  <c:v>26033.558661978801</c:v>
                </c:pt>
                <c:pt idx="53">
                  <c:v>26128.519518535701</c:v>
                </c:pt>
                <c:pt idx="54">
                  <c:v>26078.206529336199</c:v>
                </c:pt>
                <c:pt idx="55">
                  <c:v>26047.602720694402</c:v>
                </c:pt>
              </c:numCache>
            </c:numRef>
          </c:val>
          <c:smooth val="0"/>
          <c:extLst>
            <c:ext xmlns:c16="http://schemas.microsoft.com/office/drawing/2014/chart" uri="{C3380CC4-5D6E-409C-BE32-E72D297353CC}">
              <c16:uniqueId val="{00000003-F743-4A8D-AFAF-BD7124C78498}"/>
            </c:ext>
          </c:extLst>
        </c:ser>
        <c:ser>
          <c:idx val="5"/>
          <c:order val="3"/>
          <c:tx>
            <c:strRef>
              <c:f>all!$G$1</c:f>
              <c:strCache>
                <c:ptCount val="1"/>
                <c:pt idx="0">
                  <c:v>sa_ts0</c:v>
                </c:pt>
              </c:strCache>
            </c:strRef>
          </c:tx>
          <c:spPr>
            <a:ln w="28575" cap="rnd">
              <a:solidFill>
                <a:schemeClr val="accent6"/>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all!$G$371:$G$438</c:f>
              <c:numCache>
                <c:formatCode>General</c:formatCode>
                <c:ptCount val="68"/>
                <c:pt idx="0">
                  <c:v>21760.3768429581</c:v>
                </c:pt>
                <c:pt idx="1">
                  <c:v>21784.284891978499</c:v>
                </c:pt>
                <c:pt idx="2">
                  <c:v>21928.921065464401</c:v>
                </c:pt>
                <c:pt idx="3">
                  <c:v>21867.4408531183</c:v>
                </c:pt>
                <c:pt idx="4">
                  <c:v>22074.3590137549</c:v>
                </c:pt>
                <c:pt idx="5">
                  <c:v>22009.901711890801</c:v>
                </c:pt>
                <c:pt idx="6">
                  <c:v>22067.6640739953</c:v>
                </c:pt>
                <c:pt idx="7">
                  <c:v>22402.151796235801</c:v>
                </c:pt>
                <c:pt idx="8">
                  <c:v>22221.352759559399</c:v>
                </c:pt>
                <c:pt idx="9">
                  <c:v>22453.561961466301</c:v>
                </c:pt>
                <c:pt idx="10">
                  <c:v>22705.224384363799</c:v>
                </c:pt>
                <c:pt idx="11">
                  <c:v>22734.656449895101</c:v>
                </c:pt>
                <c:pt idx="12">
                  <c:v>23020.6306033279</c:v>
                </c:pt>
                <c:pt idx="13">
                  <c:v>22898.385140762599</c:v>
                </c:pt>
                <c:pt idx="14">
                  <c:v>22959.665101840699</c:v>
                </c:pt>
                <c:pt idx="15">
                  <c:v>23229.6215118869</c:v>
                </c:pt>
                <c:pt idx="16">
                  <c:v>23281.137641821901</c:v>
                </c:pt>
                <c:pt idx="17">
                  <c:v>23202.896939474798</c:v>
                </c:pt>
                <c:pt idx="18">
                  <c:v>23479.625459032199</c:v>
                </c:pt>
                <c:pt idx="19">
                  <c:v>23460.673722131101</c:v>
                </c:pt>
                <c:pt idx="20">
                  <c:v>23673.604319747301</c:v>
                </c:pt>
                <c:pt idx="21">
                  <c:v>23784.838947322201</c:v>
                </c:pt>
                <c:pt idx="22">
                  <c:v>23751.970440728299</c:v>
                </c:pt>
                <c:pt idx="23">
                  <c:v>23774.226344308499</c:v>
                </c:pt>
                <c:pt idx="24">
                  <c:v>24012.1683385459</c:v>
                </c:pt>
                <c:pt idx="25">
                  <c:v>23903.250399954301</c:v>
                </c:pt>
                <c:pt idx="26">
                  <c:v>24168.276457294502</c:v>
                </c:pt>
                <c:pt idx="27">
                  <c:v>24111.525147574899</c:v>
                </c:pt>
                <c:pt idx="28">
                  <c:v>24328.044687156598</c:v>
                </c:pt>
                <c:pt idx="29">
                  <c:v>24410.5675372976</c:v>
                </c:pt>
                <c:pt idx="30">
                  <c:v>24599.480444719899</c:v>
                </c:pt>
                <c:pt idx="31">
                  <c:v>24532.371779245499</c:v>
                </c:pt>
                <c:pt idx="32">
                  <c:v>24582.316023122301</c:v>
                </c:pt>
                <c:pt idx="33">
                  <c:v>24853.614903587299</c:v>
                </c:pt>
                <c:pt idx="34">
                  <c:v>24737.575142315902</c:v>
                </c:pt>
                <c:pt idx="35">
                  <c:v>24939.224063078502</c:v>
                </c:pt>
                <c:pt idx="36">
                  <c:v>24959.4696532577</c:v>
                </c:pt>
                <c:pt idx="37">
                  <c:v>25384.156123132499</c:v>
                </c:pt>
                <c:pt idx="38">
                  <c:v>25128.951857459899</c:v>
                </c:pt>
                <c:pt idx="39">
                  <c:v>25241.918543702301</c:v>
                </c:pt>
                <c:pt idx="40">
                  <c:v>25054.617778781299</c:v>
                </c:pt>
                <c:pt idx="41">
                  <c:v>25217.096667039601</c:v>
                </c:pt>
                <c:pt idx="42">
                  <c:v>25265.1563782878</c:v>
                </c:pt>
                <c:pt idx="43">
                  <c:v>25378.757430411501</c:v>
                </c:pt>
                <c:pt idx="44">
                  <c:v>25545.335344764801</c:v>
                </c:pt>
                <c:pt idx="45">
                  <c:v>25440.322375139</c:v>
                </c:pt>
                <c:pt idx="46">
                  <c:v>25651.581310779398</c:v>
                </c:pt>
                <c:pt idx="47">
                  <c:v>25843.096465356</c:v>
                </c:pt>
                <c:pt idx="48">
                  <c:v>25606.467982088801</c:v>
                </c:pt>
                <c:pt idx="49">
                  <c:v>25490.428313785898</c:v>
                </c:pt>
                <c:pt idx="50">
                  <c:v>25765.3512999384</c:v>
                </c:pt>
                <c:pt idx="51">
                  <c:v>25850.3257897697</c:v>
                </c:pt>
                <c:pt idx="52">
                  <c:v>25998.553886638401</c:v>
                </c:pt>
                <c:pt idx="53">
                  <c:v>26102.602396948299</c:v>
                </c:pt>
                <c:pt idx="54">
                  <c:v>26030.712002707802</c:v>
                </c:pt>
                <c:pt idx="55">
                  <c:v>26098.572580654301</c:v>
                </c:pt>
              </c:numCache>
            </c:numRef>
          </c:val>
          <c:smooth val="0"/>
          <c:extLst>
            <c:ext xmlns:c16="http://schemas.microsoft.com/office/drawing/2014/chart" uri="{C3380CC4-5D6E-409C-BE32-E72D297353CC}">
              <c16:uniqueId val="{00000004-F743-4A8D-AFAF-BD7124C78498}"/>
            </c:ext>
          </c:extLst>
        </c:ser>
        <c:ser>
          <c:idx val="7"/>
          <c:order val="4"/>
          <c:tx>
            <c:strRef>
              <c:f>all!$I$1</c:f>
              <c:strCache>
                <c:ptCount val="1"/>
                <c:pt idx="0">
                  <c:v>sa_x11</c:v>
                </c:pt>
              </c:strCache>
            </c:strRef>
          </c:tx>
          <c:spPr>
            <a:ln w="28575" cap="rnd">
              <a:solidFill>
                <a:schemeClr val="accent2">
                  <a:lumMod val="60000"/>
                </a:schemeClr>
              </a:solidFill>
              <a:round/>
            </a:ln>
            <a:effectLst/>
          </c:spPr>
          <c:marker>
            <c:symbol val="none"/>
          </c:marker>
          <c:cat>
            <c:numRef>
              <c:f>all!$A$371:$A$438</c:f>
              <c:numCache>
                <c:formatCode>mmm\-yy</c:formatCode>
                <c:ptCount val="68"/>
                <c:pt idx="0">
                  <c:v>41275</c:v>
                </c:pt>
                <c:pt idx="1">
                  <c:v>41306</c:v>
                </c:pt>
                <c:pt idx="2">
                  <c:v>41334</c:v>
                </c:pt>
                <c:pt idx="3">
                  <c:v>41365</c:v>
                </c:pt>
                <c:pt idx="4">
                  <c:v>41395</c:v>
                </c:pt>
                <c:pt idx="5">
                  <c:v>41426</c:v>
                </c:pt>
                <c:pt idx="6">
                  <c:v>41456</c:v>
                </c:pt>
                <c:pt idx="7">
                  <c:v>41487</c:v>
                </c:pt>
                <c:pt idx="8">
                  <c:v>41518</c:v>
                </c:pt>
                <c:pt idx="9">
                  <c:v>41548</c:v>
                </c:pt>
                <c:pt idx="10">
                  <c:v>41579</c:v>
                </c:pt>
                <c:pt idx="11">
                  <c:v>41609</c:v>
                </c:pt>
                <c:pt idx="12">
                  <c:v>41640</c:v>
                </c:pt>
                <c:pt idx="13">
                  <c:v>41671</c:v>
                </c:pt>
                <c:pt idx="14">
                  <c:v>41699</c:v>
                </c:pt>
                <c:pt idx="15">
                  <c:v>41730</c:v>
                </c:pt>
                <c:pt idx="16">
                  <c:v>41760</c:v>
                </c:pt>
                <c:pt idx="17">
                  <c:v>41791</c:v>
                </c:pt>
                <c:pt idx="18">
                  <c:v>41821</c:v>
                </c:pt>
                <c:pt idx="19">
                  <c:v>41852</c:v>
                </c:pt>
                <c:pt idx="20">
                  <c:v>41883</c:v>
                </c:pt>
                <c:pt idx="21">
                  <c:v>41913</c:v>
                </c:pt>
                <c:pt idx="22">
                  <c:v>41944</c:v>
                </c:pt>
                <c:pt idx="23">
                  <c:v>41974</c:v>
                </c:pt>
                <c:pt idx="24">
                  <c:v>42005</c:v>
                </c:pt>
                <c:pt idx="25">
                  <c:v>42036</c:v>
                </c:pt>
                <c:pt idx="26">
                  <c:v>42064</c:v>
                </c:pt>
                <c:pt idx="27">
                  <c:v>42095</c:v>
                </c:pt>
                <c:pt idx="28">
                  <c:v>42125</c:v>
                </c:pt>
                <c:pt idx="29">
                  <c:v>42156</c:v>
                </c:pt>
                <c:pt idx="30">
                  <c:v>42186</c:v>
                </c:pt>
                <c:pt idx="31">
                  <c:v>42217</c:v>
                </c:pt>
                <c:pt idx="32">
                  <c:v>42248</c:v>
                </c:pt>
                <c:pt idx="33">
                  <c:v>42278</c:v>
                </c:pt>
                <c:pt idx="34">
                  <c:v>42309</c:v>
                </c:pt>
                <c:pt idx="35">
                  <c:v>42339</c:v>
                </c:pt>
                <c:pt idx="36">
                  <c:v>42370</c:v>
                </c:pt>
                <c:pt idx="37">
                  <c:v>42401</c:v>
                </c:pt>
                <c:pt idx="38">
                  <c:v>42430</c:v>
                </c:pt>
                <c:pt idx="39">
                  <c:v>42461</c:v>
                </c:pt>
                <c:pt idx="40">
                  <c:v>42491</c:v>
                </c:pt>
                <c:pt idx="41">
                  <c:v>42522</c:v>
                </c:pt>
                <c:pt idx="42">
                  <c:v>42552</c:v>
                </c:pt>
                <c:pt idx="43">
                  <c:v>42583</c:v>
                </c:pt>
                <c:pt idx="44">
                  <c:v>42614</c:v>
                </c:pt>
                <c:pt idx="45">
                  <c:v>42644</c:v>
                </c:pt>
                <c:pt idx="46">
                  <c:v>42675</c:v>
                </c:pt>
                <c:pt idx="47">
                  <c:v>42705</c:v>
                </c:pt>
                <c:pt idx="48">
                  <c:v>42736</c:v>
                </c:pt>
                <c:pt idx="49">
                  <c:v>42767</c:v>
                </c:pt>
                <c:pt idx="50">
                  <c:v>42795</c:v>
                </c:pt>
                <c:pt idx="51">
                  <c:v>42826</c:v>
                </c:pt>
                <c:pt idx="52">
                  <c:v>42856</c:v>
                </c:pt>
                <c:pt idx="53">
                  <c:v>42887</c:v>
                </c:pt>
                <c:pt idx="54">
                  <c:v>42917</c:v>
                </c:pt>
                <c:pt idx="55">
                  <c:v>42948</c:v>
                </c:pt>
              </c:numCache>
            </c:numRef>
          </c:cat>
          <c:val>
            <c:numRef>
              <c:f>all!$I$371:$I$438</c:f>
              <c:numCache>
                <c:formatCode>General</c:formatCode>
                <c:ptCount val="68"/>
                <c:pt idx="0">
                  <c:v>21650.036400396399</c:v>
                </c:pt>
                <c:pt idx="1">
                  <c:v>21796.543427890199</c:v>
                </c:pt>
                <c:pt idx="2">
                  <c:v>21929.6616681417</c:v>
                </c:pt>
                <c:pt idx="3">
                  <c:v>21778.701316126899</c:v>
                </c:pt>
                <c:pt idx="4">
                  <c:v>22122.985841237802</c:v>
                </c:pt>
                <c:pt idx="5">
                  <c:v>22055.5894139501</c:v>
                </c:pt>
                <c:pt idx="6">
                  <c:v>22014.7121503501</c:v>
                </c:pt>
                <c:pt idx="7">
                  <c:v>22545.083243475601</c:v>
                </c:pt>
                <c:pt idx="8">
                  <c:v>22164.970315193201</c:v>
                </c:pt>
                <c:pt idx="9">
                  <c:v>22466.114862510702</c:v>
                </c:pt>
                <c:pt idx="10">
                  <c:v>22776.3287106237</c:v>
                </c:pt>
                <c:pt idx="11">
                  <c:v>22694.566823486599</c:v>
                </c:pt>
                <c:pt idx="12">
                  <c:v>23088.6406961008</c:v>
                </c:pt>
                <c:pt idx="13">
                  <c:v>22818.5745278508</c:v>
                </c:pt>
                <c:pt idx="14">
                  <c:v>22915.222781875698</c:v>
                </c:pt>
                <c:pt idx="15">
                  <c:v>23198.560138628302</c:v>
                </c:pt>
                <c:pt idx="16">
                  <c:v>23295.164478640101</c:v>
                </c:pt>
                <c:pt idx="17">
                  <c:v>23142.116320023899</c:v>
                </c:pt>
                <c:pt idx="18">
                  <c:v>23512.960145253801</c:v>
                </c:pt>
                <c:pt idx="19">
                  <c:v>23486.4979738863</c:v>
                </c:pt>
                <c:pt idx="20">
                  <c:v>23671.460216346801</c:v>
                </c:pt>
                <c:pt idx="21">
                  <c:v>23864.0734115835</c:v>
                </c:pt>
                <c:pt idx="22">
                  <c:v>23750.279364139002</c:v>
                </c:pt>
                <c:pt idx="23">
                  <c:v>23887.5820545602</c:v>
                </c:pt>
                <c:pt idx="24">
                  <c:v>24046.904170186201</c:v>
                </c:pt>
                <c:pt idx="25">
                  <c:v>23784.899936330599</c:v>
                </c:pt>
                <c:pt idx="26">
                  <c:v>24138.050583266198</c:v>
                </c:pt>
                <c:pt idx="27">
                  <c:v>24055.978444875302</c:v>
                </c:pt>
                <c:pt idx="28">
                  <c:v>24249.853476239401</c:v>
                </c:pt>
                <c:pt idx="29">
                  <c:v>24370.786334880198</c:v>
                </c:pt>
                <c:pt idx="30">
                  <c:v>24639.3705084912</c:v>
                </c:pt>
                <c:pt idx="31">
                  <c:v>24487.604693967201</c:v>
                </c:pt>
                <c:pt idx="32">
                  <c:v>24600.0188519246</c:v>
                </c:pt>
                <c:pt idx="33">
                  <c:v>24921.431534513598</c:v>
                </c:pt>
                <c:pt idx="34">
                  <c:v>24707.873539152599</c:v>
                </c:pt>
                <c:pt idx="35">
                  <c:v>25314.8932076934</c:v>
                </c:pt>
                <c:pt idx="36">
                  <c:v>24887.886498642001</c:v>
                </c:pt>
                <c:pt idx="37">
                  <c:v>25298.515612455099</c:v>
                </c:pt>
                <c:pt idx="38">
                  <c:v>25089.786181111998</c:v>
                </c:pt>
                <c:pt idx="39">
                  <c:v>25219.782183083</c:v>
                </c:pt>
                <c:pt idx="40">
                  <c:v>24901.538912567401</c:v>
                </c:pt>
                <c:pt idx="41">
                  <c:v>25217.564700132101</c:v>
                </c:pt>
                <c:pt idx="42">
                  <c:v>25196.735026084501</c:v>
                </c:pt>
                <c:pt idx="43">
                  <c:v>25316.4863527788</c:v>
                </c:pt>
                <c:pt idx="44">
                  <c:v>25638.0747596439</c:v>
                </c:pt>
                <c:pt idx="45">
                  <c:v>25412.042092666001</c:v>
                </c:pt>
                <c:pt idx="46">
                  <c:v>25704.1689220833</c:v>
                </c:pt>
                <c:pt idx="47">
                  <c:v>26450.4469756908</c:v>
                </c:pt>
                <c:pt idx="48">
                  <c:v>25446.660130329899</c:v>
                </c:pt>
                <c:pt idx="49">
                  <c:v>25181.755994084098</c:v>
                </c:pt>
                <c:pt idx="50">
                  <c:v>25695.7784886226</c:v>
                </c:pt>
                <c:pt idx="51">
                  <c:v>25828.366297733901</c:v>
                </c:pt>
                <c:pt idx="52">
                  <c:v>25918.621858966599</c:v>
                </c:pt>
                <c:pt idx="53">
                  <c:v>26202.767559175802</c:v>
                </c:pt>
                <c:pt idx="54">
                  <c:v>25911.541794653898</c:v>
                </c:pt>
                <c:pt idx="55">
                  <c:v>26027.284946454602</c:v>
                </c:pt>
              </c:numCache>
            </c:numRef>
          </c:val>
          <c:smooth val="0"/>
          <c:extLst>
            <c:ext xmlns:c16="http://schemas.microsoft.com/office/drawing/2014/chart" uri="{C3380CC4-5D6E-409C-BE32-E72D297353CC}">
              <c16:uniqueId val="{00000006-F743-4A8D-AFAF-BD7124C78498}"/>
            </c:ext>
          </c:extLst>
        </c:ser>
        <c:dLbls>
          <c:showLegendKey val="0"/>
          <c:showVal val="0"/>
          <c:showCatName val="0"/>
          <c:showSerName val="0"/>
          <c:showPercent val="0"/>
          <c:showBubbleSize val="0"/>
        </c:dLbls>
        <c:smooth val="0"/>
        <c:axId val="1996481984"/>
        <c:axId val="1798737648"/>
      </c:lineChart>
      <c:dateAx>
        <c:axId val="1996481984"/>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98737648"/>
        <c:crosses val="autoZero"/>
        <c:auto val="1"/>
        <c:lblOffset val="100"/>
        <c:baseTimeUnit val="months"/>
      </c:dateAx>
      <c:valAx>
        <c:axId val="1798737648"/>
        <c:scaling>
          <c:orientation val="minMax"/>
          <c:min val="21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964819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16/09/2026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5</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36836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A885-F651-8ABC-B69B-94AF7B73379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6CD7260-3ABF-4B0E-6E86-652C49FC489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3086FFC-6569-6480-BFC9-EAB5C82CF762}"/>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40F544EA-C5BA-2182-1D39-0913EBD8125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6</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8820086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69C75-35E1-43D5-84A1-C734143FD2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2C58106-EE41-4A7E-B370-FB6D2BDB6A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4352F8-667F-4665-97EB-09DC9D79424D}"/>
              </a:ext>
            </a:extLst>
          </p:cNvPr>
          <p:cNvSpPr>
            <a:spLocks noGrp="1"/>
          </p:cNvSpPr>
          <p:nvPr>
            <p:ph type="dt" sz="half" idx="10"/>
          </p:nvPr>
        </p:nvSpPr>
        <p:spPr/>
        <p:txBody>
          <a:bodyPr/>
          <a:lstStyle/>
          <a:p>
            <a:r>
              <a:rPr lang="en-US"/>
              <a:t>15-17/10/2024</a:t>
            </a:r>
            <a:endParaRPr lang="en-GB"/>
          </a:p>
        </p:txBody>
      </p:sp>
      <p:sp>
        <p:nvSpPr>
          <p:cNvPr id="5" name="Footer Placeholder 4">
            <a:extLst>
              <a:ext uri="{FF2B5EF4-FFF2-40B4-BE49-F238E27FC236}">
                <a16:creationId xmlns:a16="http://schemas.microsoft.com/office/drawing/2014/main" id="{EC9D76B3-1E07-4245-A492-B6C66F40DCE4}"/>
              </a:ext>
            </a:extLst>
          </p:cNvPr>
          <p:cNvSpPr>
            <a:spLocks noGrp="1"/>
          </p:cNvSpPr>
          <p:nvPr>
            <p:ph type="ftr" sz="quarter" idx="11"/>
          </p:nvPr>
        </p:nvSpPr>
        <p:spPr/>
        <p:txBody>
          <a:bodyPr/>
          <a:lstStyle/>
          <a:p>
            <a:r>
              <a:rPr lang="en-GB"/>
              <a:t>ESTP Training. Seasonal adjustment</a:t>
            </a:r>
          </a:p>
        </p:txBody>
      </p:sp>
      <p:sp>
        <p:nvSpPr>
          <p:cNvPr id="6" name="Slide Number Placeholder 5">
            <a:extLst>
              <a:ext uri="{FF2B5EF4-FFF2-40B4-BE49-F238E27FC236}">
                <a16:creationId xmlns:a16="http://schemas.microsoft.com/office/drawing/2014/main" id="{6F965D1A-16CF-4345-8200-8650C462B98D}"/>
              </a:ext>
            </a:extLst>
          </p:cNvPr>
          <p:cNvSpPr>
            <a:spLocks noGrp="1"/>
          </p:cNvSpPr>
          <p:nvPr>
            <p:ph type="sldNum" sz="quarter" idx="12"/>
          </p:nvPr>
        </p:nvSpPr>
        <p:spPr/>
        <p:txBody>
          <a:bodyPr/>
          <a:lstStyle/>
          <a:p>
            <a:fld id="{1E1EA8E3-33CC-465E-BBDB-C5F5B41B1D80}" type="slidenum">
              <a:rPr lang="en-GB" smtClean="0"/>
              <a:t>‹N°›</a:t>
            </a:fld>
            <a:endParaRPr lang="en-GB"/>
          </a:p>
        </p:txBody>
      </p:sp>
    </p:spTree>
    <p:extLst>
      <p:ext uri="{BB962C8B-B14F-4D97-AF65-F5344CB8AC3E}">
        <p14:creationId xmlns:p14="http://schemas.microsoft.com/office/powerpoint/2010/main" val="330676883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6.xml"/><Relationship Id="rId6"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dirty="0"/>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Seasonal adjustment</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5CCB1-7632-4FCD-B0AC-611D8D65D2C6}"/>
              </a:ext>
            </a:extLst>
          </p:cNvPr>
          <p:cNvSpPr>
            <a:spLocks noGrp="1"/>
          </p:cNvSpPr>
          <p:nvPr>
            <p:ph type="title"/>
          </p:nvPr>
        </p:nvSpPr>
        <p:spPr/>
        <p:txBody>
          <a:bodyPr/>
          <a:lstStyle/>
          <a:p>
            <a:r>
              <a:rPr lang="en-GB" dirty="0"/>
              <a:t>0. Outline</a:t>
            </a:r>
          </a:p>
        </p:txBody>
      </p:sp>
      <p:sp>
        <p:nvSpPr>
          <p:cNvPr id="3" name="Content Placeholder 2">
            <a:extLst>
              <a:ext uri="{FF2B5EF4-FFF2-40B4-BE49-F238E27FC236}">
                <a16:creationId xmlns:a16="http://schemas.microsoft.com/office/drawing/2014/main" id="{BB3CD9BC-FDFA-4D2F-9496-DCBD4F7FCD64}"/>
              </a:ext>
            </a:extLst>
          </p:cNvPr>
          <p:cNvSpPr>
            <a:spLocks noGrp="1"/>
          </p:cNvSpPr>
          <p:nvPr>
            <p:ph idx="1"/>
          </p:nvPr>
        </p:nvSpPr>
        <p:spPr/>
        <p:txBody>
          <a:bodyPr/>
          <a:lstStyle/>
          <a:p>
            <a:r>
              <a:rPr lang="en-GB" dirty="0"/>
              <a:t>ESS guidelines</a:t>
            </a:r>
          </a:p>
          <a:p>
            <a:pPr lvl="1"/>
            <a:r>
              <a:rPr lang="en-GB" dirty="0"/>
              <a:t>Objectives</a:t>
            </a:r>
          </a:p>
          <a:p>
            <a:pPr lvl="1"/>
            <a:r>
              <a:rPr lang="en-GB" dirty="0"/>
              <a:t>Methods</a:t>
            </a:r>
          </a:p>
          <a:p>
            <a:r>
              <a:rPr lang="en-GB" dirty="0"/>
              <a:t>Series decomposition</a:t>
            </a:r>
          </a:p>
          <a:p>
            <a:r>
              <a:rPr lang="en-GB" dirty="0"/>
              <a:t>Overview of seasonal adjustment methods</a:t>
            </a:r>
          </a:p>
          <a:p>
            <a:r>
              <a:rPr lang="en-GB" dirty="0"/>
              <a:t>Outline of the training</a:t>
            </a:r>
          </a:p>
          <a:p>
            <a:r>
              <a:rPr lang="en-GB" dirty="0"/>
              <a:t>Final remarks</a:t>
            </a:r>
          </a:p>
          <a:p>
            <a:endParaRPr lang="en-GB" dirty="0"/>
          </a:p>
        </p:txBody>
      </p:sp>
      <p:sp>
        <p:nvSpPr>
          <p:cNvPr id="5" name="Footer Placeholder 4">
            <a:extLst>
              <a:ext uri="{FF2B5EF4-FFF2-40B4-BE49-F238E27FC236}">
                <a16:creationId xmlns:a16="http://schemas.microsoft.com/office/drawing/2014/main" id="{2C2B169F-4C84-4EC2-8993-D0A310984A11}"/>
              </a:ext>
            </a:extLst>
          </p:cNvPr>
          <p:cNvSpPr>
            <a:spLocks noGrp="1"/>
          </p:cNvSpPr>
          <p:nvPr>
            <p:ph type="ftr" sz="quarter" idx="11"/>
          </p:nvPr>
        </p:nvSpPr>
        <p:spPr/>
        <p:txBody>
          <a:bodyPr/>
          <a:lstStyle/>
          <a:p>
            <a:r>
              <a:rPr lang="en-GB" dirty="0"/>
              <a:t>ESTP Training. Seasonal adjustment</a:t>
            </a:r>
          </a:p>
        </p:txBody>
      </p:sp>
    </p:spTree>
    <p:extLst>
      <p:ext uri="{BB962C8B-B14F-4D97-AF65-F5344CB8AC3E}">
        <p14:creationId xmlns:p14="http://schemas.microsoft.com/office/powerpoint/2010/main" val="18504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72AA7-9F6F-4D7F-AD96-0AF2E4A3CEAD}"/>
              </a:ext>
            </a:extLst>
          </p:cNvPr>
          <p:cNvSpPr>
            <a:spLocks noGrp="1"/>
          </p:cNvSpPr>
          <p:nvPr>
            <p:ph type="title"/>
          </p:nvPr>
        </p:nvSpPr>
        <p:spPr/>
        <p:txBody>
          <a:bodyPr/>
          <a:lstStyle/>
          <a:p>
            <a:r>
              <a:rPr lang="en-GB" dirty="0"/>
              <a:t>1. ESS Guidelines (2024)</a:t>
            </a:r>
          </a:p>
        </p:txBody>
      </p:sp>
      <p:sp>
        <p:nvSpPr>
          <p:cNvPr id="3" name="Content Placeholder 2">
            <a:extLst>
              <a:ext uri="{FF2B5EF4-FFF2-40B4-BE49-F238E27FC236}">
                <a16:creationId xmlns:a16="http://schemas.microsoft.com/office/drawing/2014/main" id="{CE59404C-6BF3-425F-910F-AF8077C4B96E}"/>
              </a:ext>
            </a:extLst>
          </p:cNvPr>
          <p:cNvSpPr>
            <a:spLocks noGrp="1"/>
          </p:cNvSpPr>
          <p:nvPr>
            <p:ph idx="1"/>
          </p:nvPr>
        </p:nvSpPr>
        <p:spPr/>
        <p:txBody>
          <a:bodyPr/>
          <a:lstStyle/>
          <a:p>
            <a:r>
              <a:rPr lang="en-US" dirty="0"/>
              <a:t>Background and basic definitions</a:t>
            </a:r>
          </a:p>
          <a:p>
            <a:endParaRPr lang="en-US" dirty="0"/>
          </a:p>
        </p:txBody>
      </p:sp>
      <p:sp>
        <p:nvSpPr>
          <p:cNvPr id="4" name="TextBox 3">
            <a:extLst>
              <a:ext uri="{FF2B5EF4-FFF2-40B4-BE49-F238E27FC236}">
                <a16:creationId xmlns:a16="http://schemas.microsoft.com/office/drawing/2014/main" id="{CFF4F76D-F7C9-4830-B478-936ABA7449D4}"/>
              </a:ext>
            </a:extLst>
          </p:cNvPr>
          <p:cNvSpPr txBox="1"/>
          <p:nvPr/>
        </p:nvSpPr>
        <p:spPr>
          <a:xfrm>
            <a:off x="1171112" y="2450237"/>
            <a:ext cx="10182688" cy="3170099"/>
          </a:xfrm>
          <a:prstGeom prst="rect">
            <a:avLst/>
          </a:prstGeom>
          <a:noFill/>
          <a:ln w="28575">
            <a:solidFill>
              <a:srgbClr val="0070C0"/>
            </a:solidFill>
          </a:ln>
        </p:spPr>
        <p:txBody>
          <a:bodyPr wrap="square" rtlCol="0">
            <a:spAutoFit/>
          </a:bodyPr>
          <a:lstStyle/>
          <a:p>
            <a:r>
              <a:rPr lang="en-GB" sz="1800" b="0" i="0" u="none" strike="noStrike" baseline="0" dirty="0">
                <a:solidFill>
                  <a:srgbClr val="000000"/>
                </a:solidFill>
                <a:latin typeface="Myriad Pro Light SemiCond"/>
              </a:rPr>
              <a:t>Seasonal adjustment is a fundamental process in the correct interpretation of short-term time series movement to inform policy makers. </a:t>
            </a:r>
          </a:p>
          <a:p>
            <a:endParaRPr lang="en-GB" sz="1800" b="0" i="0" u="none" strike="noStrike" baseline="0" dirty="0">
              <a:solidFill>
                <a:srgbClr val="000000"/>
              </a:solidFill>
              <a:latin typeface="Myriad Pro Light SemiCond"/>
            </a:endParaRPr>
          </a:p>
          <a:p>
            <a:r>
              <a:rPr lang="en-GB" sz="1800" b="0" i="0" u="none" strike="noStrike" baseline="0" dirty="0">
                <a:solidFill>
                  <a:srgbClr val="000000"/>
                </a:solidFill>
                <a:latin typeface="Myriad Pro Light SemiCond"/>
              </a:rPr>
              <a:t>Seasonal fluctuations and calendar effects can mask short and long-term movements in a time series and impede a clear understanding of underlying phenomena. Seasonal adjustment filters out usual seasonal fluctuations and typical calendar effects from a time series. </a:t>
            </a:r>
          </a:p>
          <a:p>
            <a:endParaRPr lang="en-GB" sz="1800" b="0" i="0" u="none" strike="noStrike" baseline="0" dirty="0">
              <a:solidFill>
                <a:srgbClr val="000000"/>
              </a:solidFill>
              <a:latin typeface="Myriad Pro Light SemiCond"/>
            </a:endParaRPr>
          </a:p>
          <a:p>
            <a:r>
              <a:rPr lang="en-GB" sz="1800" b="0" i="0" u="none" strike="noStrike" baseline="0" dirty="0">
                <a:solidFill>
                  <a:srgbClr val="000000"/>
                </a:solidFill>
                <a:latin typeface="Myriad Pro Light SemiCond"/>
              </a:rPr>
              <a:t>Usual seasonal fluctuations mean those movements which recur with similar intensity in the same season each year and which, based on the past movements of the time series in question and under normal circumstances, can be expected to recur. Calendar effects arise from annual differences in the number of working or trading days in a month or a quarter, or the dates or days of public holidays</a:t>
            </a:r>
            <a:r>
              <a:rPr lang="en-GB" sz="2000" b="0" i="0" u="none" strike="noStrike" baseline="0" dirty="0">
                <a:solidFill>
                  <a:srgbClr val="000000"/>
                </a:solidFill>
                <a:latin typeface="Myriad Pro Light SemiCond"/>
              </a:rPr>
              <a:t>.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dirty="0"/>
              <a:t>ESTP Training. Seasonal adjustment</a:t>
            </a:r>
          </a:p>
        </p:txBody>
      </p:sp>
    </p:spTree>
    <p:extLst>
      <p:ext uri="{BB962C8B-B14F-4D97-AF65-F5344CB8AC3E}">
        <p14:creationId xmlns:p14="http://schemas.microsoft.com/office/powerpoint/2010/main" val="3982541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FF4F76D-F7C9-4830-B478-936ABA7449D4}"/>
              </a:ext>
            </a:extLst>
          </p:cNvPr>
          <p:cNvSpPr txBox="1"/>
          <p:nvPr/>
        </p:nvSpPr>
        <p:spPr>
          <a:xfrm>
            <a:off x="1004656" y="752045"/>
            <a:ext cx="10182688" cy="5016758"/>
          </a:xfrm>
          <a:prstGeom prst="rect">
            <a:avLst/>
          </a:prstGeom>
          <a:noFill/>
          <a:ln w="28575">
            <a:solidFill>
              <a:srgbClr val="0070C0"/>
            </a:solidFill>
          </a:ln>
        </p:spPr>
        <p:txBody>
          <a:bodyPr wrap="square" rtlCol="0">
            <a:spAutoFit/>
          </a:bodyPr>
          <a:lstStyle/>
          <a:p>
            <a:r>
              <a:rPr lang="en-GB" sz="2000" b="0" i="0" u="none" strike="noStrike" baseline="0" dirty="0">
                <a:solidFill>
                  <a:srgbClr val="000000"/>
                </a:solidFill>
                <a:latin typeface="Myriad Pro Light SemiCond"/>
              </a:rPr>
              <a:t>Movements due to exceptionally strong or weak seasonal influences, for example extreme weather conditions or atypical holiday patterns, will continue to be visible in the seasonally adjusted series. Other random disruptions and unusual movements with real-world interpretations, for example strikes or large orders, will also continue to be visible.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Hence, the seasonally adjusted results do not show “normal” and repeating events but do show the “news” in the time series, for example latest movements of the trend, the business cycle or the irregular components as well as the occurrence of turning points.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The downside of seasonal adjustment is that seasonality cannot be precisely defined and different approaches – such as the signal extraction approach (Burman, 1980; Gomez and </a:t>
            </a:r>
            <a:r>
              <a:rPr lang="en-GB" sz="2000" b="0" i="0" u="none" strike="noStrike" baseline="0" dirty="0" err="1">
                <a:solidFill>
                  <a:srgbClr val="000000"/>
                </a:solidFill>
                <a:latin typeface="Myriad Pro Light SemiCond"/>
              </a:rPr>
              <a:t>Maravall</a:t>
            </a:r>
            <a:r>
              <a:rPr lang="en-GB" sz="2000" b="0" i="0" u="none" strike="noStrike" baseline="0" dirty="0">
                <a:solidFill>
                  <a:srgbClr val="000000"/>
                </a:solidFill>
                <a:latin typeface="Myriad Pro Light SemiCond"/>
              </a:rPr>
              <a:t>, 1996) and the semi-parametric approach based on a set of predefined moving (</a:t>
            </a:r>
            <a:r>
              <a:rPr lang="en-GB" sz="2000" b="0" i="0" u="none" strike="noStrike" baseline="0" dirty="0" err="1">
                <a:solidFill>
                  <a:srgbClr val="000000"/>
                </a:solidFill>
                <a:latin typeface="Myriad Pro Light SemiCond"/>
              </a:rPr>
              <a:t>Shiskin</a:t>
            </a:r>
            <a:r>
              <a:rPr lang="en-GB" sz="2000" b="0" i="0" u="none" strike="noStrike" baseline="0" dirty="0">
                <a:solidFill>
                  <a:srgbClr val="000000"/>
                </a:solidFill>
                <a:latin typeface="Myriad Pro Light SemiCond"/>
              </a:rPr>
              <a:t> et al., 1967; Findley et al., 1998) – may result in different outcomes. </a:t>
            </a:r>
          </a:p>
          <a:p>
            <a:endParaRPr lang="en-GB" sz="2000" dirty="0">
              <a:solidFill>
                <a:srgbClr val="000000"/>
              </a:solidFill>
              <a:latin typeface="Myriad Pro Light SemiCond"/>
            </a:endParaRPr>
          </a:p>
          <a:p>
            <a:r>
              <a:rPr lang="en-GB" sz="2000" b="0" i="0" u="none" strike="noStrike" baseline="0" dirty="0">
                <a:solidFill>
                  <a:srgbClr val="000000"/>
                </a:solidFill>
                <a:latin typeface="Myriad Pro Light SemiCond"/>
              </a:rPr>
              <a:t>The expertise of an analyst will also impact on the quality of seasonal adjustment, although the primary drivers are the quality of the unadjusted time series and the production timetable.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451516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42788-F7E8-27C8-B319-27D925698B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B2C01-6F77-97D7-748C-ABA302004B57}"/>
              </a:ext>
            </a:extLst>
          </p:cNvPr>
          <p:cNvSpPr>
            <a:spLocks noGrp="1"/>
          </p:cNvSpPr>
          <p:nvPr>
            <p:ph type="title"/>
          </p:nvPr>
        </p:nvSpPr>
        <p:spPr/>
        <p:txBody>
          <a:bodyPr/>
          <a:lstStyle/>
          <a:p>
            <a:r>
              <a:rPr lang="en-GB" dirty="0"/>
              <a:t>2. Rapid overview of common SA methods</a:t>
            </a:r>
          </a:p>
        </p:txBody>
      </p:sp>
      <p:sp>
        <p:nvSpPr>
          <p:cNvPr id="5" name="Rectangle: Rounded Corners 4">
            <a:extLst>
              <a:ext uri="{FF2B5EF4-FFF2-40B4-BE49-F238E27FC236}">
                <a16:creationId xmlns:a16="http://schemas.microsoft.com/office/drawing/2014/main" id="{B20EEB24-6242-B14B-997A-8A70222721F2}"/>
              </a:ext>
            </a:extLst>
          </p:cNvPr>
          <p:cNvSpPr/>
          <p:nvPr/>
        </p:nvSpPr>
        <p:spPr>
          <a:xfrm>
            <a:off x="2518618" y="1708602"/>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Non parametric</a:t>
            </a:r>
          </a:p>
        </p:txBody>
      </p:sp>
      <p:sp>
        <p:nvSpPr>
          <p:cNvPr id="6" name="Rectangle: Rounded Corners 5">
            <a:extLst>
              <a:ext uri="{FF2B5EF4-FFF2-40B4-BE49-F238E27FC236}">
                <a16:creationId xmlns:a16="http://schemas.microsoft.com/office/drawing/2014/main" id="{92ACF298-1FAA-9507-AF07-5B5A5356D025}"/>
              </a:ext>
            </a:extLst>
          </p:cNvPr>
          <p:cNvSpPr/>
          <p:nvPr/>
        </p:nvSpPr>
        <p:spPr>
          <a:xfrm>
            <a:off x="8545227" y="1682116"/>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Parametric</a:t>
            </a:r>
          </a:p>
        </p:txBody>
      </p:sp>
      <p:sp>
        <p:nvSpPr>
          <p:cNvPr id="7" name="Oval 6">
            <a:extLst>
              <a:ext uri="{FF2B5EF4-FFF2-40B4-BE49-F238E27FC236}">
                <a16:creationId xmlns:a16="http://schemas.microsoft.com/office/drawing/2014/main" id="{94BA8B4A-0DED-E953-CA34-F116892137BF}"/>
              </a:ext>
            </a:extLst>
          </p:cNvPr>
          <p:cNvSpPr/>
          <p:nvPr/>
        </p:nvSpPr>
        <p:spPr>
          <a:xfrm>
            <a:off x="3472806" y="2702610"/>
            <a:ext cx="129113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Lo(w)ess</a:t>
            </a:r>
          </a:p>
        </p:txBody>
      </p:sp>
      <p:sp>
        <p:nvSpPr>
          <p:cNvPr id="8" name="Rectangle: Rounded Corners 7">
            <a:extLst>
              <a:ext uri="{FF2B5EF4-FFF2-40B4-BE49-F238E27FC236}">
                <a16:creationId xmlns:a16="http://schemas.microsoft.com/office/drawing/2014/main" id="{911DB814-97DC-A027-0A22-32D63C3C35CE}"/>
              </a:ext>
            </a:extLst>
          </p:cNvPr>
          <p:cNvSpPr/>
          <p:nvPr/>
        </p:nvSpPr>
        <p:spPr>
          <a:xfrm>
            <a:off x="3467916" y="3971812"/>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STL</a:t>
            </a:r>
          </a:p>
        </p:txBody>
      </p:sp>
      <p:sp>
        <p:nvSpPr>
          <p:cNvPr id="9" name="Oval 8">
            <a:extLst>
              <a:ext uri="{FF2B5EF4-FFF2-40B4-BE49-F238E27FC236}">
                <a16:creationId xmlns:a16="http://schemas.microsoft.com/office/drawing/2014/main" id="{DC8A0BE8-542A-3EAC-8DAD-721E0C3D83F2}"/>
              </a:ext>
            </a:extLst>
          </p:cNvPr>
          <p:cNvSpPr/>
          <p:nvPr/>
        </p:nvSpPr>
        <p:spPr>
          <a:xfrm>
            <a:off x="4768820" y="2690935"/>
            <a:ext cx="1698814"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Moving averages</a:t>
            </a:r>
          </a:p>
        </p:txBody>
      </p:sp>
      <p:sp>
        <p:nvSpPr>
          <p:cNvPr id="10" name="Oval 9">
            <a:extLst>
              <a:ext uri="{FF2B5EF4-FFF2-40B4-BE49-F238E27FC236}">
                <a16:creationId xmlns:a16="http://schemas.microsoft.com/office/drawing/2014/main" id="{070B0308-4FCC-DDCC-7553-5E532A7A72FE}"/>
              </a:ext>
            </a:extLst>
          </p:cNvPr>
          <p:cNvSpPr/>
          <p:nvPr/>
        </p:nvSpPr>
        <p:spPr>
          <a:xfrm>
            <a:off x="380018" y="2714285"/>
            <a:ext cx="14497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60B11E01-1E23-86BD-3B08-B47D054E6E24}"/>
              </a:ext>
            </a:extLst>
          </p:cNvPr>
          <p:cNvSpPr/>
          <p:nvPr/>
        </p:nvSpPr>
        <p:spPr>
          <a:xfrm>
            <a:off x="616688" y="4270578"/>
            <a:ext cx="97449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Prophet</a:t>
            </a:r>
          </a:p>
        </p:txBody>
      </p:sp>
      <p:sp>
        <p:nvSpPr>
          <p:cNvPr id="12" name="Rectangle: Rounded Corners 11">
            <a:extLst>
              <a:ext uri="{FF2B5EF4-FFF2-40B4-BE49-F238E27FC236}">
                <a16:creationId xmlns:a16="http://schemas.microsoft.com/office/drawing/2014/main" id="{A0E79644-1F6F-DF90-67F8-FC5856FFF7BF}"/>
              </a:ext>
            </a:extLst>
          </p:cNvPr>
          <p:cNvSpPr/>
          <p:nvPr/>
        </p:nvSpPr>
        <p:spPr>
          <a:xfrm>
            <a:off x="4947782" y="4010107"/>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X11</a:t>
            </a:r>
          </a:p>
        </p:txBody>
      </p:sp>
      <p:cxnSp>
        <p:nvCxnSpPr>
          <p:cNvPr id="14" name="Connector: Elbow 13">
            <a:extLst>
              <a:ext uri="{FF2B5EF4-FFF2-40B4-BE49-F238E27FC236}">
                <a16:creationId xmlns:a16="http://schemas.microsoft.com/office/drawing/2014/main" id="{838830FD-3B24-C393-B63F-B4436D796512}"/>
              </a:ext>
            </a:extLst>
          </p:cNvPr>
          <p:cNvCxnSpPr>
            <a:cxnSpLocks/>
            <a:stCxn id="5" idx="2"/>
            <a:endCxn id="7" idx="0"/>
          </p:cNvCxnSpPr>
          <p:nvPr/>
        </p:nvCxnSpPr>
        <p:spPr>
          <a:xfrm rot="16200000" flipH="1">
            <a:off x="3773642" y="2357879"/>
            <a:ext cx="524225" cy="165236"/>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416E1231-52E2-4007-1AFD-7819454ED621}"/>
              </a:ext>
            </a:extLst>
          </p:cNvPr>
          <p:cNvCxnSpPr>
            <a:cxnSpLocks/>
            <a:stCxn id="5" idx="2"/>
            <a:endCxn id="10" idx="0"/>
          </p:cNvCxnSpPr>
          <p:nvPr/>
        </p:nvCxnSpPr>
        <p:spPr>
          <a:xfrm rot="5400000">
            <a:off x="2261057" y="1022206"/>
            <a:ext cx="535900" cy="284825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2B685320-2F2E-CD52-AB20-B789288CB334}"/>
              </a:ext>
            </a:extLst>
          </p:cNvPr>
          <p:cNvCxnSpPr>
            <a:cxnSpLocks/>
            <a:stCxn id="5" idx="2"/>
            <a:endCxn id="9" idx="0"/>
          </p:cNvCxnSpPr>
          <p:nvPr/>
        </p:nvCxnSpPr>
        <p:spPr>
          <a:xfrm rot="16200000" flipH="1">
            <a:off x="4529406" y="1602114"/>
            <a:ext cx="512550" cy="1665091"/>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8C5F1A99-8AF7-2DD0-357D-334A96DBC673}"/>
              </a:ext>
            </a:extLst>
          </p:cNvPr>
          <p:cNvSpPr/>
          <p:nvPr/>
        </p:nvSpPr>
        <p:spPr>
          <a:xfrm>
            <a:off x="7442624" y="2617345"/>
            <a:ext cx="18628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Stochastic</a:t>
            </a:r>
          </a:p>
        </p:txBody>
      </p:sp>
      <p:sp>
        <p:nvSpPr>
          <p:cNvPr id="23" name="Oval 22">
            <a:extLst>
              <a:ext uri="{FF2B5EF4-FFF2-40B4-BE49-F238E27FC236}">
                <a16:creationId xmlns:a16="http://schemas.microsoft.com/office/drawing/2014/main" id="{97091878-95AD-5BA2-B5AD-57B1CBC59B3E}"/>
              </a:ext>
            </a:extLst>
          </p:cNvPr>
          <p:cNvSpPr/>
          <p:nvPr/>
        </p:nvSpPr>
        <p:spPr>
          <a:xfrm>
            <a:off x="10313196" y="2622661"/>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Deterministic</a:t>
            </a:r>
          </a:p>
        </p:txBody>
      </p:sp>
      <p:cxnSp>
        <p:nvCxnSpPr>
          <p:cNvPr id="24" name="Connector: Elbow 23">
            <a:extLst>
              <a:ext uri="{FF2B5EF4-FFF2-40B4-BE49-F238E27FC236}">
                <a16:creationId xmlns:a16="http://schemas.microsoft.com/office/drawing/2014/main" id="{475587C9-5995-8504-59BB-14578D51764B}"/>
              </a:ext>
            </a:extLst>
          </p:cNvPr>
          <p:cNvCxnSpPr>
            <a:cxnSpLocks/>
            <a:stCxn id="6" idx="2"/>
            <a:endCxn id="22" idx="0"/>
          </p:cNvCxnSpPr>
          <p:nvPr/>
        </p:nvCxnSpPr>
        <p:spPr>
          <a:xfrm rot="5400000">
            <a:off x="8944166" y="1581766"/>
            <a:ext cx="465446" cy="160571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F92AACF4-06AC-EF66-A12E-C6B142FCE679}"/>
              </a:ext>
            </a:extLst>
          </p:cNvPr>
          <p:cNvCxnSpPr>
            <a:cxnSpLocks/>
            <a:stCxn id="6" idx="2"/>
            <a:endCxn id="23" idx="0"/>
          </p:cNvCxnSpPr>
          <p:nvPr/>
        </p:nvCxnSpPr>
        <p:spPr>
          <a:xfrm rot="16200000" flipH="1">
            <a:off x="10331937" y="1799706"/>
            <a:ext cx="470762" cy="1175147"/>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752A2947-D40F-57BA-52F8-E2B6F5E9CAA7}"/>
              </a:ext>
            </a:extLst>
          </p:cNvPr>
          <p:cNvCxnSpPr>
            <a:cxnSpLocks/>
            <a:stCxn id="10" idx="4"/>
            <a:endCxn id="11" idx="0"/>
          </p:cNvCxnSpPr>
          <p:nvPr/>
        </p:nvCxnSpPr>
        <p:spPr>
          <a:xfrm rot="5400000">
            <a:off x="663917" y="3829618"/>
            <a:ext cx="880978" cy="94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B907D710-A8B5-1E2B-E2EA-C23EBF98D833}"/>
              </a:ext>
            </a:extLst>
          </p:cNvPr>
          <p:cNvCxnSpPr>
            <a:cxnSpLocks/>
            <a:stCxn id="7" idx="4"/>
            <a:endCxn id="8" idx="0"/>
          </p:cNvCxnSpPr>
          <p:nvPr/>
        </p:nvCxnSpPr>
        <p:spPr>
          <a:xfrm rot="5400000">
            <a:off x="3820337" y="3673776"/>
            <a:ext cx="593887" cy="218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6E0EA7A6-A130-3835-47D4-7FC3B4CC9640}"/>
              </a:ext>
            </a:extLst>
          </p:cNvPr>
          <p:cNvCxnSpPr>
            <a:cxnSpLocks/>
            <a:stCxn id="9" idx="4"/>
            <a:endCxn id="12" idx="0"/>
          </p:cNvCxnSpPr>
          <p:nvPr/>
        </p:nvCxnSpPr>
        <p:spPr>
          <a:xfrm rot="5400000">
            <a:off x="5285213" y="3677092"/>
            <a:ext cx="643857" cy="2217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F9F53A8F-D057-B167-2769-70D54F353BC0}"/>
              </a:ext>
            </a:extLst>
          </p:cNvPr>
          <p:cNvSpPr/>
          <p:nvPr/>
        </p:nvSpPr>
        <p:spPr>
          <a:xfrm>
            <a:off x="6579257" y="3708565"/>
            <a:ext cx="1876731"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RegArima</a:t>
            </a:r>
          </a:p>
          <a:p>
            <a:pPr algn="ctr"/>
            <a:r>
              <a:rPr lang="en-GB" sz="1200" dirty="0"/>
              <a:t>models</a:t>
            </a:r>
          </a:p>
        </p:txBody>
      </p:sp>
      <p:sp>
        <p:nvSpPr>
          <p:cNvPr id="44" name="Rectangle: Rounded Corners 43">
            <a:extLst>
              <a:ext uri="{FF2B5EF4-FFF2-40B4-BE49-F238E27FC236}">
                <a16:creationId xmlns:a16="http://schemas.microsoft.com/office/drawing/2014/main" id="{7005268F-C451-5ED7-7008-F4B5D3AC0EBF}"/>
              </a:ext>
            </a:extLst>
          </p:cNvPr>
          <p:cNvSpPr/>
          <p:nvPr/>
        </p:nvSpPr>
        <p:spPr>
          <a:xfrm>
            <a:off x="8514314" y="3708563"/>
            <a:ext cx="1876737"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Structural models</a:t>
            </a:r>
          </a:p>
        </p:txBody>
      </p:sp>
      <p:sp>
        <p:nvSpPr>
          <p:cNvPr id="45" name="Rectangle: Rounded Corners 44">
            <a:extLst>
              <a:ext uri="{FF2B5EF4-FFF2-40B4-BE49-F238E27FC236}">
                <a16:creationId xmlns:a16="http://schemas.microsoft.com/office/drawing/2014/main" id="{018AE1CB-1038-EBCB-68B8-18599615E78F}"/>
              </a:ext>
            </a:extLst>
          </p:cNvPr>
          <p:cNvSpPr/>
          <p:nvPr/>
        </p:nvSpPr>
        <p:spPr>
          <a:xfrm>
            <a:off x="6579257" y="4779892"/>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Canonical decomposition</a:t>
            </a:r>
          </a:p>
        </p:txBody>
      </p:sp>
      <p:sp>
        <p:nvSpPr>
          <p:cNvPr id="46" name="Rectangle: Rounded Corners 45">
            <a:extLst>
              <a:ext uri="{FF2B5EF4-FFF2-40B4-BE49-F238E27FC236}">
                <a16:creationId xmlns:a16="http://schemas.microsoft.com/office/drawing/2014/main" id="{049C754C-9BAC-AF79-153B-C870746F7431}"/>
              </a:ext>
            </a:extLst>
          </p:cNvPr>
          <p:cNvSpPr/>
          <p:nvPr/>
        </p:nvSpPr>
        <p:spPr>
          <a:xfrm>
            <a:off x="8159984" y="5900138"/>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Kalman filter</a:t>
            </a:r>
          </a:p>
          <a:p>
            <a:pPr algn="ctr"/>
            <a:r>
              <a:rPr lang="en-GB" sz="1200" dirty="0"/>
              <a:t>WK filter</a:t>
            </a:r>
          </a:p>
        </p:txBody>
      </p:sp>
      <p:sp>
        <p:nvSpPr>
          <p:cNvPr id="48" name="Rectangle: Rounded Corners 47">
            <a:extLst>
              <a:ext uri="{FF2B5EF4-FFF2-40B4-BE49-F238E27FC236}">
                <a16:creationId xmlns:a16="http://schemas.microsoft.com/office/drawing/2014/main" id="{16A1304C-C6A5-B418-B518-9ECCDB419DD7}"/>
              </a:ext>
            </a:extLst>
          </p:cNvPr>
          <p:cNvSpPr/>
          <p:nvPr/>
        </p:nvSpPr>
        <p:spPr>
          <a:xfrm>
            <a:off x="4965960" y="5346633"/>
            <a:ext cx="1262507" cy="675315"/>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X12-ARIMA</a:t>
            </a:r>
          </a:p>
        </p:txBody>
      </p:sp>
      <p:cxnSp>
        <p:nvCxnSpPr>
          <p:cNvPr id="49" name="Connector: Elbow 48">
            <a:extLst>
              <a:ext uri="{FF2B5EF4-FFF2-40B4-BE49-F238E27FC236}">
                <a16:creationId xmlns:a16="http://schemas.microsoft.com/office/drawing/2014/main" id="{C82E8C38-A522-189B-5AF7-BC0F10CB3DAB}"/>
              </a:ext>
            </a:extLst>
          </p:cNvPr>
          <p:cNvCxnSpPr>
            <a:cxnSpLocks/>
            <a:stCxn id="22" idx="4"/>
            <a:endCxn id="43" idx="0"/>
          </p:cNvCxnSpPr>
          <p:nvPr/>
        </p:nvCxnSpPr>
        <p:spPr>
          <a:xfrm rot="5400000">
            <a:off x="7737876" y="3072407"/>
            <a:ext cx="415905" cy="85641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FA1D2AE7-AE9A-90B9-5DDF-44EBB7D4C83B}"/>
              </a:ext>
            </a:extLst>
          </p:cNvPr>
          <p:cNvCxnSpPr>
            <a:cxnSpLocks/>
            <a:stCxn id="22" idx="4"/>
            <a:endCxn id="44" idx="0"/>
          </p:cNvCxnSpPr>
          <p:nvPr/>
        </p:nvCxnSpPr>
        <p:spPr>
          <a:xfrm rot="16200000" flipH="1">
            <a:off x="8705407" y="2961286"/>
            <a:ext cx="415903" cy="107865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7B435588-B7F7-7037-B4EA-A3079129457B}"/>
              </a:ext>
            </a:extLst>
          </p:cNvPr>
          <p:cNvCxnSpPr>
            <a:cxnSpLocks/>
            <a:stCxn id="43" idx="2"/>
            <a:endCxn id="45" idx="0"/>
          </p:cNvCxnSpPr>
          <p:nvPr/>
        </p:nvCxnSpPr>
        <p:spPr>
          <a:xfrm rot="16200000" flipH="1">
            <a:off x="7384861" y="4647126"/>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572CC128-9EF3-2601-52DD-A71FC881ACB2}"/>
              </a:ext>
            </a:extLst>
          </p:cNvPr>
          <p:cNvCxnSpPr>
            <a:cxnSpLocks/>
            <a:stCxn id="12" idx="2"/>
            <a:endCxn id="48" idx="0"/>
          </p:cNvCxnSpPr>
          <p:nvPr/>
        </p:nvCxnSpPr>
        <p:spPr>
          <a:xfrm rot="16200000" flipH="1">
            <a:off x="5266029" y="5015447"/>
            <a:ext cx="661211" cy="116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C7C0A1F0-F6F3-FE22-C0DA-7DEFAF23FBF8}"/>
              </a:ext>
            </a:extLst>
          </p:cNvPr>
          <p:cNvCxnSpPr>
            <a:cxnSpLocks/>
            <a:stCxn id="44" idx="2"/>
            <a:endCxn id="46" idx="0"/>
          </p:cNvCxnSpPr>
          <p:nvPr/>
        </p:nvCxnSpPr>
        <p:spPr>
          <a:xfrm flipH="1">
            <a:off x="9098353" y="5429377"/>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65EFFB5C-1299-B622-A6C2-D4561D7C9F29}"/>
              </a:ext>
            </a:extLst>
          </p:cNvPr>
          <p:cNvCxnSpPr>
            <a:cxnSpLocks/>
            <a:stCxn id="43" idx="1"/>
            <a:endCxn id="48" idx="0"/>
          </p:cNvCxnSpPr>
          <p:nvPr/>
        </p:nvCxnSpPr>
        <p:spPr>
          <a:xfrm flipH="1">
            <a:off x="5597214" y="4111465"/>
            <a:ext cx="982043" cy="1235168"/>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45B7162D-00F5-29D0-E249-DCD6A138ADEF}"/>
              </a:ext>
            </a:extLst>
          </p:cNvPr>
          <p:cNvSpPr/>
          <p:nvPr/>
        </p:nvSpPr>
        <p:spPr>
          <a:xfrm>
            <a:off x="6111934" y="6063319"/>
            <a:ext cx="155607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err="1">
                <a:solidFill>
                  <a:schemeClr val="tx1"/>
                </a:solidFill>
              </a:rPr>
              <a:t>Tramo</a:t>
            </a:r>
            <a:r>
              <a:rPr lang="en-GB" sz="1200" dirty="0">
                <a:solidFill>
                  <a:schemeClr val="tx1"/>
                </a:solidFill>
              </a:rPr>
              <a:t>-Seats</a:t>
            </a:r>
          </a:p>
        </p:txBody>
      </p:sp>
      <p:sp>
        <p:nvSpPr>
          <p:cNvPr id="33" name="Rectangle: Rounded Corners 32">
            <a:extLst>
              <a:ext uri="{FF2B5EF4-FFF2-40B4-BE49-F238E27FC236}">
                <a16:creationId xmlns:a16="http://schemas.microsoft.com/office/drawing/2014/main" id="{90979E30-676E-F8E2-FBB4-842C594D62D7}"/>
              </a:ext>
            </a:extLst>
          </p:cNvPr>
          <p:cNvSpPr/>
          <p:nvPr/>
        </p:nvSpPr>
        <p:spPr>
          <a:xfrm>
            <a:off x="10426214" y="5393619"/>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Stamp, </a:t>
            </a:r>
          </a:p>
          <a:p>
            <a:pPr algn="ctr"/>
            <a:r>
              <a:rPr lang="en-GB" sz="1200" dirty="0" err="1"/>
              <a:t>RegCmp</a:t>
            </a:r>
            <a:r>
              <a:rPr lang="en-GB" sz="1200" dirty="0"/>
              <a:t>,</a:t>
            </a:r>
          </a:p>
          <a:p>
            <a:pPr algn="ctr"/>
            <a:r>
              <a:rPr lang="en-GB" sz="1200" dirty="0"/>
              <a:t>(T)Bats,</a:t>
            </a:r>
          </a:p>
          <a:p>
            <a:pPr algn="ctr"/>
            <a:r>
              <a:rPr lang="en-GB" sz="1200" dirty="0"/>
              <a:t>…</a:t>
            </a:r>
          </a:p>
        </p:txBody>
      </p:sp>
      <p:cxnSp>
        <p:nvCxnSpPr>
          <p:cNvPr id="35" name="Straight Arrow Connector 34">
            <a:extLst>
              <a:ext uri="{FF2B5EF4-FFF2-40B4-BE49-F238E27FC236}">
                <a16:creationId xmlns:a16="http://schemas.microsoft.com/office/drawing/2014/main" id="{CAD1C0D5-AD4D-B448-19C1-58CFD4B546A4}"/>
              </a:ext>
            </a:extLst>
          </p:cNvPr>
          <p:cNvCxnSpPr>
            <a:cxnSpLocks/>
            <a:stCxn id="45" idx="2"/>
            <a:endCxn id="32" idx="0"/>
          </p:cNvCxnSpPr>
          <p:nvPr/>
        </p:nvCxnSpPr>
        <p:spPr>
          <a:xfrm flipH="1">
            <a:off x="6889969" y="5585692"/>
            <a:ext cx="627657"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E57FB2C9-BEEF-F837-C0BD-64F603C39C4F}"/>
              </a:ext>
            </a:extLst>
          </p:cNvPr>
          <p:cNvCxnSpPr>
            <a:cxnSpLocks/>
            <a:stCxn id="44" idx="3"/>
            <a:endCxn id="33" idx="0"/>
          </p:cNvCxnSpPr>
          <p:nvPr/>
        </p:nvCxnSpPr>
        <p:spPr>
          <a:xfrm>
            <a:off x="10391051" y="4568970"/>
            <a:ext cx="630780" cy="82464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277DD1C0-0523-4800-B0C0-490F42503034}"/>
              </a:ext>
            </a:extLst>
          </p:cNvPr>
          <p:cNvCxnSpPr>
            <a:cxnSpLocks/>
            <a:stCxn id="45" idx="2"/>
            <a:endCxn id="46" idx="0"/>
          </p:cNvCxnSpPr>
          <p:nvPr/>
        </p:nvCxnSpPr>
        <p:spPr>
          <a:xfrm>
            <a:off x="7517626" y="5585692"/>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A77506E-6626-40B4-024E-C3FF608714EB}"/>
              </a:ext>
            </a:extLst>
          </p:cNvPr>
          <p:cNvCxnSpPr>
            <a:cxnSpLocks/>
            <a:stCxn id="46" idx="1"/>
            <a:endCxn id="32" idx="3"/>
          </p:cNvCxnSpPr>
          <p:nvPr/>
        </p:nvCxnSpPr>
        <p:spPr>
          <a:xfrm flipH="1">
            <a:off x="7668004" y="6303038"/>
            <a:ext cx="491980" cy="97939"/>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52E73B80-79D5-08D1-5DF0-744BC1853778}"/>
              </a:ext>
            </a:extLst>
          </p:cNvPr>
          <p:cNvCxnSpPr>
            <a:cxnSpLocks/>
            <a:stCxn id="46" idx="3"/>
            <a:endCxn id="33" idx="1"/>
          </p:cNvCxnSpPr>
          <p:nvPr/>
        </p:nvCxnSpPr>
        <p:spPr>
          <a:xfrm flipV="1">
            <a:off x="10036721" y="5812867"/>
            <a:ext cx="389493" cy="490171"/>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5ECA7318-D064-E296-BA22-992B24A337FA}"/>
              </a:ext>
            </a:extLst>
          </p:cNvPr>
          <p:cNvSpPr>
            <a:spLocks noGrp="1"/>
          </p:cNvSpPr>
          <p:nvPr>
            <p:ph type="ftr" sz="quarter" idx="11"/>
          </p:nvPr>
        </p:nvSpPr>
        <p:spPr/>
        <p:txBody>
          <a:bodyPr/>
          <a:lstStyle/>
          <a:p>
            <a:r>
              <a:rPr lang="en-GB"/>
              <a:t>ESTP Training. Seasonal adjustment</a:t>
            </a:r>
          </a:p>
        </p:txBody>
      </p:sp>
      <p:sp>
        <p:nvSpPr>
          <p:cNvPr id="61" name="Oval 9">
            <a:extLst>
              <a:ext uri="{FF2B5EF4-FFF2-40B4-BE49-F238E27FC236}">
                <a16:creationId xmlns:a16="http://schemas.microsoft.com/office/drawing/2014/main" id="{E5B3449D-7836-3E79-4C8C-088D3443E337}"/>
              </a:ext>
            </a:extLst>
          </p:cNvPr>
          <p:cNvSpPr/>
          <p:nvPr/>
        </p:nvSpPr>
        <p:spPr>
          <a:xfrm>
            <a:off x="1949957" y="2694062"/>
            <a:ext cx="1423693"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Others</a:t>
            </a:r>
          </a:p>
        </p:txBody>
      </p:sp>
      <p:sp>
        <p:nvSpPr>
          <p:cNvPr id="62" name="Rectangle: Rounded Corners 10">
            <a:extLst>
              <a:ext uri="{FF2B5EF4-FFF2-40B4-BE49-F238E27FC236}">
                <a16:creationId xmlns:a16="http://schemas.microsoft.com/office/drawing/2014/main" id="{B449DCE2-9838-FFEC-498C-D979CAEBED03}"/>
              </a:ext>
            </a:extLst>
          </p:cNvPr>
          <p:cNvSpPr/>
          <p:nvPr/>
        </p:nvSpPr>
        <p:spPr>
          <a:xfrm>
            <a:off x="1964423" y="3984222"/>
            <a:ext cx="1407686"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err="1"/>
              <a:t>Camplet</a:t>
            </a:r>
            <a:endParaRPr lang="en-GB" sz="1200" dirty="0"/>
          </a:p>
        </p:txBody>
      </p:sp>
      <p:cxnSp>
        <p:nvCxnSpPr>
          <p:cNvPr id="64" name="Connector: Elbow 33">
            <a:extLst>
              <a:ext uri="{FF2B5EF4-FFF2-40B4-BE49-F238E27FC236}">
                <a16:creationId xmlns:a16="http://schemas.microsoft.com/office/drawing/2014/main" id="{3A97038D-AD0F-4FE4-E4E7-5B5C051798CE}"/>
              </a:ext>
            </a:extLst>
          </p:cNvPr>
          <p:cNvCxnSpPr>
            <a:cxnSpLocks/>
            <a:stCxn id="61" idx="4"/>
            <a:endCxn id="62" idx="0"/>
          </p:cNvCxnSpPr>
          <p:nvPr/>
        </p:nvCxnSpPr>
        <p:spPr>
          <a:xfrm rot="16200000" flipH="1">
            <a:off x="2357613" y="3673568"/>
            <a:ext cx="614845" cy="646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5" name="Connector: Elbow 15">
            <a:extLst>
              <a:ext uri="{FF2B5EF4-FFF2-40B4-BE49-F238E27FC236}">
                <a16:creationId xmlns:a16="http://schemas.microsoft.com/office/drawing/2014/main" id="{AB4541B2-A679-1CE2-3C47-A362B82FBFE5}"/>
              </a:ext>
            </a:extLst>
          </p:cNvPr>
          <p:cNvCxnSpPr>
            <a:cxnSpLocks/>
            <a:stCxn id="5" idx="2"/>
            <a:endCxn id="61" idx="0"/>
          </p:cNvCxnSpPr>
          <p:nvPr/>
        </p:nvCxnSpPr>
        <p:spPr>
          <a:xfrm rot="5400000">
            <a:off x="3049632" y="1790557"/>
            <a:ext cx="515677" cy="129133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73" name="Rectangle: Rounded Corners 32">
            <a:extLst>
              <a:ext uri="{FF2B5EF4-FFF2-40B4-BE49-F238E27FC236}">
                <a16:creationId xmlns:a16="http://schemas.microsoft.com/office/drawing/2014/main" id="{BE3C6BDF-EB45-DDFB-5715-987720A8C1E6}"/>
              </a:ext>
            </a:extLst>
          </p:cNvPr>
          <p:cNvSpPr/>
          <p:nvPr/>
        </p:nvSpPr>
        <p:spPr>
          <a:xfrm>
            <a:off x="11022622" y="3644268"/>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BV4</a:t>
            </a:r>
          </a:p>
          <a:p>
            <a:pPr algn="ctr"/>
            <a:r>
              <a:rPr lang="en-GB" sz="1200" dirty="0"/>
              <a:t>…</a:t>
            </a:r>
          </a:p>
        </p:txBody>
      </p:sp>
      <p:cxnSp>
        <p:nvCxnSpPr>
          <p:cNvPr id="29" name="Straight Arrow Connector 38">
            <a:extLst>
              <a:ext uri="{FF2B5EF4-FFF2-40B4-BE49-F238E27FC236}">
                <a16:creationId xmlns:a16="http://schemas.microsoft.com/office/drawing/2014/main" id="{5ED88F88-1601-40C1-3525-0FEF8AD4AF66}"/>
              </a:ext>
            </a:extLst>
          </p:cNvPr>
          <p:cNvCxnSpPr>
            <a:cxnSpLocks/>
            <a:stCxn id="23" idx="4"/>
            <a:endCxn id="73" idx="0"/>
          </p:cNvCxnSpPr>
          <p:nvPr/>
        </p:nvCxnSpPr>
        <p:spPr>
          <a:xfrm>
            <a:off x="11154892" y="3297976"/>
            <a:ext cx="463347" cy="346292"/>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11219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63AEF-DD26-89A0-2453-A18B9E033B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544E60-53C8-F650-B09E-1CAAC2D8F75A}"/>
              </a:ext>
            </a:extLst>
          </p:cNvPr>
          <p:cNvSpPr>
            <a:spLocks noGrp="1"/>
          </p:cNvSpPr>
          <p:nvPr>
            <p:ph type="title"/>
          </p:nvPr>
        </p:nvSpPr>
        <p:spPr/>
        <p:txBody>
          <a:bodyPr/>
          <a:lstStyle/>
          <a:p>
            <a:r>
              <a:rPr lang="en-GB" dirty="0"/>
              <a:t>2. Rapid overview of common SA methods</a:t>
            </a:r>
          </a:p>
        </p:txBody>
      </p:sp>
      <p:sp>
        <p:nvSpPr>
          <p:cNvPr id="5" name="Rectangle: Rounded Corners 4">
            <a:extLst>
              <a:ext uri="{FF2B5EF4-FFF2-40B4-BE49-F238E27FC236}">
                <a16:creationId xmlns:a16="http://schemas.microsoft.com/office/drawing/2014/main" id="{CA733DD8-9834-0949-1EEB-6173F4DD9EA7}"/>
              </a:ext>
            </a:extLst>
          </p:cNvPr>
          <p:cNvSpPr/>
          <p:nvPr/>
        </p:nvSpPr>
        <p:spPr>
          <a:xfrm>
            <a:off x="2518618" y="1708602"/>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Non parametric</a:t>
            </a:r>
          </a:p>
        </p:txBody>
      </p:sp>
      <p:sp>
        <p:nvSpPr>
          <p:cNvPr id="6" name="Rectangle: Rounded Corners 5">
            <a:extLst>
              <a:ext uri="{FF2B5EF4-FFF2-40B4-BE49-F238E27FC236}">
                <a16:creationId xmlns:a16="http://schemas.microsoft.com/office/drawing/2014/main" id="{8E71E2FC-9A7C-E1D2-FEFC-B8D9C1254F5F}"/>
              </a:ext>
            </a:extLst>
          </p:cNvPr>
          <p:cNvSpPr/>
          <p:nvPr/>
        </p:nvSpPr>
        <p:spPr>
          <a:xfrm>
            <a:off x="8545227" y="1682116"/>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Parametric</a:t>
            </a:r>
          </a:p>
        </p:txBody>
      </p:sp>
      <p:sp>
        <p:nvSpPr>
          <p:cNvPr id="7" name="Oval 6">
            <a:extLst>
              <a:ext uri="{FF2B5EF4-FFF2-40B4-BE49-F238E27FC236}">
                <a16:creationId xmlns:a16="http://schemas.microsoft.com/office/drawing/2014/main" id="{3DD81B96-F04F-6C17-ABB5-0941CC7474F0}"/>
              </a:ext>
            </a:extLst>
          </p:cNvPr>
          <p:cNvSpPr/>
          <p:nvPr/>
        </p:nvSpPr>
        <p:spPr>
          <a:xfrm>
            <a:off x="3472806" y="2702610"/>
            <a:ext cx="129113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Lo(w)ess</a:t>
            </a:r>
          </a:p>
        </p:txBody>
      </p:sp>
      <p:sp>
        <p:nvSpPr>
          <p:cNvPr id="8" name="Rectangle: Rounded Corners 7">
            <a:extLst>
              <a:ext uri="{FF2B5EF4-FFF2-40B4-BE49-F238E27FC236}">
                <a16:creationId xmlns:a16="http://schemas.microsoft.com/office/drawing/2014/main" id="{F74ABBF2-2BAF-536A-3CC2-DD52C9136B96}"/>
              </a:ext>
            </a:extLst>
          </p:cNvPr>
          <p:cNvSpPr/>
          <p:nvPr/>
        </p:nvSpPr>
        <p:spPr>
          <a:xfrm>
            <a:off x="3467916" y="3971812"/>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STL</a:t>
            </a:r>
          </a:p>
        </p:txBody>
      </p:sp>
      <p:sp>
        <p:nvSpPr>
          <p:cNvPr id="9" name="Oval 8">
            <a:extLst>
              <a:ext uri="{FF2B5EF4-FFF2-40B4-BE49-F238E27FC236}">
                <a16:creationId xmlns:a16="http://schemas.microsoft.com/office/drawing/2014/main" id="{26E29681-00F3-67F8-3F62-AC10EA954FE8}"/>
              </a:ext>
            </a:extLst>
          </p:cNvPr>
          <p:cNvSpPr/>
          <p:nvPr/>
        </p:nvSpPr>
        <p:spPr>
          <a:xfrm>
            <a:off x="4768820" y="2690935"/>
            <a:ext cx="1698814"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Moving averages</a:t>
            </a:r>
          </a:p>
        </p:txBody>
      </p:sp>
      <p:sp>
        <p:nvSpPr>
          <p:cNvPr id="10" name="Oval 9">
            <a:extLst>
              <a:ext uri="{FF2B5EF4-FFF2-40B4-BE49-F238E27FC236}">
                <a16:creationId xmlns:a16="http://schemas.microsoft.com/office/drawing/2014/main" id="{22887BF3-2688-D9D6-C8B7-80BE8BF22812}"/>
              </a:ext>
            </a:extLst>
          </p:cNvPr>
          <p:cNvSpPr/>
          <p:nvPr/>
        </p:nvSpPr>
        <p:spPr>
          <a:xfrm>
            <a:off x="380018" y="2714285"/>
            <a:ext cx="14497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96606C9D-0DD2-807D-711A-E6A0B20C3F38}"/>
              </a:ext>
            </a:extLst>
          </p:cNvPr>
          <p:cNvSpPr/>
          <p:nvPr/>
        </p:nvSpPr>
        <p:spPr>
          <a:xfrm>
            <a:off x="616688" y="4270578"/>
            <a:ext cx="97449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Prophet</a:t>
            </a:r>
          </a:p>
        </p:txBody>
      </p:sp>
      <p:sp>
        <p:nvSpPr>
          <p:cNvPr id="12" name="Rectangle: Rounded Corners 11">
            <a:extLst>
              <a:ext uri="{FF2B5EF4-FFF2-40B4-BE49-F238E27FC236}">
                <a16:creationId xmlns:a16="http://schemas.microsoft.com/office/drawing/2014/main" id="{E7D0A699-93B6-B098-242A-C0700899C115}"/>
              </a:ext>
            </a:extLst>
          </p:cNvPr>
          <p:cNvSpPr/>
          <p:nvPr/>
        </p:nvSpPr>
        <p:spPr>
          <a:xfrm>
            <a:off x="4947782" y="4010107"/>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X11</a:t>
            </a:r>
          </a:p>
        </p:txBody>
      </p:sp>
      <p:cxnSp>
        <p:nvCxnSpPr>
          <p:cNvPr id="14" name="Connector: Elbow 13">
            <a:extLst>
              <a:ext uri="{FF2B5EF4-FFF2-40B4-BE49-F238E27FC236}">
                <a16:creationId xmlns:a16="http://schemas.microsoft.com/office/drawing/2014/main" id="{B8D2AB31-43B8-A03F-58C4-C4FB660239D6}"/>
              </a:ext>
            </a:extLst>
          </p:cNvPr>
          <p:cNvCxnSpPr>
            <a:cxnSpLocks/>
            <a:stCxn id="5" idx="2"/>
            <a:endCxn id="7" idx="0"/>
          </p:cNvCxnSpPr>
          <p:nvPr/>
        </p:nvCxnSpPr>
        <p:spPr>
          <a:xfrm rot="16200000" flipH="1">
            <a:off x="3773642" y="2357879"/>
            <a:ext cx="524225" cy="165236"/>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2B23954C-ACCE-A3F0-AE20-683966553B81}"/>
              </a:ext>
            </a:extLst>
          </p:cNvPr>
          <p:cNvCxnSpPr>
            <a:cxnSpLocks/>
            <a:stCxn id="5" idx="2"/>
            <a:endCxn id="10" idx="0"/>
          </p:cNvCxnSpPr>
          <p:nvPr/>
        </p:nvCxnSpPr>
        <p:spPr>
          <a:xfrm rot="5400000">
            <a:off x="2261057" y="1022206"/>
            <a:ext cx="535900" cy="284825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E2474207-3598-9A34-6AF7-BAF2CCBE20ED}"/>
              </a:ext>
            </a:extLst>
          </p:cNvPr>
          <p:cNvCxnSpPr>
            <a:cxnSpLocks/>
            <a:stCxn id="5" idx="2"/>
            <a:endCxn id="9" idx="0"/>
          </p:cNvCxnSpPr>
          <p:nvPr/>
        </p:nvCxnSpPr>
        <p:spPr>
          <a:xfrm rot="16200000" flipH="1">
            <a:off x="4529406" y="1602114"/>
            <a:ext cx="512550" cy="1665091"/>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403F81D9-6053-3124-B369-3A448463AF22}"/>
              </a:ext>
            </a:extLst>
          </p:cNvPr>
          <p:cNvSpPr/>
          <p:nvPr/>
        </p:nvSpPr>
        <p:spPr>
          <a:xfrm>
            <a:off x="7442624" y="2617345"/>
            <a:ext cx="18628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Stochastic</a:t>
            </a:r>
          </a:p>
        </p:txBody>
      </p:sp>
      <p:sp>
        <p:nvSpPr>
          <p:cNvPr id="23" name="Oval 22">
            <a:extLst>
              <a:ext uri="{FF2B5EF4-FFF2-40B4-BE49-F238E27FC236}">
                <a16:creationId xmlns:a16="http://schemas.microsoft.com/office/drawing/2014/main" id="{E1B63506-FC58-7A16-38B0-189329D6A5AF}"/>
              </a:ext>
            </a:extLst>
          </p:cNvPr>
          <p:cNvSpPr/>
          <p:nvPr/>
        </p:nvSpPr>
        <p:spPr>
          <a:xfrm>
            <a:off x="10313196" y="2622661"/>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Deterministic</a:t>
            </a:r>
          </a:p>
        </p:txBody>
      </p:sp>
      <p:cxnSp>
        <p:nvCxnSpPr>
          <p:cNvPr id="24" name="Connector: Elbow 23">
            <a:extLst>
              <a:ext uri="{FF2B5EF4-FFF2-40B4-BE49-F238E27FC236}">
                <a16:creationId xmlns:a16="http://schemas.microsoft.com/office/drawing/2014/main" id="{4B2CF631-02DA-D4BB-5CBB-F622AF46727B}"/>
              </a:ext>
            </a:extLst>
          </p:cNvPr>
          <p:cNvCxnSpPr>
            <a:cxnSpLocks/>
            <a:stCxn id="6" idx="2"/>
            <a:endCxn id="22" idx="0"/>
          </p:cNvCxnSpPr>
          <p:nvPr/>
        </p:nvCxnSpPr>
        <p:spPr>
          <a:xfrm rot="5400000">
            <a:off x="8944166" y="1581766"/>
            <a:ext cx="465446" cy="160571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B05449B5-E89E-3122-DE2F-5944B9BDD650}"/>
              </a:ext>
            </a:extLst>
          </p:cNvPr>
          <p:cNvCxnSpPr>
            <a:cxnSpLocks/>
            <a:stCxn id="6" idx="2"/>
            <a:endCxn id="23" idx="0"/>
          </p:cNvCxnSpPr>
          <p:nvPr/>
        </p:nvCxnSpPr>
        <p:spPr>
          <a:xfrm rot="16200000" flipH="1">
            <a:off x="10331937" y="1799706"/>
            <a:ext cx="470762" cy="1175147"/>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1C02D418-E4EC-707E-5621-6B35851D2054}"/>
              </a:ext>
            </a:extLst>
          </p:cNvPr>
          <p:cNvCxnSpPr>
            <a:cxnSpLocks/>
            <a:stCxn id="10" idx="4"/>
            <a:endCxn id="11" idx="0"/>
          </p:cNvCxnSpPr>
          <p:nvPr/>
        </p:nvCxnSpPr>
        <p:spPr>
          <a:xfrm rot="5400000">
            <a:off x="663917" y="3829618"/>
            <a:ext cx="880978" cy="94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929A78B3-27B9-F694-5FD8-747A413833C1}"/>
              </a:ext>
            </a:extLst>
          </p:cNvPr>
          <p:cNvCxnSpPr>
            <a:cxnSpLocks/>
            <a:stCxn id="7" idx="4"/>
            <a:endCxn id="8" idx="0"/>
          </p:cNvCxnSpPr>
          <p:nvPr/>
        </p:nvCxnSpPr>
        <p:spPr>
          <a:xfrm rot="5400000">
            <a:off x="3820337" y="3673776"/>
            <a:ext cx="593887" cy="218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8FBBBBC4-5569-C3BF-E177-BD839EE341CC}"/>
              </a:ext>
            </a:extLst>
          </p:cNvPr>
          <p:cNvCxnSpPr>
            <a:cxnSpLocks/>
            <a:stCxn id="9" idx="4"/>
            <a:endCxn id="12" idx="0"/>
          </p:cNvCxnSpPr>
          <p:nvPr/>
        </p:nvCxnSpPr>
        <p:spPr>
          <a:xfrm rot="5400000">
            <a:off x="5285213" y="3677092"/>
            <a:ext cx="643857" cy="2217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057D2ED9-D37E-8585-A813-D784A232CC3E}"/>
              </a:ext>
            </a:extLst>
          </p:cNvPr>
          <p:cNvSpPr/>
          <p:nvPr/>
        </p:nvSpPr>
        <p:spPr>
          <a:xfrm>
            <a:off x="6579257" y="3708565"/>
            <a:ext cx="1876731"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RegArima</a:t>
            </a:r>
          </a:p>
          <a:p>
            <a:pPr algn="ctr"/>
            <a:r>
              <a:rPr lang="en-GB" sz="1200" dirty="0"/>
              <a:t>models</a:t>
            </a:r>
          </a:p>
        </p:txBody>
      </p:sp>
      <p:sp>
        <p:nvSpPr>
          <p:cNvPr id="44" name="Rectangle: Rounded Corners 43">
            <a:extLst>
              <a:ext uri="{FF2B5EF4-FFF2-40B4-BE49-F238E27FC236}">
                <a16:creationId xmlns:a16="http://schemas.microsoft.com/office/drawing/2014/main" id="{85FB864E-4D63-674A-79C1-5242F2DF1D5F}"/>
              </a:ext>
            </a:extLst>
          </p:cNvPr>
          <p:cNvSpPr/>
          <p:nvPr/>
        </p:nvSpPr>
        <p:spPr>
          <a:xfrm>
            <a:off x="8514314" y="3708563"/>
            <a:ext cx="1876737"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Structural models</a:t>
            </a:r>
          </a:p>
        </p:txBody>
      </p:sp>
      <p:sp>
        <p:nvSpPr>
          <p:cNvPr id="45" name="Rectangle: Rounded Corners 44">
            <a:extLst>
              <a:ext uri="{FF2B5EF4-FFF2-40B4-BE49-F238E27FC236}">
                <a16:creationId xmlns:a16="http://schemas.microsoft.com/office/drawing/2014/main" id="{2AA8CB6A-5D7E-09C1-4C1E-488B30F4B4A4}"/>
              </a:ext>
            </a:extLst>
          </p:cNvPr>
          <p:cNvSpPr/>
          <p:nvPr/>
        </p:nvSpPr>
        <p:spPr>
          <a:xfrm>
            <a:off x="6579257" y="4779892"/>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Canonical decomposition</a:t>
            </a:r>
          </a:p>
        </p:txBody>
      </p:sp>
      <p:sp>
        <p:nvSpPr>
          <p:cNvPr id="46" name="Rectangle: Rounded Corners 45">
            <a:extLst>
              <a:ext uri="{FF2B5EF4-FFF2-40B4-BE49-F238E27FC236}">
                <a16:creationId xmlns:a16="http://schemas.microsoft.com/office/drawing/2014/main" id="{4AB10C8D-AF53-5C0B-A530-F5ECF3213029}"/>
              </a:ext>
            </a:extLst>
          </p:cNvPr>
          <p:cNvSpPr/>
          <p:nvPr/>
        </p:nvSpPr>
        <p:spPr>
          <a:xfrm>
            <a:off x="8159984" y="5900138"/>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Kalman filter</a:t>
            </a:r>
          </a:p>
          <a:p>
            <a:pPr algn="ctr"/>
            <a:r>
              <a:rPr lang="en-GB" sz="1200" dirty="0"/>
              <a:t>WK filter</a:t>
            </a:r>
          </a:p>
        </p:txBody>
      </p:sp>
      <p:sp>
        <p:nvSpPr>
          <p:cNvPr id="48" name="Rectangle: Rounded Corners 47">
            <a:extLst>
              <a:ext uri="{FF2B5EF4-FFF2-40B4-BE49-F238E27FC236}">
                <a16:creationId xmlns:a16="http://schemas.microsoft.com/office/drawing/2014/main" id="{617B6B5A-7517-9AFC-A5FE-B0A9F074246F}"/>
              </a:ext>
            </a:extLst>
          </p:cNvPr>
          <p:cNvSpPr/>
          <p:nvPr/>
        </p:nvSpPr>
        <p:spPr>
          <a:xfrm>
            <a:off x="4965960" y="5346633"/>
            <a:ext cx="1262507" cy="675315"/>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X12-ARIMA</a:t>
            </a:r>
          </a:p>
        </p:txBody>
      </p:sp>
      <p:cxnSp>
        <p:nvCxnSpPr>
          <p:cNvPr id="49" name="Connector: Elbow 48">
            <a:extLst>
              <a:ext uri="{FF2B5EF4-FFF2-40B4-BE49-F238E27FC236}">
                <a16:creationId xmlns:a16="http://schemas.microsoft.com/office/drawing/2014/main" id="{6B7A6D95-E7A9-C8BA-DE54-19054774D362}"/>
              </a:ext>
            </a:extLst>
          </p:cNvPr>
          <p:cNvCxnSpPr>
            <a:cxnSpLocks/>
            <a:stCxn id="22" idx="4"/>
            <a:endCxn id="43" idx="0"/>
          </p:cNvCxnSpPr>
          <p:nvPr/>
        </p:nvCxnSpPr>
        <p:spPr>
          <a:xfrm rot="5400000">
            <a:off x="7737876" y="3072407"/>
            <a:ext cx="415905" cy="85641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88BA0C26-19D2-359E-F445-800C4D878971}"/>
              </a:ext>
            </a:extLst>
          </p:cNvPr>
          <p:cNvCxnSpPr>
            <a:cxnSpLocks/>
            <a:stCxn id="22" idx="4"/>
            <a:endCxn id="44" idx="0"/>
          </p:cNvCxnSpPr>
          <p:nvPr/>
        </p:nvCxnSpPr>
        <p:spPr>
          <a:xfrm rot="16200000" flipH="1">
            <a:off x="8705407" y="2961286"/>
            <a:ext cx="415903" cy="107865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0F6258E0-0040-0963-473B-81BC11B89A0F}"/>
              </a:ext>
            </a:extLst>
          </p:cNvPr>
          <p:cNvCxnSpPr>
            <a:cxnSpLocks/>
            <a:stCxn id="43" idx="2"/>
            <a:endCxn id="45" idx="0"/>
          </p:cNvCxnSpPr>
          <p:nvPr/>
        </p:nvCxnSpPr>
        <p:spPr>
          <a:xfrm rot="16200000" flipH="1">
            <a:off x="7384861" y="4647126"/>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D3978029-6FA4-DB0F-4FDB-0E70AB56CA5F}"/>
              </a:ext>
            </a:extLst>
          </p:cNvPr>
          <p:cNvCxnSpPr>
            <a:cxnSpLocks/>
            <a:stCxn id="12" idx="2"/>
            <a:endCxn id="48" idx="0"/>
          </p:cNvCxnSpPr>
          <p:nvPr/>
        </p:nvCxnSpPr>
        <p:spPr>
          <a:xfrm rot="16200000" flipH="1">
            <a:off x="5266029" y="5015447"/>
            <a:ext cx="661211" cy="116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5EB5E6E9-078E-E4E2-4A30-0332CC2A1346}"/>
              </a:ext>
            </a:extLst>
          </p:cNvPr>
          <p:cNvCxnSpPr>
            <a:cxnSpLocks/>
            <a:stCxn id="44" idx="2"/>
            <a:endCxn id="46" idx="0"/>
          </p:cNvCxnSpPr>
          <p:nvPr/>
        </p:nvCxnSpPr>
        <p:spPr>
          <a:xfrm flipH="1">
            <a:off x="9098353" y="5429377"/>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FC6515B7-B558-AF8A-5DED-B1EDF761B21A}"/>
              </a:ext>
            </a:extLst>
          </p:cNvPr>
          <p:cNvCxnSpPr>
            <a:cxnSpLocks/>
            <a:stCxn id="43" idx="1"/>
            <a:endCxn id="48" idx="0"/>
          </p:cNvCxnSpPr>
          <p:nvPr/>
        </p:nvCxnSpPr>
        <p:spPr>
          <a:xfrm flipH="1">
            <a:off x="5597214" y="4111465"/>
            <a:ext cx="982043" cy="1235168"/>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AF9A53A0-D0FD-0B9C-F686-CFFDCA9456B5}"/>
              </a:ext>
            </a:extLst>
          </p:cNvPr>
          <p:cNvSpPr/>
          <p:nvPr/>
        </p:nvSpPr>
        <p:spPr>
          <a:xfrm>
            <a:off x="6111934" y="6063319"/>
            <a:ext cx="155607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err="1">
                <a:solidFill>
                  <a:schemeClr val="tx1"/>
                </a:solidFill>
              </a:rPr>
              <a:t>Tramo</a:t>
            </a:r>
            <a:r>
              <a:rPr lang="en-GB" sz="1200" dirty="0">
                <a:solidFill>
                  <a:schemeClr val="tx1"/>
                </a:solidFill>
              </a:rPr>
              <a:t>-Seats</a:t>
            </a:r>
          </a:p>
        </p:txBody>
      </p:sp>
      <p:sp>
        <p:nvSpPr>
          <p:cNvPr id="33" name="Rectangle: Rounded Corners 32">
            <a:extLst>
              <a:ext uri="{FF2B5EF4-FFF2-40B4-BE49-F238E27FC236}">
                <a16:creationId xmlns:a16="http://schemas.microsoft.com/office/drawing/2014/main" id="{1CCD8620-804B-2722-8B58-F9DE927F1A16}"/>
              </a:ext>
            </a:extLst>
          </p:cNvPr>
          <p:cNvSpPr/>
          <p:nvPr/>
        </p:nvSpPr>
        <p:spPr>
          <a:xfrm>
            <a:off x="10426214" y="5393619"/>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Stamp, </a:t>
            </a:r>
          </a:p>
          <a:p>
            <a:pPr algn="ctr"/>
            <a:r>
              <a:rPr lang="en-GB" sz="1200" dirty="0" err="1"/>
              <a:t>RegCmp</a:t>
            </a:r>
            <a:r>
              <a:rPr lang="en-GB" sz="1200" dirty="0"/>
              <a:t>,</a:t>
            </a:r>
          </a:p>
          <a:p>
            <a:pPr algn="ctr"/>
            <a:r>
              <a:rPr lang="en-GB" sz="1200" dirty="0"/>
              <a:t>(T)Bats,</a:t>
            </a:r>
          </a:p>
          <a:p>
            <a:pPr algn="ctr"/>
            <a:r>
              <a:rPr lang="en-GB" sz="1200" dirty="0"/>
              <a:t>…</a:t>
            </a:r>
          </a:p>
        </p:txBody>
      </p:sp>
      <p:cxnSp>
        <p:nvCxnSpPr>
          <p:cNvPr id="35" name="Straight Arrow Connector 34">
            <a:extLst>
              <a:ext uri="{FF2B5EF4-FFF2-40B4-BE49-F238E27FC236}">
                <a16:creationId xmlns:a16="http://schemas.microsoft.com/office/drawing/2014/main" id="{B1A15F3F-F2C9-4567-836C-3B1B4B2DCF90}"/>
              </a:ext>
            </a:extLst>
          </p:cNvPr>
          <p:cNvCxnSpPr>
            <a:cxnSpLocks/>
            <a:stCxn id="45" idx="2"/>
            <a:endCxn id="32" idx="0"/>
          </p:cNvCxnSpPr>
          <p:nvPr/>
        </p:nvCxnSpPr>
        <p:spPr>
          <a:xfrm flipH="1">
            <a:off x="6889969" y="5585692"/>
            <a:ext cx="627657"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B547BE94-A0B4-8831-426F-47099ECF21DC}"/>
              </a:ext>
            </a:extLst>
          </p:cNvPr>
          <p:cNvCxnSpPr>
            <a:cxnSpLocks/>
            <a:stCxn id="44" idx="3"/>
            <a:endCxn id="33" idx="0"/>
          </p:cNvCxnSpPr>
          <p:nvPr/>
        </p:nvCxnSpPr>
        <p:spPr>
          <a:xfrm>
            <a:off x="10391051" y="4568970"/>
            <a:ext cx="630780" cy="82464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FB5D554B-5590-169F-C0E7-73A83E8EE54B}"/>
              </a:ext>
            </a:extLst>
          </p:cNvPr>
          <p:cNvCxnSpPr>
            <a:cxnSpLocks/>
            <a:stCxn id="45" idx="2"/>
            <a:endCxn id="46" idx="0"/>
          </p:cNvCxnSpPr>
          <p:nvPr/>
        </p:nvCxnSpPr>
        <p:spPr>
          <a:xfrm>
            <a:off x="7517626" y="5585692"/>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C5DC8888-E750-8788-F30B-F72F9CF6EC49}"/>
              </a:ext>
            </a:extLst>
          </p:cNvPr>
          <p:cNvCxnSpPr>
            <a:cxnSpLocks/>
            <a:stCxn id="46" idx="1"/>
            <a:endCxn id="32" idx="3"/>
          </p:cNvCxnSpPr>
          <p:nvPr/>
        </p:nvCxnSpPr>
        <p:spPr>
          <a:xfrm flipH="1">
            <a:off x="7668004" y="6303038"/>
            <a:ext cx="491980" cy="97939"/>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1AAA2789-707F-5271-3D8F-22AF34D83717}"/>
              </a:ext>
            </a:extLst>
          </p:cNvPr>
          <p:cNvCxnSpPr>
            <a:cxnSpLocks/>
            <a:stCxn id="46" idx="3"/>
            <a:endCxn id="33" idx="1"/>
          </p:cNvCxnSpPr>
          <p:nvPr/>
        </p:nvCxnSpPr>
        <p:spPr>
          <a:xfrm flipV="1">
            <a:off x="10036721" y="5812867"/>
            <a:ext cx="389493" cy="490171"/>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5A528134-9E0C-98C2-DC05-EE5161233B25}"/>
              </a:ext>
            </a:extLst>
          </p:cNvPr>
          <p:cNvSpPr>
            <a:spLocks noGrp="1"/>
          </p:cNvSpPr>
          <p:nvPr>
            <p:ph type="ftr" sz="quarter" idx="11"/>
          </p:nvPr>
        </p:nvSpPr>
        <p:spPr/>
        <p:txBody>
          <a:bodyPr/>
          <a:lstStyle/>
          <a:p>
            <a:r>
              <a:rPr lang="en-GB"/>
              <a:t>ESTP Training. Seasonal adjustment</a:t>
            </a:r>
          </a:p>
        </p:txBody>
      </p:sp>
      <p:sp>
        <p:nvSpPr>
          <p:cNvPr id="61" name="Oval 9">
            <a:extLst>
              <a:ext uri="{FF2B5EF4-FFF2-40B4-BE49-F238E27FC236}">
                <a16:creationId xmlns:a16="http://schemas.microsoft.com/office/drawing/2014/main" id="{92F80EEB-9681-9039-4EAB-C6F5F7AE8D56}"/>
              </a:ext>
            </a:extLst>
          </p:cNvPr>
          <p:cNvSpPr/>
          <p:nvPr/>
        </p:nvSpPr>
        <p:spPr>
          <a:xfrm>
            <a:off x="1949957" y="2694062"/>
            <a:ext cx="1423693"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Others</a:t>
            </a:r>
          </a:p>
        </p:txBody>
      </p:sp>
      <p:sp>
        <p:nvSpPr>
          <p:cNvPr id="62" name="Rectangle: Rounded Corners 10">
            <a:extLst>
              <a:ext uri="{FF2B5EF4-FFF2-40B4-BE49-F238E27FC236}">
                <a16:creationId xmlns:a16="http://schemas.microsoft.com/office/drawing/2014/main" id="{0F380FED-ADA5-23A1-E050-FE8B042CFAF5}"/>
              </a:ext>
            </a:extLst>
          </p:cNvPr>
          <p:cNvSpPr/>
          <p:nvPr/>
        </p:nvSpPr>
        <p:spPr>
          <a:xfrm>
            <a:off x="1964423" y="3984222"/>
            <a:ext cx="1407686"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err="1"/>
              <a:t>Camplet</a:t>
            </a:r>
            <a:endParaRPr lang="en-GB" sz="1200" dirty="0"/>
          </a:p>
        </p:txBody>
      </p:sp>
      <p:cxnSp>
        <p:nvCxnSpPr>
          <p:cNvPr id="64" name="Connector: Elbow 33">
            <a:extLst>
              <a:ext uri="{FF2B5EF4-FFF2-40B4-BE49-F238E27FC236}">
                <a16:creationId xmlns:a16="http://schemas.microsoft.com/office/drawing/2014/main" id="{F1C0C6D3-0D45-C08C-D67A-EED55880935A}"/>
              </a:ext>
            </a:extLst>
          </p:cNvPr>
          <p:cNvCxnSpPr>
            <a:cxnSpLocks/>
            <a:stCxn id="61" idx="4"/>
            <a:endCxn id="62" idx="0"/>
          </p:cNvCxnSpPr>
          <p:nvPr/>
        </p:nvCxnSpPr>
        <p:spPr>
          <a:xfrm rot="16200000" flipH="1">
            <a:off x="2357613" y="3673568"/>
            <a:ext cx="614845" cy="646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5" name="Connector: Elbow 15">
            <a:extLst>
              <a:ext uri="{FF2B5EF4-FFF2-40B4-BE49-F238E27FC236}">
                <a16:creationId xmlns:a16="http://schemas.microsoft.com/office/drawing/2014/main" id="{3593054B-80A4-DE71-DCDB-6E6F6E2565DA}"/>
              </a:ext>
            </a:extLst>
          </p:cNvPr>
          <p:cNvCxnSpPr>
            <a:cxnSpLocks/>
            <a:stCxn id="5" idx="2"/>
            <a:endCxn id="61" idx="0"/>
          </p:cNvCxnSpPr>
          <p:nvPr/>
        </p:nvCxnSpPr>
        <p:spPr>
          <a:xfrm rot="5400000">
            <a:off x="3049632" y="1790557"/>
            <a:ext cx="515677" cy="129133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73" name="Rectangle: Rounded Corners 32">
            <a:extLst>
              <a:ext uri="{FF2B5EF4-FFF2-40B4-BE49-F238E27FC236}">
                <a16:creationId xmlns:a16="http://schemas.microsoft.com/office/drawing/2014/main" id="{AAB76597-203D-8484-8791-502108818BC6}"/>
              </a:ext>
            </a:extLst>
          </p:cNvPr>
          <p:cNvSpPr/>
          <p:nvPr/>
        </p:nvSpPr>
        <p:spPr>
          <a:xfrm>
            <a:off x="11022622" y="3644268"/>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BV4</a:t>
            </a:r>
          </a:p>
          <a:p>
            <a:pPr algn="ctr"/>
            <a:r>
              <a:rPr lang="en-GB" sz="1200" dirty="0"/>
              <a:t>…</a:t>
            </a:r>
          </a:p>
        </p:txBody>
      </p:sp>
      <p:sp>
        <p:nvSpPr>
          <p:cNvPr id="4" name="Rectangle: Rounded Corners 31">
            <a:extLst>
              <a:ext uri="{FF2B5EF4-FFF2-40B4-BE49-F238E27FC236}">
                <a16:creationId xmlns:a16="http://schemas.microsoft.com/office/drawing/2014/main" id="{65264BB2-9F17-ED64-D851-21D802178116}"/>
              </a:ext>
            </a:extLst>
          </p:cNvPr>
          <p:cNvSpPr/>
          <p:nvPr/>
        </p:nvSpPr>
        <p:spPr>
          <a:xfrm>
            <a:off x="1712234" y="3457770"/>
            <a:ext cx="9497388" cy="3331954"/>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GB" sz="2800" dirty="0">
                <a:solidFill>
                  <a:srgbClr val="FF0000"/>
                </a:solidFill>
              </a:rPr>
              <a:t>JD+ 3.x</a:t>
            </a:r>
          </a:p>
        </p:txBody>
      </p:sp>
      <p:cxnSp>
        <p:nvCxnSpPr>
          <p:cNvPr id="29" name="Straight Arrow Connector 38">
            <a:extLst>
              <a:ext uri="{FF2B5EF4-FFF2-40B4-BE49-F238E27FC236}">
                <a16:creationId xmlns:a16="http://schemas.microsoft.com/office/drawing/2014/main" id="{7C1F8514-6C31-F175-F13E-E8D541D0D5DC}"/>
              </a:ext>
            </a:extLst>
          </p:cNvPr>
          <p:cNvCxnSpPr>
            <a:cxnSpLocks/>
            <a:stCxn id="23" idx="4"/>
            <a:endCxn id="73" idx="0"/>
          </p:cNvCxnSpPr>
          <p:nvPr/>
        </p:nvCxnSpPr>
        <p:spPr>
          <a:xfrm>
            <a:off x="11154892" y="3297976"/>
            <a:ext cx="463347" cy="346292"/>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08379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798D1-0E5B-40BD-A8DD-408151A11DB9}"/>
              </a:ext>
            </a:extLst>
          </p:cNvPr>
          <p:cNvSpPr>
            <a:spLocks noGrp="1"/>
          </p:cNvSpPr>
          <p:nvPr>
            <p:ph type="title"/>
          </p:nvPr>
        </p:nvSpPr>
        <p:spPr/>
        <p:txBody>
          <a:bodyPr/>
          <a:lstStyle/>
          <a:p>
            <a:r>
              <a:rPr lang="en-GB" dirty="0"/>
              <a:t>3. Series decomposition</a:t>
            </a:r>
          </a:p>
        </p:txBody>
      </p:sp>
      <mc:AlternateContent xmlns:mc="http://schemas.openxmlformats.org/markup-compatibility/2006" xmlns:a14="http://schemas.microsoft.com/office/drawing/2010/main">
        <mc:Choice Requires="a14">
          <p:sp>
            <p:nvSpPr>
              <p:cNvPr id="4" name="Rectangle: Rounded Corners 3">
                <a:extLst>
                  <a:ext uri="{FF2B5EF4-FFF2-40B4-BE49-F238E27FC236}">
                    <a16:creationId xmlns:a16="http://schemas.microsoft.com/office/drawing/2014/main" id="{E7EB8FCC-B6E3-4C73-815C-68D3526B6A38}"/>
                  </a:ext>
                </a:extLst>
              </p:cNvPr>
              <p:cNvSpPr/>
              <p:nvPr/>
            </p:nvSpPr>
            <p:spPr>
              <a:xfrm>
                <a:off x="840417" y="3429000"/>
                <a:ext cx="1384916" cy="78234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Series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𝑌</m:t>
                        </m:r>
                      </m:e>
                      <m:sub>
                        <m:r>
                          <a:rPr lang="fr-BE" b="0" i="1" smtClean="0">
                            <a:latin typeface="Cambria Math" panose="02040503050406030204" pitchFamily="18" charset="0"/>
                          </a:rPr>
                          <m:t>𝑡</m:t>
                        </m:r>
                      </m:sub>
                    </m:sSub>
                  </m:oMath>
                </a14:m>
                <a:r>
                  <a:rPr lang="en-GB" dirty="0"/>
                  <a:t>)</a:t>
                </a:r>
              </a:p>
            </p:txBody>
          </p:sp>
        </mc:Choice>
        <mc:Fallback xmlns="">
          <p:sp>
            <p:nvSpPr>
              <p:cNvPr id="4" name="Rectangle: Rounded Corners 3">
                <a:extLst>
                  <a:ext uri="{FF2B5EF4-FFF2-40B4-BE49-F238E27FC236}">
                    <a16:creationId xmlns:a16="http://schemas.microsoft.com/office/drawing/2014/main" id="{E7EB8FCC-B6E3-4C73-815C-68D3526B6A38}"/>
                  </a:ext>
                </a:extLst>
              </p:cNvPr>
              <p:cNvSpPr>
                <a:spLocks noRot="1" noChangeAspect="1" noMove="1" noResize="1" noEditPoints="1" noAdjustHandles="1" noChangeArrowheads="1" noChangeShapeType="1" noTextEdit="1"/>
              </p:cNvSpPr>
              <p:nvPr/>
            </p:nvSpPr>
            <p:spPr>
              <a:xfrm>
                <a:off x="840417" y="3429000"/>
                <a:ext cx="1384916" cy="782340"/>
              </a:xfrm>
              <a:prstGeom prst="round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Rectangle: Rounded Corners 4">
                <a:extLst>
                  <a:ext uri="{FF2B5EF4-FFF2-40B4-BE49-F238E27FC236}">
                    <a16:creationId xmlns:a16="http://schemas.microsoft.com/office/drawing/2014/main" id="{AC125F20-8474-4529-BE73-5D5A031A93AF}"/>
                  </a:ext>
                </a:extLst>
              </p:cNvPr>
              <p:cNvSpPr/>
              <p:nvPr/>
            </p:nvSpPr>
            <p:spPr>
              <a:xfrm>
                <a:off x="5827893" y="4537649"/>
                <a:ext cx="2072934" cy="772357"/>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Irregular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𝐼</m:t>
                        </m:r>
                      </m:e>
                      <m:sub>
                        <m:r>
                          <a:rPr lang="fr-BE" b="0" i="1" smtClean="0">
                            <a:latin typeface="Cambria Math" panose="02040503050406030204" pitchFamily="18" charset="0"/>
                          </a:rPr>
                          <m:t>𝑡</m:t>
                        </m:r>
                      </m:sub>
                    </m:sSub>
                  </m:oMath>
                </a14:m>
                <a:r>
                  <a:rPr lang="en-GB" dirty="0"/>
                  <a:t>)</a:t>
                </a:r>
              </a:p>
            </p:txBody>
          </p:sp>
        </mc:Choice>
        <mc:Fallback xmlns="">
          <p:sp>
            <p:nvSpPr>
              <p:cNvPr id="5" name="Rectangle: Rounded Corners 4">
                <a:extLst>
                  <a:ext uri="{FF2B5EF4-FFF2-40B4-BE49-F238E27FC236}">
                    <a16:creationId xmlns:a16="http://schemas.microsoft.com/office/drawing/2014/main" id="{AC125F20-8474-4529-BE73-5D5A031A93AF}"/>
                  </a:ext>
                </a:extLst>
              </p:cNvPr>
              <p:cNvSpPr>
                <a:spLocks noRot="1" noChangeAspect="1" noMove="1" noResize="1" noEditPoints="1" noAdjustHandles="1" noChangeArrowheads="1" noChangeShapeType="1" noTextEdit="1"/>
              </p:cNvSpPr>
              <p:nvPr/>
            </p:nvSpPr>
            <p:spPr>
              <a:xfrm>
                <a:off x="5827893" y="4537649"/>
                <a:ext cx="2072934" cy="772357"/>
              </a:xfrm>
              <a:prstGeom prst="round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Rectangle: Rounded Corners 5">
                <a:extLst>
                  <a:ext uri="{FF2B5EF4-FFF2-40B4-BE49-F238E27FC236}">
                    <a16:creationId xmlns:a16="http://schemas.microsoft.com/office/drawing/2014/main" id="{EAAC2273-72C6-4B58-A3D9-BF8710B7B625}"/>
                  </a:ext>
                </a:extLst>
              </p:cNvPr>
              <p:cNvSpPr/>
              <p:nvPr/>
            </p:nvSpPr>
            <p:spPr>
              <a:xfrm>
                <a:off x="5827891" y="2340314"/>
                <a:ext cx="2072935" cy="772357"/>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GB" dirty="0"/>
                  <a:t>Seasonal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𝑆</m:t>
                        </m:r>
                      </m:e>
                      <m:sub>
                        <m:r>
                          <a:rPr lang="fr-BE" b="0" i="1" smtClean="0">
                            <a:latin typeface="Cambria Math" panose="02040503050406030204" pitchFamily="18" charset="0"/>
                          </a:rPr>
                          <m:t>𝑡</m:t>
                        </m:r>
                      </m:sub>
                    </m:sSub>
                  </m:oMath>
                </a14:m>
                <a:r>
                  <a:rPr lang="en-GB" dirty="0"/>
                  <a:t>)</a:t>
                </a:r>
              </a:p>
            </p:txBody>
          </p:sp>
        </mc:Choice>
        <mc:Fallback xmlns="">
          <p:sp>
            <p:nvSpPr>
              <p:cNvPr id="6" name="Rectangle: Rounded Corners 5">
                <a:extLst>
                  <a:ext uri="{FF2B5EF4-FFF2-40B4-BE49-F238E27FC236}">
                    <a16:creationId xmlns:a16="http://schemas.microsoft.com/office/drawing/2014/main" id="{EAAC2273-72C6-4B58-A3D9-BF8710B7B625}"/>
                  </a:ext>
                </a:extLst>
              </p:cNvPr>
              <p:cNvSpPr>
                <a:spLocks noRot="1" noChangeAspect="1" noMove="1" noResize="1" noEditPoints="1" noAdjustHandles="1" noChangeArrowheads="1" noChangeShapeType="1" noTextEdit="1"/>
              </p:cNvSpPr>
              <p:nvPr/>
            </p:nvSpPr>
            <p:spPr>
              <a:xfrm>
                <a:off x="5827891" y="2340314"/>
                <a:ext cx="2072935" cy="772357"/>
              </a:xfrm>
              <a:prstGeom prst="round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Rectangle: Rounded Corners 6">
                <a:extLst>
                  <a:ext uri="{FF2B5EF4-FFF2-40B4-BE49-F238E27FC236}">
                    <a16:creationId xmlns:a16="http://schemas.microsoft.com/office/drawing/2014/main" id="{03D4CBA6-1446-40BD-A55B-FAD1674A4FA5}"/>
                  </a:ext>
                </a:extLst>
              </p:cNvPr>
              <p:cNvSpPr/>
              <p:nvPr/>
            </p:nvSpPr>
            <p:spPr>
              <a:xfrm>
                <a:off x="5827892" y="3438982"/>
                <a:ext cx="2072935" cy="772357"/>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GB" dirty="0"/>
                  <a:t>Trend-cycle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𝑇</m:t>
                        </m:r>
                      </m:e>
                      <m:sub>
                        <m:r>
                          <a:rPr lang="fr-BE" b="0" i="1" smtClean="0">
                            <a:latin typeface="Cambria Math" panose="02040503050406030204" pitchFamily="18" charset="0"/>
                          </a:rPr>
                          <m:t>𝑡</m:t>
                        </m:r>
                      </m:sub>
                    </m:sSub>
                  </m:oMath>
                </a14:m>
                <a:r>
                  <a:rPr lang="en-GB" dirty="0"/>
                  <a:t>)</a:t>
                </a:r>
              </a:p>
            </p:txBody>
          </p:sp>
        </mc:Choice>
        <mc:Fallback xmlns="">
          <p:sp>
            <p:nvSpPr>
              <p:cNvPr id="7" name="Rectangle: Rounded Corners 6">
                <a:extLst>
                  <a:ext uri="{FF2B5EF4-FFF2-40B4-BE49-F238E27FC236}">
                    <a16:creationId xmlns:a16="http://schemas.microsoft.com/office/drawing/2014/main" id="{03D4CBA6-1446-40BD-A55B-FAD1674A4FA5}"/>
                  </a:ext>
                </a:extLst>
              </p:cNvPr>
              <p:cNvSpPr>
                <a:spLocks noRot="1" noChangeAspect="1" noMove="1" noResize="1" noEditPoints="1" noAdjustHandles="1" noChangeArrowheads="1" noChangeShapeType="1" noTextEdit="1"/>
              </p:cNvSpPr>
              <p:nvPr/>
            </p:nvSpPr>
            <p:spPr>
              <a:xfrm>
                <a:off x="5827892" y="3438982"/>
                <a:ext cx="2072935" cy="772357"/>
              </a:xfrm>
              <a:prstGeom prst="roundRect">
                <a:avLst/>
              </a:prstGeom>
              <a:blipFill>
                <a:blip r:embed="rId5"/>
                <a:stretch>
                  <a:fillRect/>
                </a:stretch>
              </a:blipFill>
            </p:spPr>
            <p:txBody>
              <a:bodyPr/>
              <a:lstStyle/>
              <a:p>
                <a:r>
                  <a:rPr lang="en-GB">
                    <a:noFill/>
                  </a:rPr>
                  <a:t> </a:t>
                </a:r>
              </a:p>
            </p:txBody>
          </p:sp>
        </mc:Fallback>
      </mc:AlternateContent>
      <p:cxnSp>
        <p:nvCxnSpPr>
          <p:cNvPr id="9" name="Connector: Elbow 8">
            <a:extLst>
              <a:ext uri="{FF2B5EF4-FFF2-40B4-BE49-F238E27FC236}">
                <a16:creationId xmlns:a16="http://schemas.microsoft.com/office/drawing/2014/main" id="{A5F9547D-162A-4677-BDB8-702E844BE123}"/>
              </a:ext>
            </a:extLst>
          </p:cNvPr>
          <p:cNvCxnSpPr>
            <a:cxnSpLocks/>
            <a:stCxn id="7" idx="1"/>
            <a:endCxn id="4" idx="3"/>
          </p:cNvCxnSpPr>
          <p:nvPr/>
        </p:nvCxnSpPr>
        <p:spPr>
          <a:xfrm rot="10800000">
            <a:off x="2225334" y="3820171"/>
            <a:ext cx="3602559" cy="499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E8ABEE7C-76D2-49D4-9575-C80268452E5E}"/>
              </a:ext>
            </a:extLst>
          </p:cNvPr>
          <p:cNvCxnSpPr>
            <a:cxnSpLocks/>
            <a:stCxn id="6" idx="1"/>
            <a:endCxn id="4" idx="3"/>
          </p:cNvCxnSpPr>
          <p:nvPr/>
        </p:nvCxnSpPr>
        <p:spPr>
          <a:xfrm rot="10800000" flipV="1">
            <a:off x="2225333" y="2726492"/>
            <a:ext cx="3602558" cy="109367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6BC19318-E13C-47A8-A281-9957BC028B38}"/>
              </a:ext>
            </a:extLst>
          </p:cNvPr>
          <p:cNvCxnSpPr>
            <a:cxnSpLocks/>
            <a:stCxn id="5" idx="1"/>
            <a:endCxn id="4" idx="3"/>
          </p:cNvCxnSpPr>
          <p:nvPr/>
        </p:nvCxnSpPr>
        <p:spPr>
          <a:xfrm rot="10800000">
            <a:off x="2225333" y="3820170"/>
            <a:ext cx="3602560" cy="110365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63EDBDD-E6A3-461F-89B4-F3909489F40E}"/>
                  </a:ext>
                </a:extLst>
              </p:cNvPr>
              <p:cNvSpPr txBox="1"/>
              <p:nvPr/>
            </p:nvSpPr>
            <p:spPr>
              <a:xfrm>
                <a:off x="2571565" y="3452229"/>
                <a:ext cx="1547603" cy="369332"/>
              </a:xfrm>
              <a:prstGeom prst="rect">
                <a:avLst/>
              </a:prstGeom>
              <a:noFill/>
            </p:spPr>
            <p:txBody>
              <a:bodyPr wrap="none" rtlCol="0">
                <a:spAutoFit/>
              </a:bodyPr>
              <a:lstStyle/>
              <a:p>
                <a:pPr/>
                <a14:m>
                  <m:oMathPara xmlns:m="http://schemas.openxmlformats.org/officeDocument/2006/math">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 </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m:t>
                      </m:r>
                    </m:oMath>
                  </m:oMathPara>
                </a14:m>
                <a:endParaRPr lang="en-GB" dirty="0"/>
              </a:p>
            </p:txBody>
          </p:sp>
        </mc:Choice>
        <mc:Fallback xmlns="">
          <p:sp>
            <p:nvSpPr>
              <p:cNvPr id="18" name="TextBox 17">
                <a:extLst>
                  <a:ext uri="{FF2B5EF4-FFF2-40B4-BE49-F238E27FC236}">
                    <a16:creationId xmlns:a16="http://schemas.microsoft.com/office/drawing/2014/main" id="{063EDBDD-E6A3-461F-89B4-F3909489F40E}"/>
                  </a:ext>
                </a:extLst>
              </p:cNvPr>
              <p:cNvSpPr txBox="1">
                <a:spLocks noRot="1" noChangeAspect="1" noMove="1" noResize="1" noEditPoints="1" noAdjustHandles="1" noChangeArrowheads="1" noChangeShapeType="1" noTextEdit="1"/>
              </p:cNvSpPr>
              <p:nvPr/>
            </p:nvSpPr>
            <p:spPr>
              <a:xfrm>
                <a:off x="2571565" y="3452229"/>
                <a:ext cx="1547603" cy="369332"/>
              </a:xfrm>
              <a:prstGeom prst="rect">
                <a:avLst/>
              </a:prstGeom>
              <a:blipFill>
                <a:blip r:embed="rId6"/>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Rectangle: Rounded Corners 24">
                <a:extLst>
                  <a:ext uri="{FF2B5EF4-FFF2-40B4-BE49-F238E27FC236}">
                    <a16:creationId xmlns:a16="http://schemas.microsoft.com/office/drawing/2014/main" id="{E2CEC76A-9F33-451A-B5A5-FCCF66CF508F}"/>
                  </a:ext>
                </a:extLst>
              </p:cNvPr>
              <p:cNvSpPr/>
              <p:nvPr/>
            </p:nvSpPr>
            <p:spPr>
              <a:xfrm>
                <a:off x="5479444" y="3245894"/>
                <a:ext cx="2767615" cy="2704045"/>
              </a:xfrm>
              <a:prstGeom prst="roundRect">
                <a:avLst/>
              </a:prstGeom>
              <a:noFill/>
              <a:ln w="57150"/>
            </p:spPr>
            <p:style>
              <a:lnRef idx="2">
                <a:schemeClr val="accent3">
                  <a:shade val="50000"/>
                </a:schemeClr>
              </a:lnRef>
              <a:fillRef idx="1">
                <a:schemeClr val="accent3"/>
              </a:fillRef>
              <a:effectRef idx="0">
                <a:schemeClr val="accent3"/>
              </a:effectRef>
              <a:fontRef idx="minor">
                <a:schemeClr val="lt1"/>
              </a:fontRef>
            </p:style>
            <p:txBody>
              <a:bodyPr rtlCol="0" anchor="b"/>
              <a:lstStyle/>
              <a:p>
                <a:pPr algn="ctr"/>
                <a:r>
                  <a:rPr lang="en-GB" dirty="0">
                    <a:solidFill>
                      <a:schemeClr val="tx1"/>
                    </a:solidFill>
                  </a:rPr>
                  <a:t>Seasonally </a:t>
                </a:r>
                <a:r>
                  <a:rPr lang="en-GB" dirty="0" err="1">
                    <a:solidFill>
                      <a:schemeClr val="tx1"/>
                    </a:solidFill>
                  </a:rPr>
                  <a:t>adj</a:t>
                </a:r>
                <a:r>
                  <a:rPr lang="en-GB" dirty="0">
                    <a:solidFill>
                      <a:schemeClr val="tx1"/>
                    </a:solidFill>
                  </a:rPr>
                  <a:t> (</a:t>
                </a:r>
                <a14:m>
                  <m:oMath xmlns:m="http://schemas.openxmlformats.org/officeDocument/2006/math">
                    <m:sSub>
                      <m:sSubPr>
                        <m:ctrlPr>
                          <a:rPr lang="fr-BE" b="0" i="1" smtClean="0">
                            <a:solidFill>
                              <a:schemeClr val="tx1"/>
                            </a:solidFill>
                            <a:latin typeface="Cambria Math" panose="02040503050406030204" pitchFamily="18" charset="0"/>
                          </a:rPr>
                        </m:ctrlPr>
                      </m:sSubPr>
                      <m:e>
                        <m:r>
                          <a:rPr lang="fr-BE" b="0" i="1" smtClean="0">
                            <a:solidFill>
                              <a:schemeClr val="tx1"/>
                            </a:solidFill>
                            <a:latin typeface="Cambria Math" panose="02040503050406030204" pitchFamily="18" charset="0"/>
                          </a:rPr>
                          <m:t>𝑆𝐴</m:t>
                        </m:r>
                      </m:e>
                      <m:sub>
                        <m:r>
                          <a:rPr lang="fr-BE" b="0" i="1" smtClean="0">
                            <a:solidFill>
                              <a:schemeClr val="tx1"/>
                            </a:solidFill>
                            <a:latin typeface="Cambria Math" panose="02040503050406030204" pitchFamily="18" charset="0"/>
                          </a:rPr>
                          <m:t>𝑡</m:t>
                        </m:r>
                      </m:sub>
                    </m:sSub>
                  </m:oMath>
                </a14:m>
                <a:r>
                  <a:rPr lang="en-GB" dirty="0">
                    <a:solidFill>
                      <a:schemeClr val="tx1"/>
                    </a:solidFill>
                  </a:rPr>
                  <a:t>)</a:t>
                </a:r>
              </a:p>
            </p:txBody>
          </p:sp>
        </mc:Choice>
        <mc:Fallback xmlns="">
          <p:sp>
            <p:nvSpPr>
              <p:cNvPr id="25" name="Rectangle: Rounded Corners 24">
                <a:extLst>
                  <a:ext uri="{FF2B5EF4-FFF2-40B4-BE49-F238E27FC236}">
                    <a16:creationId xmlns:a16="http://schemas.microsoft.com/office/drawing/2014/main" id="{E2CEC76A-9F33-451A-B5A5-FCCF66CF508F}"/>
                  </a:ext>
                </a:extLst>
              </p:cNvPr>
              <p:cNvSpPr>
                <a:spLocks noRot="1" noChangeAspect="1" noMove="1" noResize="1" noEditPoints="1" noAdjustHandles="1" noChangeArrowheads="1" noChangeShapeType="1" noTextEdit="1"/>
              </p:cNvSpPr>
              <p:nvPr/>
            </p:nvSpPr>
            <p:spPr>
              <a:xfrm>
                <a:off x="5479444" y="3245894"/>
                <a:ext cx="2767615" cy="2704045"/>
              </a:xfrm>
              <a:prstGeom prst="roundRect">
                <a:avLst/>
              </a:prstGeom>
              <a:blipFill>
                <a:blip r:embed="rId7"/>
                <a:stretch>
                  <a:fillRect/>
                </a:stretch>
              </a:blipFill>
              <a:ln w="57150"/>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Rectangle: Rounded Corners 25">
                <a:extLst>
                  <a:ext uri="{FF2B5EF4-FFF2-40B4-BE49-F238E27FC236}">
                    <a16:creationId xmlns:a16="http://schemas.microsoft.com/office/drawing/2014/main" id="{FD5B45F7-D9D7-481C-A78E-F69393B8A6CD}"/>
                  </a:ext>
                </a:extLst>
              </p:cNvPr>
              <p:cNvSpPr/>
              <p:nvPr/>
            </p:nvSpPr>
            <p:spPr>
              <a:xfrm>
                <a:off x="8676072" y="1705904"/>
                <a:ext cx="2364423" cy="772357"/>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dirty="0"/>
                  <a:t>Calendar effect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𝐶𝑎𝑙</m:t>
                        </m:r>
                      </m:e>
                      <m:sub>
                        <m:r>
                          <a:rPr lang="fr-BE" b="0" i="1" smtClean="0">
                            <a:latin typeface="Cambria Math" panose="02040503050406030204" pitchFamily="18" charset="0"/>
                          </a:rPr>
                          <m:t>𝑡</m:t>
                        </m:r>
                      </m:sub>
                    </m:sSub>
                  </m:oMath>
                </a14:m>
                <a:r>
                  <a:rPr lang="en-GB" dirty="0"/>
                  <a:t>)</a:t>
                </a:r>
              </a:p>
            </p:txBody>
          </p:sp>
        </mc:Choice>
        <mc:Fallback xmlns="">
          <p:sp>
            <p:nvSpPr>
              <p:cNvPr id="26" name="Rectangle: Rounded Corners 25">
                <a:extLst>
                  <a:ext uri="{FF2B5EF4-FFF2-40B4-BE49-F238E27FC236}">
                    <a16:creationId xmlns:a16="http://schemas.microsoft.com/office/drawing/2014/main" id="{FD5B45F7-D9D7-481C-A78E-F69393B8A6CD}"/>
                  </a:ext>
                </a:extLst>
              </p:cNvPr>
              <p:cNvSpPr>
                <a:spLocks noRot="1" noChangeAspect="1" noMove="1" noResize="1" noEditPoints="1" noAdjustHandles="1" noChangeArrowheads="1" noChangeShapeType="1" noTextEdit="1"/>
              </p:cNvSpPr>
              <p:nvPr/>
            </p:nvSpPr>
            <p:spPr>
              <a:xfrm>
                <a:off x="8676072" y="1705904"/>
                <a:ext cx="2364423" cy="772357"/>
              </a:xfrm>
              <a:prstGeom prst="roundRect">
                <a:avLst/>
              </a:prstGeom>
              <a:blipFill>
                <a:blip r:embed="rId8"/>
                <a:stretch>
                  <a:fillRect/>
                </a:stretch>
              </a:blipFill>
              <a:ln>
                <a:noFill/>
              </a:ln>
            </p:spPr>
            <p:txBody>
              <a:bodyPr/>
              <a:lstStyle/>
              <a:p>
                <a:r>
                  <a:rPr lang="en-GB">
                    <a:noFill/>
                  </a:rPr>
                  <a:t> </a:t>
                </a:r>
              </a:p>
            </p:txBody>
          </p:sp>
        </mc:Fallback>
      </mc:AlternateContent>
      <p:cxnSp>
        <p:nvCxnSpPr>
          <p:cNvPr id="28" name="Connector: Elbow 27">
            <a:extLst>
              <a:ext uri="{FF2B5EF4-FFF2-40B4-BE49-F238E27FC236}">
                <a16:creationId xmlns:a16="http://schemas.microsoft.com/office/drawing/2014/main" id="{B244EADF-C818-424B-AEA5-B0588A32EE10}"/>
              </a:ext>
            </a:extLst>
          </p:cNvPr>
          <p:cNvCxnSpPr>
            <a:cxnSpLocks/>
            <a:stCxn id="26" idx="2"/>
            <a:endCxn id="6" idx="3"/>
          </p:cNvCxnSpPr>
          <p:nvPr/>
        </p:nvCxnSpPr>
        <p:spPr>
          <a:xfrm rot="5400000">
            <a:off x="8755439" y="1623648"/>
            <a:ext cx="248232" cy="195745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8A9E8AD-87E4-41AC-BD52-8E6E4E061022}"/>
                  </a:ext>
                </a:extLst>
              </p:cNvPr>
              <p:cNvSpPr txBox="1"/>
              <p:nvPr/>
            </p:nvSpPr>
            <p:spPr>
              <a:xfrm>
                <a:off x="215204" y="4597917"/>
                <a:ext cx="3729739" cy="147732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pPr/>
                <a14:m>
                  <m:oMathPara xmlns:m="http://schemas.openxmlformats.org/officeDocument/2006/math">
                    <m:oMathParaPr>
                      <m:jc m:val="left"/>
                    </m:oMathParaPr>
                    <m:oMath>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𝑌</m:t>
                              </m:r>
                            </m:e>
                          </m:d>
                        </m:e>
                      </m:func>
                      <m:r>
                        <a:rPr lang="fr-BE" b="0" i="1" smtClean="0">
                          <a:latin typeface="Cambria Math" panose="02040503050406030204" pitchFamily="18" charset="0"/>
                        </a:rPr>
                        <m:t>=</m:t>
                      </m:r>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𝑇</m:t>
                              </m:r>
                            </m:e>
                          </m:d>
                        </m:e>
                      </m:func>
                      <m:r>
                        <a:rPr lang="fr-BE" b="0" i="1" smtClean="0">
                          <a:latin typeface="Cambria Math" panose="02040503050406030204" pitchFamily="18" charset="0"/>
                        </a:rPr>
                        <m:t>+</m:t>
                      </m:r>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𝑆</m:t>
                              </m:r>
                            </m:e>
                          </m:d>
                        </m:e>
                      </m:func>
                      <m:r>
                        <a:rPr lang="fr-BE" b="0" i="1" smtClean="0">
                          <a:latin typeface="Cambria Math" panose="02040503050406030204" pitchFamily="18" charset="0"/>
                        </a:rPr>
                        <m:t>+</m:t>
                      </m:r>
                      <m:r>
                        <a:rPr lang="fr-BE" b="0" i="1" smtClean="0">
                          <a:latin typeface="Cambria Math" panose="02040503050406030204" pitchFamily="18" charset="0"/>
                        </a:rPr>
                        <m:t>𝑙𝑜𝑔</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m:t>
                      </m:r>
                    </m:oMath>
                  </m:oMathPara>
                </a14:m>
                <a:endParaRPr lang="en-GB" dirty="0"/>
              </a:p>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d>
                        <m:dPr>
                          <m:ctrlPr>
                            <a:rPr lang="fr-BE" b="0" i="1" smtClean="0">
                              <a:latin typeface="Cambria Math" panose="02040503050406030204" pitchFamily="18" charset="0"/>
                            </a:rPr>
                          </m:ctrlPr>
                        </m:dPr>
                        <m:e>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−1</m:t>
                          </m:r>
                        </m:e>
                      </m:d>
                    </m:oMath>
                  </m:oMathPara>
                </a14:m>
                <a:endParaRPr lang="en-GB" dirty="0"/>
              </a:p>
              <a:p>
                <a:r>
                  <a:rPr lang="en-GB" dirty="0"/>
                  <a:t>…</a:t>
                </a:r>
              </a:p>
            </p:txBody>
          </p:sp>
        </mc:Choice>
        <mc:Fallback xmlns="">
          <p:sp>
            <p:nvSpPr>
              <p:cNvPr id="31" name="TextBox 30">
                <a:extLst>
                  <a:ext uri="{FF2B5EF4-FFF2-40B4-BE49-F238E27FC236}">
                    <a16:creationId xmlns:a16="http://schemas.microsoft.com/office/drawing/2014/main" id="{F8A9E8AD-87E4-41AC-BD52-8E6E4E061022}"/>
                  </a:ext>
                </a:extLst>
              </p:cNvPr>
              <p:cNvSpPr txBox="1">
                <a:spLocks noRot="1" noChangeAspect="1" noMove="1" noResize="1" noEditPoints="1" noAdjustHandles="1" noChangeArrowheads="1" noChangeShapeType="1" noTextEdit="1"/>
              </p:cNvSpPr>
              <p:nvPr/>
            </p:nvSpPr>
            <p:spPr>
              <a:xfrm>
                <a:off x="215204" y="4597917"/>
                <a:ext cx="3729739" cy="1477328"/>
              </a:xfrm>
              <a:prstGeom prst="rect">
                <a:avLst/>
              </a:prstGeom>
              <a:blipFill>
                <a:blip r:embed="rId9"/>
                <a:stretch>
                  <a:fillRect l="-1140" b="-4898"/>
                </a:stretch>
              </a:blipFill>
            </p:spPr>
            <p:txBody>
              <a:bodyPr/>
              <a:lstStyle/>
              <a:p>
                <a:r>
                  <a:rPr lang="en-GB">
                    <a:noFill/>
                  </a:rPr>
                  <a:t> </a:t>
                </a:r>
              </a:p>
            </p:txBody>
          </p:sp>
        </mc:Fallback>
      </mc:AlternateContent>
      <p:sp>
        <p:nvSpPr>
          <p:cNvPr id="33" name="Footer Placeholder 32">
            <a:extLst>
              <a:ext uri="{FF2B5EF4-FFF2-40B4-BE49-F238E27FC236}">
                <a16:creationId xmlns:a16="http://schemas.microsoft.com/office/drawing/2014/main" id="{5C39D6B6-21E0-4CAC-92A2-4044C078D876}"/>
              </a:ext>
            </a:extLst>
          </p:cNvPr>
          <p:cNvSpPr>
            <a:spLocks noGrp="1"/>
          </p:cNvSpPr>
          <p:nvPr>
            <p:ph type="ftr" sz="quarter" idx="11"/>
          </p:nvPr>
        </p:nvSpPr>
        <p:spPr/>
        <p:txBody>
          <a:bodyPr/>
          <a:lstStyle/>
          <a:p>
            <a:r>
              <a:rPr lang="en-GB"/>
              <a:t>ESTP Training. Seasonal adjustment</a:t>
            </a:r>
          </a:p>
        </p:txBody>
      </p:sp>
      <mc:AlternateContent xmlns:mc="http://schemas.openxmlformats.org/markup-compatibility/2006" xmlns:a14="http://schemas.microsoft.com/office/drawing/2010/main">
        <mc:Choice Requires="a14">
          <p:sp>
            <p:nvSpPr>
              <p:cNvPr id="30" name="TextBox 30">
                <a:extLst>
                  <a:ext uri="{FF2B5EF4-FFF2-40B4-BE49-F238E27FC236}">
                    <a16:creationId xmlns:a16="http://schemas.microsoft.com/office/drawing/2014/main" id="{FB860FE4-00A4-F5AF-37E6-9970E65803FD}"/>
                  </a:ext>
                </a:extLst>
              </p:cNvPr>
              <p:cNvSpPr txBox="1"/>
              <p:nvPr/>
            </p:nvSpPr>
            <p:spPr>
              <a:xfrm>
                <a:off x="8569425" y="3791293"/>
                <a:ext cx="2662168" cy="17189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fr-BE" b="0" i="1" smtClean="0">
                          <a:latin typeface="Cambria Math" panose="02040503050406030204" pitchFamily="18" charset="0"/>
                        </a:rPr>
                        <m:t>𝑆𝐴</m:t>
                      </m:r>
                      <m:r>
                        <a:rPr lang="fr-BE" b="0" i="1" smtClean="0">
                          <a:latin typeface="Cambria Math" panose="02040503050406030204" pitchFamily="18" charset="0"/>
                        </a:rPr>
                        <m:t>=</m:t>
                      </m:r>
                      <m:r>
                        <a:rPr lang="fr-BE" b="0" i="1" smtClean="0">
                          <a:latin typeface="Cambria Math" panose="02040503050406030204" pitchFamily="18" charset="0"/>
                        </a:rPr>
                        <m:t>𝑌</m:t>
                      </m:r>
                      <m:r>
                        <a:rPr lang="fr-BE" b="0" i="1" smtClean="0">
                          <a:latin typeface="Cambria Math" panose="02040503050406030204" pitchFamily="18" charset="0"/>
                        </a:rPr>
                        <m:t> −</m:t>
                      </m:r>
                      <m:r>
                        <a:rPr lang="fr-BE" b="0" i="1" smtClean="0">
                          <a:latin typeface="Cambria Math" panose="02040503050406030204" pitchFamily="18" charset="0"/>
                        </a:rPr>
                        <m:t>𝑆</m:t>
                      </m:r>
                      <m:r>
                        <a:rPr lang="fr-BE" b="0" i="1" smtClean="0">
                          <a:latin typeface="Cambria Math" panose="02040503050406030204" pitchFamily="18" charset="0"/>
                        </a:rPr>
                        <m:t>= </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endParaRPr lang="fr-BE" b="0" i="1" dirty="0">
                  <a:latin typeface="Cambria Math" panose="02040503050406030204" pitchFamily="18" charset="0"/>
                </a:endParaRPr>
              </a:p>
              <a:p>
                <a:pPr/>
                <a14:m>
                  <m:oMathPara xmlns:m="http://schemas.openxmlformats.org/officeDocument/2006/math">
                    <m:oMathParaPr>
                      <m:jc m:val="left"/>
                    </m:oMathParaPr>
                    <m:oMath>
                      <m:r>
                        <a:rPr lang="fr-BE" b="0" i="1" smtClean="0">
                          <a:latin typeface="Cambria Math" panose="02040503050406030204" pitchFamily="18" charset="0"/>
                        </a:rPr>
                        <m:t>𝑆𝐴</m:t>
                      </m:r>
                      <m:r>
                        <a:rPr lang="fr-BE" b="0" i="1" smtClean="0">
                          <a:latin typeface="Cambria Math" panose="02040503050406030204" pitchFamily="18" charset="0"/>
                        </a:rPr>
                        <m:t>=</m:t>
                      </m:r>
                      <m:f>
                        <m:fPr>
                          <m:ctrlPr>
                            <a:rPr lang="fr-BE" b="0" i="1" smtClean="0">
                              <a:latin typeface="Cambria Math" panose="02040503050406030204" pitchFamily="18" charset="0"/>
                            </a:rPr>
                          </m:ctrlPr>
                        </m:fPr>
                        <m:num>
                          <m:r>
                            <a:rPr lang="fr-BE" b="0" i="1" smtClean="0">
                              <a:latin typeface="Cambria Math" panose="02040503050406030204" pitchFamily="18" charset="0"/>
                            </a:rPr>
                            <m:t>𝑌</m:t>
                          </m:r>
                        </m:num>
                        <m:den>
                          <m:r>
                            <a:rPr lang="fr-BE" b="0" i="1" smtClean="0">
                              <a:latin typeface="Cambria Math" panose="02040503050406030204" pitchFamily="18" charset="0"/>
                            </a:rPr>
                            <m:t>𝑆</m:t>
                          </m:r>
                        </m:den>
                      </m:f>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endParaRPr lang="en-GB" dirty="0"/>
              </a:p>
              <a:p>
                <a:r>
                  <a:rPr lang="en-GB" dirty="0"/>
                  <a:t>…</a:t>
                </a:r>
              </a:p>
            </p:txBody>
          </p:sp>
        </mc:Choice>
        <mc:Fallback xmlns="">
          <p:sp>
            <p:nvSpPr>
              <p:cNvPr id="30" name="TextBox 30">
                <a:extLst>
                  <a:ext uri="{FF2B5EF4-FFF2-40B4-BE49-F238E27FC236}">
                    <a16:creationId xmlns:a16="http://schemas.microsoft.com/office/drawing/2014/main" id="{FB860FE4-00A4-F5AF-37E6-9970E65803FD}"/>
                  </a:ext>
                </a:extLst>
              </p:cNvPr>
              <p:cNvSpPr txBox="1">
                <a:spLocks noRot="1" noChangeAspect="1" noMove="1" noResize="1" noEditPoints="1" noAdjustHandles="1" noChangeArrowheads="1" noChangeShapeType="1" noTextEdit="1"/>
              </p:cNvSpPr>
              <p:nvPr/>
            </p:nvSpPr>
            <p:spPr>
              <a:xfrm>
                <a:off x="8569425" y="3791293"/>
                <a:ext cx="2662168" cy="1718932"/>
              </a:xfrm>
              <a:prstGeom prst="rect">
                <a:avLst/>
              </a:prstGeom>
              <a:blipFill>
                <a:blip r:embed="rId10"/>
                <a:stretch>
                  <a:fillRect l="-1826" b="-4225"/>
                </a:stretch>
              </a:blipFill>
            </p:spPr>
            <p:txBody>
              <a:bodyPr/>
              <a:lstStyle/>
              <a:p>
                <a:r>
                  <a:rPr lang="en-GB">
                    <a:noFill/>
                  </a:rPr>
                  <a:t> </a:t>
                </a:r>
              </a:p>
            </p:txBody>
          </p:sp>
        </mc:Fallback>
      </mc:AlternateContent>
    </p:spTree>
    <p:extLst>
      <p:ext uri="{BB962C8B-B14F-4D97-AF65-F5344CB8AC3E}">
        <p14:creationId xmlns:p14="http://schemas.microsoft.com/office/powerpoint/2010/main" val="39141679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E5C1-5C3F-4D47-8188-6D11A3DB7781}"/>
              </a:ext>
            </a:extLst>
          </p:cNvPr>
          <p:cNvSpPr>
            <a:spLocks noGrp="1"/>
          </p:cNvSpPr>
          <p:nvPr>
            <p:ph type="title"/>
          </p:nvPr>
        </p:nvSpPr>
        <p:spPr/>
        <p:txBody>
          <a:bodyPr/>
          <a:lstStyle/>
          <a:p>
            <a:r>
              <a:rPr lang="en-GB" dirty="0"/>
              <a:t>3. Series decomposition</a:t>
            </a:r>
          </a:p>
        </p:txBody>
      </p:sp>
      <p:sp>
        <p:nvSpPr>
          <p:cNvPr id="3" name="Content Placeholder 2">
            <a:extLst>
              <a:ext uri="{FF2B5EF4-FFF2-40B4-BE49-F238E27FC236}">
                <a16:creationId xmlns:a16="http://schemas.microsoft.com/office/drawing/2014/main" id="{C1EC0B8D-CB09-4E77-B0D9-01E0CE299A1A}"/>
              </a:ext>
            </a:extLst>
          </p:cNvPr>
          <p:cNvSpPr>
            <a:spLocks noGrp="1"/>
          </p:cNvSpPr>
          <p:nvPr>
            <p:ph idx="1"/>
          </p:nvPr>
        </p:nvSpPr>
        <p:spPr/>
        <p:txBody>
          <a:bodyPr>
            <a:normAutofit fontScale="32500" lnSpcReduction="20000"/>
          </a:bodyPr>
          <a:lstStyle/>
          <a:p>
            <a:r>
              <a:rPr lang="en-GB" sz="7400" dirty="0"/>
              <a:t>Trend-cycle</a:t>
            </a:r>
          </a:p>
          <a:p>
            <a:pPr lvl="1"/>
            <a:r>
              <a:rPr lang="en-GB" sz="5000" dirty="0"/>
              <a:t>Smooth (?), around the series</a:t>
            </a:r>
          </a:p>
          <a:p>
            <a:r>
              <a:rPr lang="en-GB" sz="6000" dirty="0"/>
              <a:t>Seasonal</a:t>
            </a:r>
          </a:p>
          <a:p>
            <a:pPr lvl="1"/>
            <a:r>
              <a:rPr lang="en-GB" sz="5000" dirty="0"/>
              <a:t>Periodic, with slow changes (?), nearly 0 or 1 in average during 1 cycle (year)</a:t>
            </a:r>
          </a:p>
          <a:p>
            <a:pPr lvl="1"/>
            <a:r>
              <a:rPr lang="en-GB" sz="5000" dirty="0"/>
              <a:t>Calendar effects (predictable)</a:t>
            </a:r>
          </a:p>
          <a:p>
            <a:r>
              <a:rPr lang="en-GB" sz="6000" dirty="0"/>
              <a:t>Irregular</a:t>
            </a:r>
          </a:p>
          <a:p>
            <a:pPr lvl="1"/>
            <a:r>
              <a:rPr lang="en-GB" sz="5000" dirty="0"/>
              <a:t>Residual , around 0 or 1</a:t>
            </a:r>
          </a:p>
          <a:p>
            <a:pPr marL="457200" lvl="1" indent="0">
              <a:buNone/>
            </a:pPr>
            <a:endParaRPr lang="en-GB" sz="3400" dirty="0">
              <a:solidFill>
                <a:srgbClr val="FF0000"/>
              </a:solidFill>
              <a:latin typeface="Calibri" panose="020F0502020204030204" pitchFamily="34" charset="0"/>
              <a:ea typeface="Cambria Math" panose="02040503050406030204" pitchFamily="18" charset="0"/>
              <a:cs typeface="Calibri" panose="020F0502020204030204" pitchFamily="34" charset="0"/>
            </a:endParaRPr>
          </a:p>
          <a:p>
            <a:pPr marL="0" indent="0">
              <a:buNone/>
            </a:pPr>
            <a:r>
              <a:rPr lang="en-GB" sz="7400" dirty="0">
                <a:solidFill>
                  <a:srgbClr val="FF0000"/>
                </a:solidFill>
                <a:latin typeface="Calibri" panose="020F0502020204030204" pitchFamily="34" charset="0"/>
                <a:ea typeface="Cambria Math" panose="02040503050406030204" pitchFamily="18" charset="0"/>
                <a:cs typeface="Calibri" panose="020F0502020204030204" pitchFamily="34" charset="0"/>
              </a:rPr>
              <a:t>No actual definition of the components / decomposition</a:t>
            </a:r>
          </a:p>
          <a:p>
            <a:pPr marL="0" indent="0">
              <a:buNone/>
            </a:pPr>
            <a:r>
              <a:rPr lang="en-GB" sz="7400" dirty="0">
                <a:solidFill>
                  <a:srgbClr val="FF0000"/>
                </a:solidFill>
                <a:latin typeface="Calibri" panose="020F0502020204030204" pitchFamily="34" charset="0"/>
                <a:ea typeface="Cambria Math" panose="02040503050406030204" pitchFamily="18" charset="0"/>
                <a:cs typeface="Calibri" panose="020F0502020204030204" pitchFamily="34" charset="0"/>
              </a:rPr>
              <a:t> 			</a:t>
            </a:r>
            <a:r>
              <a:rPr lang="en-GB" sz="7400" dirty="0">
                <a:solidFill>
                  <a:srgbClr val="FF0000"/>
                </a:solidFill>
                <a:latin typeface="Cambria Math" panose="02040503050406030204" pitchFamily="18" charset="0"/>
                <a:ea typeface="Cambria Math" panose="02040503050406030204" pitchFamily="18" charset="0"/>
              </a:rPr>
              <a:t>⇒ </a:t>
            </a:r>
            <a:r>
              <a:rPr lang="en-GB" sz="7400" dirty="0">
                <a:solidFill>
                  <a:srgbClr val="FF0000"/>
                </a:solidFill>
                <a:latin typeface="Calibri" panose="020F0502020204030204" pitchFamily="34" charset="0"/>
                <a:ea typeface="Cambria Math" panose="02040503050406030204" pitchFamily="18" charset="0"/>
                <a:cs typeface="Calibri" panose="020F0502020204030204" pitchFamily="34" charset="0"/>
              </a:rPr>
              <a:t>Methods/software give different results </a:t>
            </a:r>
          </a:p>
          <a:p>
            <a:pPr marL="457200" lvl="1" indent="0">
              <a:buNone/>
            </a:pPr>
            <a:endParaRPr lang="en-GB" dirty="0">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BF6E0A25-D9EB-4A4F-AAB4-CB3AC3539058}"/>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593351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9C1BE-4E26-39A0-A63E-4A8CE5A7E46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3F7A753-271B-DC3D-AFB7-AB174FBF20B2}"/>
              </a:ext>
            </a:extLst>
          </p:cNvPr>
          <p:cNvSpPr>
            <a:spLocks noGrp="1"/>
          </p:cNvSpPr>
          <p:nvPr>
            <p:ph type="title"/>
          </p:nvPr>
        </p:nvSpPr>
        <p:spPr/>
        <p:txBody>
          <a:bodyPr/>
          <a:lstStyle/>
          <a:p>
            <a:r>
              <a:rPr lang="fr-BE" dirty="0"/>
              <a:t>4. Some </a:t>
            </a:r>
            <a:r>
              <a:rPr lang="fr-BE" dirty="0" err="1"/>
              <a:t>examples</a:t>
            </a:r>
            <a:endParaRPr lang="en-GB" dirty="0"/>
          </a:p>
        </p:txBody>
      </p:sp>
      <p:sp>
        <p:nvSpPr>
          <p:cNvPr id="4" name="Espace réservé du pied de page 3">
            <a:extLst>
              <a:ext uri="{FF2B5EF4-FFF2-40B4-BE49-F238E27FC236}">
                <a16:creationId xmlns:a16="http://schemas.microsoft.com/office/drawing/2014/main" id="{F4C92877-F48F-11E3-D6A7-B291B020D873}"/>
              </a:ext>
            </a:extLst>
          </p:cNvPr>
          <p:cNvSpPr>
            <a:spLocks noGrp="1"/>
          </p:cNvSpPr>
          <p:nvPr>
            <p:ph type="ftr" sz="quarter" idx="11"/>
          </p:nvPr>
        </p:nvSpPr>
        <p:spPr/>
        <p:txBody>
          <a:bodyPr/>
          <a:lstStyle/>
          <a:p>
            <a:r>
              <a:rPr lang="en-GB"/>
              <a:t>ESTP Training. Seasonal adjustment</a:t>
            </a:r>
          </a:p>
        </p:txBody>
      </p:sp>
      <p:graphicFrame>
        <p:nvGraphicFramePr>
          <p:cNvPr id="3" name="Graphique 2">
            <a:extLst>
              <a:ext uri="{FF2B5EF4-FFF2-40B4-BE49-F238E27FC236}">
                <a16:creationId xmlns:a16="http://schemas.microsoft.com/office/drawing/2014/main" id="{DD619901-115D-9F14-6B0C-BDF94CBCE65D}"/>
              </a:ext>
            </a:extLst>
          </p:cNvPr>
          <p:cNvGraphicFramePr>
            <a:graphicFrameLocks/>
          </p:cNvGraphicFramePr>
          <p:nvPr>
            <p:extLst>
              <p:ext uri="{D42A27DB-BD31-4B8C-83A1-F6EECF244321}">
                <p14:modId xmlns:p14="http://schemas.microsoft.com/office/powerpoint/2010/main" val="2909567795"/>
              </p:ext>
            </p:extLst>
          </p:nvPr>
        </p:nvGraphicFramePr>
        <p:xfrm>
          <a:off x="1850570" y="1763486"/>
          <a:ext cx="8563429" cy="464457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426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D4A35-2631-B6EF-3F42-18FBC38C9E8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1BF9EB-A48D-47C9-481C-6B34CFCA9B43}"/>
              </a:ext>
            </a:extLst>
          </p:cNvPr>
          <p:cNvSpPr>
            <a:spLocks noGrp="1"/>
          </p:cNvSpPr>
          <p:nvPr>
            <p:ph type="title"/>
          </p:nvPr>
        </p:nvSpPr>
        <p:spPr/>
        <p:txBody>
          <a:bodyPr/>
          <a:lstStyle/>
          <a:p>
            <a:r>
              <a:rPr lang="fr-BE" dirty="0"/>
              <a:t>4. Some </a:t>
            </a:r>
            <a:r>
              <a:rPr lang="fr-BE" dirty="0" err="1"/>
              <a:t>examples</a:t>
            </a:r>
            <a:endParaRPr lang="en-GB" dirty="0"/>
          </a:p>
        </p:txBody>
      </p:sp>
      <p:sp>
        <p:nvSpPr>
          <p:cNvPr id="4" name="Espace réservé du pied de page 3">
            <a:extLst>
              <a:ext uri="{FF2B5EF4-FFF2-40B4-BE49-F238E27FC236}">
                <a16:creationId xmlns:a16="http://schemas.microsoft.com/office/drawing/2014/main" id="{828D84B3-D551-6DEB-649B-96CF5C3921AC}"/>
              </a:ext>
            </a:extLst>
          </p:cNvPr>
          <p:cNvSpPr>
            <a:spLocks noGrp="1"/>
          </p:cNvSpPr>
          <p:nvPr>
            <p:ph type="ftr" sz="quarter" idx="11"/>
          </p:nvPr>
        </p:nvSpPr>
        <p:spPr/>
        <p:txBody>
          <a:bodyPr/>
          <a:lstStyle/>
          <a:p>
            <a:r>
              <a:rPr lang="en-GB"/>
              <a:t>ESTP Training. Seasonal adjustment</a:t>
            </a:r>
          </a:p>
        </p:txBody>
      </p:sp>
      <p:graphicFrame>
        <p:nvGraphicFramePr>
          <p:cNvPr id="3" name="Graphique 2">
            <a:extLst>
              <a:ext uri="{FF2B5EF4-FFF2-40B4-BE49-F238E27FC236}">
                <a16:creationId xmlns:a16="http://schemas.microsoft.com/office/drawing/2014/main" id="{DCC2F791-636D-CA41-3FA5-7F6B51A1CBD0}"/>
              </a:ext>
            </a:extLst>
          </p:cNvPr>
          <p:cNvGraphicFramePr>
            <a:graphicFrameLocks/>
          </p:cNvGraphicFramePr>
          <p:nvPr/>
        </p:nvGraphicFramePr>
        <p:xfrm>
          <a:off x="1850570" y="1763486"/>
          <a:ext cx="8563429" cy="464457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393919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390F8-2908-78DB-0860-0D1488DB5BE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6E8A863-BEAA-E25E-2C1F-2963E2926FE0}"/>
              </a:ext>
            </a:extLst>
          </p:cNvPr>
          <p:cNvSpPr>
            <a:spLocks noGrp="1"/>
          </p:cNvSpPr>
          <p:nvPr>
            <p:ph type="title"/>
          </p:nvPr>
        </p:nvSpPr>
        <p:spPr/>
        <p:txBody>
          <a:bodyPr/>
          <a:lstStyle/>
          <a:p>
            <a:r>
              <a:rPr lang="fr-BE" dirty="0"/>
              <a:t>4. Some </a:t>
            </a:r>
            <a:r>
              <a:rPr lang="fr-BE" dirty="0" err="1"/>
              <a:t>examples</a:t>
            </a:r>
            <a:endParaRPr lang="en-GB" dirty="0"/>
          </a:p>
        </p:txBody>
      </p:sp>
      <p:sp>
        <p:nvSpPr>
          <p:cNvPr id="4" name="Espace réservé du pied de page 3">
            <a:extLst>
              <a:ext uri="{FF2B5EF4-FFF2-40B4-BE49-F238E27FC236}">
                <a16:creationId xmlns:a16="http://schemas.microsoft.com/office/drawing/2014/main" id="{C067265B-48B0-344B-F5BA-C96DAB7EB79F}"/>
              </a:ext>
            </a:extLst>
          </p:cNvPr>
          <p:cNvSpPr>
            <a:spLocks noGrp="1"/>
          </p:cNvSpPr>
          <p:nvPr>
            <p:ph type="ftr" sz="quarter" idx="11"/>
          </p:nvPr>
        </p:nvSpPr>
        <p:spPr/>
        <p:txBody>
          <a:bodyPr/>
          <a:lstStyle/>
          <a:p>
            <a:r>
              <a:rPr lang="en-GB"/>
              <a:t>ESTP Training. Seasonal adjustment</a:t>
            </a:r>
          </a:p>
        </p:txBody>
      </p:sp>
      <p:graphicFrame>
        <p:nvGraphicFramePr>
          <p:cNvPr id="3" name="Graphique 2">
            <a:extLst>
              <a:ext uri="{FF2B5EF4-FFF2-40B4-BE49-F238E27FC236}">
                <a16:creationId xmlns:a16="http://schemas.microsoft.com/office/drawing/2014/main" id="{21281F0F-2E5E-1888-D856-56454B70A0BB}"/>
              </a:ext>
            </a:extLst>
          </p:cNvPr>
          <p:cNvGraphicFramePr>
            <a:graphicFrameLocks/>
          </p:cNvGraphicFramePr>
          <p:nvPr/>
        </p:nvGraphicFramePr>
        <p:xfrm>
          <a:off x="1850570" y="1763486"/>
          <a:ext cx="8563429" cy="464457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6143876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816A13-D6CA-7371-3EA2-5F53E7818C39}"/>
              </a:ext>
            </a:extLst>
          </p:cNvPr>
          <p:cNvSpPr>
            <a:spLocks noGrp="1"/>
          </p:cNvSpPr>
          <p:nvPr>
            <p:ph type="title"/>
          </p:nvPr>
        </p:nvSpPr>
        <p:spPr/>
        <p:txBody>
          <a:bodyPr/>
          <a:lstStyle/>
          <a:p>
            <a:r>
              <a:rPr lang="fr-BE" dirty="0"/>
              <a:t>4. Some </a:t>
            </a:r>
            <a:r>
              <a:rPr lang="fr-BE" dirty="0" err="1"/>
              <a:t>examples</a:t>
            </a:r>
            <a:endParaRPr lang="en-GB" dirty="0"/>
          </a:p>
        </p:txBody>
      </p:sp>
      <p:sp>
        <p:nvSpPr>
          <p:cNvPr id="3" name="Espace réservé du contenu 2">
            <a:extLst>
              <a:ext uri="{FF2B5EF4-FFF2-40B4-BE49-F238E27FC236}">
                <a16:creationId xmlns:a16="http://schemas.microsoft.com/office/drawing/2014/main" id="{343EC9A5-808E-D190-BA73-5966C7D25348}"/>
              </a:ext>
            </a:extLst>
          </p:cNvPr>
          <p:cNvSpPr>
            <a:spLocks noGrp="1"/>
          </p:cNvSpPr>
          <p:nvPr>
            <p:ph idx="1"/>
          </p:nvPr>
        </p:nvSpPr>
        <p:spPr>
          <a:xfrm>
            <a:off x="838200" y="1811481"/>
            <a:ext cx="10515600" cy="3881904"/>
          </a:xfrm>
        </p:spPr>
        <p:txBody>
          <a:bodyPr/>
          <a:lstStyle/>
          <a:p>
            <a:r>
              <a:rPr lang="fr-BE" dirty="0"/>
              <a:t>US </a:t>
            </a:r>
            <a:r>
              <a:rPr lang="fr-BE" dirty="0" err="1"/>
              <a:t>Retail</a:t>
            </a:r>
            <a:r>
              <a:rPr lang="fr-BE" dirty="0"/>
              <a:t>: </a:t>
            </a:r>
            <a:r>
              <a:rPr lang="fr-BE" dirty="0" err="1"/>
              <a:t>RetailSalesTotal</a:t>
            </a:r>
            <a:r>
              <a:rPr lang="fr-BE" dirty="0"/>
              <a:t> (</a:t>
            </a:r>
            <a:r>
              <a:rPr lang="fr-BE" dirty="0" err="1"/>
              <a:t>monthly</a:t>
            </a:r>
            <a:r>
              <a:rPr lang="fr-BE" dirty="0"/>
              <a:t>)</a:t>
            </a:r>
            <a:endParaRPr lang="en-GB" dirty="0"/>
          </a:p>
        </p:txBody>
      </p:sp>
      <p:sp>
        <p:nvSpPr>
          <p:cNvPr id="4" name="Espace réservé du pied de page 3">
            <a:extLst>
              <a:ext uri="{FF2B5EF4-FFF2-40B4-BE49-F238E27FC236}">
                <a16:creationId xmlns:a16="http://schemas.microsoft.com/office/drawing/2014/main" id="{FA365CB2-9EBD-96C2-58D8-B8FA6AA53D43}"/>
              </a:ext>
            </a:extLst>
          </p:cNvPr>
          <p:cNvSpPr>
            <a:spLocks noGrp="1"/>
          </p:cNvSpPr>
          <p:nvPr>
            <p:ph type="ftr" sz="quarter" idx="11"/>
          </p:nvPr>
        </p:nvSpPr>
        <p:spPr/>
        <p:txBody>
          <a:bodyPr/>
          <a:lstStyle/>
          <a:p>
            <a:r>
              <a:rPr lang="en-GB"/>
              <a:t>ESTP Training. Seasonal adjustment</a:t>
            </a:r>
          </a:p>
        </p:txBody>
      </p:sp>
      <p:graphicFrame>
        <p:nvGraphicFramePr>
          <p:cNvPr id="10" name="Tableau 9">
            <a:extLst>
              <a:ext uri="{FF2B5EF4-FFF2-40B4-BE49-F238E27FC236}">
                <a16:creationId xmlns:a16="http://schemas.microsoft.com/office/drawing/2014/main" id="{41277AAC-6D50-C566-1BFA-7E115915DF41}"/>
              </a:ext>
            </a:extLst>
          </p:cNvPr>
          <p:cNvGraphicFramePr>
            <a:graphicFrameLocks noGrp="1"/>
          </p:cNvGraphicFramePr>
          <p:nvPr>
            <p:extLst>
              <p:ext uri="{D42A27DB-BD31-4B8C-83A1-F6EECF244321}">
                <p14:modId xmlns:p14="http://schemas.microsoft.com/office/powerpoint/2010/main" val="3434930540"/>
              </p:ext>
            </p:extLst>
          </p:nvPr>
        </p:nvGraphicFramePr>
        <p:xfrm>
          <a:off x="2286000" y="2606512"/>
          <a:ext cx="7898809" cy="2920688"/>
        </p:xfrm>
        <a:graphic>
          <a:graphicData uri="http://schemas.openxmlformats.org/drawingml/2006/table">
            <a:tbl>
              <a:tblPr/>
              <a:tblGrid>
                <a:gridCol w="1868915">
                  <a:extLst>
                    <a:ext uri="{9D8B030D-6E8A-4147-A177-3AD203B41FA5}">
                      <a16:colId xmlns:a16="http://schemas.microsoft.com/office/drawing/2014/main" val="3441281343"/>
                    </a:ext>
                  </a:extLst>
                </a:gridCol>
                <a:gridCol w="1057876">
                  <a:extLst>
                    <a:ext uri="{9D8B030D-6E8A-4147-A177-3AD203B41FA5}">
                      <a16:colId xmlns:a16="http://schemas.microsoft.com/office/drawing/2014/main" val="1090385402"/>
                    </a:ext>
                  </a:extLst>
                </a:gridCol>
                <a:gridCol w="1057876">
                  <a:extLst>
                    <a:ext uri="{9D8B030D-6E8A-4147-A177-3AD203B41FA5}">
                      <a16:colId xmlns:a16="http://schemas.microsoft.com/office/drawing/2014/main" val="1366392691"/>
                    </a:ext>
                  </a:extLst>
                </a:gridCol>
                <a:gridCol w="1057876">
                  <a:extLst>
                    <a:ext uri="{9D8B030D-6E8A-4147-A177-3AD203B41FA5}">
                      <a16:colId xmlns:a16="http://schemas.microsoft.com/office/drawing/2014/main" val="145137814"/>
                    </a:ext>
                  </a:extLst>
                </a:gridCol>
                <a:gridCol w="1287083">
                  <a:extLst>
                    <a:ext uri="{9D8B030D-6E8A-4147-A177-3AD203B41FA5}">
                      <a16:colId xmlns:a16="http://schemas.microsoft.com/office/drawing/2014/main" val="2413323994"/>
                    </a:ext>
                  </a:extLst>
                </a:gridCol>
                <a:gridCol w="1569183">
                  <a:extLst>
                    <a:ext uri="{9D8B030D-6E8A-4147-A177-3AD203B41FA5}">
                      <a16:colId xmlns:a16="http://schemas.microsoft.com/office/drawing/2014/main" val="1019854512"/>
                    </a:ext>
                  </a:extLst>
                </a:gridCol>
              </a:tblGrid>
              <a:tr h="18605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dirty="0">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62718680"/>
                  </a:ext>
                </a:extLst>
              </a:tr>
              <a:tr h="220359">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837056"/>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178371300"/>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Camplet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921888780"/>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785289272"/>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828761068"/>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180848318"/>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0.31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841569474"/>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Tramo-Seats (RSAfull)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369448714"/>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0.15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38580449"/>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rgbClr val="000000"/>
                          </a:solidFill>
                          <a:effectLst/>
                          <a:latin typeface="Aptos Narrow" panose="020B0004020202020204" pitchFamily="34" charset="0"/>
                        </a:rPr>
                        <a:t>0.84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841382784"/>
                  </a:ext>
                </a:extLst>
              </a:tr>
              <a:tr h="186055">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94631627"/>
                  </a:ext>
                </a:extLst>
              </a:tr>
            </a:tbl>
          </a:graphicData>
        </a:graphic>
      </p:graphicFrame>
    </p:spTree>
    <p:extLst>
      <p:ext uri="{BB962C8B-B14F-4D97-AF65-F5344CB8AC3E}">
        <p14:creationId xmlns:p14="http://schemas.microsoft.com/office/powerpoint/2010/main" val="26625770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85E2-6E68-9C90-0F8C-468436BEA6D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C5DC94B-DE36-37DE-E1EF-03F50C18CFEC}"/>
              </a:ext>
            </a:extLst>
          </p:cNvPr>
          <p:cNvSpPr>
            <a:spLocks noGrp="1"/>
          </p:cNvSpPr>
          <p:nvPr>
            <p:ph type="title"/>
          </p:nvPr>
        </p:nvSpPr>
        <p:spPr/>
        <p:txBody>
          <a:bodyPr/>
          <a:lstStyle/>
          <a:p>
            <a:r>
              <a:rPr lang="fr-BE" dirty="0"/>
              <a:t>4. Some </a:t>
            </a:r>
            <a:r>
              <a:rPr lang="fr-BE" dirty="0" err="1"/>
              <a:t>examples</a:t>
            </a:r>
            <a:endParaRPr lang="en-GB" dirty="0"/>
          </a:p>
        </p:txBody>
      </p:sp>
      <p:sp>
        <p:nvSpPr>
          <p:cNvPr id="3" name="Espace réservé du contenu 2">
            <a:extLst>
              <a:ext uri="{FF2B5EF4-FFF2-40B4-BE49-F238E27FC236}">
                <a16:creationId xmlns:a16="http://schemas.microsoft.com/office/drawing/2014/main" id="{7106052B-FD0F-2CCE-E612-46AF87925814}"/>
              </a:ext>
            </a:extLst>
          </p:cNvPr>
          <p:cNvSpPr>
            <a:spLocks noGrp="1"/>
          </p:cNvSpPr>
          <p:nvPr>
            <p:ph idx="1"/>
          </p:nvPr>
        </p:nvSpPr>
        <p:spPr>
          <a:xfrm>
            <a:off x="838200" y="1811481"/>
            <a:ext cx="10515600" cy="3881904"/>
          </a:xfrm>
        </p:spPr>
        <p:txBody>
          <a:bodyPr/>
          <a:lstStyle/>
          <a:p>
            <a:r>
              <a:rPr lang="fr-BE" dirty="0"/>
              <a:t>US </a:t>
            </a:r>
            <a:r>
              <a:rPr lang="fr-BE" dirty="0" err="1"/>
              <a:t>Retail</a:t>
            </a:r>
            <a:r>
              <a:rPr lang="fr-BE" dirty="0"/>
              <a:t>: </a:t>
            </a:r>
            <a:r>
              <a:rPr lang="fr-BE" dirty="0" err="1"/>
              <a:t>RetailSalesTotal</a:t>
            </a:r>
            <a:r>
              <a:rPr lang="fr-BE" dirty="0"/>
              <a:t> (</a:t>
            </a:r>
            <a:r>
              <a:rPr lang="fr-BE" dirty="0" err="1"/>
              <a:t>quarterly</a:t>
            </a:r>
            <a:r>
              <a:rPr lang="fr-BE" dirty="0"/>
              <a:t>)</a:t>
            </a:r>
            <a:endParaRPr lang="en-GB" dirty="0"/>
          </a:p>
        </p:txBody>
      </p:sp>
      <p:sp>
        <p:nvSpPr>
          <p:cNvPr id="4" name="Espace réservé du pied de page 3">
            <a:extLst>
              <a:ext uri="{FF2B5EF4-FFF2-40B4-BE49-F238E27FC236}">
                <a16:creationId xmlns:a16="http://schemas.microsoft.com/office/drawing/2014/main" id="{3AC07041-EBE3-9136-4650-ACEBE03B464A}"/>
              </a:ext>
            </a:extLst>
          </p:cNvPr>
          <p:cNvSpPr>
            <a:spLocks noGrp="1"/>
          </p:cNvSpPr>
          <p:nvPr>
            <p:ph type="ftr" sz="quarter" idx="11"/>
          </p:nvPr>
        </p:nvSpPr>
        <p:spPr/>
        <p:txBody>
          <a:bodyPr/>
          <a:lstStyle/>
          <a:p>
            <a:r>
              <a:rPr lang="en-GB"/>
              <a:t>ESTP Training. Seasonal adjustment</a:t>
            </a:r>
          </a:p>
        </p:txBody>
      </p:sp>
      <p:graphicFrame>
        <p:nvGraphicFramePr>
          <p:cNvPr id="6" name="Tableau 5">
            <a:extLst>
              <a:ext uri="{FF2B5EF4-FFF2-40B4-BE49-F238E27FC236}">
                <a16:creationId xmlns:a16="http://schemas.microsoft.com/office/drawing/2014/main" id="{C354AB5A-DE0B-075A-BE30-60F3254F9110}"/>
              </a:ext>
            </a:extLst>
          </p:cNvPr>
          <p:cNvGraphicFramePr>
            <a:graphicFrameLocks noGrp="1"/>
          </p:cNvGraphicFramePr>
          <p:nvPr>
            <p:extLst>
              <p:ext uri="{D42A27DB-BD31-4B8C-83A1-F6EECF244321}">
                <p14:modId xmlns:p14="http://schemas.microsoft.com/office/powerpoint/2010/main" val="2659762793"/>
              </p:ext>
            </p:extLst>
          </p:nvPr>
        </p:nvGraphicFramePr>
        <p:xfrm>
          <a:off x="2360428" y="2528857"/>
          <a:ext cx="7803116" cy="2920688"/>
        </p:xfrm>
        <a:graphic>
          <a:graphicData uri="http://schemas.openxmlformats.org/drawingml/2006/table">
            <a:tbl>
              <a:tblPr/>
              <a:tblGrid>
                <a:gridCol w="1846273">
                  <a:extLst>
                    <a:ext uri="{9D8B030D-6E8A-4147-A177-3AD203B41FA5}">
                      <a16:colId xmlns:a16="http://schemas.microsoft.com/office/drawing/2014/main" val="1051086713"/>
                    </a:ext>
                  </a:extLst>
                </a:gridCol>
                <a:gridCol w="1045060">
                  <a:extLst>
                    <a:ext uri="{9D8B030D-6E8A-4147-A177-3AD203B41FA5}">
                      <a16:colId xmlns:a16="http://schemas.microsoft.com/office/drawing/2014/main" val="4135492987"/>
                    </a:ext>
                  </a:extLst>
                </a:gridCol>
                <a:gridCol w="1045060">
                  <a:extLst>
                    <a:ext uri="{9D8B030D-6E8A-4147-A177-3AD203B41FA5}">
                      <a16:colId xmlns:a16="http://schemas.microsoft.com/office/drawing/2014/main" val="1893690548"/>
                    </a:ext>
                  </a:extLst>
                </a:gridCol>
                <a:gridCol w="1045060">
                  <a:extLst>
                    <a:ext uri="{9D8B030D-6E8A-4147-A177-3AD203B41FA5}">
                      <a16:colId xmlns:a16="http://schemas.microsoft.com/office/drawing/2014/main" val="2745719390"/>
                    </a:ext>
                  </a:extLst>
                </a:gridCol>
                <a:gridCol w="1271490">
                  <a:extLst>
                    <a:ext uri="{9D8B030D-6E8A-4147-A177-3AD203B41FA5}">
                      <a16:colId xmlns:a16="http://schemas.microsoft.com/office/drawing/2014/main" val="2850787356"/>
                    </a:ext>
                  </a:extLst>
                </a:gridCol>
                <a:gridCol w="1550173">
                  <a:extLst>
                    <a:ext uri="{9D8B030D-6E8A-4147-A177-3AD203B41FA5}">
                      <a16:colId xmlns:a16="http://schemas.microsoft.com/office/drawing/2014/main" val="1094779130"/>
                    </a:ext>
                  </a:extLst>
                </a:gridCol>
              </a:tblGrid>
              <a:tr h="18605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0538614"/>
                  </a:ext>
                </a:extLst>
              </a:tr>
              <a:tr h="18605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dirty="0">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79630730"/>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161515285"/>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Camplet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716418332"/>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51797532"/>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796196834"/>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001009888"/>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679628122"/>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Tramo-Seats (RSAfull)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0.33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357235474"/>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0.14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055103893"/>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rgbClr val="000000"/>
                          </a:solidFill>
                          <a:effectLst/>
                          <a:latin typeface="Aptos Narrow" panose="020B0004020202020204" pitchFamily="34" charset="0"/>
                        </a:rPr>
                        <a:t>0.70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403099472"/>
                  </a:ext>
                </a:extLst>
              </a:tr>
              <a:tr h="186055">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96968948"/>
                  </a:ext>
                </a:extLst>
              </a:tr>
            </a:tbl>
          </a:graphicData>
        </a:graphic>
      </p:graphicFrame>
    </p:spTree>
    <p:extLst>
      <p:ext uri="{BB962C8B-B14F-4D97-AF65-F5344CB8AC3E}">
        <p14:creationId xmlns:p14="http://schemas.microsoft.com/office/powerpoint/2010/main" val="787435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A4C44-3796-51A2-A049-AF89B791E5E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398B5A4-F79C-1435-5BE8-927D1EEEA4EE}"/>
              </a:ext>
            </a:extLst>
          </p:cNvPr>
          <p:cNvSpPr>
            <a:spLocks noGrp="1"/>
          </p:cNvSpPr>
          <p:nvPr>
            <p:ph type="title"/>
          </p:nvPr>
        </p:nvSpPr>
        <p:spPr/>
        <p:txBody>
          <a:bodyPr/>
          <a:lstStyle/>
          <a:p>
            <a:r>
              <a:rPr lang="fr-BE" dirty="0"/>
              <a:t>4. Some </a:t>
            </a:r>
            <a:r>
              <a:rPr lang="fr-BE" dirty="0" err="1"/>
              <a:t>examples</a:t>
            </a:r>
            <a:endParaRPr lang="en-GB" dirty="0"/>
          </a:p>
        </p:txBody>
      </p:sp>
      <p:sp>
        <p:nvSpPr>
          <p:cNvPr id="3" name="Espace réservé du contenu 2">
            <a:extLst>
              <a:ext uri="{FF2B5EF4-FFF2-40B4-BE49-F238E27FC236}">
                <a16:creationId xmlns:a16="http://schemas.microsoft.com/office/drawing/2014/main" id="{744B79F1-3C58-F582-E2A6-043548187B01}"/>
              </a:ext>
            </a:extLst>
          </p:cNvPr>
          <p:cNvSpPr>
            <a:spLocks noGrp="1"/>
          </p:cNvSpPr>
          <p:nvPr>
            <p:ph idx="1"/>
          </p:nvPr>
        </p:nvSpPr>
        <p:spPr>
          <a:xfrm>
            <a:off x="838200" y="1811481"/>
            <a:ext cx="10515600" cy="3881904"/>
          </a:xfrm>
        </p:spPr>
        <p:txBody>
          <a:bodyPr/>
          <a:lstStyle/>
          <a:p>
            <a:r>
              <a:rPr lang="fr-BE" dirty="0"/>
              <a:t>ABS </a:t>
            </a:r>
            <a:r>
              <a:rPr lang="fr-BE" dirty="0" err="1"/>
              <a:t>Retail</a:t>
            </a:r>
            <a:r>
              <a:rPr lang="fr-BE" dirty="0"/>
              <a:t>: X0.2.09.10.M</a:t>
            </a:r>
            <a:endParaRPr lang="en-GB" dirty="0"/>
          </a:p>
        </p:txBody>
      </p:sp>
      <p:sp>
        <p:nvSpPr>
          <p:cNvPr id="4" name="Espace réservé du pied de page 3">
            <a:extLst>
              <a:ext uri="{FF2B5EF4-FFF2-40B4-BE49-F238E27FC236}">
                <a16:creationId xmlns:a16="http://schemas.microsoft.com/office/drawing/2014/main" id="{9DFDCC4A-51B2-4AED-4EA2-7DA1639C2D57}"/>
              </a:ext>
            </a:extLst>
          </p:cNvPr>
          <p:cNvSpPr>
            <a:spLocks noGrp="1"/>
          </p:cNvSpPr>
          <p:nvPr>
            <p:ph type="ftr" sz="quarter" idx="11"/>
          </p:nvPr>
        </p:nvSpPr>
        <p:spPr/>
        <p:txBody>
          <a:bodyPr/>
          <a:lstStyle/>
          <a:p>
            <a:r>
              <a:rPr lang="en-GB"/>
              <a:t>ESTP Training. Seasonal adjustment</a:t>
            </a:r>
          </a:p>
        </p:txBody>
      </p:sp>
      <p:graphicFrame>
        <p:nvGraphicFramePr>
          <p:cNvPr id="5" name="Tableau 4">
            <a:extLst>
              <a:ext uri="{FF2B5EF4-FFF2-40B4-BE49-F238E27FC236}">
                <a16:creationId xmlns:a16="http://schemas.microsoft.com/office/drawing/2014/main" id="{8207EA4B-7468-ABBB-0056-87601DF538D2}"/>
              </a:ext>
            </a:extLst>
          </p:cNvPr>
          <p:cNvGraphicFramePr>
            <a:graphicFrameLocks noGrp="1"/>
          </p:cNvGraphicFramePr>
          <p:nvPr>
            <p:extLst>
              <p:ext uri="{D42A27DB-BD31-4B8C-83A1-F6EECF244321}">
                <p14:modId xmlns:p14="http://schemas.microsoft.com/office/powerpoint/2010/main" val="3848230300"/>
              </p:ext>
            </p:extLst>
          </p:nvPr>
        </p:nvGraphicFramePr>
        <p:xfrm>
          <a:off x="2200940" y="2338553"/>
          <a:ext cx="7963782" cy="3227076"/>
        </p:xfrm>
        <a:graphic>
          <a:graphicData uri="http://schemas.openxmlformats.org/drawingml/2006/table">
            <a:tbl>
              <a:tblPr/>
              <a:tblGrid>
                <a:gridCol w="1796902">
                  <a:extLst>
                    <a:ext uri="{9D8B030D-6E8A-4147-A177-3AD203B41FA5}">
                      <a16:colId xmlns:a16="http://schemas.microsoft.com/office/drawing/2014/main" val="4291614966"/>
                    </a:ext>
                  </a:extLst>
                </a:gridCol>
                <a:gridCol w="1084521">
                  <a:extLst>
                    <a:ext uri="{9D8B030D-6E8A-4147-A177-3AD203B41FA5}">
                      <a16:colId xmlns:a16="http://schemas.microsoft.com/office/drawing/2014/main" val="2174481090"/>
                    </a:ext>
                  </a:extLst>
                </a:gridCol>
                <a:gridCol w="1100468">
                  <a:extLst>
                    <a:ext uri="{9D8B030D-6E8A-4147-A177-3AD203B41FA5}">
                      <a16:colId xmlns:a16="http://schemas.microsoft.com/office/drawing/2014/main" val="2769245085"/>
                    </a:ext>
                  </a:extLst>
                </a:gridCol>
                <a:gridCol w="1327297">
                  <a:extLst>
                    <a:ext uri="{9D8B030D-6E8A-4147-A177-3AD203B41FA5}">
                      <a16:colId xmlns:a16="http://schemas.microsoft.com/office/drawing/2014/main" val="1243972604"/>
                    </a:ext>
                  </a:extLst>
                </a:gridCol>
                <a:gridCol w="1327297">
                  <a:extLst>
                    <a:ext uri="{9D8B030D-6E8A-4147-A177-3AD203B41FA5}">
                      <a16:colId xmlns:a16="http://schemas.microsoft.com/office/drawing/2014/main" val="397629333"/>
                    </a:ext>
                  </a:extLst>
                </a:gridCol>
                <a:gridCol w="1327297">
                  <a:extLst>
                    <a:ext uri="{9D8B030D-6E8A-4147-A177-3AD203B41FA5}">
                      <a16:colId xmlns:a16="http://schemas.microsoft.com/office/drawing/2014/main" val="2045694333"/>
                    </a:ext>
                  </a:extLst>
                </a:gridCol>
              </a:tblGrid>
              <a:tr h="186055">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dirty="0">
                          <a:solidFill>
                            <a:srgbClr val="000000"/>
                          </a:solidFill>
                          <a:effectLst/>
                          <a:latin typeface="Aptos Narrow" panose="020B0004020202020204" pitchFamily="34" charset="0"/>
                        </a:rPr>
                        <a:t>Seasonality tests</a:t>
                      </a:r>
                    </a:p>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32975498"/>
                  </a:ext>
                </a:extLst>
              </a:tr>
              <a:tr h="18605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12863120"/>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613785375"/>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Camplet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E97132"/>
                          </a:solidFill>
                          <a:effectLst/>
                          <a:latin typeface="Aptos Narrow" panose="020B0004020202020204" pitchFamily="34" charset="0"/>
                        </a:rPr>
                        <a:t>0.14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671780104"/>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E97132"/>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109184"/>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65089139"/>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0.51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677940080"/>
                  </a:ext>
                </a:extLst>
              </a:tr>
              <a:tr h="180975">
                <a:tc>
                  <a:txBody>
                    <a:bodyPr/>
                    <a:lstStyle/>
                    <a:p>
                      <a:pPr algn="l" fontAlgn="b">
                        <a:buNone/>
                      </a:pPr>
                      <a:r>
                        <a:rPr lang="en-GB" sz="1600" b="0" i="0" u="none" strike="noStrike" dirty="0">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85891385"/>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Tramo-Seats (RSAfull)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776818978"/>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710875636"/>
                  </a:ext>
                </a:extLst>
              </a:tr>
              <a:tr h="180975">
                <a:tc>
                  <a:txBody>
                    <a:bodyPr/>
                    <a:lstStyle/>
                    <a:p>
                      <a:pPr algn="l" fontAlgn="b">
                        <a:buNone/>
                      </a:pPr>
                      <a:r>
                        <a:rPr lang="en-GB" sz="1600" b="0" i="0" u="none" strike="noStrike">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649581185"/>
                  </a:ext>
                </a:extLst>
              </a:tr>
              <a:tr h="186055">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2608473"/>
                  </a:ext>
                </a:extLst>
              </a:tr>
            </a:tbl>
          </a:graphicData>
        </a:graphic>
      </p:graphicFrame>
    </p:spTree>
    <p:extLst>
      <p:ext uri="{BB962C8B-B14F-4D97-AF65-F5344CB8AC3E}">
        <p14:creationId xmlns:p14="http://schemas.microsoft.com/office/powerpoint/2010/main" val="875354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19D74-80F8-4B32-8575-1B2DD139F2C2}"/>
              </a:ext>
            </a:extLst>
          </p:cNvPr>
          <p:cNvSpPr>
            <a:spLocks noGrp="1"/>
          </p:cNvSpPr>
          <p:nvPr>
            <p:ph type="title"/>
          </p:nvPr>
        </p:nvSpPr>
        <p:spPr/>
        <p:txBody>
          <a:bodyPr/>
          <a:lstStyle/>
          <a:p>
            <a:r>
              <a:rPr lang="en-GB" dirty="0"/>
              <a:t>5. Final remarks</a:t>
            </a:r>
          </a:p>
        </p:txBody>
      </p:sp>
      <p:sp>
        <p:nvSpPr>
          <p:cNvPr id="3" name="Content Placeholder 2">
            <a:extLst>
              <a:ext uri="{FF2B5EF4-FFF2-40B4-BE49-F238E27FC236}">
                <a16:creationId xmlns:a16="http://schemas.microsoft.com/office/drawing/2014/main" id="{035D4CE9-0A1D-4AF7-ABF4-C9361D2E5AFD}"/>
              </a:ext>
            </a:extLst>
          </p:cNvPr>
          <p:cNvSpPr>
            <a:spLocks noGrp="1"/>
          </p:cNvSpPr>
          <p:nvPr>
            <p:ph idx="1"/>
          </p:nvPr>
        </p:nvSpPr>
        <p:spPr/>
        <p:txBody>
          <a:bodyPr/>
          <a:lstStyle/>
          <a:p>
            <a:r>
              <a:rPr lang="en-GB" dirty="0"/>
              <a:t>Need to understand the principles of the main algorithms (not all the technical details)</a:t>
            </a:r>
          </a:p>
          <a:p>
            <a:pPr lvl="1"/>
            <a:r>
              <a:rPr lang="en-GB" dirty="0"/>
              <a:t>Software automates many details</a:t>
            </a:r>
          </a:p>
          <a:p>
            <a:r>
              <a:rPr lang="en-GB" dirty="0"/>
              <a:t>Need for good quality reports</a:t>
            </a:r>
          </a:p>
          <a:p>
            <a:pPr lvl="1"/>
            <a:r>
              <a:rPr lang="en-GB" dirty="0"/>
              <a:t>Recall: </a:t>
            </a:r>
            <a:r>
              <a:rPr lang="en-GB" i="1" dirty="0"/>
              <a:t>“</a:t>
            </a:r>
            <a:r>
              <a:rPr lang="en-US" sz="2400" i="1" dirty="0"/>
              <a:t>seasonally adjusted series should have neither residual seasonality nor residual calendar effects”</a:t>
            </a:r>
            <a:endParaRPr lang="en-GB" i="1" dirty="0"/>
          </a:p>
          <a:p>
            <a:r>
              <a:rPr lang="en-GB" dirty="0"/>
              <a:t>Need to “industrialize” the seasonal adjustment processing</a:t>
            </a:r>
          </a:p>
          <a:p>
            <a:pPr lvl="1"/>
            <a:r>
              <a:rPr lang="en-GB" dirty="0"/>
              <a:t>Additional request: </a:t>
            </a:r>
            <a:r>
              <a:rPr lang="en-GB" i="1" dirty="0"/>
              <a:t>“Seasonal adjustment procedures should generate consistent and robust results”</a:t>
            </a:r>
          </a:p>
          <a:p>
            <a:endParaRPr lang="en-GB" dirty="0"/>
          </a:p>
          <a:p>
            <a:endParaRPr lang="en-GB" dirty="0"/>
          </a:p>
        </p:txBody>
      </p:sp>
      <p:sp>
        <p:nvSpPr>
          <p:cNvPr id="5" name="Footer Placeholder 4">
            <a:extLst>
              <a:ext uri="{FF2B5EF4-FFF2-40B4-BE49-F238E27FC236}">
                <a16:creationId xmlns:a16="http://schemas.microsoft.com/office/drawing/2014/main" id="{47C33019-719F-45C7-910A-FF3E5A3AC703}"/>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430259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Props1.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2.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ESTAT PPT Template</Template>
  <TotalTime>141</TotalTime>
  <Words>1075</Words>
  <Application>Microsoft Office PowerPoint</Application>
  <PresentationFormat>Grand écran</PresentationFormat>
  <Paragraphs>352</Paragraphs>
  <Slides>16</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16</vt:i4>
      </vt:variant>
    </vt:vector>
  </HeadingPairs>
  <TitlesOfParts>
    <vt:vector size="22" baseType="lpstr">
      <vt:lpstr>Aptos Narrow</vt:lpstr>
      <vt:lpstr>Arial</vt:lpstr>
      <vt:lpstr>Calibri</vt:lpstr>
      <vt:lpstr>Cambria Math</vt:lpstr>
      <vt:lpstr>Myriad Pro Light SemiCond</vt:lpstr>
      <vt:lpstr>ESTAT Theme</vt:lpstr>
      <vt:lpstr>Seasonal adjustment</vt:lpstr>
      <vt:lpstr>0. Outline</vt:lpstr>
      <vt:lpstr>1. ESS Guidelines (2024)</vt:lpstr>
      <vt:lpstr>Présentation PowerPoint</vt:lpstr>
      <vt:lpstr>2. Rapid overview of common SA methods</vt:lpstr>
      <vt:lpstr>2. Rapid overview of common SA methods</vt:lpstr>
      <vt:lpstr>3. Series decomposition</vt:lpstr>
      <vt:lpstr>3. Series decomposition</vt:lpstr>
      <vt:lpstr>4. Some examples</vt:lpstr>
      <vt:lpstr>4. Some examples</vt:lpstr>
      <vt:lpstr>4. Some examples</vt:lpstr>
      <vt:lpstr>4. Some examples</vt:lpstr>
      <vt:lpstr>4. Some examples</vt:lpstr>
      <vt:lpstr>4. Some examples</vt:lpstr>
      <vt:lpstr>5. 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73</cp:revision>
  <dcterms:created xsi:type="dcterms:W3CDTF">2024-11-22T11:11:00Z</dcterms:created>
  <dcterms:modified xsi:type="dcterms:W3CDTF">2026-09-16T21:22:54Z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