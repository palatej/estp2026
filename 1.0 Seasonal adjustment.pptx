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4"/>
  </p:sldMasterIdLst>
  <p:notesMasterIdLst>
    <p:notesMasterId r:id="rId23"/>
  </p:notesMasterIdLst>
  <p:handoutMasterIdLst>
    <p:handoutMasterId r:id="rId24"/>
  </p:handoutMasterIdLst>
  <p:sldIdLst>
    <p:sldId id="256" r:id="rId5"/>
    <p:sldId id="283" r:id="rId6"/>
    <p:sldId id="284" r:id="rId7"/>
    <p:sldId id="288" r:id="rId8"/>
    <p:sldId id="289" r:id="rId9"/>
    <p:sldId id="285" r:id="rId10"/>
    <p:sldId id="303" r:id="rId11"/>
    <p:sldId id="304" r:id="rId12"/>
    <p:sldId id="292" r:id="rId13"/>
    <p:sldId id="293" r:id="rId14"/>
    <p:sldId id="299" r:id="rId15"/>
    <p:sldId id="305" r:id="rId16"/>
    <p:sldId id="294" r:id="rId17"/>
    <p:sldId id="296" r:id="rId18"/>
    <p:sldId id="301" r:id="rId19"/>
    <p:sldId id="302" r:id="rId20"/>
    <p:sldId id="286" r:id="rId21"/>
    <p:sldId id="261" r:id="rId22"/>
  </p:sldIdLst>
  <p:sldSz cx="12192000" cy="6858000"/>
  <p:notesSz cx="6858000" cy="9144000"/>
  <p:custDataLst>
    <p:tags r:id="rId25"/>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092">
          <p15:clr>
            <a:srgbClr val="A4A3A4"/>
          </p15:clr>
        </p15:guide>
        <p15:guide id="2" pos="3840">
          <p15:clr>
            <a:srgbClr val="A4A3A4"/>
          </p15:clr>
        </p15:guide>
      </p15:sldGuideLst>
    </p:ext>
    <p:ext uri="{2D200454-40CA-4A62-9FC3-DE9A4176ACB9}">
      <p15:notes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59" roundtripDataSignature="AMtx7mh3YP3xexYcFoahXa2ehi0H5V4Z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44A7"/>
    <a:srgbClr val="101010"/>
    <a:srgbClr val="F4F4F4"/>
    <a:srgbClr val="104F99"/>
    <a:srgbClr val="0E47CB"/>
    <a:srgbClr val="003180"/>
    <a:srgbClr val="0A2744"/>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AA4A9A-08D4-41EC-A222-5D5926BFFED6}" v="2" dt="2025-07-04T13:46:36.3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Style clair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45" autoAdjust="0"/>
    <p:restoredTop sz="81100" autoAdjust="0"/>
  </p:normalViewPr>
  <p:slideViewPr>
    <p:cSldViewPr snapToGrid="0">
      <p:cViewPr varScale="1">
        <p:scale>
          <a:sx n="90" d="100"/>
          <a:sy n="90" d="100"/>
        </p:scale>
        <p:origin x="1122" y="78"/>
      </p:cViewPr>
      <p:guideLst>
        <p:guide orient="horz" pos="2092"/>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5" d="100"/>
          <a:sy n="75" d="100"/>
        </p:scale>
        <p:origin x="2938"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63"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59"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61"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64"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noProof="0" dirty="0"/>
              <a:t>US-Retail : Automobile dealers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all!$B$1</c:f>
              <c:strCache>
                <c:ptCount val="1"/>
                <c:pt idx="0">
                  <c:v>s</c:v>
                </c:pt>
              </c:strCache>
            </c:strRef>
          </c:tx>
          <c:spPr>
            <a:ln w="19050" cap="rnd">
              <a:solidFill>
                <a:schemeClr val="accent1"/>
              </a:solidFill>
              <a:prstDash val="dash"/>
              <a:round/>
            </a:ln>
            <a:effectLst/>
          </c:spPr>
          <c:marker>
            <c:symbol val="none"/>
          </c:marker>
          <c:cat>
            <c:numRef>
              <c:f>all!$A$158:$A$229</c:f>
              <c:numCache>
                <c:formatCode>mmm\-yy</c:formatCode>
                <c:ptCount val="72"/>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numCache>
            </c:numRef>
          </c:cat>
          <c:val>
            <c:numRef>
              <c:f>all!$B$158:$B$229</c:f>
              <c:numCache>
                <c:formatCode>General</c:formatCode>
                <c:ptCount val="72"/>
                <c:pt idx="0">
                  <c:v>53605</c:v>
                </c:pt>
                <c:pt idx="1">
                  <c:v>57514</c:v>
                </c:pt>
                <c:pt idx="2">
                  <c:v>68146</c:v>
                </c:pt>
                <c:pt idx="3">
                  <c:v>64670</c:v>
                </c:pt>
                <c:pt idx="4">
                  <c:v>65526</c:v>
                </c:pt>
                <c:pt idx="5">
                  <c:v>71701</c:v>
                </c:pt>
                <c:pt idx="6">
                  <c:v>75408</c:v>
                </c:pt>
                <c:pt idx="7">
                  <c:v>69027</c:v>
                </c:pt>
                <c:pt idx="8">
                  <c:v>58912</c:v>
                </c:pt>
                <c:pt idx="9">
                  <c:v>53641</c:v>
                </c:pt>
                <c:pt idx="10">
                  <c:v>55136</c:v>
                </c:pt>
                <c:pt idx="11">
                  <c:v>60918</c:v>
                </c:pt>
                <c:pt idx="12">
                  <c:v>56524</c:v>
                </c:pt>
                <c:pt idx="13">
                  <c:v>57647</c:v>
                </c:pt>
                <c:pt idx="14">
                  <c:v>70031</c:v>
                </c:pt>
                <c:pt idx="15">
                  <c:v>63423</c:v>
                </c:pt>
                <c:pt idx="16">
                  <c:v>67753</c:v>
                </c:pt>
                <c:pt idx="17">
                  <c:v>67090</c:v>
                </c:pt>
                <c:pt idx="18">
                  <c:v>68417</c:v>
                </c:pt>
                <c:pt idx="19">
                  <c:v>70621</c:v>
                </c:pt>
                <c:pt idx="20">
                  <c:v>62079</c:v>
                </c:pt>
                <c:pt idx="21">
                  <c:v>59702</c:v>
                </c:pt>
                <c:pt idx="22">
                  <c:v>57426</c:v>
                </c:pt>
                <c:pt idx="23">
                  <c:v>61160</c:v>
                </c:pt>
                <c:pt idx="24">
                  <c:v>57107</c:v>
                </c:pt>
                <c:pt idx="25">
                  <c:v>59878</c:v>
                </c:pt>
                <c:pt idx="26">
                  <c:v>70858</c:v>
                </c:pt>
                <c:pt idx="27">
                  <c:v>64477</c:v>
                </c:pt>
                <c:pt idx="28">
                  <c:v>70582</c:v>
                </c:pt>
                <c:pt idx="29">
                  <c:v>66050</c:v>
                </c:pt>
                <c:pt idx="30">
                  <c:v>66271</c:v>
                </c:pt>
                <c:pt idx="31">
                  <c:v>71423</c:v>
                </c:pt>
                <c:pt idx="32">
                  <c:v>62471</c:v>
                </c:pt>
                <c:pt idx="33">
                  <c:v>62908</c:v>
                </c:pt>
                <c:pt idx="34">
                  <c:v>57284</c:v>
                </c:pt>
                <c:pt idx="35">
                  <c:v>59151</c:v>
                </c:pt>
                <c:pt idx="36">
                  <c:v>56364</c:v>
                </c:pt>
                <c:pt idx="37">
                  <c:v>58749</c:v>
                </c:pt>
                <c:pt idx="38">
                  <c:v>64468</c:v>
                </c:pt>
                <c:pt idx="39">
                  <c:v>60920</c:v>
                </c:pt>
                <c:pt idx="40">
                  <c:v>62226</c:v>
                </c:pt>
                <c:pt idx="41">
                  <c:v>56338</c:v>
                </c:pt>
                <c:pt idx="42">
                  <c:v>56743</c:v>
                </c:pt>
                <c:pt idx="43">
                  <c:v>57930</c:v>
                </c:pt>
                <c:pt idx="44">
                  <c:v>50292</c:v>
                </c:pt>
                <c:pt idx="45">
                  <c:v>45036</c:v>
                </c:pt>
                <c:pt idx="46">
                  <c:v>39328</c:v>
                </c:pt>
                <c:pt idx="47">
                  <c:v>43622</c:v>
                </c:pt>
                <c:pt idx="48">
                  <c:v>42021</c:v>
                </c:pt>
                <c:pt idx="49">
                  <c:v>41853</c:v>
                </c:pt>
                <c:pt idx="50">
                  <c:v>47070</c:v>
                </c:pt>
                <c:pt idx="51">
                  <c:v>45579</c:v>
                </c:pt>
                <c:pt idx="52">
                  <c:v>46809</c:v>
                </c:pt>
                <c:pt idx="53">
                  <c:v>48608</c:v>
                </c:pt>
                <c:pt idx="54">
                  <c:v>51521</c:v>
                </c:pt>
                <c:pt idx="55">
                  <c:v>56214</c:v>
                </c:pt>
                <c:pt idx="56">
                  <c:v>42644</c:v>
                </c:pt>
                <c:pt idx="57">
                  <c:v>45677</c:v>
                </c:pt>
                <c:pt idx="58">
                  <c:v>41738</c:v>
                </c:pt>
                <c:pt idx="59">
                  <c:v>47176</c:v>
                </c:pt>
                <c:pt idx="60">
                  <c:v>42286</c:v>
                </c:pt>
                <c:pt idx="61">
                  <c:v>43549</c:v>
                </c:pt>
                <c:pt idx="62">
                  <c:v>56516</c:v>
                </c:pt>
                <c:pt idx="63">
                  <c:v>52947</c:v>
                </c:pt>
                <c:pt idx="64">
                  <c:v>54093</c:v>
                </c:pt>
                <c:pt idx="65">
                  <c:v>52967</c:v>
                </c:pt>
                <c:pt idx="66">
                  <c:v>55759</c:v>
                </c:pt>
                <c:pt idx="67">
                  <c:v>55061</c:v>
                </c:pt>
                <c:pt idx="68">
                  <c:v>51564</c:v>
                </c:pt>
                <c:pt idx="69">
                  <c:v>51545</c:v>
                </c:pt>
                <c:pt idx="70">
                  <c:v>49571</c:v>
                </c:pt>
                <c:pt idx="71">
                  <c:v>55504</c:v>
                </c:pt>
              </c:numCache>
            </c:numRef>
          </c:val>
          <c:smooth val="0"/>
          <c:extLst>
            <c:ext xmlns:c16="http://schemas.microsoft.com/office/drawing/2014/chart" uri="{C3380CC4-5D6E-409C-BE32-E72D297353CC}">
              <c16:uniqueId val="{00000000-89D0-43D4-BE5B-618926BF1DA2}"/>
            </c:ext>
          </c:extLst>
        </c:ser>
        <c:ser>
          <c:idx val="1"/>
          <c:order val="1"/>
          <c:tx>
            <c:strRef>
              <c:f>all!$C$1</c:f>
              <c:strCache>
                <c:ptCount val="1"/>
                <c:pt idx="0">
                  <c:v>sa_prophet</c:v>
                </c:pt>
              </c:strCache>
            </c:strRef>
          </c:tx>
          <c:spPr>
            <a:ln w="19050" cap="rnd">
              <a:solidFill>
                <a:schemeClr val="accent2"/>
              </a:solidFill>
              <a:round/>
            </a:ln>
            <a:effectLst/>
          </c:spPr>
          <c:marker>
            <c:symbol val="none"/>
          </c:marker>
          <c:cat>
            <c:numRef>
              <c:f>all!$A$158:$A$229</c:f>
              <c:numCache>
                <c:formatCode>mmm\-yy</c:formatCode>
                <c:ptCount val="72"/>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numCache>
            </c:numRef>
          </c:cat>
          <c:val>
            <c:numRef>
              <c:f>all!$C$158:$C$229</c:f>
              <c:numCache>
                <c:formatCode>General</c:formatCode>
                <c:ptCount val="72"/>
                <c:pt idx="0">
                  <c:v>60175.778180390596</c:v>
                </c:pt>
                <c:pt idx="1">
                  <c:v>62178.658853752197</c:v>
                </c:pt>
                <c:pt idx="2">
                  <c:v>63155.276210591997</c:v>
                </c:pt>
                <c:pt idx="3">
                  <c:v>63186.3573028397</c:v>
                </c:pt>
                <c:pt idx="4">
                  <c:v>61151.202068906197</c:v>
                </c:pt>
                <c:pt idx="5">
                  <c:v>67177.552529041102</c:v>
                </c:pt>
                <c:pt idx="6">
                  <c:v>70696.607266602601</c:v>
                </c:pt>
                <c:pt idx="7">
                  <c:v>63948.232106867901</c:v>
                </c:pt>
                <c:pt idx="8">
                  <c:v>60095.1156371943</c:v>
                </c:pt>
                <c:pt idx="9">
                  <c:v>54694.7314085705</c:v>
                </c:pt>
                <c:pt idx="10">
                  <c:v>60999.473679124399</c:v>
                </c:pt>
                <c:pt idx="11">
                  <c:v>65310.392205873097</c:v>
                </c:pt>
                <c:pt idx="12">
                  <c:v>63566.488005699597</c:v>
                </c:pt>
                <c:pt idx="13">
                  <c:v>62273.225509171403</c:v>
                </c:pt>
                <c:pt idx="14">
                  <c:v>65081.891694612299</c:v>
                </c:pt>
                <c:pt idx="15">
                  <c:v>61790.1132752638</c:v>
                </c:pt>
                <c:pt idx="16">
                  <c:v>63433.532524036098</c:v>
                </c:pt>
                <c:pt idx="17">
                  <c:v>62660.820237078202</c:v>
                </c:pt>
                <c:pt idx="18">
                  <c:v>64348.749008162798</c:v>
                </c:pt>
                <c:pt idx="19">
                  <c:v>65199.3187615672</c:v>
                </c:pt>
                <c:pt idx="20">
                  <c:v>63479.287131060701</c:v>
                </c:pt>
                <c:pt idx="21">
                  <c:v>60695.850672404798</c:v>
                </c:pt>
                <c:pt idx="22">
                  <c:v>63673.902213583096</c:v>
                </c:pt>
                <c:pt idx="23">
                  <c:v>65425.833586378903</c:v>
                </c:pt>
                <c:pt idx="24">
                  <c:v>64337.078211366497</c:v>
                </c:pt>
                <c:pt idx="25">
                  <c:v>64630.998891130803</c:v>
                </c:pt>
                <c:pt idx="26">
                  <c:v>66033.845871606303</c:v>
                </c:pt>
                <c:pt idx="27">
                  <c:v>62635.915448384898</c:v>
                </c:pt>
                <c:pt idx="28">
                  <c:v>66295.545702208299</c:v>
                </c:pt>
                <c:pt idx="29">
                  <c:v>61496.485631370997</c:v>
                </c:pt>
                <c:pt idx="30">
                  <c:v>62530.380845510299</c:v>
                </c:pt>
                <c:pt idx="31">
                  <c:v>65713.268923541007</c:v>
                </c:pt>
                <c:pt idx="32">
                  <c:v>64034.278273499302</c:v>
                </c:pt>
                <c:pt idx="33">
                  <c:v>63768.168476654602</c:v>
                </c:pt>
                <c:pt idx="34">
                  <c:v>63656.4692506758</c:v>
                </c:pt>
                <c:pt idx="35">
                  <c:v>63138.524404878801</c:v>
                </c:pt>
                <c:pt idx="36">
                  <c:v>63613.258367445902</c:v>
                </c:pt>
                <c:pt idx="37">
                  <c:v>63360.061002014801</c:v>
                </c:pt>
                <c:pt idx="38">
                  <c:v>59582.795338968703</c:v>
                </c:pt>
                <c:pt idx="39">
                  <c:v>59692.867489476797</c:v>
                </c:pt>
                <c:pt idx="40">
                  <c:v>57885.002111471404</c:v>
                </c:pt>
                <c:pt idx="41">
                  <c:v>52949.280542792301</c:v>
                </c:pt>
                <c:pt idx="42">
                  <c:v>53026.86334009</c:v>
                </c:pt>
                <c:pt idx="43">
                  <c:v>53854.090236059201</c:v>
                </c:pt>
                <c:pt idx="44">
                  <c:v>51177.3758748486</c:v>
                </c:pt>
                <c:pt idx="45">
                  <c:v>46056.6814262841</c:v>
                </c:pt>
                <c:pt idx="46">
                  <c:v>43413.576842510302</c:v>
                </c:pt>
                <c:pt idx="47">
                  <c:v>46870.7478953338</c:v>
                </c:pt>
                <c:pt idx="48">
                  <c:v>47171.837980005199</c:v>
                </c:pt>
                <c:pt idx="49">
                  <c:v>45247.477292591197</c:v>
                </c:pt>
                <c:pt idx="50">
                  <c:v>43622.792991996401</c:v>
                </c:pt>
                <c:pt idx="51">
                  <c:v>44533.338170807401</c:v>
                </c:pt>
                <c:pt idx="52">
                  <c:v>43683.829588918197</c:v>
                </c:pt>
                <c:pt idx="53">
                  <c:v>45541.435591297399</c:v>
                </c:pt>
                <c:pt idx="54">
                  <c:v>48302.0356325947</c:v>
                </c:pt>
                <c:pt idx="55">
                  <c:v>52077.968326242502</c:v>
                </c:pt>
                <c:pt idx="56">
                  <c:v>43500.409275402701</c:v>
                </c:pt>
                <c:pt idx="57">
                  <c:v>46574.285463530701</c:v>
                </c:pt>
                <c:pt idx="58">
                  <c:v>46176.654679689702</c:v>
                </c:pt>
                <c:pt idx="59">
                  <c:v>50577.547895601398</c:v>
                </c:pt>
                <c:pt idx="60">
                  <c:v>47554.5345660069</c:v>
                </c:pt>
                <c:pt idx="61">
                  <c:v>47043.847861968097</c:v>
                </c:pt>
                <c:pt idx="62">
                  <c:v>52522.000128694999</c:v>
                </c:pt>
                <c:pt idx="63">
                  <c:v>51583.828068451003</c:v>
                </c:pt>
                <c:pt idx="64">
                  <c:v>50644.400614329999</c:v>
                </c:pt>
                <c:pt idx="65">
                  <c:v>49470.199217427798</c:v>
                </c:pt>
                <c:pt idx="66">
                  <c:v>52443.426282154702</c:v>
                </c:pt>
                <c:pt idx="67">
                  <c:v>50833.883552069397</c:v>
                </c:pt>
                <c:pt idx="68">
                  <c:v>52727.105166416302</c:v>
                </c:pt>
                <c:pt idx="69">
                  <c:v>52403.062257697697</c:v>
                </c:pt>
                <c:pt idx="70">
                  <c:v>54964.2845858937</c:v>
                </c:pt>
                <c:pt idx="71">
                  <c:v>59375.334653015598</c:v>
                </c:pt>
              </c:numCache>
            </c:numRef>
          </c:val>
          <c:smooth val="0"/>
          <c:extLst>
            <c:ext xmlns:c16="http://schemas.microsoft.com/office/drawing/2014/chart" uri="{C3380CC4-5D6E-409C-BE32-E72D297353CC}">
              <c16:uniqueId val="{00000001-89D0-43D4-BE5B-618926BF1DA2}"/>
            </c:ext>
          </c:extLst>
        </c:ser>
        <c:ser>
          <c:idx val="2"/>
          <c:order val="2"/>
          <c:tx>
            <c:strRef>
              <c:f>all!$D$1</c:f>
              <c:strCache>
                <c:ptCount val="1"/>
                <c:pt idx="0">
                  <c:v>sa_stl</c:v>
                </c:pt>
              </c:strCache>
            </c:strRef>
          </c:tx>
          <c:spPr>
            <a:ln w="19050" cap="rnd">
              <a:solidFill>
                <a:schemeClr val="accent3"/>
              </a:solidFill>
              <a:round/>
            </a:ln>
            <a:effectLst/>
          </c:spPr>
          <c:marker>
            <c:symbol val="none"/>
          </c:marker>
          <c:cat>
            <c:numRef>
              <c:f>all!$A$158:$A$229</c:f>
              <c:numCache>
                <c:formatCode>mmm\-yy</c:formatCode>
                <c:ptCount val="72"/>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numCache>
            </c:numRef>
          </c:cat>
          <c:val>
            <c:numRef>
              <c:f>all!$D$158:$D$229</c:f>
              <c:numCache>
                <c:formatCode>General</c:formatCode>
                <c:ptCount val="72"/>
                <c:pt idx="0">
                  <c:v>61135.125484441603</c:v>
                </c:pt>
                <c:pt idx="1">
                  <c:v>62739.668733847298</c:v>
                </c:pt>
                <c:pt idx="2">
                  <c:v>62543.898751155299</c:v>
                </c:pt>
                <c:pt idx="3">
                  <c:v>63964.329910829198</c:v>
                </c:pt>
                <c:pt idx="4">
                  <c:v>61521.461576529298</c:v>
                </c:pt>
                <c:pt idx="5">
                  <c:v>67420.787201725194</c:v>
                </c:pt>
                <c:pt idx="6">
                  <c:v>68460.546112116499</c:v>
                </c:pt>
                <c:pt idx="7">
                  <c:v>63264.2000128328</c:v>
                </c:pt>
                <c:pt idx="8">
                  <c:v>60280.062627974403</c:v>
                </c:pt>
                <c:pt idx="9">
                  <c:v>58556.609860237899</c:v>
                </c:pt>
                <c:pt idx="10">
                  <c:v>61982.696845464699</c:v>
                </c:pt>
                <c:pt idx="11">
                  <c:v>62833.341636118297</c:v>
                </c:pt>
                <c:pt idx="12">
                  <c:v>63873.179868342602</c:v>
                </c:pt>
                <c:pt idx="13">
                  <c:v>62357.779760824902</c:v>
                </c:pt>
                <c:pt idx="14">
                  <c:v>63970.783982804001</c:v>
                </c:pt>
                <c:pt idx="15">
                  <c:v>62651.199806122597</c:v>
                </c:pt>
                <c:pt idx="16">
                  <c:v>63321.962680471603</c:v>
                </c:pt>
                <c:pt idx="17">
                  <c:v>63160.546129848903</c:v>
                </c:pt>
                <c:pt idx="18">
                  <c:v>62578.841976933101</c:v>
                </c:pt>
                <c:pt idx="19">
                  <c:v>64324.4429544206</c:v>
                </c:pt>
                <c:pt idx="20">
                  <c:v>63890.440661445798</c:v>
                </c:pt>
                <c:pt idx="21">
                  <c:v>64253.076321413799</c:v>
                </c:pt>
                <c:pt idx="22">
                  <c:v>64298.114030275698</c:v>
                </c:pt>
                <c:pt idx="23">
                  <c:v>63679.634280881801</c:v>
                </c:pt>
                <c:pt idx="24">
                  <c:v>63474.529555192297</c:v>
                </c:pt>
                <c:pt idx="25">
                  <c:v>63890.612058488703</c:v>
                </c:pt>
                <c:pt idx="26">
                  <c:v>65205.318079355398</c:v>
                </c:pt>
                <c:pt idx="27">
                  <c:v>63467.2297794759</c:v>
                </c:pt>
                <c:pt idx="28">
                  <c:v>65835.9518470849</c:v>
                </c:pt>
                <c:pt idx="29">
                  <c:v>63154.261721403498</c:v>
                </c:pt>
                <c:pt idx="30">
                  <c:v>61872.717293211601</c:v>
                </c:pt>
                <c:pt idx="31">
                  <c:v>64469.150958901097</c:v>
                </c:pt>
                <c:pt idx="32">
                  <c:v>64229.747228707201</c:v>
                </c:pt>
                <c:pt idx="33">
                  <c:v>66347.727520977598</c:v>
                </c:pt>
                <c:pt idx="34">
                  <c:v>64251.260041813897</c:v>
                </c:pt>
                <c:pt idx="35">
                  <c:v>62025.384776910898</c:v>
                </c:pt>
                <c:pt idx="36">
                  <c:v>62311.502964452302</c:v>
                </c:pt>
                <c:pt idx="37">
                  <c:v>62846.481526971402</c:v>
                </c:pt>
                <c:pt idx="38">
                  <c:v>59287.8183600513</c:v>
                </c:pt>
                <c:pt idx="39">
                  <c:v>59697.654116016201</c:v>
                </c:pt>
                <c:pt idx="40">
                  <c:v>58073.648704646701</c:v>
                </c:pt>
                <c:pt idx="41">
                  <c:v>53907.360157692798</c:v>
                </c:pt>
                <c:pt idx="42">
                  <c:v>52572.903276293102</c:v>
                </c:pt>
                <c:pt idx="43">
                  <c:v>51253.626592028297</c:v>
                </c:pt>
                <c:pt idx="44">
                  <c:v>52254.691998762501</c:v>
                </c:pt>
                <c:pt idx="45">
                  <c:v>47853.9099320725</c:v>
                </c:pt>
                <c:pt idx="46">
                  <c:v>45917.429369813697</c:v>
                </c:pt>
                <c:pt idx="47">
                  <c:v>45820.855661565503</c:v>
                </c:pt>
                <c:pt idx="48">
                  <c:v>47848.045433462401</c:v>
                </c:pt>
                <c:pt idx="49">
                  <c:v>45976.286733536101</c:v>
                </c:pt>
                <c:pt idx="50">
                  <c:v>41937.912918544498</c:v>
                </c:pt>
                <c:pt idx="51">
                  <c:v>44215.920110420499</c:v>
                </c:pt>
                <c:pt idx="52">
                  <c:v>42821.536936005701</c:v>
                </c:pt>
                <c:pt idx="53">
                  <c:v>46385.683759913998</c:v>
                </c:pt>
                <c:pt idx="54">
                  <c:v>47482.645126170799</c:v>
                </c:pt>
                <c:pt idx="55">
                  <c:v>49831.687905815197</c:v>
                </c:pt>
                <c:pt idx="56">
                  <c:v>44623.162166878901</c:v>
                </c:pt>
                <c:pt idx="57">
                  <c:v>48340.073945992801</c:v>
                </c:pt>
                <c:pt idx="58">
                  <c:v>48207.957877973502</c:v>
                </c:pt>
                <c:pt idx="59">
                  <c:v>49124.926196795001</c:v>
                </c:pt>
                <c:pt idx="60">
                  <c:v>48035.164362344301</c:v>
                </c:pt>
                <c:pt idx="61">
                  <c:v>47672.1360468083</c:v>
                </c:pt>
                <c:pt idx="62">
                  <c:v>51481.469289935798</c:v>
                </c:pt>
                <c:pt idx="63">
                  <c:v>51525.615282268103</c:v>
                </c:pt>
                <c:pt idx="64">
                  <c:v>50223.164677700697</c:v>
                </c:pt>
                <c:pt idx="65">
                  <c:v>50828.595279901303</c:v>
                </c:pt>
                <c:pt idx="66">
                  <c:v>51744.793837446901</c:v>
                </c:pt>
                <c:pt idx="67">
                  <c:v>48752.508170059198</c:v>
                </c:pt>
                <c:pt idx="68">
                  <c:v>53575.304976278399</c:v>
                </c:pt>
                <c:pt idx="69">
                  <c:v>54127.737872956997</c:v>
                </c:pt>
                <c:pt idx="70">
                  <c:v>55990.917233199703</c:v>
                </c:pt>
                <c:pt idx="71">
                  <c:v>57322.946705181603</c:v>
                </c:pt>
              </c:numCache>
            </c:numRef>
          </c:val>
          <c:smooth val="0"/>
          <c:extLst>
            <c:ext xmlns:c16="http://schemas.microsoft.com/office/drawing/2014/chart" uri="{C3380CC4-5D6E-409C-BE32-E72D297353CC}">
              <c16:uniqueId val="{00000002-89D0-43D4-BE5B-618926BF1DA2}"/>
            </c:ext>
          </c:extLst>
        </c:ser>
        <c:ser>
          <c:idx val="3"/>
          <c:order val="3"/>
          <c:tx>
            <c:strRef>
              <c:f>all!$E$1</c:f>
              <c:strCache>
                <c:ptCount val="1"/>
                <c:pt idx="0">
                  <c:v>sa_camplet</c:v>
                </c:pt>
              </c:strCache>
            </c:strRef>
          </c:tx>
          <c:spPr>
            <a:ln w="19050" cap="rnd">
              <a:solidFill>
                <a:schemeClr val="accent4"/>
              </a:solidFill>
              <a:round/>
            </a:ln>
            <a:effectLst/>
          </c:spPr>
          <c:marker>
            <c:symbol val="none"/>
          </c:marker>
          <c:cat>
            <c:numRef>
              <c:f>all!$A$158:$A$229</c:f>
              <c:numCache>
                <c:formatCode>mmm\-yy</c:formatCode>
                <c:ptCount val="72"/>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numCache>
            </c:numRef>
          </c:cat>
          <c:val>
            <c:numRef>
              <c:f>all!$E$158:$E$229</c:f>
              <c:numCache>
                <c:formatCode>General</c:formatCode>
                <c:ptCount val="72"/>
                <c:pt idx="0">
                  <c:v>60307.426709498803</c:v>
                </c:pt>
                <c:pt idx="1">
                  <c:v>61861.193238059997</c:v>
                </c:pt>
                <c:pt idx="2">
                  <c:v>62953.870931749501</c:v>
                </c:pt>
                <c:pt idx="3">
                  <c:v>63800.031260922202</c:v>
                </c:pt>
                <c:pt idx="4">
                  <c:v>62213.968314473503</c:v>
                </c:pt>
                <c:pt idx="5">
                  <c:v>69831.494005616405</c:v>
                </c:pt>
                <c:pt idx="6">
                  <c:v>70335.470457171206</c:v>
                </c:pt>
                <c:pt idx="7">
                  <c:v>66339.684152087604</c:v>
                </c:pt>
                <c:pt idx="8">
                  <c:v>60754.845976061202</c:v>
                </c:pt>
                <c:pt idx="9">
                  <c:v>59330.962902226602</c:v>
                </c:pt>
                <c:pt idx="10">
                  <c:v>62516.118129565599</c:v>
                </c:pt>
                <c:pt idx="11">
                  <c:v>62412.8969361446</c:v>
                </c:pt>
                <c:pt idx="12">
                  <c:v>63557.392553623402</c:v>
                </c:pt>
                <c:pt idx="13">
                  <c:v>62101.903165151198</c:v>
                </c:pt>
                <c:pt idx="14">
                  <c:v>63489.328609499498</c:v>
                </c:pt>
                <c:pt idx="15">
                  <c:v>61500.248265675596</c:v>
                </c:pt>
                <c:pt idx="16">
                  <c:v>63113.9268299779</c:v>
                </c:pt>
                <c:pt idx="17">
                  <c:v>62689.011035396303</c:v>
                </c:pt>
                <c:pt idx="18">
                  <c:v>61033.611020524899</c:v>
                </c:pt>
                <c:pt idx="19">
                  <c:v>65232.333265710498</c:v>
                </c:pt>
                <c:pt idx="20">
                  <c:v>64473.860501274801</c:v>
                </c:pt>
                <c:pt idx="21">
                  <c:v>66107.122770903006</c:v>
                </c:pt>
                <c:pt idx="22">
                  <c:v>64809.036696477997</c:v>
                </c:pt>
                <c:pt idx="23">
                  <c:v>63401.852926244101</c:v>
                </c:pt>
                <c:pt idx="24">
                  <c:v>63955.824759643503</c:v>
                </c:pt>
                <c:pt idx="25">
                  <c:v>64569.718257725799</c:v>
                </c:pt>
                <c:pt idx="26">
                  <c:v>64103.361144526199</c:v>
                </c:pt>
                <c:pt idx="27">
                  <c:v>63566.140990824599</c:v>
                </c:pt>
                <c:pt idx="28">
                  <c:v>65317.451584276198</c:v>
                </c:pt>
                <c:pt idx="29">
                  <c:v>62568.397391433296</c:v>
                </c:pt>
                <c:pt idx="30">
                  <c:v>61112.987347382601</c:v>
                </c:pt>
                <c:pt idx="31">
                  <c:v>63989.022544706597</c:v>
                </c:pt>
                <c:pt idx="32">
                  <c:v>63655.906307970901</c:v>
                </c:pt>
                <c:pt idx="33">
                  <c:v>66336.146193701003</c:v>
                </c:pt>
                <c:pt idx="34">
                  <c:v>63916.4366314133</c:v>
                </c:pt>
                <c:pt idx="35">
                  <c:v>62302.833392744797</c:v>
                </c:pt>
                <c:pt idx="36">
                  <c:v>63414.920910843102</c:v>
                </c:pt>
                <c:pt idx="37">
                  <c:v>63470.093428280001</c:v>
                </c:pt>
                <c:pt idx="38">
                  <c:v>59447.972808682804</c:v>
                </c:pt>
                <c:pt idx="39">
                  <c:v>61097.562217938503</c:v>
                </c:pt>
                <c:pt idx="40">
                  <c:v>58367.384098467497</c:v>
                </c:pt>
                <c:pt idx="41">
                  <c:v>56261.445494676103</c:v>
                </c:pt>
                <c:pt idx="42">
                  <c:v>55580.832718259902</c:v>
                </c:pt>
                <c:pt idx="43">
                  <c:v>52433.821793695497</c:v>
                </c:pt>
                <c:pt idx="44">
                  <c:v>52542.098934974798</c:v>
                </c:pt>
                <c:pt idx="45">
                  <c:v>48861.855894853703</c:v>
                </c:pt>
                <c:pt idx="46">
                  <c:v>47060.490816504498</c:v>
                </c:pt>
                <c:pt idx="47">
                  <c:v>47266.911179361799</c:v>
                </c:pt>
                <c:pt idx="48">
                  <c:v>47654.922905585598</c:v>
                </c:pt>
                <c:pt idx="49">
                  <c:v>45159.990742700204</c:v>
                </c:pt>
                <c:pt idx="50">
                  <c:v>42221.657602894302</c:v>
                </c:pt>
                <c:pt idx="51">
                  <c:v>43233.437405979501</c:v>
                </c:pt>
                <c:pt idx="52">
                  <c:v>41418.322477267</c:v>
                </c:pt>
                <c:pt idx="53">
                  <c:v>46608.925717928498</c:v>
                </c:pt>
                <c:pt idx="54">
                  <c:v>47437.751863621503</c:v>
                </c:pt>
                <c:pt idx="55">
                  <c:v>48276.834182154002</c:v>
                </c:pt>
                <c:pt idx="56">
                  <c:v>42848.1029357144</c:v>
                </c:pt>
                <c:pt idx="57">
                  <c:v>48315.511174777501</c:v>
                </c:pt>
                <c:pt idx="58">
                  <c:v>48641.6763065548</c:v>
                </c:pt>
                <c:pt idx="59">
                  <c:v>49301.353252067602</c:v>
                </c:pt>
                <c:pt idx="60">
                  <c:v>47006.643985369301</c:v>
                </c:pt>
                <c:pt idx="61">
                  <c:v>46846.0089778568</c:v>
                </c:pt>
                <c:pt idx="62">
                  <c:v>52397.603128239098</c:v>
                </c:pt>
                <c:pt idx="63">
                  <c:v>51225.970284094299</c:v>
                </c:pt>
                <c:pt idx="64">
                  <c:v>50381.316973794601</c:v>
                </c:pt>
                <c:pt idx="65">
                  <c:v>51561.733201824398</c:v>
                </c:pt>
                <c:pt idx="66">
                  <c:v>51662.057622939297</c:v>
                </c:pt>
                <c:pt idx="67">
                  <c:v>47629.267870052397</c:v>
                </c:pt>
                <c:pt idx="68">
                  <c:v>52394.4126017788</c:v>
                </c:pt>
                <c:pt idx="69">
                  <c:v>53670.097483056597</c:v>
                </c:pt>
                <c:pt idx="70">
                  <c:v>55107.827051993198</c:v>
                </c:pt>
                <c:pt idx="71">
                  <c:v>55745.060558841702</c:v>
                </c:pt>
              </c:numCache>
            </c:numRef>
          </c:val>
          <c:smooth val="0"/>
          <c:extLst>
            <c:ext xmlns:c16="http://schemas.microsoft.com/office/drawing/2014/chart" uri="{C3380CC4-5D6E-409C-BE32-E72D297353CC}">
              <c16:uniqueId val="{00000003-89D0-43D4-BE5B-618926BF1DA2}"/>
            </c:ext>
          </c:extLst>
        </c:ser>
        <c:ser>
          <c:idx val="4"/>
          <c:order val="4"/>
          <c:tx>
            <c:strRef>
              <c:f>all!$F$1</c:f>
              <c:strCache>
                <c:ptCount val="1"/>
                <c:pt idx="0">
                  <c:v>sa_sts</c:v>
                </c:pt>
              </c:strCache>
            </c:strRef>
          </c:tx>
          <c:spPr>
            <a:ln w="19050" cap="rnd">
              <a:solidFill>
                <a:schemeClr val="accent5"/>
              </a:solidFill>
              <a:round/>
            </a:ln>
            <a:effectLst/>
          </c:spPr>
          <c:marker>
            <c:symbol val="none"/>
          </c:marker>
          <c:cat>
            <c:numRef>
              <c:f>all!$A$158:$A$229</c:f>
              <c:numCache>
                <c:formatCode>mmm\-yy</c:formatCode>
                <c:ptCount val="72"/>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numCache>
            </c:numRef>
          </c:cat>
          <c:val>
            <c:numRef>
              <c:f>all!$F$158:$F$229</c:f>
              <c:numCache>
                <c:formatCode>General</c:formatCode>
                <c:ptCount val="72"/>
                <c:pt idx="0">
                  <c:v>61594.3333507852</c:v>
                </c:pt>
                <c:pt idx="1">
                  <c:v>61934.342161659602</c:v>
                </c:pt>
                <c:pt idx="2">
                  <c:v>62412.071518950899</c:v>
                </c:pt>
                <c:pt idx="3">
                  <c:v>62794.053578683597</c:v>
                </c:pt>
                <c:pt idx="4">
                  <c:v>62579.952413113999</c:v>
                </c:pt>
                <c:pt idx="5">
                  <c:v>67336.743895698804</c:v>
                </c:pt>
                <c:pt idx="6">
                  <c:v>70347.221767165101</c:v>
                </c:pt>
                <c:pt idx="7">
                  <c:v>62000.852033053998</c:v>
                </c:pt>
                <c:pt idx="8">
                  <c:v>59831.483544356997</c:v>
                </c:pt>
                <c:pt idx="9">
                  <c:v>57411.060401516603</c:v>
                </c:pt>
                <c:pt idx="10">
                  <c:v>61648.430953586998</c:v>
                </c:pt>
                <c:pt idx="11">
                  <c:v>62804.675646269403</c:v>
                </c:pt>
                <c:pt idx="12">
                  <c:v>64676.664737088002</c:v>
                </c:pt>
                <c:pt idx="13">
                  <c:v>62250.424863820197</c:v>
                </c:pt>
                <c:pt idx="14">
                  <c:v>63638.396397338103</c:v>
                </c:pt>
                <c:pt idx="15">
                  <c:v>63852.065085323396</c:v>
                </c:pt>
                <c:pt idx="16">
                  <c:v>62602.8455212525</c:v>
                </c:pt>
                <c:pt idx="17">
                  <c:v>62880.739821496602</c:v>
                </c:pt>
                <c:pt idx="18">
                  <c:v>63983.6731726285</c:v>
                </c:pt>
                <c:pt idx="19">
                  <c:v>63367.626056738503</c:v>
                </c:pt>
                <c:pt idx="20">
                  <c:v>63269.679483468601</c:v>
                </c:pt>
                <c:pt idx="21">
                  <c:v>63931.283567736202</c:v>
                </c:pt>
                <c:pt idx="22">
                  <c:v>64176.778761960901</c:v>
                </c:pt>
                <c:pt idx="23">
                  <c:v>65156.483635557699</c:v>
                </c:pt>
                <c:pt idx="24">
                  <c:v>63364.771740914897</c:v>
                </c:pt>
                <c:pt idx="25">
                  <c:v>64662.735038482802</c:v>
                </c:pt>
                <c:pt idx="26">
                  <c:v>64220.635083620196</c:v>
                </c:pt>
                <c:pt idx="27">
                  <c:v>64344.349283991898</c:v>
                </c:pt>
                <c:pt idx="28">
                  <c:v>65371.9100157762</c:v>
                </c:pt>
                <c:pt idx="29">
                  <c:v>62315.269017770399</c:v>
                </c:pt>
                <c:pt idx="30">
                  <c:v>62423.252933891497</c:v>
                </c:pt>
                <c:pt idx="31">
                  <c:v>63247.120671345503</c:v>
                </c:pt>
                <c:pt idx="32">
                  <c:v>66146.333531011696</c:v>
                </c:pt>
                <c:pt idx="33">
                  <c:v>65341.418813655502</c:v>
                </c:pt>
                <c:pt idx="34">
                  <c:v>63688.558066027697</c:v>
                </c:pt>
                <c:pt idx="35">
                  <c:v>62847.436047181603</c:v>
                </c:pt>
                <c:pt idx="36">
                  <c:v>62761.823299121897</c:v>
                </c:pt>
                <c:pt idx="37">
                  <c:v>62948.376171985597</c:v>
                </c:pt>
                <c:pt idx="38">
                  <c:v>60348.836241987701</c:v>
                </c:pt>
                <c:pt idx="39">
                  <c:v>59444.822048690701</c:v>
                </c:pt>
                <c:pt idx="40">
                  <c:v>57068.209764031497</c:v>
                </c:pt>
                <c:pt idx="41">
                  <c:v>54904.0380517433</c:v>
                </c:pt>
                <c:pt idx="42">
                  <c:v>52299.148269014797</c:v>
                </c:pt>
                <c:pt idx="43">
                  <c:v>52555.501808240697</c:v>
                </c:pt>
                <c:pt idx="44">
                  <c:v>51439.330538692899</c:v>
                </c:pt>
                <c:pt idx="45">
                  <c:v>46747.2080539421</c:v>
                </c:pt>
                <c:pt idx="46">
                  <c:v>45612.250849353397</c:v>
                </c:pt>
                <c:pt idx="47">
                  <c:v>45013.853245961698</c:v>
                </c:pt>
                <c:pt idx="48">
                  <c:v>46159.506858610701</c:v>
                </c:pt>
                <c:pt idx="49">
                  <c:v>45426.651577260003</c:v>
                </c:pt>
                <c:pt idx="50">
                  <c:v>44106.125464751603</c:v>
                </c:pt>
                <c:pt idx="51">
                  <c:v>44284.880165054703</c:v>
                </c:pt>
                <c:pt idx="52">
                  <c:v>44509.1242944982</c:v>
                </c:pt>
                <c:pt idx="53">
                  <c:v>45978.9616510618</c:v>
                </c:pt>
                <c:pt idx="54">
                  <c:v>47120.278418917303</c:v>
                </c:pt>
                <c:pt idx="55">
                  <c:v>50563.370004918499</c:v>
                </c:pt>
                <c:pt idx="56">
                  <c:v>44485.011693054301</c:v>
                </c:pt>
                <c:pt idx="57">
                  <c:v>47107.002737278301</c:v>
                </c:pt>
                <c:pt idx="58">
                  <c:v>48017.860758654402</c:v>
                </c:pt>
                <c:pt idx="59">
                  <c:v>48751.882934371301</c:v>
                </c:pt>
                <c:pt idx="60">
                  <c:v>48177.001813164701</c:v>
                </c:pt>
                <c:pt idx="61">
                  <c:v>47518.404807455801</c:v>
                </c:pt>
                <c:pt idx="62">
                  <c:v>51180.915081580097</c:v>
                </c:pt>
                <c:pt idx="63">
                  <c:v>50942.816721714502</c:v>
                </c:pt>
                <c:pt idx="64">
                  <c:v>51268.262372585697</c:v>
                </c:pt>
                <c:pt idx="65">
                  <c:v>50707.548701927401</c:v>
                </c:pt>
                <c:pt idx="66">
                  <c:v>50796.912459454703</c:v>
                </c:pt>
                <c:pt idx="67">
                  <c:v>50044.632603436003</c:v>
                </c:pt>
                <c:pt idx="68">
                  <c:v>53380.621717022099</c:v>
                </c:pt>
                <c:pt idx="69">
                  <c:v>54989.917995167198</c:v>
                </c:pt>
                <c:pt idx="70">
                  <c:v>55371.180824182302</c:v>
                </c:pt>
                <c:pt idx="71">
                  <c:v>56689.294009099598</c:v>
                </c:pt>
              </c:numCache>
            </c:numRef>
          </c:val>
          <c:smooth val="0"/>
          <c:extLst>
            <c:ext xmlns:c16="http://schemas.microsoft.com/office/drawing/2014/chart" uri="{C3380CC4-5D6E-409C-BE32-E72D297353CC}">
              <c16:uniqueId val="{00000004-89D0-43D4-BE5B-618926BF1DA2}"/>
            </c:ext>
          </c:extLst>
        </c:ser>
        <c:ser>
          <c:idx val="5"/>
          <c:order val="5"/>
          <c:tx>
            <c:strRef>
              <c:f>all!$G$1</c:f>
              <c:strCache>
                <c:ptCount val="1"/>
                <c:pt idx="0">
                  <c:v>sa_ts0</c:v>
                </c:pt>
              </c:strCache>
            </c:strRef>
          </c:tx>
          <c:spPr>
            <a:ln w="19050" cap="rnd">
              <a:solidFill>
                <a:schemeClr val="accent6"/>
              </a:solidFill>
              <a:round/>
            </a:ln>
            <a:effectLst/>
          </c:spPr>
          <c:marker>
            <c:symbol val="none"/>
          </c:marker>
          <c:cat>
            <c:numRef>
              <c:f>all!$A$158:$A$229</c:f>
              <c:numCache>
                <c:formatCode>mmm\-yy</c:formatCode>
                <c:ptCount val="72"/>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numCache>
            </c:numRef>
          </c:cat>
          <c:val>
            <c:numRef>
              <c:f>all!$G$158:$G$229</c:f>
              <c:numCache>
                <c:formatCode>General</c:formatCode>
                <c:ptCount val="72"/>
                <c:pt idx="0">
                  <c:v>60027.7295014501</c:v>
                </c:pt>
                <c:pt idx="1">
                  <c:v>61825.692805172002</c:v>
                </c:pt>
                <c:pt idx="2">
                  <c:v>63358.685924675898</c:v>
                </c:pt>
                <c:pt idx="3">
                  <c:v>63715.561557106899</c:v>
                </c:pt>
                <c:pt idx="4">
                  <c:v>61565.475713444903</c:v>
                </c:pt>
                <c:pt idx="5">
                  <c:v>68245.224704401902</c:v>
                </c:pt>
                <c:pt idx="6">
                  <c:v>70314.7175077344</c:v>
                </c:pt>
                <c:pt idx="7">
                  <c:v>63270.993892200902</c:v>
                </c:pt>
                <c:pt idx="8">
                  <c:v>60569.037452777302</c:v>
                </c:pt>
                <c:pt idx="9">
                  <c:v>56295.088925688397</c:v>
                </c:pt>
                <c:pt idx="10">
                  <c:v>61466.991719814701</c:v>
                </c:pt>
                <c:pt idx="11">
                  <c:v>63676.449118825898</c:v>
                </c:pt>
                <c:pt idx="12">
                  <c:v>62883.875287469898</c:v>
                </c:pt>
                <c:pt idx="13">
                  <c:v>61946.736402182702</c:v>
                </c:pt>
                <c:pt idx="14">
                  <c:v>65082.528592276198</c:v>
                </c:pt>
                <c:pt idx="15">
                  <c:v>62430.471974743501</c:v>
                </c:pt>
                <c:pt idx="16">
                  <c:v>63740.204079205098</c:v>
                </c:pt>
                <c:pt idx="17">
                  <c:v>63837.593539350499</c:v>
                </c:pt>
                <c:pt idx="18">
                  <c:v>63515.1143914614</c:v>
                </c:pt>
                <c:pt idx="19">
                  <c:v>64688.8371223918</c:v>
                </c:pt>
                <c:pt idx="20">
                  <c:v>63797.320120509801</c:v>
                </c:pt>
                <c:pt idx="21">
                  <c:v>62435.654861344599</c:v>
                </c:pt>
                <c:pt idx="22">
                  <c:v>63793.132867346903</c:v>
                </c:pt>
                <c:pt idx="23">
                  <c:v>63784.082494058603</c:v>
                </c:pt>
                <c:pt idx="24">
                  <c:v>63319.642463785603</c:v>
                </c:pt>
                <c:pt idx="25">
                  <c:v>64096.458231545497</c:v>
                </c:pt>
                <c:pt idx="26">
                  <c:v>65878.886571053299</c:v>
                </c:pt>
                <c:pt idx="27">
                  <c:v>63411.544850412</c:v>
                </c:pt>
                <c:pt idx="28">
                  <c:v>66550.003739008898</c:v>
                </c:pt>
                <c:pt idx="29">
                  <c:v>63098.607545852698</c:v>
                </c:pt>
                <c:pt idx="30">
                  <c:v>61656.0251119717</c:v>
                </c:pt>
                <c:pt idx="31">
                  <c:v>65396.971746721501</c:v>
                </c:pt>
                <c:pt idx="32">
                  <c:v>64219.673526560997</c:v>
                </c:pt>
                <c:pt idx="33">
                  <c:v>65572.189666487597</c:v>
                </c:pt>
                <c:pt idx="34">
                  <c:v>63664.828683211301</c:v>
                </c:pt>
                <c:pt idx="35">
                  <c:v>61620.992948723899</c:v>
                </c:pt>
                <c:pt idx="36">
                  <c:v>62393.784182141098</c:v>
                </c:pt>
                <c:pt idx="37">
                  <c:v>62886.649936435198</c:v>
                </c:pt>
                <c:pt idx="38">
                  <c:v>59548.115478371597</c:v>
                </c:pt>
                <c:pt idx="39">
                  <c:v>59735.084009821097</c:v>
                </c:pt>
                <c:pt idx="40">
                  <c:v>58284.618511321103</c:v>
                </c:pt>
                <c:pt idx="41">
                  <c:v>53579.282068503198</c:v>
                </c:pt>
                <c:pt idx="42">
                  <c:v>52244.454863478197</c:v>
                </c:pt>
                <c:pt idx="43">
                  <c:v>51862.781843056</c:v>
                </c:pt>
                <c:pt idx="44">
                  <c:v>52114.6488879674</c:v>
                </c:pt>
                <c:pt idx="45">
                  <c:v>47664.981479779803</c:v>
                </c:pt>
                <c:pt idx="46">
                  <c:v>45713.767018781</c:v>
                </c:pt>
                <c:pt idx="47">
                  <c:v>45893.965383873801</c:v>
                </c:pt>
                <c:pt idx="48">
                  <c:v>47946.833074470502</c:v>
                </c:pt>
                <c:pt idx="49">
                  <c:v>46046.8158313026</c:v>
                </c:pt>
                <c:pt idx="50">
                  <c:v>42220.239508165701</c:v>
                </c:pt>
                <c:pt idx="51">
                  <c:v>44342.551267966403</c:v>
                </c:pt>
                <c:pt idx="52">
                  <c:v>43052.199576387698</c:v>
                </c:pt>
                <c:pt idx="53">
                  <c:v>45966.627315734702</c:v>
                </c:pt>
                <c:pt idx="54">
                  <c:v>47043.899581999998</c:v>
                </c:pt>
                <c:pt idx="55">
                  <c:v>50192.788628521703</c:v>
                </c:pt>
                <c:pt idx="56">
                  <c:v>44544.070715782102</c:v>
                </c:pt>
                <c:pt idx="57">
                  <c:v>48234.539136235398</c:v>
                </c:pt>
                <c:pt idx="58">
                  <c:v>48007.602746912497</c:v>
                </c:pt>
                <c:pt idx="59">
                  <c:v>49169.867771586098</c:v>
                </c:pt>
                <c:pt idx="60">
                  <c:v>48157.4013248099</c:v>
                </c:pt>
                <c:pt idx="61">
                  <c:v>47800.557425964304</c:v>
                </c:pt>
                <c:pt idx="62">
                  <c:v>51606.234841672202</c:v>
                </c:pt>
                <c:pt idx="63">
                  <c:v>51652.515135227201</c:v>
                </c:pt>
                <c:pt idx="64">
                  <c:v>50440.415220013303</c:v>
                </c:pt>
                <c:pt idx="65">
                  <c:v>50426.9557601673</c:v>
                </c:pt>
                <c:pt idx="66">
                  <c:v>51355.877307128801</c:v>
                </c:pt>
                <c:pt idx="67">
                  <c:v>49226.383448831402</c:v>
                </c:pt>
                <c:pt idx="68">
                  <c:v>53526.840859065203</c:v>
                </c:pt>
                <c:pt idx="69">
                  <c:v>54079.0151056217</c:v>
                </c:pt>
                <c:pt idx="70">
                  <c:v>55743.437005582498</c:v>
                </c:pt>
                <c:pt idx="71">
                  <c:v>57303.260223805097</c:v>
                </c:pt>
              </c:numCache>
            </c:numRef>
          </c:val>
          <c:smooth val="0"/>
          <c:extLst>
            <c:ext xmlns:c16="http://schemas.microsoft.com/office/drawing/2014/chart" uri="{C3380CC4-5D6E-409C-BE32-E72D297353CC}">
              <c16:uniqueId val="{00000005-89D0-43D4-BE5B-618926BF1DA2}"/>
            </c:ext>
          </c:extLst>
        </c:ser>
        <c:ser>
          <c:idx val="6"/>
          <c:order val="6"/>
          <c:tx>
            <c:strRef>
              <c:f>all!$H$1</c:f>
              <c:strCache>
                <c:ptCount val="1"/>
                <c:pt idx="0">
                  <c:v>sa_ts</c:v>
                </c:pt>
              </c:strCache>
            </c:strRef>
          </c:tx>
          <c:spPr>
            <a:ln w="19050" cap="rnd">
              <a:solidFill>
                <a:schemeClr val="accent1">
                  <a:lumMod val="60000"/>
                </a:schemeClr>
              </a:solidFill>
              <a:round/>
            </a:ln>
            <a:effectLst/>
          </c:spPr>
          <c:marker>
            <c:symbol val="none"/>
          </c:marker>
          <c:cat>
            <c:numRef>
              <c:f>all!$A$158:$A$229</c:f>
              <c:numCache>
                <c:formatCode>mmm\-yy</c:formatCode>
                <c:ptCount val="72"/>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numCache>
            </c:numRef>
          </c:cat>
          <c:val>
            <c:numRef>
              <c:f>all!$H$158:$H$229</c:f>
              <c:numCache>
                <c:formatCode>General</c:formatCode>
                <c:ptCount val="72"/>
                <c:pt idx="0">
                  <c:v>61658.2805559798</c:v>
                </c:pt>
                <c:pt idx="1">
                  <c:v>62693.3621548191</c:v>
                </c:pt>
                <c:pt idx="2">
                  <c:v>62033.2914788895</c:v>
                </c:pt>
                <c:pt idx="3">
                  <c:v>62947.972526429599</c:v>
                </c:pt>
                <c:pt idx="4">
                  <c:v>62276.045099512201</c:v>
                </c:pt>
                <c:pt idx="5">
                  <c:v>66558.067839625204</c:v>
                </c:pt>
                <c:pt idx="6">
                  <c:v>71453.678587386807</c:v>
                </c:pt>
                <c:pt idx="7">
                  <c:v>62155.3679900235</c:v>
                </c:pt>
                <c:pt idx="8">
                  <c:v>59842.823781067404</c:v>
                </c:pt>
                <c:pt idx="9">
                  <c:v>57986.791903588397</c:v>
                </c:pt>
                <c:pt idx="10">
                  <c:v>61603.265610504801</c:v>
                </c:pt>
                <c:pt idx="11">
                  <c:v>62556.830450818401</c:v>
                </c:pt>
                <c:pt idx="12">
                  <c:v>64469.0505433492</c:v>
                </c:pt>
                <c:pt idx="13">
                  <c:v>62713.830158302102</c:v>
                </c:pt>
                <c:pt idx="14">
                  <c:v>63198.4350978644</c:v>
                </c:pt>
                <c:pt idx="15">
                  <c:v>63757.364518836199</c:v>
                </c:pt>
                <c:pt idx="16">
                  <c:v>62397.646202998098</c:v>
                </c:pt>
                <c:pt idx="17">
                  <c:v>62649.833145954603</c:v>
                </c:pt>
                <c:pt idx="18">
                  <c:v>65122.233778838599</c:v>
                </c:pt>
                <c:pt idx="19">
                  <c:v>63589.6981819926</c:v>
                </c:pt>
                <c:pt idx="20">
                  <c:v>63847.5365274344</c:v>
                </c:pt>
                <c:pt idx="21">
                  <c:v>63992.443028395697</c:v>
                </c:pt>
                <c:pt idx="22">
                  <c:v>63629.233628434398</c:v>
                </c:pt>
                <c:pt idx="23">
                  <c:v>64860.721449353601</c:v>
                </c:pt>
                <c:pt idx="24">
                  <c:v>62842.434433115101</c:v>
                </c:pt>
                <c:pt idx="25">
                  <c:v>65130.551779523397</c:v>
                </c:pt>
                <c:pt idx="26">
                  <c:v>64089.7798927978</c:v>
                </c:pt>
                <c:pt idx="27">
                  <c:v>64302.8574984359</c:v>
                </c:pt>
                <c:pt idx="28">
                  <c:v>64851.441614175703</c:v>
                </c:pt>
                <c:pt idx="29">
                  <c:v>62815.910220008103</c:v>
                </c:pt>
                <c:pt idx="30">
                  <c:v>63338.145152569901</c:v>
                </c:pt>
                <c:pt idx="31">
                  <c:v>64171.1103862858</c:v>
                </c:pt>
                <c:pt idx="32">
                  <c:v>66793.173057009495</c:v>
                </c:pt>
                <c:pt idx="33">
                  <c:v>64745.0658457627</c:v>
                </c:pt>
                <c:pt idx="34">
                  <c:v>63127.921283655298</c:v>
                </c:pt>
                <c:pt idx="35">
                  <c:v>62552.277912829799</c:v>
                </c:pt>
                <c:pt idx="36">
                  <c:v>61593.318632830298</c:v>
                </c:pt>
                <c:pt idx="37">
                  <c:v>60119.2055929134</c:v>
                </c:pt>
                <c:pt idx="38">
                  <c:v>60277.448809064801</c:v>
                </c:pt>
                <c:pt idx="39">
                  <c:v>58986.957263646502</c:v>
                </c:pt>
                <c:pt idx="40">
                  <c:v>57180.007835087497</c:v>
                </c:pt>
                <c:pt idx="41">
                  <c:v>55279.923168092799</c:v>
                </c:pt>
                <c:pt idx="42">
                  <c:v>52562.026831018098</c:v>
                </c:pt>
                <c:pt idx="43">
                  <c:v>54499.977797561798</c:v>
                </c:pt>
                <c:pt idx="44">
                  <c:v>52311.549574125696</c:v>
                </c:pt>
                <c:pt idx="45">
                  <c:v>45916.513272422402</c:v>
                </c:pt>
                <c:pt idx="46">
                  <c:v>45247.376117575099</c:v>
                </c:pt>
                <c:pt idx="47">
                  <c:v>44441.671233168898</c:v>
                </c:pt>
                <c:pt idx="48">
                  <c:v>45833.534474890002</c:v>
                </c:pt>
                <c:pt idx="49">
                  <c:v>45631.806938677597</c:v>
                </c:pt>
                <c:pt idx="50">
                  <c:v>43777.897742150701</c:v>
                </c:pt>
                <c:pt idx="51">
                  <c:v>43897.363810109098</c:v>
                </c:pt>
                <c:pt idx="52">
                  <c:v>44574.267209027697</c:v>
                </c:pt>
                <c:pt idx="53">
                  <c:v>46273.450824600397</c:v>
                </c:pt>
                <c:pt idx="54">
                  <c:v>47372.188422945103</c:v>
                </c:pt>
                <c:pt idx="55">
                  <c:v>53040.384926215098</c:v>
                </c:pt>
                <c:pt idx="56">
                  <c:v>44702.112191418899</c:v>
                </c:pt>
                <c:pt idx="57">
                  <c:v>46719.719947627098</c:v>
                </c:pt>
                <c:pt idx="58">
                  <c:v>47569.647924060097</c:v>
                </c:pt>
                <c:pt idx="59">
                  <c:v>47821.058070653198</c:v>
                </c:pt>
                <c:pt idx="60">
                  <c:v>47828.304366194498</c:v>
                </c:pt>
                <c:pt idx="61">
                  <c:v>47638.130045650301</c:v>
                </c:pt>
                <c:pt idx="62">
                  <c:v>50691.428928687703</c:v>
                </c:pt>
                <c:pt idx="63">
                  <c:v>50808.956899186902</c:v>
                </c:pt>
                <c:pt idx="64">
                  <c:v>51469.930751329201</c:v>
                </c:pt>
                <c:pt idx="65">
                  <c:v>50646.198143675101</c:v>
                </c:pt>
                <c:pt idx="66">
                  <c:v>51618.931693891798</c:v>
                </c:pt>
                <c:pt idx="67">
                  <c:v>51963.182168927997</c:v>
                </c:pt>
                <c:pt idx="68">
                  <c:v>53765.909044150998</c:v>
                </c:pt>
                <c:pt idx="69">
                  <c:v>54573.209720846498</c:v>
                </c:pt>
                <c:pt idx="70">
                  <c:v>54736.218751721201</c:v>
                </c:pt>
                <c:pt idx="71">
                  <c:v>55833.912197274403</c:v>
                </c:pt>
              </c:numCache>
            </c:numRef>
          </c:val>
          <c:smooth val="0"/>
          <c:extLst>
            <c:ext xmlns:c16="http://schemas.microsoft.com/office/drawing/2014/chart" uri="{C3380CC4-5D6E-409C-BE32-E72D297353CC}">
              <c16:uniqueId val="{00000006-89D0-43D4-BE5B-618926BF1DA2}"/>
            </c:ext>
          </c:extLst>
        </c:ser>
        <c:ser>
          <c:idx val="7"/>
          <c:order val="7"/>
          <c:tx>
            <c:strRef>
              <c:f>all!$I$1</c:f>
              <c:strCache>
                <c:ptCount val="1"/>
                <c:pt idx="0">
                  <c:v>sa_x11</c:v>
                </c:pt>
              </c:strCache>
            </c:strRef>
          </c:tx>
          <c:spPr>
            <a:ln w="19050" cap="rnd">
              <a:solidFill>
                <a:schemeClr val="accent2">
                  <a:lumMod val="60000"/>
                </a:schemeClr>
              </a:solidFill>
              <a:round/>
            </a:ln>
            <a:effectLst/>
          </c:spPr>
          <c:marker>
            <c:symbol val="none"/>
          </c:marker>
          <c:cat>
            <c:numRef>
              <c:f>all!$A$158:$A$229</c:f>
              <c:numCache>
                <c:formatCode>mmm\-yy</c:formatCode>
                <c:ptCount val="72"/>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numCache>
            </c:numRef>
          </c:cat>
          <c:val>
            <c:numRef>
              <c:f>all!$I$158:$I$229</c:f>
              <c:numCache>
                <c:formatCode>General</c:formatCode>
                <c:ptCount val="72"/>
                <c:pt idx="0">
                  <c:v>60320.271728182503</c:v>
                </c:pt>
                <c:pt idx="1">
                  <c:v>62406.759356492003</c:v>
                </c:pt>
                <c:pt idx="2">
                  <c:v>62967.779062013004</c:v>
                </c:pt>
                <c:pt idx="3">
                  <c:v>63746.2402631683</c:v>
                </c:pt>
                <c:pt idx="4">
                  <c:v>60538.959602764102</c:v>
                </c:pt>
                <c:pt idx="5">
                  <c:v>68949.664304365695</c:v>
                </c:pt>
                <c:pt idx="6">
                  <c:v>70176.840479011196</c:v>
                </c:pt>
                <c:pt idx="7">
                  <c:v>63046.599388029601</c:v>
                </c:pt>
                <c:pt idx="8">
                  <c:v>60660.428331928699</c:v>
                </c:pt>
                <c:pt idx="9">
                  <c:v>56604.491873903702</c:v>
                </c:pt>
                <c:pt idx="10">
                  <c:v>61961.4567054773</c:v>
                </c:pt>
                <c:pt idx="11">
                  <c:v>63120.849720317397</c:v>
                </c:pt>
                <c:pt idx="12">
                  <c:v>63296.522103736301</c:v>
                </c:pt>
                <c:pt idx="13">
                  <c:v>62221.279419288599</c:v>
                </c:pt>
                <c:pt idx="14">
                  <c:v>64502.270277665601</c:v>
                </c:pt>
                <c:pt idx="15">
                  <c:v>62564.934250509999</c:v>
                </c:pt>
                <c:pt idx="16">
                  <c:v>62703.031721317901</c:v>
                </c:pt>
                <c:pt idx="17">
                  <c:v>64474.921184894301</c:v>
                </c:pt>
                <c:pt idx="18">
                  <c:v>63690.8249775445</c:v>
                </c:pt>
                <c:pt idx="19">
                  <c:v>64320.163785149402</c:v>
                </c:pt>
                <c:pt idx="20">
                  <c:v>63777.200263873703</c:v>
                </c:pt>
                <c:pt idx="21">
                  <c:v>62718.253912458298</c:v>
                </c:pt>
                <c:pt idx="22">
                  <c:v>64362.846055107198</c:v>
                </c:pt>
                <c:pt idx="23">
                  <c:v>63525.789336786002</c:v>
                </c:pt>
                <c:pt idx="24">
                  <c:v>63840.2803119288</c:v>
                </c:pt>
                <c:pt idx="25">
                  <c:v>64026.247290625201</c:v>
                </c:pt>
                <c:pt idx="26">
                  <c:v>65210.367180446701</c:v>
                </c:pt>
                <c:pt idx="27">
                  <c:v>63479.253183390101</c:v>
                </c:pt>
                <c:pt idx="28">
                  <c:v>65836.617455287793</c:v>
                </c:pt>
                <c:pt idx="29">
                  <c:v>63634.154502230303</c:v>
                </c:pt>
                <c:pt idx="30">
                  <c:v>61908.439546637899</c:v>
                </c:pt>
                <c:pt idx="31">
                  <c:v>64904.502312220298</c:v>
                </c:pt>
                <c:pt idx="32">
                  <c:v>63994.871607389803</c:v>
                </c:pt>
                <c:pt idx="33">
                  <c:v>65910.423367447307</c:v>
                </c:pt>
                <c:pt idx="34">
                  <c:v>64211.321227425498</c:v>
                </c:pt>
                <c:pt idx="35">
                  <c:v>61602.556478635503</c:v>
                </c:pt>
                <c:pt idx="36">
                  <c:v>62991.487691086499</c:v>
                </c:pt>
                <c:pt idx="37">
                  <c:v>62590.360499556802</c:v>
                </c:pt>
                <c:pt idx="38">
                  <c:v>58941.217432133999</c:v>
                </c:pt>
                <c:pt idx="39">
                  <c:v>59760.370604095799</c:v>
                </c:pt>
                <c:pt idx="40">
                  <c:v>57827.6450690395</c:v>
                </c:pt>
                <c:pt idx="41">
                  <c:v>54125.6713392401</c:v>
                </c:pt>
                <c:pt idx="42">
                  <c:v>52620.9977888824</c:v>
                </c:pt>
                <c:pt idx="43">
                  <c:v>51225.770975970103</c:v>
                </c:pt>
                <c:pt idx="44">
                  <c:v>51645.7051461956</c:v>
                </c:pt>
                <c:pt idx="45">
                  <c:v>47867.735893694698</c:v>
                </c:pt>
                <c:pt idx="46">
                  <c:v>46255.106713601999</c:v>
                </c:pt>
                <c:pt idx="47">
                  <c:v>46168.413924101304</c:v>
                </c:pt>
                <c:pt idx="48">
                  <c:v>48626.975353781701</c:v>
                </c:pt>
                <c:pt idx="49">
                  <c:v>45468.130179921704</c:v>
                </c:pt>
                <c:pt idx="50">
                  <c:v>41665.037351719402</c:v>
                </c:pt>
                <c:pt idx="51">
                  <c:v>44210.359543905797</c:v>
                </c:pt>
                <c:pt idx="52">
                  <c:v>42720.393434102101</c:v>
                </c:pt>
                <c:pt idx="53">
                  <c:v>46605.021835091997</c:v>
                </c:pt>
                <c:pt idx="54">
                  <c:v>47491.585314604301</c:v>
                </c:pt>
                <c:pt idx="55">
                  <c:v>49537.621271001997</c:v>
                </c:pt>
                <c:pt idx="56">
                  <c:v>43774.042529981598</c:v>
                </c:pt>
                <c:pt idx="57">
                  <c:v>48444.540387900997</c:v>
                </c:pt>
                <c:pt idx="58">
                  <c:v>48641.073533487797</c:v>
                </c:pt>
                <c:pt idx="59">
                  <c:v>49596.044886542702</c:v>
                </c:pt>
                <c:pt idx="60">
                  <c:v>48930.267572886798</c:v>
                </c:pt>
                <c:pt idx="61">
                  <c:v>47031.068555049402</c:v>
                </c:pt>
                <c:pt idx="62">
                  <c:v>51322.912277451003</c:v>
                </c:pt>
                <c:pt idx="63">
                  <c:v>51440.413940645703</c:v>
                </c:pt>
                <c:pt idx="64">
                  <c:v>50165.523853087201</c:v>
                </c:pt>
                <c:pt idx="65">
                  <c:v>51067.962314197903</c:v>
                </c:pt>
                <c:pt idx="66">
                  <c:v>51712.921756628297</c:v>
                </c:pt>
                <c:pt idx="67">
                  <c:v>48396.838597757604</c:v>
                </c:pt>
                <c:pt idx="68">
                  <c:v>52583.253594294103</c:v>
                </c:pt>
                <c:pt idx="69">
                  <c:v>54278.023936029502</c:v>
                </c:pt>
                <c:pt idx="70">
                  <c:v>56522.395681257702</c:v>
                </c:pt>
                <c:pt idx="71">
                  <c:v>57810.772121116403</c:v>
                </c:pt>
              </c:numCache>
            </c:numRef>
          </c:val>
          <c:smooth val="0"/>
          <c:extLst>
            <c:ext xmlns:c16="http://schemas.microsoft.com/office/drawing/2014/chart" uri="{C3380CC4-5D6E-409C-BE32-E72D297353CC}">
              <c16:uniqueId val="{00000007-89D0-43D4-BE5B-618926BF1DA2}"/>
            </c:ext>
          </c:extLst>
        </c:ser>
        <c:ser>
          <c:idx val="8"/>
          <c:order val="8"/>
          <c:tx>
            <c:strRef>
              <c:f>all!$J$1</c:f>
              <c:strCache>
                <c:ptCount val="1"/>
                <c:pt idx="0">
                  <c:v>sa_x13</c:v>
                </c:pt>
              </c:strCache>
            </c:strRef>
          </c:tx>
          <c:spPr>
            <a:ln w="19050" cap="rnd">
              <a:solidFill>
                <a:schemeClr val="accent3">
                  <a:lumMod val="60000"/>
                </a:schemeClr>
              </a:solidFill>
              <a:round/>
            </a:ln>
            <a:effectLst/>
          </c:spPr>
          <c:marker>
            <c:symbol val="none"/>
          </c:marker>
          <c:cat>
            <c:numRef>
              <c:f>all!$A$158:$A$229</c:f>
              <c:numCache>
                <c:formatCode>mmm\-yy</c:formatCode>
                <c:ptCount val="72"/>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numCache>
            </c:numRef>
          </c:cat>
          <c:val>
            <c:numRef>
              <c:f>all!$J$158:$J$229</c:f>
              <c:numCache>
                <c:formatCode>General</c:formatCode>
                <c:ptCount val="72"/>
                <c:pt idx="0">
                  <c:v>62384.187256625002</c:v>
                </c:pt>
                <c:pt idx="1">
                  <c:v>62036.568047549699</c:v>
                </c:pt>
                <c:pt idx="2">
                  <c:v>61886.499786385401</c:v>
                </c:pt>
                <c:pt idx="3">
                  <c:v>62749.951948050199</c:v>
                </c:pt>
                <c:pt idx="4">
                  <c:v>62324.0741240032</c:v>
                </c:pt>
                <c:pt idx="5">
                  <c:v>67694.366228030296</c:v>
                </c:pt>
                <c:pt idx="6">
                  <c:v>70949.308923614997</c:v>
                </c:pt>
                <c:pt idx="7">
                  <c:v>62081.953998593803</c:v>
                </c:pt>
                <c:pt idx="8">
                  <c:v>60226.3994704984</c:v>
                </c:pt>
                <c:pt idx="9">
                  <c:v>57404.498288837698</c:v>
                </c:pt>
                <c:pt idx="10">
                  <c:v>61530.746166655903</c:v>
                </c:pt>
                <c:pt idx="11">
                  <c:v>62067.372623636802</c:v>
                </c:pt>
                <c:pt idx="12">
                  <c:v>65306.0351308932</c:v>
                </c:pt>
                <c:pt idx="13">
                  <c:v>62139.716257819702</c:v>
                </c:pt>
                <c:pt idx="14">
                  <c:v>63083.1275477538</c:v>
                </c:pt>
                <c:pt idx="15">
                  <c:v>63606.031175649499</c:v>
                </c:pt>
                <c:pt idx="16">
                  <c:v>62402.295677668597</c:v>
                </c:pt>
                <c:pt idx="17">
                  <c:v>63437.659273435398</c:v>
                </c:pt>
                <c:pt idx="18">
                  <c:v>64784.031752139097</c:v>
                </c:pt>
                <c:pt idx="19">
                  <c:v>63494.631658857201</c:v>
                </c:pt>
                <c:pt idx="20">
                  <c:v>64499.9291415997</c:v>
                </c:pt>
                <c:pt idx="21">
                  <c:v>63437.8466910731</c:v>
                </c:pt>
                <c:pt idx="22">
                  <c:v>63604.863570547597</c:v>
                </c:pt>
                <c:pt idx="23">
                  <c:v>64509.7978893697</c:v>
                </c:pt>
                <c:pt idx="24">
                  <c:v>63622.9739617862</c:v>
                </c:pt>
                <c:pt idx="25">
                  <c:v>64448.127226747703</c:v>
                </c:pt>
                <c:pt idx="26">
                  <c:v>63856.363326205101</c:v>
                </c:pt>
                <c:pt idx="27">
                  <c:v>64095.011023892002</c:v>
                </c:pt>
                <c:pt idx="28">
                  <c:v>64795.366820062503</c:v>
                </c:pt>
                <c:pt idx="29">
                  <c:v>63300.558223277898</c:v>
                </c:pt>
                <c:pt idx="30">
                  <c:v>62844.049987758699</c:v>
                </c:pt>
                <c:pt idx="31">
                  <c:v>64229.707143568201</c:v>
                </c:pt>
                <c:pt idx="32">
                  <c:v>67487.737183516801</c:v>
                </c:pt>
                <c:pt idx="33">
                  <c:v>64516.373092376001</c:v>
                </c:pt>
                <c:pt idx="34">
                  <c:v>63198.995750823997</c:v>
                </c:pt>
                <c:pt idx="35">
                  <c:v>62375.600180819201</c:v>
                </c:pt>
                <c:pt idx="36">
                  <c:v>62278.499431862401</c:v>
                </c:pt>
                <c:pt idx="37">
                  <c:v>60543.832379283602</c:v>
                </c:pt>
                <c:pt idx="38">
                  <c:v>60190.728782071099</c:v>
                </c:pt>
                <c:pt idx="39">
                  <c:v>58814.969179706699</c:v>
                </c:pt>
                <c:pt idx="40">
                  <c:v>57126.994188228797</c:v>
                </c:pt>
                <c:pt idx="41">
                  <c:v>55570.135726356399</c:v>
                </c:pt>
                <c:pt idx="42">
                  <c:v>52283.144188264399</c:v>
                </c:pt>
                <c:pt idx="43">
                  <c:v>54493.120097380903</c:v>
                </c:pt>
                <c:pt idx="44">
                  <c:v>52451.652801105301</c:v>
                </c:pt>
                <c:pt idx="45">
                  <c:v>45769.5284301586</c:v>
                </c:pt>
                <c:pt idx="46">
                  <c:v>45258.783551238201</c:v>
                </c:pt>
                <c:pt idx="47">
                  <c:v>44370.920363241901</c:v>
                </c:pt>
                <c:pt idx="48">
                  <c:v>46300.520686135002</c:v>
                </c:pt>
                <c:pt idx="49">
                  <c:v>45007.759185637602</c:v>
                </c:pt>
                <c:pt idx="50">
                  <c:v>43609.775495235001</c:v>
                </c:pt>
                <c:pt idx="51">
                  <c:v>43774.0836971319</c:v>
                </c:pt>
                <c:pt idx="52">
                  <c:v>44505.651333212802</c:v>
                </c:pt>
                <c:pt idx="53">
                  <c:v>46570.822606537396</c:v>
                </c:pt>
                <c:pt idx="54">
                  <c:v>47492.632043268699</c:v>
                </c:pt>
                <c:pt idx="55">
                  <c:v>53128.199912468503</c:v>
                </c:pt>
                <c:pt idx="56">
                  <c:v>44595.069316306603</c:v>
                </c:pt>
                <c:pt idx="57">
                  <c:v>46566.6481095704</c:v>
                </c:pt>
                <c:pt idx="58">
                  <c:v>47601.082622849201</c:v>
                </c:pt>
                <c:pt idx="59">
                  <c:v>47780.441146896097</c:v>
                </c:pt>
                <c:pt idx="60">
                  <c:v>48188.214687405998</c:v>
                </c:pt>
                <c:pt idx="61">
                  <c:v>46874.426541221299</c:v>
                </c:pt>
                <c:pt idx="62">
                  <c:v>50668.814326304702</c:v>
                </c:pt>
                <c:pt idx="63">
                  <c:v>50784.5409864217</c:v>
                </c:pt>
                <c:pt idx="64">
                  <c:v>51457.495080634799</c:v>
                </c:pt>
                <c:pt idx="65">
                  <c:v>50776.175213442002</c:v>
                </c:pt>
                <c:pt idx="66">
                  <c:v>51768.533045732402</c:v>
                </c:pt>
                <c:pt idx="67">
                  <c:v>51953.388231935198</c:v>
                </c:pt>
                <c:pt idx="68">
                  <c:v>53675.432242476498</c:v>
                </c:pt>
                <c:pt idx="69">
                  <c:v>54479.063607005897</c:v>
                </c:pt>
                <c:pt idx="70">
                  <c:v>54737.661285654802</c:v>
                </c:pt>
                <c:pt idx="71">
                  <c:v>55913.094374140099</c:v>
                </c:pt>
              </c:numCache>
            </c:numRef>
          </c:val>
          <c:smooth val="0"/>
          <c:extLst>
            <c:ext xmlns:c16="http://schemas.microsoft.com/office/drawing/2014/chart" uri="{C3380CC4-5D6E-409C-BE32-E72D297353CC}">
              <c16:uniqueId val="{00000008-89D0-43D4-BE5B-618926BF1DA2}"/>
            </c:ext>
          </c:extLst>
        </c:ser>
        <c:dLbls>
          <c:showLegendKey val="0"/>
          <c:showVal val="0"/>
          <c:showCatName val="0"/>
          <c:showSerName val="0"/>
          <c:showPercent val="0"/>
          <c:showBubbleSize val="0"/>
        </c:dLbls>
        <c:smooth val="0"/>
        <c:axId val="2042298720"/>
        <c:axId val="81496079"/>
      </c:lineChart>
      <c:dateAx>
        <c:axId val="2042298720"/>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496079"/>
        <c:crosses val="autoZero"/>
        <c:auto val="1"/>
        <c:lblOffset val="100"/>
        <c:baseTimeUnit val="months"/>
      </c:dateAx>
      <c:valAx>
        <c:axId val="81496079"/>
        <c:scaling>
          <c:orientation val="minMax"/>
          <c:min val="39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2298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GB" noProof="0" dirty="0"/>
              <a:t>US-Retail : Automobile dealers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all!$B$1</c:f>
              <c:strCache>
                <c:ptCount val="1"/>
                <c:pt idx="0">
                  <c:v>s</c:v>
                </c:pt>
              </c:strCache>
            </c:strRef>
          </c:tx>
          <c:spPr>
            <a:ln w="19050" cap="rnd">
              <a:solidFill>
                <a:schemeClr val="accent1"/>
              </a:solidFill>
              <a:prstDash val="dash"/>
              <a:round/>
            </a:ln>
            <a:effectLst/>
          </c:spPr>
          <c:marker>
            <c:symbol val="none"/>
          </c:marker>
          <c:cat>
            <c:numRef>
              <c:f>all!$A$158:$A$229</c:f>
              <c:numCache>
                <c:formatCode>mmm\-yy</c:formatCode>
                <c:ptCount val="72"/>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numCache>
            </c:numRef>
          </c:cat>
          <c:val>
            <c:numRef>
              <c:f>all!$B$158:$B$229</c:f>
              <c:numCache>
                <c:formatCode>General</c:formatCode>
                <c:ptCount val="72"/>
                <c:pt idx="0">
                  <c:v>53605</c:v>
                </c:pt>
                <c:pt idx="1">
                  <c:v>57514</c:v>
                </c:pt>
                <c:pt idx="2">
                  <c:v>68146</c:v>
                </c:pt>
                <c:pt idx="3">
                  <c:v>64670</c:v>
                </c:pt>
                <c:pt idx="4">
                  <c:v>65526</c:v>
                </c:pt>
                <c:pt idx="5">
                  <c:v>71701</c:v>
                </c:pt>
                <c:pt idx="6">
                  <c:v>75408</c:v>
                </c:pt>
                <c:pt idx="7">
                  <c:v>69027</c:v>
                </c:pt>
                <c:pt idx="8">
                  <c:v>58912</c:v>
                </c:pt>
                <c:pt idx="9">
                  <c:v>53641</c:v>
                </c:pt>
                <c:pt idx="10">
                  <c:v>55136</c:v>
                </c:pt>
                <c:pt idx="11">
                  <c:v>60918</c:v>
                </c:pt>
                <c:pt idx="12">
                  <c:v>56524</c:v>
                </c:pt>
                <c:pt idx="13">
                  <c:v>57647</c:v>
                </c:pt>
                <c:pt idx="14">
                  <c:v>70031</c:v>
                </c:pt>
                <c:pt idx="15">
                  <c:v>63423</c:v>
                </c:pt>
                <c:pt idx="16">
                  <c:v>67753</c:v>
                </c:pt>
                <c:pt idx="17">
                  <c:v>67090</c:v>
                </c:pt>
                <c:pt idx="18">
                  <c:v>68417</c:v>
                </c:pt>
                <c:pt idx="19">
                  <c:v>70621</c:v>
                </c:pt>
                <c:pt idx="20">
                  <c:v>62079</c:v>
                </c:pt>
                <c:pt idx="21">
                  <c:v>59702</c:v>
                </c:pt>
                <c:pt idx="22">
                  <c:v>57426</c:v>
                </c:pt>
                <c:pt idx="23">
                  <c:v>61160</c:v>
                </c:pt>
                <c:pt idx="24">
                  <c:v>57107</c:v>
                </c:pt>
                <c:pt idx="25">
                  <c:v>59878</c:v>
                </c:pt>
                <c:pt idx="26">
                  <c:v>70858</c:v>
                </c:pt>
                <c:pt idx="27">
                  <c:v>64477</c:v>
                </c:pt>
                <c:pt idx="28">
                  <c:v>70582</c:v>
                </c:pt>
                <c:pt idx="29">
                  <c:v>66050</c:v>
                </c:pt>
                <c:pt idx="30">
                  <c:v>66271</c:v>
                </c:pt>
                <c:pt idx="31">
                  <c:v>71423</c:v>
                </c:pt>
                <c:pt idx="32">
                  <c:v>62471</c:v>
                </c:pt>
                <c:pt idx="33">
                  <c:v>62908</c:v>
                </c:pt>
                <c:pt idx="34">
                  <c:v>57284</c:v>
                </c:pt>
                <c:pt idx="35">
                  <c:v>59151</c:v>
                </c:pt>
                <c:pt idx="36">
                  <c:v>56364</c:v>
                </c:pt>
                <c:pt idx="37">
                  <c:v>58749</c:v>
                </c:pt>
                <c:pt idx="38">
                  <c:v>64468</c:v>
                </c:pt>
                <c:pt idx="39">
                  <c:v>60920</c:v>
                </c:pt>
                <c:pt idx="40">
                  <c:v>62226</c:v>
                </c:pt>
                <c:pt idx="41">
                  <c:v>56338</c:v>
                </c:pt>
                <c:pt idx="42">
                  <c:v>56743</c:v>
                </c:pt>
                <c:pt idx="43">
                  <c:v>57930</c:v>
                </c:pt>
                <c:pt idx="44">
                  <c:v>50292</c:v>
                </c:pt>
                <c:pt idx="45">
                  <c:v>45036</c:v>
                </c:pt>
                <c:pt idx="46">
                  <c:v>39328</c:v>
                </c:pt>
                <c:pt idx="47">
                  <c:v>43622</c:v>
                </c:pt>
                <c:pt idx="48">
                  <c:v>42021</c:v>
                </c:pt>
                <c:pt idx="49">
                  <c:v>41853</c:v>
                </c:pt>
                <c:pt idx="50">
                  <c:v>47070</c:v>
                </c:pt>
                <c:pt idx="51">
                  <c:v>45579</c:v>
                </c:pt>
                <c:pt idx="52">
                  <c:v>46809</c:v>
                </c:pt>
                <c:pt idx="53">
                  <c:v>48608</c:v>
                </c:pt>
                <c:pt idx="54">
                  <c:v>51521</c:v>
                </c:pt>
                <c:pt idx="55">
                  <c:v>56214</c:v>
                </c:pt>
                <c:pt idx="56">
                  <c:v>42644</c:v>
                </c:pt>
                <c:pt idx="57">
                  <c:v>45677</c:v>
                </c:pt>
                <c:pt idx="58">
                  <c:v>41738</c:v>
                </c:pt>
                <c:pt idx="59">
                  <c:v>47176</c:v>
                </c:pt>
                <c:pt idx="60">
                  <c:v>42286</c:v>
                </c:pt>
                <c:pt idx="61">
                  <c:v>43549</c:v>
                </c:pt>
                <c:pt idx="62">
                  <c:v>56516</c:v>
                </c:pt>
                <c:pt idx="63">
                  <c:v>52947</c:v>
                </c:pt>
                <c:pt idx="64">
                  <c:v>54093</c:v>
                </c:pt>
                <c:pt idx="65">
                  <c:v>52967</c:v>
                </c:pt>
                <c:pt idx="66">
                  <c:v>55759</c:v>
                </c:pt>
                <c:pt idx="67">
                  <c:v>55061</c:v>
                </c:pt>
                <c:pt idx="68">
                  <c:v>51564</c:v>
                </c:pt>
                <c:pt idx="69">
                  <c:v>51545</c:v>
                </c:pt>
                <c:pt idx="70">
                  <c:v>49571</c:v>
                </c:pt>
                <c:pt idx="71">
                  <c:v>55504</c:v>
                </c:pt>
              </c:numCache>
            </c:numRef>
          </c:val>
          <c:smooth val="0"/>
          <c:extLst>
            <c:ext xmlns:c16="http://schemas.microsoft.com/office/drawing/2014/chart" uri="{C3380CC4-5D6E-409C-BE32-E72D297353CC}">
              <c16:uniqueId val="{00000000-89D0-43D4-BE5B-618926BF1DA2}"/>
            </c:ext>
          </c:extLst>
        </c:ser>
        <c:ser>
          <c:idx val="2"/>
          <c:order val="1"/>
          <c:tx>
            <c:strRef>
              <c:f>all!$D$1</c:f>
              <c:strCache>
                <c:ptCount val="1"/>
                <c:pt idx="0">
                  <c:v>sa_stl</c:v>
                </c:pt>
              </c:strCache>
            </c:strRef>
          </c:tx>
          <c:spPr>
            <a:ln w="19050" cap="rnd">
              <a:solidFill>
                <a:schemeClr val="accent3"/>
              </a:solidFill>
              <a:round/>
            </a:ln>
            <a:effectLst/>
          </c:spPr>
          <c:marker>
            <c:symbol val="none"/>
          </c:marker>
          <c:cat>
            <c:numRef>
              <c:f>all!$A$158:$A$229</c:f>
              <c:numCache>
                <c:formatCode>mmm\-yy</c:formatCode>
                <c:ptCount val="72"/>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numCache>
            </c:numRef>
          </c:cat>
          <c:val>
            <c:numRef>
              <c:f>all!$D$158:$D$229</c:f>
              <c:numCache>
                <c:formatCode>General</c:formatCode>
                <c:ptCount val="72"/>
                <c:pt idx="0">
                  <c:v>61135.125484441603</c:v>
                </c:pt>
                <c:pt idx="1">
                  <c:v>62739.668733847298</c:v>
                </c:pt>
                <c:pt idx="2">
                  <c:v>62543.898751155299</c:v>
                </c:pt>
                <c:pt idx="3">
                  <c:v>63964.329910829198</c:v>
                </c:pt>
                <c:pt idx="4">
                  <c:v>61521.461576529298</c:v>
                </c:pt>
                <c:pt idx="5">
                  <c:v>67420.787201725194</c:v>
                </c:pt>
                <c:pt idx="6">
                  <c:v>68460.546112116499</c:v>
                </c:pt>
                <c:pt idx="7">
                  <c:v>63264.2000128328</c:v>
                </c:pt>
                <c:pt idx="8">
                  <c:v>60280.062627974403</c:v>
                </c:pt>
                <c:pt idx="9">
                  <c:v>58556.609860237899</c:v>
                </c:pt>
                <c:pt idx="10">
                  <c:v>61982.696845464699</c:v>
                </c:pt>
                <c:pt idx="11">
                  <c:v>62833.341636118297</c:v>
                </c:pt>
                <c:pt idx="12">
                  <c:v>63873.179868342602</c:v>
                </c:pt>
                <c:pt idx="13">
                  <c:v>62357.779760824902</c:v>
                </c:pt>
                <c:pt idx="14">
                  <c:v>63970.783982804001</c:v>
                </c:pt>
                <c:pt idx="15">
                  <c:v>62651.199806122597</c:v>
                </c:pt>
                <c:pt idx="16">
                  <c:v>63321.962680471603</c:v>
                </c:pt>
                <c:pt idx="17">
                  <c:v>63160.546129848903</c:v>
                </c:pt>
                <c:pt idx="18">
                  <c:v>62578.841976933101</c:v>
                </c:pt>
                <c:pt idx="19">
                  <c:v>64324.4429544206</c:v>
                </c:pt>
                <c:pt idx="20">
                  <c:v>63890.440661445798</c:v>
                </c:pt>
                <c:pt idx="21">
                  <c:v>64253.076321413799</c:v>
                </c:pt>
                <c:pt idx="22">
                  <c:v>64298.114030275698</c:v>
                </c:pt>
                <c:pt idx="23">
                  <c:v>63679.634280881801</c:v>
                </c:pt>
                <c:pt idx="24">
                  <c:v>63474.529555192297</c:v>
                </c:pt>
                <c:pt idx="25">
                  <c:v>63890.612058488703</c:v>
                </c:pt>
                <c:pt idx="26">
                  <c:v>65205.318079355398</c:v>
                </c:pt>
                <c:pt idx="27">
                  <c:v>63467.2297794759</c:v>
                </c:pt>
                <c:pt idx="28">
                  <c:v>65835.9518470849</c:v>
                </c:pt>
                <c:pt idx="29">
                  <c:v>63154.261721403498</c:v>
                </c:pt>
                <c:pt idx="30">
                  <c:v>61872.717293211601</c:v>
                </c:pt>
                <c:pt idx="31">
                  <c:v>64469.150958901097</c:v>
                </c:pt>
                <c:pt idx="32">
                  <c:v>64229.747228707201</c:v>
                </c:pt>
                <c:pt idx="33">
                  <c:v>66347.727520977598</c:v>
                </c:pt>
                <c:pt idx="34">
                  <c:v>64251.260041813897</c:v>
                </c:pt>
                <c:pt idx="35">
                  <c:v>62025.384776910898</c:v>
                </c:pt>
                <c:pt idx="36">
                  <c:v>62311.502964452302</c:v>
                </c:pt>
                <c:pt idx="37">
                  <c:v>62846.481526971402</c:v>
                </c:pt>
                <c:pt idx="38">
                  <c:v>59287.8183600513</c:v>
                </c:pt>
                <c:pt idx="39">
                  <c:v>59697.654116016201</c:v>
                </c:pt>
                <c:pt idx="40">
                  <c:v>58073.648704646701</c:v>
                </c:pt>
                <c:pt idx="41">
                  <c:v>53907.360157692798</c:v>
                </c:pt>
                <c:pt idx="42">
                  <c:v>52572.903276293102</c:v>
                </c:pt>
                <c:pt idx="43">
                  <c:v>51253.626592028297</c:v>
                </c:pt>
                <c:pt idx="44">
                  <c:v>52254.691998762501</c:v>
                </c:pt>
                <c:pt idx="45">
                  <c:v>47853.9099320725</c:v>
                </c:pt>
                <c:pt idx="46">
                  <c:v>45917.429369813697</c:v>
                </c:pt>
                <c:pt idx="47">
                  <c:v>45820.855661565503</c:v>
                </c:pt>
                <c:pt idx="48">
                  <c:v>47848.045433462401</c:v>
                </c:pt>
                <c:pt idx="49">
                  <c:v>45976.286733536101</c:v>
                </c:pt>
                <c:pt idx="50">
                  <c:v>41937.912918544498</c:v>
                </c:pt>
                <c:pt idx="51">
                  <c:v>44215.920110420499</c:v>
                </c:pt>
                <c:pt idx="52">
                  <c:v>42821.536936005701</c:v>
                </c:pt>
                <c:pt idx="53">
                  <c:v>46385.683759913998</c:v>
                </c:pt>
                <c:pt idx="54">
                  <c:v>47482.645126170799</c:v>
                </c:pt>
                <c:pt idx="55">
                  <c:v>49831.687905815197</c:v>
                </c:pt>
                <c:pt idx="56">
                  <c:v>44623.162166878901</c:v>
                </c:pt>
                <c:pt idx="57">
                  <c:v>48340.073945992801</c:v>
                </c:pt>
                <c:pt idx="58">
                  <c:v>48207.957877973502</c:v>
                </c:pt>
                <c:pt idx="59">
                  <c:v>49124.926196795001</c:v>
                </c:pt>
                <c:pt idx="60">
                  <c:v>48035.164362344301</c:v>
                </c:pt>
                <c:pt idx="61">
                  <c:v>47672.1360468083</c:v>
                </c:pt>
                <c:pt idx="62">
                  <c:v>51481.469289935798</c:v>
                </c:pt>
                <c:pt idx="63">
                  <c:v>51525.615282268103</c:v>
                </c:pt>
                <c:pt idx="64">
                  <c:v>50223.164677700697</c:v>
                </c:pt>
                <c:pt idx="65">
                  <c:v>50828.595279901303</c:v>
                </c:pt>
                <c:pt idx="66">
                  <c:v>51744.793837446901</c:v>
                </c:pt>
                <c:pt idx="67">
                  <c:v>48752.508170059198</c:v>
                </c:pt>
                <c:pt idx="68">
                  <c:v>53575.304976278399</c:v>
                </c:pt>
                <c:pt idx="69">
                  <c:v>54127.737872956997</c:v>
                </c:pt>
                <c:pt idx="70">
                  <c:v>55990.917233199703</c:v>
                </c:pt>
                <c:pt idx="71">
                  <c:v>57322.946705181603</c:v>
                </c:pt>
              </c:numCache>
            </c:numRef>
          </c:val>
          <c:smooth val="0"/>
          <c:extLst>
            <c:ext xmlns:c16="http://schemas.microsoft.com/office/drawing/2014/chart" uri="{C3380CC4-5D6E-409C-BE32-E72D297353CC}">
              <c16:uniqueId val="{00000002-89D0-43D4-BE5B-618926BF1DA2}"/>
            </c:ext>
          </c:extLst>
        </c:ser>
        <c:ser>
          <c:idx val="5"/>
          <c:order val="2"/>
          <c:tx>
            <c:strRef>
              <c:f>all!$G$1</c:f>
              <c:strCache>
                <c:ptCount val="1"/>
                <c:pt idx="0">
                  <c:v>sa_ts0</c:v>
                </c:pt>
              </c:strCache>
            </c:strRef>
          </c:tx>
          <c:spPr>
            <a:ln w="19050" cap="rnd">
              <a:solidFill>
                <a:schemeClr val="accent6"/>
              </a:solidFill>
              <a:round/>
            </a:ln>
            <a:effectLst/>
          </c:spPr>
          <c:marker>
            <c:symbol val="none"/>
          </c:marker>
          <c:cat>
            <c:numRef>
              <c:f>all!$A$158:$A$229</c:f>
              <c:numCache>
                <c:formatCode>mmm\-yy</c:formatCode>
                <c:ptCount val="72"/>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numCache>
            </c:numRef>
          </c:cat>
          <c:val>
            <c:numRef>
              <c:f>all!$G$158:$G$229</c:f>
              <c:numCache>
                <c:formatCode>General</c:formatCode>
                <c:ptCount val="72"/>
                <c:pt idx="0">
                  <c:v>60027.7295014501</c:v>
                </c:pt>
                <c:pt idx="1">
                  <c:v>61825.692805172002</c:v>
                </c:pt>
                <c:pt idx="2">
                  <c:v>63358.685924675898</c:v>
                </c:pt>
                <c:pt idx="3">
                  <c:v>63715.561557106899</c:v>
                </c:pt>
                <c:pt idx="4">
                  <c:v>61565.475713444903</c:v>
                </c:pt>
                <c:pt idx="5">
                  <c:v>68245.224704401902</c:v>
                </c:pt>
                <c:pt idx="6">
                  <c:v>70314.7175077344</c:v>
                </c:pt>
                <c:pt idx="7">
                  <c:v>63270.993892200902</c:v>
                </c:pt>
                <c:pt idx="8">
                  <c:v>60569.037452777302</c:v>
                </c:pt>
                <c:pt idx="9">
                  <c:v>56295.088925688397</c:v>
                </c:pt>
                <c:pt idx="10">
                  <c:v>61466.991719814701</c:v>
                </c:pt>
                <c:pt idx="11">
                  <c:v>63676.449118825898</c:v>
                </c:pt>
                <c:pt idx="12">
                  <c:v>62883.875287469898</c:v>
                </c:pt>
                <c:pt idx="13">
                  <c:v>61946.736402182702</c:v>
                </c:pt>
                <c:pt idx="14">
                  <c:v>65082.528592276198</c:v>
                </c:pt>
                <c:pt idx="15">
                  <c:v>62430.471974743501</c:v>
                </c:pt>
                <c:pt idx="16">
                  <c:v>63740.204079205098</c:v>
                </c:pt>
                <c:pt idx="17">
                  <c:v>63837.593539350499</c:v>
                </c:pt>
                <c:pt idx="18">
                  <c:v>63515.1143914614</c:v>
                </c:pt>
                <c:pt idx="19">
                  <c:v>64688.8371223918</c:v>
                </c:pt>
                <c:pt idx="20">
                  <c:v>63797.320120509801</c:v>
                </c:pt>
                <c:pt idx="21">
                  <c:v>62435.654861344599</c:v>
                </c:pt>
                <c:pt idx="22">
                  <c:v>63793.132867346903</c:v>
                </c:pt>
                <c:pt idx="23">
                  <c:v>63784.082494058603</c:v>
                </c:pt>
                <c:pt idx="24">
                  <c:v>63319.642463785603</c:v>
                </c:pt>
                <c:pt idx="25">
                  <c:v>64096.458231545497</c:v>
                </c:pt>
                <c:pt idx="26">
                  <c:v>65878.886571053299</c:v>
                </c:pt>
                <c:pt idx="27">
                  <c:v>63411.544850412</c:v>
                </c:pt>
                <c:pt idx="28">
                  <c:v>66550.003739008898</c:v>
                </c:pt>
                <c:pt idx="29">
                  <c:v>63098.607545852698</c:v>
                </c:pt>
                <c:pt idx="30">
                  <c:v>61656.0251119717</c:v>
                </c:pt>
                <c:pt idx="31">
                  <c:v>65396.971746721501</c:v>
                </c:pt>
                <c:pt idx="32">
                  <c:v>64219.673526560997</c:v>
                </c:pt>
                <c:pt idx="33">
                  <c:v>65572.189666487597</c:v>
                </c:pt>
                <c:pt idx="34">
                  <c:v>63664.828683211301</c:v>
                </c:pt>
                <c:pt idx="35">
                  <c:v>61620.992948723899</c:v>
                </c:pt>
                <c:pt idx="36">
                  <c:v>62393.784182141098</c:v>
                </c:pt>
                <c:pt idx="37">
                  <c:v>62886.649936435198</c:v>
                </c:pt>
                <c:pt idx="38">
                  <c:v>59548.115478371597</c:v>
                </c:pt>
                <c:pt idx="39">
                  <c:v>59735.084009821097</c:v>
                </c:pt>
                <c:pt idx="40">
                  <c:v>58284.618511321103</c:v>
                </c:pt>
                <c:pt idx="41">
                  <c:v>53579.282068503198</c:v>
                </c:pt>
                <c:pt idx="42">
                  <c:v>52244.454863478197</c:v>
                </c:pt>
                <c:pt idx="43">
                  <c:v>51862.781843056</c:v>
                </c:pt>
                <c:pt idx="44">
                  <c:v>52114.6488879674</c:v>
                </c:pt>
                <c:pt idx="45">
                  <c:v>47664.981479779803</c:v>
                </c:pt>
                <c:pt idx="46">
                  <c:v>45713.767018781</c:v>
                </c:pt>
                <c:pt idx="47">
                  <c:v>45893.965383873801</c:v>
                </c:pt>
                <c:pt idx="48">
                  <c:v>47946.833074470502</c:v>
                </c:pt>
                <c:pt idx="49">
                  <c:v>46046.8158313026</c:v>
                </c:pt>
                <c:pt idx="50">
                  <c:v>42220.239508165701</c:v>
                </c:pt>
                <c:pt idx="51">
                  <c:v>44342.551267966403</c:v>
                </c:pt>
                <c:pt idx="52">
                  <c:v>43052.199576387698</c:v>
                </c:pt>
                <c:pt idx="53">
                  <c:v>45966.627315734702</c:v>
                </c:pt>
                <c:pt idx="54">
                  <c:v>47043.899581999998</c:v>
                </c:pt>
                <c:pt idx="55">
                  <c:v>50192.788628521703</c:v>
                </c:pt>
                <c:pt idx="56">
                  <c:v>44544.070715782102</c:v>
                </c:pt>
                <c:pt idx="57">
                  <c:v>48234.539136235398</c:v>
                </c:pt>
                <c:pt idx="58">
                  <c:v>48007.602746912497</c:v>
                </c:pt>
                <c:pt idx="59">
                  <c:v>49169.867771586098</c:v>
                </c:pt>
                <c:pt idx="60">
                  <c:v>48157.4013248099</c:v>
                </c:pt>
                <c:pt idx="61">
                  <c:v>47800.557425964304</c:v>
                </c:pt>
                <c:pt idx="62">
                  <c:v>51606.234841672202</c:v>
                </c:pt>
                <c:pt idx="63">
                  <c:v>51652.515135227201</c:v>
                </c:pt>
                <c:pt idx="64">
                  <c:v>50440.415220013303</c:v>
                </c:pt>
                <c:pt idx="65">
                  <c:v>50426.9557601673</c:v>
                </c:pt>
                <c:pt idx="66">
                  <c:v>51355.877307128801</c:v>
                </c:pt>
                <c:pt idx="67">
                  <c:v>49226.383448831402</c:v>
                </c:pt>
                <c:pt idx="68">
                  <c:v>53526.840859065203</c:v>
                </c:pt>
                <c:pt idx="69">
                  <c:v>54079.0151056217</c:v>
                </c:pt>
                <c:pt idx="70">
                  <c:v>55743.437005582498</c:v>
                </c:pt>
                <c:pt idx="71">
                  <c:v>57303.260223805097</c:v>
                </c:pt>
              </c:numCache>
            </c:numRef>
          </c:val>
          <c:smooth val="0"/>
          <c:extLst>
            <c:ext xmlns:c16="http://schemas.microsoft.com/office/drawing/2014/chart" uri="{C3380CC4-5D6E-409C-BE32-E72D297353CC}">
              <c16:uniqueId val="{00000005-89D0-43D4-BE5B-618926BF1DA2}"/>
            </c:ext>
          </c:extLst>
        </c:ser>
        <c:ser>
          <c:idx val="7"/>
          <c:order val="3"/>
          <c:tx>
            <c:strRef>
              <c:f>all!$I$1</c:f>
              <c:strCache>
                <c:ptCount val="1"/>
                <c:pt idx="0">
                  <c:v>sa_x11</c:v>
                </c:pt>
              </c:strCache>
            </c:strRef>
          </c:tx>
          <c:spPr>
            <a:ln w="19050" cap="rnd">
              <a:solidFill>
                <a:schemeClr val="accent2">
                  <a:lumMod val="60000"/>
                </a:schemeClr>
              </a:solidFill>
              <a:round/>
            </a:ln>
            <a:effectLst/>
          </c:spPr>
          <c:marker>
            <c:symbol val="none"/>
          </c:marker>
          <c:cat>
            <c:numRef>
              <c:f>all!$A$158:$A$229</c:f>
              <c:numCache>
                <c:formatCode>mmm\-yy</c:formatCode>
                <c:ptCount val="72"/>
                <c:pt idx="0">
                  <c:v>38353</c:v>
                </c:pt>
                <c:pt idx="1">
                  <c:v>38384</c:v>
                </c:pt>
                <c:pt idx="2">
                  <c:v>38412</c:v>
                </c:pt>
                <c:pt idx="3">
                  <c:v>38443</c:v>
                </c:pt>
                <c:pt idx="4">
                  <c:v>38473</c:v>
                </c:pt>
                <c:pt idx="5">
                  <c:v>38504</c:v>
                </c:pt>
                <c:pt idx="6">
                  <c:v>38534</c:v>
                </c:pt>
                <c:pt idx="7">
                  <c:v>38565</c:v>
                </c:pt>
                <c:pt idx="8">
                  <c:v>38596</c:v>
                </c:pt>
                <c:pt idx="9">
                  <c:v>38626</c:v>
                </c:pt>
                <c:pt idx="10">
                  <c:v>38657</c:v>
                </c:pt>
                <c:pt idx="11">
                  <c:v>38687</c:v>
                </c:pt>
                <c:pt idx="12">
                  <c:v>38718</c:v>
                </c:pt>
                <c:pt idx="13">
                  <c:v>38749</c:v>
                </c:pt>
                <c:pt idx="14">
                  <c:v>38777</c:v>
                </c:pt>
                <c:pt idx="15">
                  <c:v>38808</c:v>
                </c:pt>
                <c:pt idx="16">
                  <c:v>38838</c:v>
                </c:pt>
                <c:pt idx="17">
                  <c:v>38869</c:v>
                </c:pt>
                <c:pt idx="18">
                  <c:v>38899</c:v>
                </c:pt>
                <c:pt idx="19">
                  <c:v>38930</c:v>
                </c:pt>
                <c:pt idx="20">
                  <c:v>38961</c:v>
                </c:pt>
                <c:pt idx="21">
                  <c:v>38991</c:v>
                </c:pt>
                <c:pt idx="22">
                  <c:v>39022</c:v>
                </c:pt>
                <c:pt idx="23">
                  <c:v>39052</c:v>
                </c:pt>
                <c:pt idx="24">
                  <c:v>39083</c:v>
                </c:pt>
                <c:pt idx="25">
                  <c:v>39114</c:v>
                </c:pt>
                <c:pt idx="26">
                  <c:v>39142</c:v>
                </c:pt>
                <c:pt idx="27">
                  <c:v>39173</c:v>
                </c:pt>
                <c:pt idx="28">
                  <c:v>39203</c:v>
                </c:pt>
                <c:pt idx="29">
                  <c:v>39234</c:v>
                </c:pt>
                <c:pt idx="30">
                  <c:v>39264</c:v>
                </c:pt>
                <c:pt idx="31">
                  <c:v>39295</c:v>
                </c:pt>
                <c:pt idx="32">
                  <c:v>39326</c:v>
                </c:pt>
                <c:pt idx="33">
                  <c:v>39356</c:v>
                </c:pt>
                <c:pt idx="34">
                  <c:v>39387</c:v>
                </c:pt>
                <c:pt idx="35">
                  <c:v>39417</c:v>
                </c:pt>
                <c:pt idx="36">
                  <c:v>39448</c:v>
                </c:pt>
                <c:pt idx="37">
                  <c:v>39479</c:v>
                </c:pt>
                <c:pt idx="38">
                  <c:v>39508</c:v>
                </c:pt>
                <c:pt idx="39">
                  <c:v>39539</c:v>
                </c:pt>
                <c:pt idx="40">
                  <c:v>39569</c:v>
                </c:pt>
                <c:pt idx="41">
                  <c:v>39600</c:v>
                </c:pt>
                <c:pt idx="42">
                  <c:v>39630</c:v>
                </c:pt>
                <c:pt idx="43">
                  <c:v>39661</c:v>
                </c:pt>
                <c:pt idx="44">
                  <c:v>39692</c:v>
                </c:pt>
                <c:pt idx="45">
                  <c:v>39722</c:v>
                </c:pt>
                <c:pt idx="46">
                  <c:v>39753</c:v>
                </c:pt>
                <c:pt idx="47">
                  <c:v>39783</c:v>
                </c:pt>
                <c:pt idx="48">
                  <c:v>39814</c:v>
                </c:pt>
                <c:pt idx="49">
                  <c:v>39845</c:v>
                </c:pt>
                <c:pt idx="50">
                  <c:v>39873</c:v>
                </c:pt>
                <c:pt idx="51">
                  <c:v>39904</c:v>
                </c:pt>
                <c:pt idx="52">
                  <c:v>39934</c:v>
                </c:pt>
                <c:pt idx="53">
                  <c:v>39965</c:v>
                </c:pt>
                <c:pt idx="54">
                  <c:v>39995</c:v>
                </c:pt>
                <c:pt idx="55">
                  <c:v>40026</c:v>
                </c:pt>
                <c:pt idx="56">
                  <c:v>40057</c:v>
                </c:pt>
                <c:pt idx="57">
                  <c:v>40087</c:v>
                </c:pt>
                <c:pt idx="58">
                  <c:v>40118</c:v>
                </c:pt>
                <c:pt idx="59">
                  <c:v>40148</c:v>
                </c:pt>
                <c:pt idx="60">
                  <c:v>40179</c:v>
                </c:pt>
                <c:pt idx="61">
                  <c:v>40210</c:v>
                </c:pt>
                <c:pt idx="62">
                  <c:v>40238</c:v>
                </c:pt>
                <c:pt idx="63">
                  <c:v>40269</c:v>
                </c:pt>
                <c:pt idx="64">
                  <c:v>40299</c:v>
                </c:pt>
                <c:pt idx="65">
                  <c:v>40330</c:v>
                </c:pt>
                <c:pt idx="66">
                  <c:v>40360</c:v>
                </c:pt>
                <c:pt idx="67">
                  <c:v>40391</c:v>
                </c:pt>
                <c:pt idx="68">
                  <c:v>40422</c:v>
                </c:pt>
                <c:pt idx="69">
                  <c:v>40452</c:v>
                </c:pt>
                <c:pt idx="70">
                  <c:v>40483</c:v>
                </c:pt>
                <c:pt idx="71">
                  <c:v>40513</c:v>
                </c:pt>
              </c:numCache>
            </c:numRef>
          </c:cat>
          <c:val>
            <c:numRef>
              <c:f>all!$I$158:$I$229</c:f>
              <c:numCache>
                <c:formatCode>General</c:formatCode>
                <c:ptCount val="72"/>
                <c:pt idx="0">
                  <c:v>60320.271728182503</c:v>
                </c:pt>
                <c:pt idx="1">
                  <c:v>62406.759356492003</c:v>
                </c:pt>
                <c:pt idx="2">
                  <c:v>62967.779062013004</c:v>
                </c:pt>
                <c:pt idx="3">
                  <c:v>63746.2402631683</c:v>
                </c:pt>
                <c:pt idx="4">
                  <c:v>60538.959602764102</c:v>
                </c:pt>
                <c:pt idx="5">
                  <c:v>68949.664304365695</c:v>
                </c:pt>
                <c:pt idx="6">
                  <c:v>70176.840479011196</c:v>
                </c:pt>
                <c:pt idx="7">
                  <c:v>63046.599388029601</c:v>
                </c:pt>
                <c:pt idx="8">
                  <c:v>60660.428331928699</c:v>
                </c:pt>
                <c:pt idx="9">
                  <c:v>56604.491873903702</c:v>
                </c:pt>
                <c:pt idx="10">
                  <c:v>61961.4567054773</c:v>
                </c:pt>
                <c:pt idx="11">
                  <c:v>63120.849720317397</c:v>
                </c:pt>
                <c:pt idx="12">
                  <c:v>63296.522103736301</c:v>
                </c:pt>
                <c:pt idx="13">
                  <c:v>62221.279419288599</c:v>
                </c:pt>
                <c:pt idx="14">
                  <c:v>64502.270277665601</c:v>
                </c:pt>
                <c:pt idx="15">
                  <c:v>62564.934250509999</c:v>
                </c:pt>
                <c:pt idx="16">
                  <c:v>62703.031721317901</c:v>
                </c:pt>
                <c:pt idx="17">
                  <c:v>64474.921184894301</c:v>
                </c:pt>
                <c:pt idx="18">
                  <c:v>63690.8249775445</c:v>
                </c:pt>
                <c:pt idx="19">
                  <c:v>64320.163785149402</c:v>
                </c:pt>
                <c:pt idx="20">
                  <c:v>63777.200263873703</c:v>
                </c:pt>
                <c:pt idx="21">
                  <c:v>62718.253912458298</c:v>
                </c:pt>
                <c:pt idx="22">
                  <c:v>64362.846055107198</c:v>
                </c:pt>
                <c:pt idx="23">
                  <c:v>63525.789336786002</c:v>
                </c:pt>
                <c:pt idx="24">
                  <c:v>63840.2803119288</c:v>
                </c:pt>
                <c:pt idx="25">
                  <c:v>64026.247290625201</c:v>
                </c:pt>
                <c:pt idx="26">
                  <c:v>65210.367180446701</c:v>
                </c:pt>
                <c:pt idx="27">
                  <c:v>63479.253183390101</c:v>
                </c:pt>
                <c:pt idx="28">
                  <c:v>65836.617455287793</c:v>
                </c:pt>
                <c:pt idx="29">
                  <c:v>63634.154502230303</c:v>
                </c:pt>
                <c:pt idx="30">
                  <c:v>61908.439546637899</c:v>
                </c:pt>
                <c:pt idx="31">
                  <c:v>64904.502312220298</c:v>
                </c:pt>
                <c:pt idx="32">
                  <c:v>63994.871607389803</c:v>
                </c:pt>
                <c:pt idx="33">
                  <c:v>65910.423367447307</c:v>
                </c:pt>
                <c:pt idx="34">
                  <c:v>64211.321227425498</c:v>
                </c:pt>
                <c:pt idx="35">
                  <c:v>61602.556478635503</c:v>
                </c:pt>
                <c:pt idx="36">
                  <c:v>62991.487691086499</c:v>
                </c:pt>
                <c:pt idx="37">
                  <c:v>62590.360499556802</c:v>
                </c:pt>
                <c:pt idx="38">
                  <c:v>58941.217432133999</c:v>
                </c:pt>
                <c:pt idx="39">
                  <c:v>59760.370604095799</c:v>
                </c:pt>
                <c:pt idx="40">
                  <c:v>57827.6450690395</c:v>
                </c:pt>
                <c:pt idx="41">
                  <c:v>54125.6713392401</c:v>
                </c:pt>
                <c:pt idx="42">
                  <c:v>52620.9977888824</c:v>
                </c:pt>
                <c:pt idx="43">
                  <c:v>51225.770975970103</c:v>
                </c:pt>
                <c:pt idx="44">
                  <c:v>51645.7051461956</c:v>
                </c:pt>
                <c:pt idx="45">
                  <c:v>47867.735893694698</c:v>
                </c:pt>
                <c:pt idx="46">
                  <c:v>46255.106713601999</c:v>
                </c:pt>
                <c:pt idx="47">
                  <c:v>46168.413924101304</c:v>
                </c:pt>
                <c:pt idx="48">
                  <c:v>48626.975353781701</c:v>
                </c:pt>
                <c:pt idx="49">
                  <c:v>45468.130179921704</c:v>
                </c:pt>
                <c:pt idx="50">
                  <c:v>41665.037351719402</c:v>
                </c:pt>
                <c:pt idx="51">
                  <c:v>44210.359543905797</c:v>
                </c:pt>
                <c:pt idx="52">
                  <c:v>42720.393434102101</c:v>
                </c:pt>
                <c:pt idx="53">
                  <c:v>46605.021835091997</c:v>
                </c:pt>
                <c:pt idx="54">
                  <c:v>47491.585314604301</c:v>
                </c:pt>
                <c:pt idx="55">
                  <c:v>49537.621271001997</c:v>
                </c:pt>
                <c:pt idx="56">
                  <c:v>43774.042529981598</c:v>
                </c:pt>
                <c:pt idx="57">
                  <c:v>48444.540387900997</c:v>
                </c:pt>
                <c:pt idx="58">
                  <c:v>48641.073533487797</c:v>
                </c:pt>
                <c:pt idx="59">
                  <c:v>49596.044886542702</c:v>
                </c:pt>
                <c:pt idx="60">
                  <c:v>48930.267572886798</c:v>
                </c:pt>
                <c:pt idx="61">
                  <c:v>47031.068555049402</c:v>
                </c:pt>
                <c:pt idx="62">
                  <c:v>51322.912277451003</c:v>
                </c:pt>
                <c:pt idx="63">
                  <c:v>51440.413940645703</c:v>
                </c:pt>
                <c:pt idx="64">
                  <c:v>50165.523853087201</c:v>
                </c:pt>
                <c:pt idx="65">
                  <c:v>51067.962314197903</c:v>
                </c:pt>
                <c:pt idx="66">
                  <c:v>51712.921756628297</c:v>
                </c:pt>
                <c:pt idx="67">
                  <c:v>48396.838597757604</c:v>
                </c:pt>
                <c:pt idx="68">
                  <c:v>52583.253594294103</c:v>
                </c:pt>
                <c:pt idx="69">
                  <c:v>54278.023936029502</c:v>
                </c:pt>
                <c:pt idx="70">
                  <c:v>56522.395681257702</c:v>
                </c:pt>
                <c:pt idx="71">
                  <c:v>57810.772121116403</c:v>
                </c:pt>
              </c:numCache>
            </c:numRef>
          </c:val>
          <c:smooth val="0"/>
          <c:extLst>
            <c:ext xmlns:c16="http://schemas.microsoft.com/office/drawing/2014/chart" uri="{C3380CC4-5D6E-409C-BE32-E72D297353CC}">
              <c16:uniqueId val="{00000007-89D0-43D4-BE5B-618926BF1DA2}"/>
            </c:ext>
          </c:extLst>
        </c:ser>
        <c:dLbls>
          <c:showLegendKey val="0"/>
          <c:showVal val="0"/>
          <c:showCatName val="0"/>
          <c:showSerName val="0"/>
          <c:showPercent val="0"/>
          <c:showBubbleSize val="0"/>
        </c:dLbls>
        <c:smooth val="0"/>
        <c:axId val="2042298720"/>
        <c:axId val="81496079"/>
      </c:lineChart>
      <c:dateAx>
        <c:axId val="2042298720"/>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496079"/>
        <c:crosses val="autoZero"/>
        <c:auto val="1"/>
        <c:lblOffset val="100"/>
        <c:baseTimeUnit val="months"/>
      </c:dateAx>
      <c:valAx>
        <c:axId val="81496079"/>
        <c:scaling>
          <c:orientation val="minMax"/>
          <c:min val="390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42298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6D6800-DB9C-EBAC-83AC-5F9D7E2C8B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a:extLst>
              <a:ext uri="{FF2B5EF4-FFF2-40B4-BE49-F238E27FC236}">
                <a16:creationId xmlns:a16="http://schemas.microsoft.com/office/drawing/2014/main" id="{BDED1430-DB1F-C50E-E2CC-369D36DF276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CBFB8CE-488C-4A7E-87F2-3AF6127C51C1}" type="datetimeFigureOut">
              <a:rPr lang="en-IE" smtClean="0"/>
              <a:t>01/10/2026</a:t>
            </a:fld>
            <a:endParaRPr lang="en-IE"/>
          </a:p>
        </p:txBody>
      </p:sp>
      <p:sp>
        <p:nvSpPr>
          <p:cNvPr id="4" name="Footer Placeholder 3">
            <a:extLst>
              <a:ext uri="{FF2B5EF4-FFF2-40B4-BE49-F238E27FC236}">
                <a16:creationId xmlns:a16="http://schemas.microsoft.com/office/drawing/2014/main" id="{E41B46C1-E31F-1BE5-CF29-FC2D8EA3E2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5" name="Slide Number Placeholder 4">
            <a:extLst>
              <a:ext uri="{FF2B5EF4-FFF2-40B4-BE49-F238E27FC236}">
                <a16:creationId xmlns:a16="http://schemas.microsoft.com/office/drawing/2014/main" id="{24A38F49-91A1-E3F0-770A-4578CF8E586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9F2F4C-E206-483F-A4B8-E82471BA527C}" type="slidenum">
              <a:rPr lang="en-IE" smtClean="0"/>
              <a:t>‹N°›</a:t>
            </a:fld>
            <a:endParaRPr lang="en-IE"/>
          </a:p>
        </p:txBody>
      </p:sp>
    </p:spTree>
    <p:extLst>
      <p:ext uri="{BB962C8B-B14F-4D97-AF65-F5344CB8AC3E}">
        <p14:creationId xmlns:p14="http://schemas.microsoft.com/office/powerpoint/2010/main" val="2619827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9</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368362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1A885-F651-8ABC-B69B-94AF7B73379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CD7260-3ABF-4B0E-6E86-652C49FC489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3086FFC-6569-6480-BFC9-EAB5C82CF762}"/>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40F544EA-C5BA-2182-1D39-0913EBD81259}"/>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10</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882008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reserve="1" userDrawn="1">
  <p:cSld name=" Title Slide">
    <p:spTree>
      <p:nvGrpSpPr>
        <p:cNvPr id="1" name="Shape 14"/>
        <p:cNvGrpSpPr/>
        <p:nvPr/>
      </p:nvGrpSpPr>
      <p:grpSpPr>
        <a:xfrm>
          <a:off x="0" y="0"/>
          <a:ext cx="0" cy="0"/>
          <a:chOff x="0" y="0"/>
          <a:chExt cx="0" cy="0"/>
        </a:xfrm>
      </p:grpSpPr>
      <p:pic>
        <p:nvPicPr>
          <p:cNvPr id="3" name="Picture 2">
            <a:extLst>
              <a:ext uri="{FF2B5EF4-FFF2-40B4-BE49-F238E27FC236}">
                <a16:creationId xmlns:a16="http://schemas.microsoft.com/office/drawing/2014/main" id="{CD898605-EE7A-6AAE-447A-080B2C6D2258}"/>
              </a:ext>
            </a:extLst>
          </p:cNvPr>
          <p:cNvPicPr>
            <a:picLocks noGrp="1" noRot="1" noChangeAspect="1" noMove="1" noResize="1" noEditPoints="1" noAdjustHandles="1" noChangeArrowheads="1" noChangeShapeType="1" noCrop="1"/>
          </p:cNvPicPr>
          <p:nvPr userDrawn="1"/>
        </p:nvPicPr>
        <p:blipFill>
          <a:blip r:embed="rId2"/>
          <a:srcRect t="3042" b="3042"/>
          <a:stretch/>
        </p:blipFill>
        <p:spPr>
          <a:xfrm>
            <a:off x="-918" y="0"/>
            <a:ext cx="12192001" cy="6866879"/>
          </a:xfrm>
          <a:prstGeom prst="rect">
            <a:avLst/>
          </a:prstGeom>
        </p:spPr>
      </p:pic>
      <p:sp>
        <p:nvSpPr>
          <p:cNvPr id="19" name="Google Shape;19;p22"/>
          <p:cNvSpPr txBox="1">
            <a:spLocks noGrp="1"/>
          </p:cNvSpPr>
          <p:nvPr>
            <p:ph type="subTitle" idx="1"/>
          </p:nvPr>
        </p:nvSpPr>
        <p:spPr>
          <a:xfrm>
            <a:off x="1112521" y="3277775"/>
            <a:ext cx="3957106" cy="1745469"/>
          </a:xfrm>
          <a:prstGeom prst="rect">
            <a:avLst/>
          </a:prstGeom>
          <a:noFill/>
          <a:ln>
            <a:noFill/>
          </a:ln>
        </p:spPr>
        <p:txBody>
          <a:bodyPr spcFirstLastPara="1" wrap="square" lIns="91425" tIns="45700" rIns="91425" bIns="45700" anchor="t" anchorCtr="0">
            <a:noAutofit/>
          </a:bodyPr>
          <a:lstStyle>
            <a:lvl1pPr marL="0" lvl="0" algn="l">
              <a:lnSpc>
                <a:spcPct val="100000"/>
              </a:lnSpc>
              <a:spcBef>
                <a:spcPts val="0"/>
              </a:spcBef>
              <a:spcAft>
                <a:spcPts val="0"/>
              </a:spcAft>
              <a:buSzPts val="2800"/>
              <a:buNone/>
              <a:defRPr sz="2800" i="0">
                <a:solidFill>
                  <a:schemeClr val="bg1"/>
                </a:solidFill>
              </a:defRPr>
            </a:lvl1pPr>
            <a:lvl2pPr lvl="1" algn="ctr">
              <a:lnSpc>
                <a:spcPct val="100000"/>
              </a:lnSpc>
              <a:spcBef>
                <a:spcPts val="1800"/>
              </a:spcBef>
              <a:spcAft>
                <a:spcPts val="0"/>
              </a:spcAft>
              <a:buSzPts val="2000"/>
              <a:buNone/>
              <a:defRPr sz="2000"/>
            </a:lvl2pPr>
            <a:lvl3pPr lvl="2" algn="ctr">
              <a:lnSpc>
                <a:spcPct val="100000"/>
              </a:lnSpc>
              <a:spcBef>
                <a:spcPts val="1800"/>
              </a:spcBef>
              <a:spcAft>
                <a:spcPts val="0"/>
              </a:spcAft>
              <a:buSzPts val="1800"/>
              <a:buNone/>
              <a:defRPr sz="1800"/>
            </a:lvl3pPr>
            <a:lvl4pPr lvl="3" algn="ctr">
              <a:lnSpc>
                <a:spcPct val="100000"/>
              </a:lnSpc>
              <a:spcBef>
                <a:spcPts val="1800"/>
              </a:spcBef>
              <a:spcAft>
                <a:spcPts val="0"/>
              </a:spcAft>
              <a:buSzPts val="1600"/>
              <a:buNone/>
              <a:defRPr sz="1600"/>
            </a:lvl4pPr>
            <a:lvl5pPr lvl="4" algn="ctr">
              <a:lnSpc>
                <a:spcPct val="100000"/>
              </a:lnSpc>
              <a:spcBef>
                <a:spcPts val="1800"/>
              </a:spcBef>
              <a:spcAft>
                <a:spcPts val="0"/>
              </a:spcAft>
              <a:buSzPts val="1600"/>
              <a:buNone/>
              <a:defRPr sz="1600"/>
            </a:lvl5pPr>
            <a:lvl6pPr lvl="5" algn="ctr">
              <a:lnSpc>
                <a:spcPct val="90000"/>
              </a:lnSpc>
              <a:spcBef>
                <a:spcPts val="18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r>
              <a:rPr lang="en-US" dirty="0"/>
              <a:t>Click to edit Master subtitle style</a:t>
            </a:r>
            <a:endParaRPr dirty="0"/>
          </a:p>
        </p:txBody>
      </p:sp>
      <p:pic>
        <p:nvPicPr>
          <p:cNvPr id="5" name="Picture 4">
            <a:extLst>
              <a:ext uri="{FF2B5EF4-FFF2-40B4-BE49-F238E27FC236}">
                <a16:creationId xmlns:a16="http://schemas.microsoft.com/office/drawing/2014/main" id="{0D09F257-77BC-80DD-CDE4-F5B22D79517B}"/>
              </a:ext>
            </a:extLst>
          </p:cNvPr>
          <p:cNvPicPr>
            <a:picLocks noChangeAspect="1"/>
          </p:cNvPicPr>
          <p:nvPr userDrawn="1"/>
        </p:nvPicPr>
        <p:blipFill>
          <a:blip r:embed="rId3"/>
          <a:srcRect/>
          <a:stretch/>
        </p:blipFill>
        <p:spPr>
          <a:xfrm>
            <a:off x="7381876" y="3596720"/>
            <a:ext cx="4224858" cy="1374485"/>
          </a:xfrm>
          <a:prstGeom prst="rect">
            <a:avLst/>
          </a:prstGeom>
        </p:spPr>
      </p:pic>
      <p:sp>
        <p:nvSpPr>
          <p:cNvPr id="16" name="Title 15">
            <a:extLst>
              <a:ext uri="{FF2B5EF4-FFF2-40B4-BE49-F238E27FC236}">
                <a16:creationId xmlns:a16="http://schemas.microsoft.com/office/drawing/2014/main" id="{784A076C-4C5D-810C-C205-F06C491692A3}"/>
              </a:ext>
            </a:extLst>
          </p:cNvPr>
          <p:cNvSpPr>
            <a:spLocks noGrp="1"/>
          </p:cNvSpPr>
          <p:nvPr>
            <p:ph type="title"/>
          </p:nvPr>
        </p:nvSpPr>
        <p:spPr>
          <a:xfrm>
            <a:off x="1112521" y="885018"/>
            <a:ext cx="9448800" cy="2037783"/>
          </a:xfrm>
        </p:spPr>
        <p:txBody>
          <a:bodyPr anchor="ctr"/>
          <a:lstStyle>
            <a:lvl1pPr>
              <a:defRPr sz="4800">
                <a:solidFill>
                  <a:schemeClr val="bg1"/>
                </a:solidFill>
              </a:defRPr>
            </a:lvl1pPr>
          </a:lstStyle>
          <a:p>
            <a:r>
              <a:rPr lang="en-US" dirty="0"/>
              <a:t>Click to edit Master title style</a:t>
            </a:r>
            <a:endParaRPr lang="en-IE" dirty="0"/>
          </a:p>
        </p:txBody>
      </p:sp>
      <p:sp>
        <p:nvSpPr>
          <p:cNvPr id="24" name="Text Placeholder 23">
            <a:extLst>
              <a:ext uri="{FF2B5EF4-FFF2-40B4-BE49-F238E27FC236}">
                <a16:creationId xmlns:a16="http://schemas.microsoft.com/office/drawing/2014/main" id="{E5F2B0E4-A35A-CFA1-4E98-55EAD82CE82B}"/>
              </a:ext>
            </a:extLst>
          </p:cNvPr>
          <p:cNvSpPr>
            <a:spLocks noGrp="1"/>
          </p:cNvSpPr>
          <p:nvPr>
            <p:ph type="body" sz="quarter" idx="10"/>
          </p:nvPr>
        </p:nvSpPr>
        <p:spPr>
          <a:xfrm>
            <a:off x="1307994" y="5771588"/>
            <a:ext cx="2509626" cy="777875"/>
          </a:xfrm>
        </p:spPr>
        <p:txBody>
          <a:bodyPr/>
          <a:lstStyle>
            <a:lvl1pPr marL="0" indent="0">
              <a:buNone/>
              <a:defRPr sz="20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31594073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and Object" preserve="1" userDrawn="1">
  <p:cSld name="Content and Object">
    <p:spTree>
      <p:nvGrpSpPr>
        <p:cNvPr id="1" name="Shape 172"/>
        <p:cNvGrpSpPr/>
        <p:nvPr/>
      </p:nvGrpSpPr>
      <p:grpSpPr>
        <a:xfrm>
          <a:off x="0" y="0"/>
          <a:ext cx="0" cy="0"/>
          <a:chOff x="0" y="0"/>
          <a:chExt cx="0" cy="0"/>
        </a:xfrm>
      </p:grpSpPr>
      <p:sp>
        <p:nvSpPr>
          <p:cNvPr id="174" name="Google Shape;174;p41"/>
          <p:cNvSpPr txBox="1">
            <a:spLocks noGrp="1"/>
          </p:cNvSpPr>
          <p:nvPr>
            <p:ph type="title"/>
          </p:nvPr>
        </p:nvSpPr>
        <p:spPr>
          <a:xfrm>
            <a:off x="970722" y="413590"/>
            <a:ext cx="10515600" cy="782357"/>
          </a:xfrm>
          <a:prstGeom prst="rect">
            <a:avLst/>
          </a:prstGeom>
          <a:noFill/>
          <a:ln>
            <a:noFill/>
          </a:ln>
        </p:spPr>
        <p:txBody>
          <a:bodyPr spcFirstLastPara="1" wrap="square" lIns="91425" tIns="45700" rIns="91425" bIns="0" anchor="t" anchorCtr="0">
            <a:noAutofit/>
          </a:bodyPr>
          <a:lstStyle>
            <a:lvl1pPr lvl="0" algn="l">
              <a:lnSpc>
                <a:spcPct val="90000"/>
              </a:lnSpc>
              <a:spcBef>
                <a:spcPts val="0"/>
              </a:spcBef>
              <a:spcAft>
                <a:spcPts val="0"/>
              </a:spcAft>
              <a:buClr>
                <a:schemeClr val="dk2"/>
              </a:buClr>
              <a:buSzPts val="1800"/>
              <a:buNone/>
              <a:defRPr>
                <a:solidFill>
                  <a:srgbClr val="2644A7"/>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cxnSp>
        <p:nvCxnSpPr>
          <p:cNvPr id="177" name="Google Shape;177;p41"/>
          <p:cNvCxnSpPr>
            <a:cxnSpLocks/>
          </p:cNvCxnSpPr>
          <p:nvPr/>
        </p:nvCxnSpPr>
        <p:spPr>
          <a:xfrm>
            <a:off x="0" y="1552418"/>
            <a:ext cx="970722" cy="0"/>
          </a:xfrm>
          <a:prstGeom prst="straightConnector1">
            <a:avLst/>
          </a:prstGeom>
          <a:noFill/>
          <a:ln w="76200" cap="flat" cmpd="sng">
            <a:solidFill>
              <a:schemeClr val="accent5"/>
            </a:solidFill>
            <a:prstDash val="solid"/>
            <a:miter lim="800000"/>
            <a:headEnd type="none" w="sm" len="sm"/>
            <a:tailEnd type="none" w="sm" len="sm"/>
          </a:ln>
        </p:spPr>
      </p:cxnSp>
      <p:sp>
        <p:nvSpPr>
          <p:cNvPr id="3" name="Google Shape;10;p21">
            <a:extLst>
              <a:ext uri="{FF2B5EF4-FFF2-40B4-BE49-F238E27FC236}">
                <a16:creationId xmlns:a16="http://schemas.microsoft.com/office/drawing/2014/main" id="{C87DACA3-4A62-7EF9-9155-5CC0EBE6EC54}"/>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‹N°›</a:t>
            </a:fld>
            <a:endParaRPr lang="en-GB"/>
          </a:p>
        </p:txBody>
      </p:sp>
      <p:pic>
        <p:nvPicPr>
          <p:cNvPr id="5" name="Picture 4">
            <a:extLst>
              <a:ext uri="{FF2B5EF4-FFF2-40B4-BE49-F238E27FC236}">
                <a16:creationId xmlns:a16="http://schemas.microsoft.com/office/drawing/2014/main" id="{1F3BA733-25B6-C4BB-1150-48850654F2C6}"/>
              </a:ext>
            </a:extLst>
          </p:cNvPr>
          <p:cNvPicPr>
            <a:picLocks noChangeAspect="1"/>
          </p:cNvPicPr>
          <p:nvPr userDrawn="1"/>
        </p:nvPicPr>
        <p:blipFill>
          <a:blip r:embed="rId2"/>
          <a:srcRect/>
          <a:stretch/>
        </p:blipFill>
        <p:spPr>
          <a:xfrm>
            <a:off x="424731" y="6499013"/>
            <a:ext cx="1332000" cy="181429"/>
          </a:xfrm>
          <a:prstGeom prst="rect">
            <a:avLst/>
          </a:prstGeom>
        </p:spPr>
      </p:pic>
      <p:pic>
        <p:nvPicPr>
          <p:cNvPr id="6" name="Picture 5">
            <a:extLst>
              <a:ext uri="{FF2B5EF4-FFF2-40B4-BE49-F238E27FC236}">
                <a16:creationId xmlns:a16="http://schemas.microsoft.com/office/drawing/2014/main" id="{3BD3E27D-21BB-B8BD-0101-611C3D7A991F}"/>
              </a:ext>
            </a:extLst>
          </p:cNvPr>
          <p:cNvPicPr>
            <a:picLocks noChangeAspect="1"/>
          </p:cNvPicPr>
          <p:nvPr userDrawn="1"/>
        </p:nvPicPr>
        <p:blipFill>
          <a:blip r:embed="rId3"/>
          <a:srcRect/>
          <a:stretch/>
        </p:blipFill>
        <p:spPr>
          <a:xfrm>
            <a:off x="10326539" y="5728720"/>
            <a:ext cx="1865461" cy="1130560"/>
          </a:xfrm>
          <a:prstGeom prst="rect">
            <a:avLst/>
          </a:prstGeom>
        </p:spPr>
      </p:pic>
      <p:sp>
        <p:nvSpPr>
          <p:cNvPr id="4" name="Content Placeholder 3">
            <a:extLst>
              <a:ext uri="{FF2B5EF4-FFF2-40B4-BE49-F238E27FC236}">
                <a16:creationId xmlns:a16="http://schemas.microsoft.com/office/drawing/2014/main" id="{B938CD64-6B9A-81A2-BDB2-55DA96C9E7A9}"/>
              </a:ext>
            </a:extLst>
          </p:cNvPr>
          <p:cNvSpPr>
            <a:spLocks noGrp="1"/>
          </p:cNvSpPr>
          <p:nvPr>
            <p:ph sz="half" idx="2"/>
          </p:nvPr>
        </p:nvSpPr>
        <p:spPr>
          <a:xfrm>
            <a:off x="970722" y="1414736"/>
            <a:ext cx="10515597" cy="4681391"/>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333503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and Object" preserve="1" userDrawn="1">
  <p:cSld name="Content and Object 2">
    <p:spTree>
      <p:nvGrpSpPr>
        <p:cNvPr id="1" name="Shape 172"/>
        <p:cNvGrpSpPr/>
        <p:nvPr/>
      </p:nvGrpSpPr>
      <p:grpSpPr>
        <a:xfrm>
          <a:off x="0" y="0"/>
          <a:ext cx="0" cy="0"/>
          <a:chOff x="0" y="0"/>
          <a:chExt cx="0" cy="0"/>
        </a:xfrm>
      </p:grpSpPr>
      <p:sp>
        <p:nvSpPr>
          <p:cNvPr id="174" name="Google Shape;174;p41"/>
          <p:cNvSpPr txBox="1">
            <a:spLocks noGrp="1"/>
          </p:cNvSpPr>
          <p:nvPr>
            <p:ph type="title"/>
          </p:nvPr>
        </p:nvSpPr>
        <p:spPr>
          <a:xfrm>
            <a:off x="970722" y="413590"/>
            <a:ext cx="10515600" cy="782357"/>
          </a:xfrm>
          <a:prstGeom prst="rect">
            <a:avLst/>
          </a:prstGeom>
          <a:noFill/>
          <a:ln>
            <a:noFill/>
          </a:ln>
        </p:spPr>
        <p:txBody>
          <a:bodyPr spcFirstLastPara="1" wrap="square" lIns="91425" tIns="45700" rIns="91425" bIns="0" anchor="t" anchorCtr="0">
            <a:noAutofit/>
          </a:bodyPr>
          <a:lstStyle>
            <a:lvl1pPr lvl="0" algn="l">
              <a:lnSpc>
                <a:spcPct val="90000"/>
              </a:lnSpc>
              <a:spcBef>
                <a:spcPts val="0"/>
              </a:spcBef>
              <a:spcAft>
                <a:spcPts val="0"/>
              </a:spcAft>
              <a:buClr>
                <a:schemeClr val="dk2"/>
              </a:buClr>
              <a:buSzPts val="1800"/>
              <a:buNone/>
              <a:defRPr>
                <a:solidFill>
                  <a:srgbClr val="2644A7"/>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cxnSp>
        <p:nvCxnSpPr>
          <p:cNvPr id="177" name="Google Shape;177;p41"/>
          <p:cNvCxnSpPr>
            <a:cxnSpLocks/>
          </p:cNvCxnSpPr>
          <p:nvPr/>
        </p:nvCxnSpPr>
        <p:spPr>
          <a:xfrm>
            <a:off x="0" y="1552418"/>
            <a:ext cx="970722" cy="0"/>
          </a:xfrm>
          <a:prstGeom prst="straightConnector1">
            <a:avLst/>
          </a:prstGeom>
          <a:noFill/>
          <a:ln w="76200" cap="flat" cmpd="sng">
            <a:solidFill>
              <a:schemeClr val="accent5"/>
            </a:solidFill>
            <a:prstDash val="solid"/>
            <a:miter lim="800000"/>
            <a:headEnd type="none" w="sm" len="sm"/>
            <a:tailEnd type="none" w="sm" len="sm"/>
          </a:ln>
        </p:spPr>
      </p:cxnSp>
      <p:sp>
        <p:nvSpPr>
          <p:cNvPr id="3" name="Google Shape;10;p21">
            <a:extLst>
              <a:ext uri="{FF2B5EF4-FFF2-40B4-BE49-F238E27FC236}">
                <a16:creationId xmlns:a16="http://schemas.microsoft.com/office/drawing/2014/main" id="{C87DACA3-4A62-7EF9-9155-5CC0EBE6EC54}"/>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‹N°›</a:t>
            </a:fld>
            <a:endParaRPr lang="en-GB"/>
          </a:p>
        </p:txBody>
      </p:sp>
      <p:pic>
        <p:nvPicPr>
          <p:cNvPr id="6" name="Picture 5">
            <a:extLst>
              <a:ext uri="{FF2B5EF4-FFF2-40B4-BE49-F238E27FC236}">
                <a16:creationId xmlns:a16="http://schemas.microsoft.com/office/drawing/2014/main" id="{B0491114-E7C3-4716-7109-6FDE72E853DE}"/>
              </a:ext>
            </a:extLst>
          </p:cNvPr>
          <p:cNvPicPr>
            <a:picLocks noChangeAspect="1"/>
          </p:cNvPicPr>
          <p:nvPr userDrawn="1"/>
        </p:nvPicPr>
        <p:blipFill>
          <a:blip r:embed="rId2"/>
          <a:srcRect/>
          <a:stretch/>
        </p:blipFill>
        <p:spPr>
          <a:xfrm>
            <a:off x="424731" y="6499013"/>
            <a:ext cx="1332000" cy="181429"/>
          </a:xfrm>
          <a:prstGeom prst="rect">
            <a:avLst/>
          </a:prstGeom>
        </p:spPr>
      </p:pic>
      <p:pic>
        <p:nvPicPr>
          <p:cNvPr id="7" name="Picture 6">
            <a:extLst>
              <a:ext uri="{FF2B5EF4-FFF2-40B4-BE49-F238E27FC236}">
                <a16:creationId xmlns:a16="http://schemas.microsoft.com/office/drawing/2014/main" id="{95C1ABAA-9559-8C24-1A56-0668CC664359}"/>
              </a:ext>
            </a:extLst>
          </p:cNvPr>
          <p:cNvPicPr>
            <a:picLocks noChangeAspect="1"/>
          </p:cNvPicPr>
          <p:nvPr userDrawn="1"/>
        </p:nvPicPr>
        <p:blipFill>
          <a:blip r:embed="rId3"/>
          <a:srcRect/>
          <a:stretch/>
        </p:blipFill>
        <p:spPr>
          <a:xfrm>
            <a:off x="10326539" y="5728720"/>
            <a:ext cx="1865461" cy="1130560"/>
          </a:xfrm>
          <a:prstGeom prst="rect">
            <a:avLst/>
          </a:prstGeom>
        </p:spPr>
      </p:pic>
      <p:sp>
        <p:nvSpPr>
          <p:cNvPr id="8" name="Content Placeholder 3">
            <a:extLst>
              <a:ext uri="{FF2B5EF4-FFF2-40B4-BE49-F238E27FC236}">
                <a16:creationId xmlns:a16="http://schemas.microsoft.com/office/drawing/2014/main" id="{EBC1E451-4262-316A-7418-6EF16E04908E}"/>
              </a:ext>
            </a:extLst>
          </p:cNvPr>
          <p:cNvSpPr>
            <a:spLocks noGrp="1"/>
          </p:cNvSpPr>
          <p:nvPr>
            <p:ph sz="half" idx="2"/>
          </p:nvPr>
        </p:nvSpPr>
        <p:spPr>
          <a:xfrm>
            <a:off x="970723" y="1910188"/>
            <a:ext cx="5327092" cy="4240591"/>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3">
            <a:extLst>
              <a:ext uri="{FF2B5EF4-FFF2-40B4-BE49-F238E27FC236}">
                <a16:creationId xmlns:a16="http://schemas.microsoft.com/office/drawing/2014/main" id="{A0B9F341-14FC-51F5-105A-E4BFB54BFEDD}"/>
              </a:ext>
            </a:extLst>
          </p:cNvPr>
          <p:cNvSpPr>
            <a:spLocks noGrp="1"/>
          </p:cNvSpPr>
          <p:nvPr>
            <p:ph sz="half" idx="16"/>
          </p:nvPr>
        </p:nvSpPr>
        <p:spPr>
          <a:xfrm>
            <a:off x="6533867" y="1910188"/>
            <a:ext cx="5327092" cy="4240591"/>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928248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and Object" preserve="1" userDrawn="1">
  <p:cSld name="Content and Object 3">
    <p:spTree>
      <p:nvGrpSpPr>
        <p:cNvPr id="1" name="Shape 172"/>
        <p:cNvGrpSpPr/>
        <p:nvPr/>
      </p:nvGrpSpPr>
      <p:grpSpPr>
        <a:xfrm>
          <a:off x="0" y="0"/>
          <a:ext cx="0" cy="0"/>
          <a:chOff x="0" y="0"/>
          <a:chExt cx="0" cy="0"/>
        </a:xfrm>
      </p:grpSpPr>
      <p:sp>
        <p:nvSpPr>
          <p:cNvPr id="174" name="Google Shape;174;p41"/>
          <p:cNvSpPr txBox="1">
            <a:spLocks noGrp="1"/>
          </p:cNvSpPr>
          <p:nvPr>
            <p:ph type="title"/>
          </p:nvPr>
        </p:nvSpPr>
        <p:spPr>
          <a:xfrm>
            <a:off x="970722" y="413590"/>
            <a:ext cx="10515600" cy="782357"/>
          </a:xfrm>
          <a:prstGeom prst="rect">
            <a:avLst/>
          </a:prstGeom>
          <a:noFill/>
          <a:ln>
            <a:noFill/>
          </a:ln>
        </p:spPr>
        <p:txBody>
          <a:bodyPr spcFirstLastPara="1" wrap="square" lIns="91425" tIns="45700" rIns="91425" bIns="0" anchor="t" anchorCtr="0">
            <a:noAutofit/>
          </a:bodyPr>
          <a:lstStyle>
            <a:lvl1pPr lvl="0" algn="l">
              <a:lnSpc>
                <a:spcPct val="90000"/>
              </a:lnSpc>
              <a:spcBef>
                <a:spcPts val="0"/>
              </a:spcBef>
              <a:spcAft>
                <a:spcPts val="0"/>
              </a:spcAft>
              <a:buClr>
                <a:schemeClr val="dk2"/>
              </a:buClr>
              <a:buSzPts val="1800"/>
              <a:buNone/>
              <a:defRPr>
                <a:solidFill>
                  <a:srgbClr val="2644A7"/>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dirty="0"/>
              <a:t>Click to edit Master title style</a:t>
            </a:r>
            <a:endParaRPr dirty="0"/>
          </a:p>
        </p:txBody>
      </p:sp>
      <p:cxnSp>
        <p:nvCxnSpPr>
          <p:cNvPr id="177" name="Google Shape;177;p41"/>
          <p:cNvCxnSpPr>
            <a:cxnSpLocks/>
          </p:cNvCxnSpPr>
          <p:nvPr/>
        </p:nvCxnSpPr>
        <p:spPr>
          <a:xfrm>
            <a:off x="0" y="1552418"/>
            <a:ext cx="970722" cy="0"/>
          </a:xfrm>
          <a:prstGeom prst="straightConnector1">
            <a:avLst/>
          </a:prstGeom>
          <a:noFill/>
          <a:ln w="76200" cap="flat" cmpd="sng">
            <a:solidFill>
              <a:schemeClr val="accent5"/>
            </a:solidFill>
            <a:prstDash val="solid"/>
            <a:miter lim="800000"/>
            <a:headEnd type="none" w="sm" len="sm"/>
            <a:tailEnd type="none" w="sm" len="sm"/>
          </a:ln>
        </p:spPr>
      </p:cxnSp>
      <p:sp>
        <p:nvSpPr>
          <p:cNvPr id="3" name="Google Shape;10;p21">
            <a:extLst>
              <a:ext uri="{FF2B5EF4-FFF2-40B4-BE49-F238E27FC236}">
                <a16:creationId xmlns:a16="http://schemas.microsoft.com/office/drawing/2014/main" id="{C87DACA3-4A62-7EF9-9155-5CC0EBE6EC54}"/>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‹N°›</a:t>
            </a:fld>
            <a:endParaRPr lang="en-GB"/>
          </a:p>
        </p:txBody>
      </p:sp>
      <p:sp>
        <p:nvSpPr>
          <p:cNvPr id="4" name="Text Placeholder 2">
            <a:extLst>
              <a:ext uri="{FF2B5EF4-FFF2-40B4-BE49-F238E27FC236}">
                <a16:creationId xmlns:a16="http://schemas.microsoft.com/office/drawing/2014/main" id="{949220B6-B4CB-BA59-8F58-4304C8D422BD}"/>
              </a:ext>
            </a:extLst>
          </p:cNvPr>
          <p:cNvSpPr>
            <a:spLocks noGrp="1"/>
          </p:cNvSpPr>
          <p:nvPr>
            <p:ph type="body" idx="1"/>
          </p:nvPr>
        </p:nvSpPr>
        <p:spPr>
          <a:xfrm>
            <a:off x="970723" y="1894895"/>
            <a:ext cx="5157787" cy="823912"/>
          </a:xfrm>
        </p:spPr>
        <p:txBody>
          <a:bodyPr wrap="square" anchor="t">
            <a:noAutofit/>
          </a:bodyPr>
          <a:lstStyle>
            <a:lvl1pPr marL="0" indent="0">
              <a:buNone/>
              <a:defRPr sz="2400" b="0" baseline="0">
                <a:solidFill>
                  <a:srgbClr val="2644A7"/>
                </a:solidFill>
              </a:defRPr>
            </a:lvl1pPr>
            <a:lvl2pPr marL="338383" indent="0">
              <a:buNone/>
              <a:defRPr sz="1480" b="1"/>
            </a:lvl2pPr>
            <a:lvl3pPr marL="676765" indent="0">
              <a:buNone/>
              <a:defRPr sz="1332" b="1"/>
            </a:lvl3pPr>
            <a:lvl4pPr marL="1015148" indent="0">
              <a:buNone/>
              <a:defRPr sz="1184" b="1"/>
            </a:lvl4pPr>
            <a:lvl5pPr marL="1353530" indent="0">
              <a:buNone/>
              <a:defRPr sz="1184" b="1"/>
            </a:lvl5pPr>
            <a:lvl6pPr marL="1691913" indent="0">
              <a:buNone/>
              <a:defRPr sz="1184" b="1"/>
            </a:lvl6pPr>
            <a:lvl7pPr marL="2030295" indent="0">
              <a:buNone/>
              <a:defRPr sz="1184" b="1"/>
            </a:lvl7pPr>
            <a:lvl8pPr marL="2368678" indent="0">
              <a:buNone/>
              <a:defRPr sz="1184" b="1"/>
            </a:lvl8pPr>
            <a:lvl9pPr marL="2707061" indent="0">
              <a:buNone/>
              <a:defRPr sz="1184" b="1"/>
            </a:lvl9pPr>
          </a:lstStyle>
          <a:p>
            <a:pPr lvl="0"/>
            <a:r>
              <a:rPr lang="en-US" dirty="0"/>
              <a:t>Click to edit Master text styles</a:t>
            </a:r>
          </a:p>
        </p:txBody>
      </p:sp>
      <p:sp>
        <p:nvSpPr>
          <p:cNvPr id="6" name="Content Placeholder 3">
            <a:extLst>
              <a:ext uri="{FF2B5EF4-FFF2-40B4-BE49-F238E27FC236}">
                <a16:creationId xmlns:a16="http://schemas.microsoft.com/office/drawing/2014/main" id="{BDB0ABC1-873A-F2DD-170F-E80FE4830D28}"/>
              </a:ext>
            </a:extLst>
          </p:cNvPr>
          <p:cNvSpPr>
            <a:spLocks noGrp="1"/>
          </p:cNvSpPr>
          <p:nvPr>
            <p:ph sz="half" idx="2"/>
          </p:nvPr>
        </p:nvSpPr>
        <p:spPr>
          <a:xfrm>
            <a:off x="970723" y="2725735"/>
            <a:ext cx="5157787" cy="3384119"/>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4">
            <a:extLst>
              <a:ext uri="{FF2B5EF4-FFF2-40B4-BE49-F238E27FC236}">
                <a16:creationId xmlns:a16="http://schemas.microsoft.com/office/drawing/2014/main" id="{0057B6DC-82B6-DC47-2B36-FBA16BFA54D7}"/>
              </a:ext>
            </a:extLst>
          </p:cNvPr>
          <p:cNvSpPr>
            <a:spLocks noGrp="1"/>
          </p:cNvSpPr>
          <p:nvPr>
            <p:ph type="body" sz="quarter" idx="3"/>
          </p:nvPr>
        </p:nvSpPr>
        <p:spPr>
          <a:xfrm>
            <a:off x="6303134" y="1894895"/>
            <a:ext cx="5183188" cy="823912"/>
          </a:xfrm>
          <a:noFill/>
        </p:spPr>
        <p:txBody>
          <a:bodyPr wrap="square" anchor="t">
            <a:noAutofit/>
          </a:bodyPr>
          <a:lstStyle>
            <a:lvl1pPr marL="0" indent="0">
              <a:buNone/>
              <a:defRPr sz="2400" b="0">
                <a:solidFill>
                  <a:srgbClr val="2644A7"/>
                </a:solidFill>
              </a:defRPr>
            </a:lvl1pPr>
            <a:lvl2pPr marL="338383" indent="0">
              <a:buNone/>
              <a:defRPr sz="1480" b="1"/>
            </a:lvl2pPr>
            <a:lvl3pPr marL="676765" indent="0">
              <a:buNone/>
              <a:defRPr sz="1332" b="1"/>
            </a:lvl3pPr>
            <a:lvl4pPr marL="1015148" indent="0">
              <a:buNone/>
              <a:defRPr sz="1184" b="1"/>
            </a:lvl4pPr>
            <a:lvl5pPr marL="1353530" indent="0">
              <a:buNone/>
              <a:defRPr sz="1184" b="1"/>
            </a:lvl5pPr>
            <a:lvl6pPr marL="1691913" indent="0">
              <a:buNone/>
              <a:defRPr sz="1184" b="1"/>
            </a:lvl6pPr>
            <a:lvl7pPr marL="2030295" indent="0">
              <a:buNone/>
              <a:defRPr sz="1184" b="1"/>
            </a:lvl7pPr>
            <a:lvl8pPr marL="2368678" indent="0">
              <a:buNone/>
              <a:defRPr sz="1184" b="1"/>
            </a:lvl8pPr>
            <a:lvl9pPr marL="2707061" indent="0">
              <a:buNone/>
              <a:defRPr sz="1184" b="1"/>
            </a:lvl9pPr>
          </a:lstStyle>
          <a:p>
            <a:pPr lvl="0"/>
            <a:r>
              <a:rPr lang="en-US" dirty="0"/>
              <a:t>Click to edit Master text styles</a:t>
            </a:r>
          </a:p>
        </p:txBody>
      </p:sp>
      <p:pic>
        <p:nvPicPr>
          <p:cNvPr id="9" name="Picture 8">
            <a:extLst>
              <a:ext uri="{FF2B5EF4-FFF2-40B4-BE49-F238E27FC236}">
                <a16:creationId xmlns:a16="http://schemas.microsoft.com/office/drawing/2014/main" id="{6495916A-C750-070D-C528-9F655246DF58}"/>
              </a:ext>
            </a:extLst>
          </p:cNvPr>
          <p:cNvPicPr>
            <a:picLocks noChangeAspect="1"/>
          </p:cNvPicPr>
          <p:nvPr userDrawn="1"/>
        </p:nvPicPr>
        <p:blipFill>
          <a:blip r:embed="rId2"/>
          <a:srcRect/>
          <a:stretch/>
        </p:blipFill>
        <p:spPr>
          <a:xfrm>
            <a:off x="424731" y="6499013"/>
            <a:ext cx="1332000" cy="181429"/>
          </a:xfrm>
          <a:prstGeom prst="rect">
            <a:avLst/>
          </a:prstGeom>
        </p:spPr>
      </p:pic>
      <p:pic>
        <p:nvPicPr>
          <p:cNvPr id="10" name="Picture 9">
            <a:extLst>
              <a:ext uri="{FF2B5EF4-FFF2-40B4-BE49-F238E27FC236}">
                <a16:creationId xmlns:a16="http://schemas.microsoft.com/office/drawing/2014/main" id="{457D36BD-C483-ED07-0866-A0A591A01707}"/>
              </a:ext>
            </a:extLst>
          </p:cNvPr>
          <p:cNvPicPr>
            <a:picLocks noChangeAspect="1"/>
          </p:cNvPicPr>
          <p:nvPr userDrawn="1"/>
        </p:nvPicPr>
        <p:blipFill>
          <a:blip r:embed="rId3"/>
          <a:srcRect/>
          <a:stretch/>
        </p:blipFill>
        <p:spPr>
          <a:xfrm>
            <a:off x="10326539" y="5728720"/>
            <a:ext cx="1865461" cy="1130560"/>
          </a:xfrm>
          <a:prstGeom prst="rect">
            <a:avLst/>
          </a:prstGeom>
        </p:spPr>
      </p:pic>
      <p:sp>
        <p:nvSpPr>
          <p:cNvPr id="2" name="Content Placeholder 3">
            <a:extLst>
              <a:ext uri="{FF2B5EF4-FFF2-40B4-BE49-F238E27FC236}">
                <a16:creationId xmlns:a16="http://schemas.microsoft.com/office/drawing/2014/main" id="{A623D267-A36F-1DAC-4912-F35877117825}"/>
              </a:ext>
            </a:extLst>
          </p:cNvPr>
          <p:cNvSpPr>
            <a:spLocks noGrp="1"/>
          </p:cNvSpPr>
          <p:nvPr>
            <p:ph sz="half" idx="13"/>
          </p:nvPr>
        </p:nvSpPr>
        <p:spPr>
          <a:xfrm>
            <a:off x="6309559" y="2725735"/>
            <a:ext cx="5183188" cy="3384119"/>
          </a:xfrm>
        </p:spPr>
        <p:txBody>
          <a:bodyPr wrap="square">
            <a:noAutofit/>
          </a:bodyPr>
          <a:lstStyle>
            <a:lvl1pPr marL="342000" indent="-342000">
              <a:lnSpc>
                <a:spcPct val="90000"/>
              </a:lnSpc>
              <a:spcAft>
                <a:spcPts val="1000"/>
              </a:spcAft>
              <a:defRPr sz="2000">
                <a:solidFill>
                  <a:srgbClr val="101010"/>
                </a:solidFill>
              </a:defRPr>
            </a:lvl1pPr>
            <a:lvl2pPr marL="684000" indent="-342000">
              <a:spcBef>
                <a:spcPts val="0"/>
              </a:spcBef>
              <a:spcAft>
                <a:spcPts val="800"/>
              </a:spcAft>
              <a:defRPr sz="1800">
                <a:solidFill>
                  <a:srgbClr val="101010"/>
                </a:solidFill>
              </a:defRPr>
            </a:lvl2pPr>
            <a:lvl3pPr marL="972000">
              <a:lnSpc>
                <a:spcPct val="90000"/>
              </a:lnSpc>
              <a:spcBef>
                <a:spcPts val="0"/>
              </a:spcBef>
              <a:spcAft>
                <a:spcPts val="1000"/>
              </a:spcAft>
              <a:defRPr sz="1600">
                <a:solidFill>
                  <a:srgbClr val="101010"/>
                </a:solidFill>
              </a:defRPr>
            </a:lvl3pPr>
            <a:lvl4pPr marL="1296000" indent="-342000">
              <a:lnSpc>
                <a:spcPct val="90000"/>
              </a:lnSpc>
              <a:spcBef>
                <a:spcPts val="0"/>
              </a:spcBef>
              <a:spcAft>
                <a:spcPts val="1000"/>
              </a:spcAft>
              <a:defRPr sz="1400">
                <a:solidFill>
                  <a:srgbClr val="101010"/>
                </a:solidFill>
              </a:defRPr>
            </a:lvl4pPr>
            <a:lvl5pPr marL="1620000" indent="-342000">
              <a:lnSpc>
                <a:spcPct val="90000"/>
              </a:lnSpc>
              <a:spcBef>
                <a:spcPts val="0"/>
              </a:spcBef>
              <a:spcAft>
                <a:spcPts val="1000"/>
              </a:spcAft>
              <a:defRPr sz="1200">
                <a:solidFill>
                  <a:srgbClr val="10101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147344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st slide (option 1)" preserve="1" userDrawn="1">
  <p:cSld name="Last slide (option 1)">
    <p:spTree>
      <p:nvGrpSpPr>
        <p:cNvPr id="1" name="Shape 140"/>
        <p:cNvGrpSpPr/>
        <p:nvPr/>
      </p:nvGrpSpPr>
      <p:grpSpPr>
        <a:xfrm>
          <a:off x="0" y="0"/>
          <a:ext cx="0" cy="0"/>
          <a:chOff x="0" y="0"/>
          <a:chExt cx="0" cy="0"/>
        </a:xfrm>
      </p:grpSpPr>
      <p:sp>
        <p:nvSpPr>
          <p:cNvPr id="3" name="Google Shape;141;p37">
            <a:extLst>
              <a:ext uri="{FF2B5EF4-FFF2-40B4-BE49-F238E27FC236}">
                <a16:creationId xmlns:a16="http://schemas.microsoft.com/office/drawing/2014/main" id="{ACED6512-1BD5-58D6-D635-D62C0A34BF8C}"/>
              </a:ext>
            </a:extLst>
          </p:cNvPr>
          <p:cNvSpPr>
            <a:spLocks/>
          </p:cNvSpPr>
          <p:nvPr userDrawn="1"/>
        </p:nvSpPr>
        <p:spPr>
          <a:xfrm>
            <a:off x="0" y="3328560"/>
            <a:ext cx="12192000" cy="2913720"/>
          </a:xfrm>
          <a:prstGeom prst="rect">
            <a:avLst/>
          </a:prstGeom>
          <a:solidFill>
            <a:srgbClr val="2644A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44" name="Google Shape;144;p37"/>
          <p:cNvSpPr txBox="1">
            <a:spLocks noGrp="1"/>
          </p:cNvSpPr>
          <p:nvPr>
            <p:ph type="body" idx="1"/>
          </p:nvPr>
        </p:nvSpPr>
        <p:spPr>
          <a:xfrm>
            <a:off x="970723" y="3777422"/>
            <a:ext cx="6865686" cy="2174332"/>
          </a:xfrm>
          <a:prstGeom prst="rect">
            <a:avLst/>
          </a:prstGeom>
          <a:noFill/>
          <a:ln>
            <a:noFill/>
          </a:ln>
        </p:spPr>
        <p:txBody>
          <a:bodyPr spcFirstLastPara="1" wrap="square" lIns="91425" tIns="45700" rIns="91425" bIns="45700" anchor="t" anchorCtr="0">
            <a:noAutofit/>
          </a:bodyPr>
          <a:lstStyle>
            <a:lvl1pPr marL="0" lvl="0" indent="0" algn="l">
              <a:lnSpc>
                <a:spcPct val="100000"/>
              </a:lnSpc>
              <a:spcBef>
                <a:spcPts val="0"/>
              </a:spcBef>
              <a:spcAft>
                <a:spcPts val="0"/>
              </a:spcAft>
              <a:buSzPts val="1400"/>
              <a:buFont typeface="Arial"/>
              <a:buNone/>
              <a:defRPr sz="2400">
                <a:solidFill>
                  <a:srgbClr val="F4F4F4"/>
                </a:solidFill>
              </a:defRPr>
            </a:lvl1pPr>
            <a:lvl2pPr marL="914400" lvl="1" indent="-228600" algn="l">
              <a:lnSpc>
                <a:spcPct val="100000"/>
              </a:lnSpc>
              <a:spcBef>
                <a:spcPts val="1800"/>
              </a:spcBef>
              <a:spcAft>
                <a:spcPts val="0"/>
              </a:spcAft>
              <a:buSzPts val="2000"/>
              <a:buNone/>
              <a:defRPr/>
            </a:lvl2pPr>
            <a:lvl3pPr marL="1371600" lvl="2" indent="-342900" algn="l">
              <a:lnSpc>
                <a:spcPct val="100000"/>
              </a:lnSpc>
              <a:spcBef>
                <a:spcPts val="1800"/>
              </a:spcBef>
              <a:spcAft>
                <a:spcPts val="0"/>
              </a:spcAft>
              <a:buSzPts val="1800"/>
              <a:buChar char="•"/>
              <a:defRPr/>
            </a:lvl3pPr>
            <a:lvl4pPr marL="1828800" lvl="3" indent="-342900" algn="l">
              <a:lnSpc>
                <a:spcPct val="100000"/>
              </a:lnSpc>
              <a:spcBef>
                <a:spcPts val="1800"/>
              </a:spcBef>
              <a:spcAft>
                <a:spcPts val="0"/>
              </a:spcAft>
              <a:buSzPts val="1800"/>
              <a:buChar char="•"/>
              <a:defRPr/>
            </a:lvl4pPr>
            <a:lvl5pPr marL="2286000" lvl="4" indent="-342900" algn="l">
              <a:lnSpc>
                <a:spcPct val="100000"/>
              </a:lnSpc>
              <a:spcBef>
                <a:spcPts val="1800"/>
              </a:spcBef>
              <a:spcAft>
                <a:spcPts val="0"/>
              </a:spcAft>
              <a:buSzPts val="1800"/>
              <a:buChar char="•"/>
              <a:defRPr/>
            </a:lvl5pPr>
            <a:lvl6pPr marL="2743200" lvl="5" indent="-342900" algn="l">
              <a:lnSpc>
                <a:spcPct val="90000"/>
              </a:lnSpc>
              <a:spcBef>
                <a:spcPts val="18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lvl="0"/>
            <a:r>
              <a:rPr lang="en-US" dirty="0"/>
              <a:t>Click to edit Master text styles</a:t>
            </a:r>
          </a:p>
        </p:txBody>
      </p:sp>
      <p:pic>
        <p:nvPicPr>
          <p:cNvPr id="5" name="Picture 4">
            <a:extLst>
              <a:ext uri="{FF2B5EF4-FFF2-40B4-BE49-F238E27FC236}">
                <a16:creationId xmlns:a16="http://schemas.microsoft.com/office/drawing/2014/main" id="{3488A19F-A201-3EB2-A71E-1E51EF3E1B23}"/>
              </a:ext>
            </a:extLst>
          </p:cNvPr>
          <p:cNvPicPr>
            <a:picLocks noChangeAspect="1"/>
          </p:cNvPicPr>
          <p:nvPr userDrawn="1"/>
        </p:nvPicPr>
        <p:blipFill>
          <a:blip r:embed="rId2"/>
          <a:srcRect/>
          <a:stretch/>
        </p:blipFill>
        <p:spPr>
          <a:xfrm>
            <a:off x="8107569" y="3538903"/>
            <a:ext cx="2931525" cy="2412704"/>
          </a:xfrm>
          <a:prstGeom prst="rect">
            <a:avLst/>
          </a:prstGeom>
        </p:spPr>
      </p:pic>
      <p:sp>
        <p:nvSpPr>
          <p:cNvPr id="7" name="Title Placeholder 1">
            <a:extLst>
              <a:ext uri="{FF2B5EF4-FFF2-40B4-BE49-F238E27FC236}">
                <a16:creationId xmlns:a16="http://schemas.microsoft.com/office/drawing/2014/main" id="{9CD49B01-566F-CA34-C636-83E50BFD40E0}"/>
              </a:ext>
            </a:extLst>
          </p:cNvPr>
          <p:cNvSpPr>
            <a:spLocks noGrp="1"/>
          </p:cNvSpPr>
          <p:nvPr>
            <p:ph type="title"/>
          </p:nvPr>
        </p:nvSpPr>
        <p:spPr>
          <a:xfrm>
            <a:off x="970722" y="414281"/>
            <a:ext cx="10515600" cy="2937139"/>
          </a:xfrm>
          <a:prstGeom prst="rect">
            <a:avLst/>
          </a:prstGeom>
        </p:spPr>
        <p:txBody>
          <a:bodyPr vert="horz" lIns="91440" tIns="45720" rIns="91440" bIns="0" rtlCol="0" anchor="ctr" anchorCtr="0">
            <a:noAutofit/>
          </a:bodyPr>
          <a:lstStyle>
            <a:lvl1pPr algn="ctr">
              <a:defRPr sz="4800">
                <a:solidFill>
                  <a:srgbClr val="101010"/>
                </a:solidFill>
              </a:defRPr>
            </a:lvl1pPr>
          </a:lstStyle>
          <a:p>
            <a:r>
              <a:rPr lang="en-US" dirty="0"/>
              <a:t>Click to edit Master title style</a:t>
            </a:r>
            <a:endParaRPr lang="en-GB" dirty="0"/>
          </a:p>
        </p:txBody>
      </p:sp>
      <p:sp>
        <p:nvSpPr>
          <p:cNvPr id="8" name="Google Shape;10;p21">
            <a:extLst>
              <a:ext uri="{FF2B5EF4-FFF2-40B4-BE49-F238E27FC236}">
                <a16:creationId xmlns:a16="http://schemas.microsoft.com/office/drawing/2014/main" id="{C209E83E-F338-C8C6-D016-6C5FE194EA8B}"/>
              </a:ext>
            </a:extLst>
          </p:cNvPr>
          <p:cNvSpPr txBox="1">
            <a:spLocks noGrp="1"/>
          </p:cNvSpPr>
          <p:nvPr>
            <p:ph type="sldNum" idx="12"/>
          </p:nvPr>
        </p:nvSpPr>
        <p:spPr>
          <a:xfrm>
            <a:off x="4724400" y="643733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rgbClr val="767676"/>
                </a:solidFill>
                <a:latin typeface="Arial"/>
                <a:ea typeface="Arial"/>
                <a:cs typeface="Arial"/>
                <a:sym typeface="Arial"/>
              </a:defRPr>
            </a:lvl1pPr>
            <a:lvl2pPr marL="0" marR="0" lvl="1" indent="0" algn="l" rtl="0">
              <a:spcBef>
                <a:spcPts val="0"/>
              </a:spcBef>
              <a:buNone/>
              <a:defRPr sz="1200" b="0" i="0" u="none" strike="noStrike" cap="none">
                <a:solidFill>
                  <a:srgbClr val="767676"/>
                </a:solidFill>
                <a:latin typeface="Arial"/>
                <a:ea typeface="Arial"/>
                <a:cs typeface="Arial"/>
                <a:sym typeface="Arial"/>
              </a:defRPr>
            </a:lvl2pPr>
            <a:lvl3pPr marL="0" marR="0" lvl="2" indent="0" algn="l" rtl="0">
              <a:spcBef>
                <a:spcPts val="0"/>
              </a:spcBef>
              <a:buNone/>
              <a:defRPr sz="1200" b="0" i="0" u="none" strike="noStrike" cap="none">
                <a:solidFill>
                  <a:srgbClr val="767676"/>
                </a:solidFill>
                <a:latin typeface="Arial"/>
                <a:ea typeface="Arial"/>
                <a:cs typeface="Arial"/>
                <a:sym typeface="Arial"/>
              </a:defRPr>
            </a:lvl3pPr>
            <a:lvl4pPr marL="0" marR="0" lvl="3" indent="0" algn="l" rtl="0">
              <a:spcBef>
                <a:spcPts val="0"/>
              </a:spcBef>
              <a:buNone/>
              <a:defRPr sz="1200" b="0" i="0" u="none" strike="noStrike" cap="none">
                <a:solidFill>
                  <a:srgbClr val="767676"/>
                </a:solidFill>
                <a:latin typeface="Arial"/>
                <a:ea typeface="Arial"/>
                <a:cs typeface="Arial"/>
                <a:sym typeface="Arial"/>
              </a:defRPr>
            </a:lvl4pPr>
            <a:lvl5pPr marL="0" marR="0" lvl="4" indent="0" algn="l" rtl="0">
              <a:spcBef>
                <a:spcPts val="0"/>
              </a:spcBef>
              <a:buNone/>
              <a:defRPr sz="1200" b="0" i="0" u="none" strike="noStrike" cap="none">
                <a:solidFill>
                  <a:srgbClr val="767676"/>
                </a:solidFill>
                <a:latin typeface="Arial"/>
                <a:ea typeface="Arial"/>
                <a:cs typeface="Arial"/>
                <a:sym typeface="Arial"/>
              </a:defRPr>
            </a:lvl5pPr>
            <a:lvl6pPr marL="0" marR="0" lvl="5" indent="0" algn="l" rtl="0">
              <a:spcBef>
                <a:spcPts val="0"/>
              </a:spcBef>
              <a:buNone/>
              <a:defRPr sz="1200" b="0" i="0" u="none" strike="noStrike" cap="none">
                <a:solidFill>
                  <a:srgbClr val="767676"/>
                </a:solidFill>
                <a:latin typeface="Arial"/>
                <a:ea typeface="Arial"/>
                <a:cs typeface="Arial"/>
                <a:sym typeface="Arial"/>
              </a:defRPr>
            </a:lvl6pPr>
            <a:lvl7pPr marL="0" marR="0" lvl="6" indent="0" algn="l" rtl="0">
              <a:spcBef>
                <a:spcPts val="0"/>
              </a:spcBef>
              <a:buNone/>
              <a:defRPr sz="1200" b="0" i="0" u="none" strike="noStrike" cap="none">
                <a:solidFill>
                  <a:srgbClr val="767676"/>
                </a:solidFill>
                <a:latin typeface="Arial"/>
                <a:ea typeface="Arial"/>
                <a:cs typeface="Arial"/>
                <a:sym typeface="Arial"/>
              </a:defRPr>
            </a:lvl7pPr>
            <a:lvl8pPr marL="0" marR="0" lvl="7" indent="0" algn="l" rtl="0">
              <a:spcBef>
                <a:spcPts val="0"/>
              </a:spcBef>
              <a:buNone/>
              <a:defRPr sz="1200" b="0" i="0" u="none" strike="noStrike" cap="none">
                <a:solidFill>
                  <a:srgbClr val="767676"/>
                </a:solidFill>
                <a:latin typeface="Arial"/>
                <a:ea typeface="Arial"/>
                <a:cs typeface="Arial"/>
                <a:sym typeface="Arial"/>
              </a:defRPr>
            </a:lvl8pPr>
            <a:lvl9pPr marL="0" marR="0" lvl="8" indent="0" algn="l" rtl="0">
              <a:spcBef>
                <a:spcPts val="0"/>
              </a:spcBef>
              <a:buNone/>
              <a:defRPr sz="1200" b="0" i="0" u="none" strike="noStrike" cap="none">
                <a:solidFill>
                  <a:srgbClr val="767676"/>
                </a:solidFill>
                <a:latin typeface="Arial"/>
                <a:ea typeface="Arial"/>
                <a:cs typeface="Arial"/>
                <a:sym typeface="Arial"/>
              </a:defRPr>
            </a:lvl9pPr>
          </a:lstStyle>
          <a:p>
            <a:fld id="{00000000-1234-1234-1234-123412341234}" type="slidenum">
              <a:rPr lang="en-GB" smtClean="0"/>
              <a:pPr/>
              <a:t>‹N°›</a:t>
            </a:fld>
            <a:endParaRPr lang="en-GB"/>
          </a:p>
        </p:txBody>
      </p:sp>
      <p:pic>
        <p:nvPicPr>
          <p:cNvPr id="2" name="Picture 1">
            <a:extLst>
              <a:ext uri="{FF2B5EF4-FFF2-40B4-BE49-F238E27FC236}">
                <a16:creationId xmlns:a16="http://schemas.microsoft.com/office/drawing/2014/main" id="{736B8EBF-8A1C-818A-CBBC-1DC51D94C547}"/>
              </a:ext>
            </a:extLst>
          </p:cNvPr>
          <p:cNvPicPr>
            <a:picLocks noChangeAspect="1"/>
          </p:cNvPicPr>
          <p:nvPr userDrawn="1"/>
        </p:nvPicPr>
        <p:blipFill>
          <a:blip r:embed="rId3"/>
          <a:srcRect/>
          <a:stretch/>
        </p:blipFill>
        <p:spPr>
          <a:xfrm>
            <a:off x="10326539" y="5728720"/>
            <a:ext cx="1865461" cy="1130560"/>
          </a:xfrm>
          <a:prstGeom prst="rect">
            <a:avLst/>
          </a:prstGeom>
        </p:spPr>
      </p:pic>
      <p:pic>
        <p:nvPicPr>
          <p:cNvPr id="10" name="Picture 9">
            <a:extLst>
              <a:ext uri="{FF2B5EF4-FFF2-40B4-BE49-F238E27FC236}">
                <a16:creationId xmlns:a16="http://schemas.microsoft.com/office/drawing/2014/main" id="{A8541C9F-06FD-4BC7-C438-D852985D159B}"/>
              </a:ext>
            </a:extLst>
          </p:cNvPr>
          <p:cNvPicPr>
            <a:picLocks noChangeAspect="1"/>
          </p:cNvPicPr>
          <p:nvPr userDrawn="1"/>
        </p:nvPicPr>
        <p:blipFill>
          <a:blip r:embed="rId4"/>
          <a:srcRect/>
          <a:stretch/>
        </p:blipFill>
        <p:spPr>
          <a:xfrm>
            <a:off x="424731" y="6499013"/>
            <a:ext cx="1332000" cy="181429"/>
          </a:xfrm>
          <a:prstGeom prst="rect">
            <a:avLst/>
          </a:prstGeom>
        </p:spPr>
      </p:pic>
    </p:spTree>
    <p:extLst>
      <p:ext uri="{BB962C8B-B14F-4D97-AF65-F5344CB8AC3E}">
        <p14:creationId xmlns:p14="http://schemas.microsoft.com/office/powerpoint/2010/main" val="7271498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69C75-35E1-43D5-84A1-C734143FD27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2C58106-EE41-4A7E-B370-FB6D2BDB6A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4352F8-667F-4665-97EB-09DC9D79424D}"/>
              </a:ext>
            </a:extLst>
          </p:cNvPr>
          <p:cNvSpPr>
            <a:spLocks noGrp="1"/>
          </p:cNvSpPr>
          <p:nvPr>
            <p:ph type="dt" sz="half" idx="10"/>
          </p:nvPr>
        </p:nvSpPr>
        <p:spPr/>
        <p:txBody>
          <a:bodyPr/>
          <a:lstStyle/>
          <a:p>
            <a:r>
              <a:rPr lang="en-US"/>
              <a:t>15-17/10/2024</a:t>
            </a:r>
            <a:endParaRPr lang="en-GB"/>
          </a:p>
        </p:txBody>
      </p:sp>
      <p:sp>
        <p:nvSpPr>
          <p:cNvPr id="5" name="Footer Placeholder 4">
            <a:extLst>
              <a:ext uri="{FF2B5EF4-FFF2-40B4-BE49-F238E27FC236}">
                <a16:creationId xmlns:a16="http://schemas.microsoft.com/office/drawing/2014/main" id="{EC9D76B3-1E07-4245-A492-B6C66F40DCE4}"/>
              </a:ext>
            </a:extLst>
          </p:cNvPr>
          <p:cNvSpPr>
            <a:spLocks noGrp="1"/>
          </p:cNvSpPr>
          <p:nvPr>
            <p:ph type="ftr" sz="quarter" idx="11"/>
          </p:nvPr>
        </p:nvSpPr>
        <p:spPr/>
        <p:txBody>
          <a:bodyPr/>
          <a:lstStyle/>
          <a:p>
            <a:r>
              <a:rPr lang="en-GB"/>
              <a:t>ESTP Training. Seasonal adjustment</a:t>
            </a:r>
          </a:p>
        </p:txBody>
      </p:sp>
      <p:sp>
        <p:nvSpPr>
          <p:cNvPr id="6" name="Slide Number Placeholder 5">
            <a:extLst>
              <a:ext uri="{FF2B5EF4-FFF2-40B4-BE49-F238E27FC236}">
                <a16:creationId xmlns:a16="http://schemas.microsoft.com/office/drawing/2014/main" id="{6F965D1A-16CF-4345-8200-8650C462B98D}"/>
              </a:ext>
            </a:extLst>
          </p:cNvPr>
          <p:cNvSpPr>
            <a:spLocks noGrp="1"/>
          </p:cNvSpPr>
          <p:nvPr>
            <p:ph type="sldNum" sz="quarter" idx="12"/>
          </p:nvPr>
        </p:nvSpPr>
        <p:spPr/>
        <p:txBody>
          <a:bodyPr/>
          <a:lstStyle/>
          <a:p>
            <a:fld id="{1E1EA8E3-33CC-465E-BBDB-C5F5B41B1D80}" type="slidenum">
              <a:rPr lang="en-GB" smtClean="0"/>
              <a:t>‹N°›</a:t>
            </a:fld>
            <a:endParaRPr lang="en-GB"/>
          </a:p>
        </p:txBody>
      </p:sp>
    </p:spTree>
    <p:extLst>
      <p:ext uri="{BB962C8B-B14F-4D97-AF65-F5344CB8AC3E}">
        <p14:creationId xmlns:p14="http://schemas.microsoft.com/office/powerpoint/2010/main" val="33067688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1" name="Google Shape;11;p21"/>
          <p:cNvSpPr txBox="1">
            <a:spLocks noGrp="1"/>
          </p:cNvSpPr>
          <p:nvPr>
            <p:ph type="title"/>
          </p:nvPr>
        </p:nvSpPr>
        <p:spPr>
          <a:xfrm>
            <a:off x="838200" y="763064"/>
            <a:ext cx="10515600" cy="782357"/>
          </a:xfrm>
          <a:prstGeom prst="rect">
            <a:avLst/>
          </a:prstGeom>
          <a:noFill/>
          <a:ln>
            <a:noFill/>
          </a:ln>
        </p:spPr>
        <p:txBody>
          <a:bodyPr spcFirstLastPara="1" wrap="square" lIns="91425" tIns="45700" rIns="91425" bIns="0" anchor="b" anchorCtr="0">
            <a:noAutofit/>
          </a:bodyPr>
          <a:lstStyle>
            <a:lvl1pPr marR="0" lvl="0" algn="l" rtl="0">
              <a:lnSpc>
                <a:spcPct val="90000"/>
              </a:lnSpc>
              <a:spcBef>
                <a:spcPts val="0"/>
              </a:spcBef>
              <a:spcAft>
                <a:spcPts val="0"/>
              </a:spcAft>
              <a:buClr>
                <a:schemeClr val="dk2"/>
              </a:buClr>
              <a:buSzPts val="4000"/>
              <a:buFont typeface="Arial"/>
              <a:buNone/>
              <a:defRPr sz="40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2" name="Google Shape;12;p21"/>
          <p:cNvSpPr txBox="1">
            <a:spLocks noGrp="1"/>
          </p:cNvSpPr>
          <p:nvPr>
            <p:ph type="body" idx="1"/>
          </p:nvPr>
        </p:nvSpPr>
        <p:spPr>
          <a:xfrm>
            <a:off x="838200" y="1825625"/>
            <a:ext cx="10515600" cy="3881904"/>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0"/>
              </a:spcBef>
              <a:spcAft>
                <a:spcPts val="0"/>
              </a:spcAft>
              <a:buClr>
                <a:schemeClr val="dk2"/>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1800"/>
              </a:spcBef>
              <a:spcAft>
                <a:spcPts val="0"/>
              </a:spcAft>
              <a:buClr>
                <a:schemeClr val="dk2"/>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80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80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18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sldLayoutIdLst>
    <p:sldLayoutId id="2147483727" r:id="rId1"/>
    <p:sldLayoutId id="2147483717" r:id="rId2"/>
    <p:sldLayoutId id="2147483724" r:id="rId3"/>
    <p:sldLayoutId id="2147483725" r:id="rId4"/>
    <p:sldLayoutId id="2147483723" r:id="rId5"/>
    <p:sldLayoutId id="2147483728" r:id="rId6"/>
  </p:sldLayoutIdLst>
  <p:hf hd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2644A7"/>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86E511-2A8E-CD8D-FA1D-6DDA5388CE10}"/>
              </a:ext>
            </a:extLst>
          </p:cNvPr>
          <p:cNvSpPr>
            <a:spLocks noGrp="1"/>
          </p:cNvSpPr>
          <p:nvPr>
            <p:ph type="subTitle" idx="1"/>
          </p:nvPr>
        </p:nvSpPr>
        <p:spPr/>
        <p:txBody>
          <a:bodyPr/>
          <a:lstStyle/>
          <a:p>
            <a:r>
              <a:rPr lang="en-GB" noProof="0" dirty="0"/>
              <a:t>ESTP Training</a:t>
            </a:r>
          </a:p>
          <a:p>
            <a:r>
              <a:rPr lang="en-GB" noProof="0" dirty="0"/>
              <a:t>05-07 October 2026</a:t>
            </a:r>
          </a:p>
        </p:txBody>
      </p:sp>
      <p:sp>
        <p:nvSpPr>
          <p:cNvPr id="3" name="Title 2">
            <a:extLst>
              <a:ext uri="{FF2B5EF4-FFF2-40B4-BE49-F238E27FC236}">
                <a16:creationId xmlns:a16="http://schemas.microsoft.com/office/drawing/2014/main" id="{E2518E6D-618C-DDB2-DF84-26EB66F0C2A9}"/>
              </a:ext>
            </a:extLst>
          </p:cNvPr>
          <p:cNvSpPr>
            <a:spLocks noGrp="1"/>
          </p:cNvSpPr>
          <p:nvPr>
            <p:ph type="title"/>
          </p:nvPr>
        </p:nvSpPr>
        <p:spPr/>
        <p:txBody>
          <a:bodyPr/>
          <a:lstStyle/>
          <a:p>
            <a:r>
              <a:rPr lang="en-GB" noProof="0"/>
              <a:t>1 </a:t>
            </a:r>
            <a:r>
              <a:rPr lang="en-GB" noProof="0" dirty="0"/>
              <a:t>Seasonal adjustment</a:t>
            </a:r>
          </a:p>
        </p:txBody>
      </p:sp>
      <p:sp>
        <p:nvSpPr>
          <p:cNvPr id="4" name="Text Placeholder 3">
            <a:extLst>
              <a:ext uri="{FF2B5EF4-FFF2-40B4-BE49-F238E27FC236}">
                <a16:creationId xmlns:a16="http://schemas.microsoft.com/office/drawing/2014/main" id="{F3FA50BB-3958-DA6F-CD7B-74B9FFF5C40A}"/>
              </a:ext>
            </a:extLst>
          </p:cNvPr>
          <p:cNvSpPr>
            <a:spLocks noGrp="1"/>
          </p:cNvSpPr>
          <p:nvPr>
            <p:ph type="body" sz="quarter" idx="10"/>
          </p:nvPr>
        </p:nvSpPr>
        <p:spPr/>
        <p:txBody>
          <a:bodyPr/>
          <a:lstStyle/>
          <a:p>
            <a:endParaRPr lang="en-GB" noProof="0" dirty="0"/>
          </a:p>
        </p:txBody>
      </p:sp>
    </p:spTree>
    <p:extLst>
      <p:ext uri="{BB962C8B-B14F-4D97-AF65-F5344CB8AC3E}">
        <p14:creationId xmlns:p14="http://schemas.microsoft.com/office/powerpoint/2010/main" val="3481153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CCB1-7632-4FCD-B0AC-611D8D65D2C6}"/>
              </a:ext>
            </a:extLst>
          </p:cNvPr>
          <p:cNvSpPr>
            <a:spLocks noGrp="1"/>
          </p:cNvSpPr>
          <p:nvPr>
            <p:ph type="title"/>
          </p:nvPr>
        </p:nvSpPr>
        <p:spPr/>
        <p:txBody>
          <a:bodyPr/>
          <a:lstStyle/>
          <a:p>
            <a:r>
              <a:rPr lang="en-GB" noProof="0" dirty="0"/>
              <a:t>0. Outline</a:t>
            </a:r>
          </a:p>
        </p:txBody>
      </p:sp>
      <p:sp>
        <p:nvSpPr>
          <p:cNvPr id="4" name="Espace réservé du numéro de diapositive 3">
            <a:extLst>
              <a:ext uri="{FF2B5EF4-FFF2-40B4-BE49-F238E27FC236}">
                <a16:creationId xmlns:a16="http://schemas.microsoft.com/office/drawing/2014/main" id="{2C152665-48B9-5531-81E8-4121CA630CB6}"/>
              </a:ext>
            </a:extLst>
          </p:cNvPr>
          <p:cNvSpPr>
            <a:spLocks noGrp="1"/>
          </p:cNvSpPr>
          <p:nvPr>
            <p:ph type="sldNum" idx="12"/>
          </p:nvPr>
        </p:nvSpPr>
        <p:spPr/>
        <p:txBody>
          <a:bodyPr/>
          <a:lstStyle/>
          <a:p>
            <a:fld id="{1E1EA8E3-33CC-465E-BBDB-C5F5B41B1D80}" type="slidenum">
              <a:rPr lang="en-GB" smtClean="0"/>
              <a:t>2</a:t>
            </a:fld>
            <a:endParaRPr lang="en-GB"/>
          </a:p>
        </p:txBody>
      </p:sp>
      <p:sp>
        <p:nvSpPr>
          <p:cNvPr id="3" name="Content Placeholder 2">
            <a:extLst>
              <a:ext uri="{FF2B5EF4-FFF2-40B4-BE49-F238E27FC236}">
                <a16:creationId xmlns:a16="http://schemas.microsoft.com/office/drawing/2014/main" id="{BB3CD9BC-FDFA-4D2F-9496-DCBD4F7FCD64}"/>
              </a:ext>
            </a:extLst>
          </p:cNvPr>
          <p:cNvSpPr>
            <a:spLocks noGrp="1"/>
          </p:cNvSpPr>
          <p:nvPr>
            <p:ph sz="half" idx="2"/>
          </p:nvPr>
        </p:nvSpPr>
        <p:spPr/>
        <p:txBody>
          <a:bodyPr/>
          <a:lstStyle/>
          <a:p>
            <a:r>
              <a:rPr lang="en-GB" noProof="0" dirty="0"/>
              <a:t>ESS guidelines</a:t>
            </a:r>
          </a:p>
          <a:p>
            <a:pPr lvl="1"/>
            <a:r>
              <a:rPr lang="en-GB" noProof="0" dirty="0"/>
              <a:t>Objectives</a:t>
            </a:r>
          </a:p>
          <a:p>
            <a:pPr lvl="1"/>
            <a:r>
              <a:rPr lang="en-GB" noProof="0" dirty="0"/>
              <a:t>Methods</a:t>
            </a:r>
          </a:p>
          <a:p>
            <a:r>
              <a:rPr lang="en-GB" noProof="0" dirty="0"/>
              <a:t>Series decomposition</a:t>
            </a:r>
          </a:p>
          <a:p>
            <a:r>
              <a:rPr lang="en-GB" noProof="0" dirty="0"/>
              <a:t>Overview of seasonal adjustment methods</a:t>
            </a:r>
          </a:p>
          <a:p>
            <a:r>
              <a:rPr lang="en-GB" noProof="0" dirty="0"/>
              <a:t>Outline of the training</a:t>
            </a:r>
          </a:p>
          <a:p>
            <a:r>
              <a:rPr lang="en-GB" noProof="0" dirty="0"/>
              <a:t>Final remarks</a:t>
            </a:r>
          </a:p>
          <a:p>
            <a:endParaRPr lang="en-GB" noProof="0" dirty="0"/>
          </a:p>
        </p:txBody>
      </p:sp>
      <p:sp>
        <p:nvSpPr>
          <p:cNvPr id="5" name="Footer Placeholder 4">
            <a:extLst>
              <a:ext uri="{FF2B5EF4-FFF2-40B4-BE49-F238E27FC236}">
                <a16:creationId xmlns:a16="http://schemas.microsoft.com/office/drawing/2014/main" id="{2C2B169F-4C84-4EC2-8993-D0A310984A11}"/>
              </a:ext>
            </a:extLst>
          </p:cNvPr>
          <p:cNvSpPr>
            <a:spLocks noGrp="1"/>
          </p:cNvSpPr>
          <p:nvPr>
            <p:ph type="ftr" sz="quarter" idx="4294967295"/>
          </p:nvPr>
        </p:nvSpPr>
        <p:spPr>
          <a:xfrm>
            <a:off x="0" y="0"/>
            <a:ext cx="0" cy="0"/>
          </a:xfrm>
        </p:spPr>
        <p:txBody>
          <a:bodyPr/>
          <a:lstStyle/>
          <a:p>
            <a:r>
              <a:rPr lang="en-GB" noProof="0" dirty="0"/>
              <a:t>ESTP Training. Seasonal adjustment</a:t>
            </a:r>
          </a:p>
        </p:txBody>
      </p:sp>
    </p:spTree>
    <p:extLst>
      <p:ext uri="{BB962C8B-B14F-4D97-AF65-F5344CB8AC3E}">
        <p14:creationId xmlns:p14="http://schemas.microsoft.com/office/powerpoint/2010/main" val="18504102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72AA7-9F6F-4D7F-AD96-0AF2E4A3CEAD}"/>
              </a:ext>
            </a:extLst>
          </p:cNvPr>
          <p:cNvSpPr>
            <a:spLocks noGrp="1"/>
          </p:cNvSpPr>
          <p:nvPr>
            <p:ph type="title"/>
          </p:nvPr>
        </p:nvSpPr>
        <p:spPr/>
        <p:txBody>
          <a:bodyPr/>
          <a:lstStyle/>
          <a:p>
            <a:r>
              <a:rPr lang="en-GB" noProof="0" dirty="0"/>
              <a:t>1. ESS Guidelines (2024)</a:t>
            </a:r>
          </a:p>
        </p:txBody>
      </p:sp>
      <p:sp>
        <p:nvSpPr>
          <p:cNvPr id="5" name="Espace réservé du numéro de diapositive 4">
            <a:extLst>
              <a:ext uri="{FF2B5EF4-FFF2-40B4-BE49-F238E27FC236}">
                <a16:creationId xmlns:a16="http://schemas.microsoft.com/office/drawing/2014/main" id="{CD48CA0D-EF4C-7255-82DC-266EC411CC5B}"/>
              </a:ext>
            </a:extLst>
          </p:cNvPr>
          <p:cNvSpPr>
            <a:spLocks noGrp="1"/>
          </p:cNvSpPr>
          <p:nvPr>
            <p:ph type="sldNum" idx="12"/>
          </p:nvPr>
        </p:nvSpPr>
        <p:spPr/>
        <p:txBody>
          <a:bodyPr/>
          <a:lstStyle/>
          <a:p>
            <a:fld id="{1E1EA8E3-33CC-465E-BBDB-C5F5B41B1D80}" type="slidenum">
              <a:rPr lang="en-GB" smtClean="0"/>
              <a:t>3</a:t>
            </a:fld>
            <a:endParaRPr lang="en-GB"/>
          </a:p>
        </p:txBody>
      </p:sp>
      <p:sp>
        <p:nvSpPr>
          <p:cNvPr id="3" name="Content Placeholder 2">
            <a:extLst>
              <a:ext uri="{FF2B5EF4-FFF2-40B4-BE49-F238E27FC236}">
                <a16:creationId xmlns:a16="http://schemas.microsoft.com/office/drawing/2014/main" id="{CE59404C-6BF3-425F-910F-AF8077C4B96E}"/>
              </a:ext>
            </a:extLst>
          </p:cNvPr>
          <p:cNvSpPr>
            <a:spLocks noGrp="1"/>
          </p:cNvSpPr>
          <p:nvPr>
            <p:ph sz="half" idx="2"/>
          </p:nvPr>
        </p:nvSpPr>
        <p:spPr/>
        <p:txBody>
          <a:bodyPr/>
          <a:lstStyle/>
          <a:p>
            <a:r>
              <a:rPr lang="en-GB" noProof="0" dirty="0"/>
              <a:t>Background and basic definitions</a:t>
            </a:r>
          </a:p>
          <a:p>
            <a:endParaRPr lang="en-GB" noProof="0" dirty="0"/>
          </a:p>
        </p:txBody>
      </p:sp>
      <p:sp>
        <p:nvSpPr>
          <p:cNvPr id="6" name="Footer Placeholder 5">
            <a:extLst>
              <a:ext uri="{FF2B5EF4-FFF2-40B4-BE49-F238E27FC236}">
                <a16:creationId xmlns:a16="http://schemas.microsoft.com/office/drawing/2014/main" id="{D6ECB398-D35C-41B9-A4B3-1E1FFCE50321}"/>
              </a:ext>
            </a:extLst>
          </p:cNvPr>
          <p:cNvSpPr>
            <a:spLocks noGrp="1"/>
          </p:cNvSpPr>
          <p:nvPr>
            <p:ph type="ftr" sz="quarter" idx="4294967295"/>
          </p:nvPr>
        </p:nvSpPr>
        <p:spPr>
          <a:xfrm>
            <a:off x="0" y="0"/>
            <a:ext cx="0" cy="0"/>
          </a:xfrm>
        </p:spPr>
        <p:txBody>
          <a:bodyPr/>
          <a:lstStyle/>
          <a:p>
            <a:r>
              <a:rPr lang="en-GB" noProof="0" dirty="0"/>
              <a:t>ESTP Training. Seasonal adjustment</a:t>
            </a:r>
          </a:p>
        </p:txBody>
      </p:sp>
      <p:sp>
        <p:nvSpPr>
          <p:cNvPr id="4" name="TextBox 3">
            <a:extLst>
              <a:ext uri="{FF2B5EF4-FFF2-40B4-BE49-F238E27FC236}">
                <a16:creationId xmlns:a16="http://schemas.microsoft.com/office/drawing/2014/main" id="{CFF4F76D-F7C9-4830-B478-936ABA7449D4}"/>
              </a:ext>
            </a:extLst>
          </p:cNvPr>
          <p:cNvSpPr txBox="1"/>
          <p:nvPr/>
        </p:nvSpPr>
        <p:spPr>
          <a:xfrm>
            <a:off x="1213642" y="1941143"/>
            <a:ext cx="10182688" cy="4154984"/>
          </a:xfrm>
          <a:prstGeom prst="rect">
            <a:avLst/>
          </a:prstGeom>
          <a:noFill/>
          <a:ln w="28575">
            <a:solidFill>
              <a:srgbClr val="0070C0"/>
            </a:solidFill>
          </a:ln>
        </p:spPr>
        <p:txBody>
          <a:bodyPr wrap="square" rtlCol="0">
            <a:spAutoFit/>
          </a:bodyPr>
          <a:lstStyle/>
          <a:p>
            <a:r>
              <a:rPr lang="en-GB" sz="2000" b="0" i="0" u="none" strike="noStrike" baseline="0" noProof="0" dirty="0">
                <a:solidFill>
                  <a:srgbClr val="000000"/>
                </a:solidFill>
                <a:latin typeface="Myriad Pro Light SemiCond"/>
              </a:rPr>
              <a:t>Seasonal adjustment is a fundamental process in the correct interpretation of short-term time series movement to inform policy makers. </a:t>
            </a:r>
          </a:p>
          <a:p>
            <a:endParaRPr lang="en-GB" sz="2000" b="0" i="0" u="none" strike="noStrike" baseline="0" noProof="0" dirty="0">
              <a:solidFill>
                <a:srgbClr val="000000"/>
              </a:solidFill>
              <a:latin typeface="Myriad Pro Light SemiCond"/>
            </a:endParaRPr>
          </a:p>
          <a:p>
            <a:r>
              <a:rPr lang="en-GB" sz="2000" b="0" i="0" u="none" strike="noStrike" baseline="0" noProof="0" dirty="0">
                <a:solidFill>
                  <a:srgbClr val="000000"/>
                </a:solidFill>
                <a:latin typeface="Myriad Pro Light SemiCond"/>
              </a:rPr>
              <a:t>Seasonal fluctuations and calendar effects can mask short and long-term movements in a time series and impede a clear understanding of underlying phenomena. Seasonal adjustment filters out usual seasonal fluctuations and typical calendar effects from a time series. </a:t>
            </a:r>
          </a:p>
          <a:p>
            <a:endParaRPr lang="en-GB" sz="2000" b="0" i="0" u="none" strike="noStrike" baseline="0" noProof="0" dirty="0">
              <a:solidFill>
                <a:srgbClr val="000000"/>
              </a:solidFill>
              <a:latin typeface="Myriad Pro Light SemiCond"/>
            </a:endParaRPr>
          </a:p>
          <a:p>
            <a:r>
              <a:rPr lang="en-GB" sz="2000" b="0" i="0" u="none" strike="noStrike" baseline="0" noProof="0" dirty="0">
                <a:solidFill>
                  <a:srgbClr val="000000"/>
                </a:solidFill>
                <a:latin typeface="Myriad Pro Light SemiCond"/>
              </a:rPr>
              <a:t>Usual seasonal fluctuations mean those movements which recur with similar intensity in the same season each year and which, based on the past movements of the time series in question and under normal circumstances, can be expected to recur. Calendar effects arise from annual differences in the number of working or trading days in a month or a quarter, or the dates or days of public holidays</a:t>
            </a:r>
            <a:r>
              <a:rPr lang="en-GB" sz="2400" b="0" i="0" u="none" strike="noStrike" baseline="0" noProof="0" dirty="0">
                <a:solidFill>
                  <a:srgbClr val="000000"/>
                </a:solidFill>
                <a:latin typeface="Myriad Pro Light SemiCond"/>
              </a:rPr>
              <a:t>. </a:t>
            </a:r>
          </a:p>
        </p:txBody>
      </p:sp>
    </p:spTree>
    <p:extLst>
      <p:ext uri="{BB962C8B-B14F-4D97-AF65-F5344CB8AC3E}">
        <p14:creationId xmlns:p14="http://schemas.microsoft.com/office/powerpoint/2010/main" val="3982541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FF4F76D-F7C9-4830-B478-936ABA7449D4}"/>
              </a:ext>
            </a:extLst>
          </p:cNvPr>
          <p:cNvSpPr txBox="1"/>
          <p:nvPr/>
        </p:nvSpPr>
        <p:spPr>
          <a:xfrm>
            <a:off x="1004656" y="752045"/>
            <a:ext cx="10182688" cy="5016758"/>
          </a:xfrm>
          <a:prstGeom prst="rect">
            <a:avLst/>
          </a:prstGeom>
          <a:noFill/>
          <a:ln w="28575">
            <a:solidFill>
              <a:srgbClr val="0070C0"/>
            </a:solidFill>
          </a:ln>
        </p:spPr>
        <p:txBody>
          <a:bodyPr wrap="square" rtlCol="0">
            <a:spAutoFit/>
          </a:bodyPr>
          <a:lstStyle/>
          <a:p>
            <a:r>
              <a:rPr lang="en-GB" sz="2000" b="0" i="0" u="none" strike="noStrike" baseline="0" noProof="0" dirty="0">
                <a:solidFill>
                  <a:srgbClr val="000000"/>
                </a:solidFill>
                <a:latin typeface="Myriad Pro Light SemiCond"/>
              </a:rPr>
              <a:t>Movements due to exceptionally strong or weak seasonal influences, for example extreme weather conditions or atypical holiday patterns, will continue to be visible in the seasonally adjusted series. Other random disruptions and unusual movements with real-world interpretations, for example strikes or large orders, will also continue to be visible. </a:t>
            </a:r>
          </a:p>
          <a:p>
            <a:endParaRPr lang="en-GB" sz="2000" b="0" i="0" u="none" strike="noStrike" baseline="0" noProof="0" dirty="0">
              <a:solidFill>
                <a:srgbClr val="000000"/>
              </a:solidFill>
              <a:latin typeface="Myriad Pro Light SemiCond"/>
            </a:endParaRPr>
          </a:p>
          <a:p>
            <a:r>
              <a:rPr lang="en-GB" sz="2000" b="0" i="0" u="none" strike="noStrike" baseline="0" noProof="0" dirty="0">
                <a:solidFill>
                  <a:srgbClr val="000000"/>
                </a:solidFill>
                <a:latin typeface="Myriad Pro Light SemiCond"/>
              </a:rPr>
              <a:t>Hence, the seasonally adjusted results do not show “normal” and repeating events but do show the “news” in the time series, for example latest movements of the trend, the business cycle or the irregular components as well as the occurrence of turning points. </a:t>
            </a:r>
          </a:p>
          <a:p>
            <a:endParaRPr lang="en-GB" sz="2000" b="0" i="0" u="none" strike="noStrike" baseline="0" noProof="0" dirty="0">
              <a:solidFill>
                <a:srgbClr val="000000"/>
              </a:solidFill>
              <a:latin typeface="Myriad Pro Light SemiCond"/>
            </a:endParaRPr>
          </a:p>
          <a:p>
            <a:r>
              <a:rPr lang="en-GB" sz="2000" b="0" i="0" u="none" strike="noStrike" baseline="0" noProof="0" dirty="0">
                <a:solidFill>
                  <a:srgbClr val="000000"/>
                </a:solidFill>
                <a:latin typeface="Myriad Pro Light SemiCond"/>
              </a:rPr>
              <a:t>The downside of seasonal adjustment is that seasonality cannot be precisely defined and different approaches – such as the signal extraction approach (Burman, 1980; Gomez and </a:t>
            </a:r>
            <a:r>
              <a:rPr lang="en-GB" sz="2000" b="0" i="0" u="none" strike="noStrike" baseline="0" noProof="0" dirty="0" err="1">
                <a:solidFill>
                  <a:srgbClr val="000000"/>
                </a:solidFill>
                <a:latin typeface="Myriad Pro Light SemiCond"/>
              </a:rPr>
              <a:t>Maravall</a:t>
            </a:r>
            <a:r>
              <a:rPr lang="en-GB" sz="2000" b="0" i="0" u="none" strike="noStrike" baseline="0" noProof="0" dirty="0">
                <a:solidFill>
                  <a:srgbClr val="000000"/>
                </a:solidFill>
                <a:latin typeface="Myriad Pro Light SemiCond"/>
              </a:rPr>
              <a:t>, 1996) and the semi-parametric approach based on a set of predefined moving (</a:t>
            </a:r>
            <a:r>
              <a:rPr lang="en-GB" sz="2000" b="0" i="0" u="none" strike="noStrike" baseline="0" noProof="0" dirty="0" err="1">
                <a:solidFill>
                  <a:srgbClr val="000000"/>
                </a:solidFill>
                <a:latin typeface="Myriad Pro Light SemiCond"/>
              </a:rPr>
              <a:t>Shiskin</a:t>
            </a:r>
            <a:r>
              <a:rPr lang="en-GB" sz="2000" b="0" i="0" u="none" strike="noStrike" baseline="0" noProof="0" dirty="0">
                <a:solidFill>
                  <a:srgbClr val="000000"/>
                </a:solidFill>
                <a:latin typeface="Myriad Pro Light SemiCond"/>
              </a:rPr>
              <a:t> et al., 1967; Findley et al., 1998) – may result in different outcomes. </a:t>
            </a:r>
          </a:p>
          <a:p>
            <a:endParaRPr lang="en-GB" sz="2000" noProof="0" dirty="0">
              <a:solidFill>
                <a:srgbClr val="000000"/>
              </a:solidFill>
              <a:latin typeface="Myriad Pro Light SemiCond"/>
            </a:endParaRPr>
          </a:p>
          <a:p>
            <a:r>
              <a:rPr lang="en-GB" sz="2000" b="0" i="0" u="none" strike="noStrike" baseline="0" noProof="0" dirty="0">
                <a:solidFill>
                  <a:srgbClr val="000000"/>
                </a:solidFill>
                <a:latin typeface="Myriad Pro Light SemiCond"/>
              </a:rPr>
              <a:t>The expertise of an analyst will also impact on the quality of seasonal adjustment, although the primary drivers are the quality of the unadjusted time series and the production timetable. </a:t>
            </a:r>
          </a:p>
        </p:txBody>
      </p:sp>
      <p:sp>
        <p:nvSpPr>
          <p:cNvPr id="2" name="Espace réservé du numéro de diapositive 1">
            <a:extLst>
              <a:ext uri="{FF2B5EF4-FFF2-40B4-BE49-F238E27FC236}">
                <a16:creationId xmlns:a16="http://schemas.microsoft.com/office/drawing/2014/main" id="{A050BB1D-2FE8-EB30-DE58-81435AAF68BB}"/>
              </a:ext>
            </a:extLst>
          </p:cNvPr>
          <p:cNvSpPr>
            <a:spLocks noGrp="1"/>
          </p:cNvSpPr>
          <p:nvPr>
            <p:ph type="sldNum" idx="12"/>
          </p:nvPr>
        </p:nvSpPr>
        <p:spPr/>
        <p:txBody>
          <a:bodyPr/>
          <a:lstStyle/>
          <a:p>
            <a:fld id="{1E1EA8E3-33CC-465E-BBDB-C5F5B41B1D80}" type="slidenum">
              <a:rPr lang="en-GB" smtClean="0"/>
              <a:t>4</a:t>
            </a:fld>
            <a:endParaRPr lang="en-GB"/>
          </a:p>
        </p:txBody>
      </p:sp>
      <p:sp>
        <p:nvSpPr>
          <p:cNvPr id="6" name="Footer Placeholder 5">
            <a:extLst>
              <a:ext uri="{FF2B5EF4-FFF2-40B4-BE49-F238E27FC236}">
                <a16:creationId xmlns:a16="http://schemas.microsoft.com/office/drawing/2014/main" id="{D6ECB398-D35C-41B9-A4B3-1E1FFCE50321}"/>
              </a:ext>
            </a:extLst>
          </p:cNvPr>
          <p:cNvSpPr>
            <a:spLocks noGrp="1"/>
          </p:cNvSpPr>
          <p:nvPr>
            <p:ph type="ftr" sz="quarter" idx="4294967295"/>
          </p:nvPr>
        </p:nvSpPr>
        <p:spPr>
          <a:xfrm>
            <a:off x="0" y="0"/>
            <a:ext cx="0" cy="0"/>
          </a:xfrm>
        </p:spPr>
        <p:txBody>
          <a:bodyPr/>
          <a:lstStyle/>
          <a:p>
            <a:r>
              <a:rPr lang="en-GB" noProof="0" dirty="0"/>
              <a:t>ESTP Training. Seasonal adjustment</a:t>
            </a:r>
          </a:p>
        </p:txBody>
      </p:sp>
    </p:spTree>
    <p:extLst>
      <p:ext uri="{BB962C8B-B14F-4D97-AF65-F5344CB8AC3E}">
        <p14:creationId xmlns:p14="http://schemas.microsoft.com/office/powerpoint/2010/main" val="3451516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798D1-0E5B-40BD-A8DD-408151A11DB9}"/>
              </a:ext>
            </a:extLst>
          </p:cNvPr>
          <p:cNvSpPr>
            <a:spLocks noGrp="1"/>
          </p:cNvSpPr>
          <p:nvPr>
            <p:ph type="title"/>
          </p:nvPr>
        </p:nvSpPr>
        <p:spPr/>
        <p:txBody>
          <a:bodyPr/>
          <a:lstStyle/>
          <a:p>
            <a:r>
              <a:rPr lang="en-GB" noProof="0" dirty="0"/>
              <a:t>2.1 Series decomposition</a:t>
            </a:r>
          </a:p>
        </p:txBody>
      </p:sp>
      <p:sp>
        <p:nvSpPr>
          <p:cNvPr id="3" name="Espace réservé du numéro de diapositive 2">
            <a:extLst>
              <a:ext uri="{FF2B5EF4-FFF2-40B4-BE49-F238E27FC236}">
                <a16:creationId xmlns:a16="http://schemas.microsoft.com/office/drawing/2014/main" id="{63572E7F-3946-733E-AE7B-F0DA4E06F2F8}"/>
              </a:ext>
            </a:extLst>
          </p:cNvPr>
          <p:cNvSpPr>
            <a:spLocks noGrp="1"/>
          </p:cNvSpPr>
          <p:nvPr>
            <p:ph type="sldNum" idx="12"/>
          </p:nvPr>
        </p:nvSpPr>
        <p:spPr/>
        <p:txBody>
          <a:bodyPr/>
          <a:lstStyle/>
          <a:p>
            <a:fld id="{1E1EA8E3-33CC-465E-BBDB-C5F5B41B1D80}" type="slidenum">
              <a:rPr lang="en-GB" smtClean="0"/>
              <a:t>5</a:t>
            </a:fld>
            <a:endParaRPr lang="en-GB"/>
          </a:p>
        </p:txBody>
      </p:sp>
      <p:sp>
        <p:nvSpPr>
          <p:cNvPr id="33" name="Footer Placeholder 32">
            <a:extLst>
              <a:ext uri="{FF2B5EF4-FFF2-40B4-BE49-F238E27FC236}">
                <a16:creationId xmlns:a16="http://schemas.microsoft.com/office/drawing/2014/main" id="{5C39D6B6-21E0-4CAC-92A2-4044C078D876}"/>
              </a:ext>
            </a:extLst>
          </p:cNvPr>
          <p:cNvSpPr>
            <a:spLocks noGrp="1"/>
          </p:cNvSpPr>
          <p:nvPr>
            <p:ph type="ftr" sz="quarter" idx="4294967295"/>
          </p:nvPr>
        </p:nvSpPr>
        <p:spPr>
          <a:xfrm>
            <a:off x="0" y="0"/>
            <a:ext cx="0" cy="0"/>
          </a:xfrm>
        </p:spPr>
        <p:txBody>
          <a:bodyPr/>
          <a:lstStyle/>
          <a:p>
            <a:r>
              <a:rPr lang="en-GB" noProof="0" dirty="0"/>
              <a:t>ESTP Training. Seasonal adjustment</a:t>
            </a:r>
          </a:p>
        </p:txBody>
      </p:sp>
      <mc:AlternateContent xmlns:mc="http://schemas.openxmlformats.org/markup-compatibility/2006" xmlns:a14="http://schemas.microsoft.com/office/drawing/2010/main">
        <mc:Choice Requires="a14">
          <p:sp>
            <p:nvSpPr>
              <p:cNvPr id="4" name="Rectangle: Rounded Corners 3">
                <a:extLst>
                  <a:ext uri="{FF2B5EF4-FFF2-40B4-BE49-F238E27FC236}">
                    <a16:creationId xmlns:a16="http://schemas.microsoft.com/office/drawing/2014/main" id="{E7EB8FCC-B6E3-4C73-815C-68D3526B6A38}"/>
                  </a:ext>
                </a:extLst>
              </p:cNvPr>
              <p:cNvSpPr/>
              <p:nvPr/>
            </p:nvSpPr>
            <p:spPr>
              <a:xfrm>
                <a:off x="840417" y="3429000"/>
                <a:ext cx="1384916" cy="7823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0" dirty="0"/>
                  <a:t>Series (</a:t>
                </a:r>
                <a14:m>
                  <m:oMath xmlns:m="http://schemas.openxmlformats.org/officeDocument/2006/math">
                    <m:sSub>
                      <m:sSubPr>
                        <m:ctrlPr>
                          <a:rPr lang="en-GB" b="0" i="1" noProof="0" smtClean="0">
                            <a:latin typeface="Cambria Math" panose="02040503050406030204" pitchFamily="18" charset="0"/>
                          </a:rPr>
                        </m:ctrlPr>
                      </m:sSubPr>
                      <m:e>
                        <m:r>
                          <a:rPr lang="en-GB" b="0" i="1" noProof="0" smtClean="0">
                            <a:latin typeface="Cambria Math" panose="02040503050406030204" pitchFamily="18" charset="0"/>
                          </a:rPr>
                          <m:t>𝑌</m:t>
                        </m:r>
                      </m:e>
                      <m:sub>
                        <m:r>
                          <a:rPr lang="en-GB" b="0" i="1" noProof="0" smtClean="0">
                            <a:latin typeface="Cambria Math" panose="02040503050406030204" pitchFamily="18" charset="0"/>
                          </a:rPr>
                          <m:t>𝑡</m:t>
                        </m:r>
                      </m:sub>
                    </m:sSub>
                  </m:oMath>
                </a14:m>
                <a:r>
                  <a:rPr lang="en-GB" noProof="0" dirty="0"/>
                  <a:t>)</a:t>
                </a:r>
              </a:p>
            </p:txBody>
          </p:sp>
        </mc:Choice>
        <mc:Fallback xmlns="">
          <p:sp>
            <p:nvSpPr>
              <p:cNvPr id="4" name="Rectangle: Rounded Corners 3">
                <a:extLst>
                  <a:ext uri="{FF2B5EF4-FFF2-40B4-BE49-F238E27FC236}">
                    <a16:creationId xmlns:a16="http://schemas.microsoft.com/office/drawing/2014/main" id="{E7EB8FCC-B6E3-4C73-815C-68D3526B6A38}"/>
                  </a:ext>
                </a:extLst>
              </p:cNvPr>
              <p:cNvSpPr>
                <a:spLocks noRot="1" noChangeAspect="1" noMove="1" noResize="1" noEditPoints="1" noAdjustHandles="1" noChangeArrowheads="1" noChangeShapeType="1" noTextEdit="1"/>
              </p:cNvSpPr>
              <p:nvPr/>
            </p:nvSpPr>
            <p:spPr>
              <a:xfrm>
                <a:off x="840417" y="3429000"/>
                <a:ext cx="1384916" cy="782340"/>
              </a:xfrm>
              <a:prstGeom prst="round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Rectangle: Rounded Corners 4">
                <a:extLst>
                  <a:ext uri="{FF2B5EF4-FFF2-40B4-BE49-F238E27FC236}">
                    <a16:creationId xmlns:a16="http://schemas.microsoft.com/office/drawing/2014/main" id="{AC125F20-8474-4529-BE73-5D5A031A93AF}"/>
                  </a:ext>
                </a:extLst>
              </p:cNvPr>
              <p:cNvSpPr/>
              <p:nvPr/>
            </p:nvSpPr>
            <p:spPr>
              <a:xfrm>
                <a:off x="5827893" y="4537649"/>
                <a:ext cx="2072934" cy="77235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noProof="0" dirty="0"/>
                  <a:t>Irregular (</a:t>
                </a:r>
                <a14:m>
                  <m:oMath xmlns:m="http://schemas.openxmlformats.org/officeDocument/2006/math">
                    <m:sSub>
                      <m:sSubPr>
                        <m:ctrlPr>
                          <a:rPr lang="en-GB" b="0" i="1" noProof="0" smtClean="0">
                            <a:latin typeface="Cambria Math" panose="02040503050406030204" pitchFamily="18" charset="0"/>
                          </a:rPr>
                        </m:ctrlPr>
                      </m:sSubPr>
                      <m:e>
                        <m:r>
                          <a:rPr lang="en-GB" b="0" i="1" noProof="0" smtClean="0">
                            <a:latin typeface="Cambria Math" panose="02040503050406030204" pitchFamily="18" charset="0"/>
                          </a:rPr>
                          <m:t>𝐼</m:t>
                        </m:r>
                      </m:e>
                      <m:sub>
                        <m:r>
                          <a:rPr lang="en-GB" b="0" i="1" noProof="0" smtClean="0">
                            <a:latin typeface="Cambria Math" panose="02040503050406030204" pitchFamily="18" charset="0"/>
                          </a:rPr>
                          <m:t>𝑡</m:t>
                        </m:r>
                      </m:sub>
                    </m:sSub>
                  </m:oMath>
                </a14:m>
                <a:r>
                  <a:rPr lang="en-GB" noProof="0" dirty="0"/>
                  <a:t>)</a:t>
                </a:r>
              </a:p>
            </p:txBody>
          </p:sp>
        </mc:Choice>
        <mc:Fallback xmlns="">
          <p:sp>
            <p:nvSpPr>
              <p:cNvPr id="5" name="Rectangle: Rounded Corners 4">
                <a:extLst>
                  <a:ext uri="{FF2B5EF4-FFF2-40B4-BE49-F238E27FC236}">
                    <a16:creationId xmlns:a16="http://schemas.microsoft.com/office/drawing/2014/main" id="{AC125F20-8474-4529-BE73-5D5A031A93AF}"/>
                  </a:ext>
                </a:extLst>
              </p:cNvPr>
              <p:cNvSpPr>
                <a:spLocks noRot="1" noChangeAspect="1" noMove="1" noResize="1" noEditPoints="1" noAdjustHandles="1" noChangeArrowheads="1" noChangeShapeType="1" noTextEdit="1"/>
              </p:cNvSpPr>
              <p:nvPr/>
            </p:nvSpPr>
            <p:spPr>
              <a:xfrm>
                <a:off x="5827893" y="4537649"/>
                <a:ext cx="2072934" cy="772357"/>
              </a:xfrm>
              <a:prstGeom prst="round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Rectangle: Rounded Corners 5">
                <a:extLst>
                  <a:ext uri="{FF2B5EF4-FFF2-40B4-BE49-F238E27FC236}">
                    <a16:creationId xmlns:a16="http://schemas.microsoft.com/office/drawing/2014/main" id="{EAAC2273-72C6-4B58-A3D9-BF8710B7B625}"/>
                  </a:ext>
                </a:extLst>
              </p:cNvPr>
              <p:cNvSpPr/>
              <p:nvPr/>
            </p:nvSpPr>
            <p:spPr>
              <a:xfrm>
                <a:off x="5827891" y="2340314"/>
                <a:ext cx="2072935" cy="772357"/>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noProof="0" dirty="0"/>
                  <a:t>Seasonal (</a:t>
                </a:r>
                <a14:m>
                  <m:oMath xmlns:m="http://schemas.openxmlformats.org/officeDocument/2006/math">
                    <m:sSub>
                      <m:sSubPr>
                        <m:ctrlPr>
                          <a:rPr lang="en-GB" b="0" i="1" noProof="0" smtClean="0">
                            <a:latin typeface="Cambria Math" panose="02040503050406030204" pitchFamily="18" charset="0"/>
                          </a:rPr>
                        </m:ctrlPr>
                      </m:sSubPr>
                      <m:e>
                        <m:r>
                          <a:rPr lang="en-GB" b="0" i="1" noProof="0" smtClean="0">
                            <a:latin typeface="Cambria Math" panose="02040503050406030204" pitchFamily="18" charset="0"/>
                          </a:rPr>
                          <m:t>𝑆</m:t>
                        </m:r>
                      </m:e>
                      <m:sub>
                        <m:r>
                          <a:rPr lang="en-GB" b="0" i="1" noProof="0" smtClean="0">
                            <a:latin typeface="Cambria Math" panose="02040503050406030204" pitchFamily="18" charset="0"/>
                          </a:rPr>
                          <m:t>𝑡</m:t>
                        </m:r>
                      </m:sub>
                    </m:sSub>
                  </m:oMath>
                </a14:m>
                <a:r>
                  <a:rPr lang="en-GB" noProof="0" dirty="0"/>
                  <a:t>)</a:t>
                </a:r>
              </a:p>
            </p:txBody>
          </p:sp>
        </mc:Choice>
        <mc:Fallback xmlns="">
          <p:sp>
            <p:nvSpPr>
              <p:cNvPr id="6" name="Rectangle: Rounded Corners 5">
                <a:extLst>
                  <a:ext uri="{FF2B5EF4-FFF2-40B4-BE49-F238E27FC236}">
                    <a16:creationId xmlns:a16="http://schemas.microsoft.com/office/drawing/2014/main" id="{EAAC2273-72C6-4B58-A3D9-BF8710B7B625}"/>
                  </a:ext>
                </a:extLst>
              </p:cNvPr>
              <p:cNvSpPr>
                <a:spLocks noRot="1" noChangeAspect="1" noMove="1" noResize="1" noEditPoints="1" noAdjustHandles="1" noChangeArrowheads="1" noChangeShapeType="1" noTextEdit="1"/>
              </p:cNvSpPr>
              <p:nvPr/>
            </p:nvSpPr>
            <p:spPr>
              <a:xfrm>
                <a:off x="5827891" y="2340314"/>
                <a:ext cx="2072935" cy="772357"/>
              </a:xfrm>
              <a:prstGeom prst="round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Rectangle: Rounded Corners 6">
                <a:extLst>
                  <a:ext uri="{FF2B5EF4-FFF2-40B4-BE49-F238E27FC236}">
                    <a16:creationId xmlns:a16="http://schemas.microsoft.com/office/drawing/2014/main" id="{03D4CBA6-1446-40BD-A55B-FAD1674A4FA5}"/>
                  </a:ext>
                </a:extLst>
              </p:cNvPr>
              <p:cNvSpPr/>
              <p:nvPr/>
            </p:nvSpPr>
            <p:spPr>
              <a:xfrm>
                <a:off x="5827892" y="3438982"/>
                <a:ext cx="2072935" cy="77235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noProof="0" dirty="0"/>
                  <a:t>Trend-cycle (</a:t>
                </a:r>
                <a14:m>
                  <m:oMath xmlns:m="http://schemas.openxmlformats.org/officeDocument/2006/math">
                    <m:sSub>
                      <m:sSubPr>
                        <m:ctrlPr>
                          <a:rPr lang="en-GB" b="0" i="1" noProof="0" smtClean="0">
                            <a:latin typeface="Cambria Math" panose="02040503050406030204" pitchFamily="18" charset="0"/>
                          </a:rPr>
                        </m:ctrlPr>
                      </m:sSubPr>
                      <m:e>
                        <m:r>
                          <a:rPr lang="en-GB" b="0" i="1" noProof="0" smtClean="0">
                            <a:latin typeface="Cambria Math" panose="02040503050406030204" pitchFamily="18" charset="0"/>
                          </a:rPr>
                          <m:t>𝑇</m:t>
                        </m:r>
                      </m:e>
                      <m:sub>
                        <m:r>
                          <a:rPr lang="en-GB" b="0" i="1" noProof="0" smtClean="0">
                            <a:latin typeface="Cambria Math" panose="02040503050406030204" pitchFamily="18" charset="0"/>
                          </a:rPr>
                          <m:t>𝑡</m:t>
                        </m:r>
                      </m:sub>
                    </m:sSub>
                  </m:oMath>
                </a14:m>
                <a:r>
                  <a:rPr lang="en-GB" noProof="0" dirty="0"/>
                  <a:t>)</a:t>
                </a:r>
              </a:p>
            </p:txBody>
          </p:sp>
        </mc:Choice>
        <mc:Fallback xmlns="">
          <p:sp>
            <p:nvSpPr>
              <p:cNvPr id="7" name="Rectangle: Rounded Corners 6">
                <a:extLst>
                  <a:ext uri="{FF2B5EF4-FFF2-40B4-BE49-F238E27FC236}">
                    <a16:creationId xmlns:a16="http://schemas.microsoft.com/office/drawing/2014/main" id="{03D4CBA6-1446-40BD-A55B-FAD1674A4FA5}"/>
                  </a:ext>
                </a:extLst>
              </p:cNvPr>
              <p:cNvSpPr>
                <a:spLocks noRot="1" noChangeAspect="1" noMove="1" noResize="1" noEditPoints="1" noAdjustHandles="1" noChangeArrowheads="1" noChangeShapeType="1" noTextEdit="1"/>
              </p:cNvSpPr>
              <p:nvPr/>
            </p:nvSpPr>
            <p:spPr>
              <a:xfrm>
                <a:off x="5827892" y="3438982"/>
                <a:ext cx="2072935" cy="772357"/>
              </a:xfrm>
              <a:prstGeom prst="roundRect">
                <a:avLst/>
              </a:prstGeom>
              <a:blipFill>
                <a:blip r:embed="rId5"/>
                <a:stretch>
                  <a:fillRect/>
                </a:stretch>
              </a:blipFill>
            </p:spPr>
            <p:txBody>
              <a:bodyPr/>
              <a:lstStyle/>
              <a:p>
                <a:r>
                  <a:rPr lang="en-GB">
                    <a:noFill/>
                  </a:rPr>
                  <a:t> </a:t>
                </a:r>
              </a:p>
            </p:txBody>
          </p:sp>
        </mc:Fallback>
      </mc:AlternateContent>
      <p:cxnSp>
        <p:nvCxnSpPr>
          <p:cNvPr id="9" name="Connector: Elbow 8">
            <a:extLst>
              <a:ext uri="{FF2B5EF4-FFF2-40B4-BE49-F238E27FC236}">
                <a16:creationId xmlns:a16="http://schemas.microsoft.com/office/drawing/2014/main" id="{A5F9547D-162A-4677-BDB8-702E844BE123}"/>
              </a:ext>
            </a:extLst>
          </p:cNvPr>
          <p:cNvCxnSpPr>
            <a:cxnSpLocks/>
            <a:stCxn id="7" idx="1"/>
            <a:endCxn id="4" idx="3"/>
          </p:cNvCxnSpPr>
          <p:nvPr/>
        </p:nvCxnSpPr>
        <p:spPr>
          <a:xfrm rot="10800000">
            <a:off x="2225334" y="3820171"/>
            <a:ext cx="3602559" cy="499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ctor: Elbow 10">
            <a:extLst>
              <a:ext uri="{FF2B5EF4-FFF2-40B4-BE49-F238E27FC236}">
                <a16:creationId xmlns:a16="http://schemas.microsoft.com/office/drawing/2014/main" id="{E8ABEE7C-76D2-49D4-9575-C80268452E5E}"/>
              </a:ext>
            </a:extLst>
          </p:cNvPr>
          <p:cNvCxnSpPr>
            <a:cxnSpLocks/>
            <a:stCxn id="6" idx="1"/>
            <a:endCxn id="4" idx="3"/>
          </p:cNvCxnSpPr>
          <p:nvPr/>
        </p:nvCxnSpPr>
        <p:spPr>
          <a:xfrm rot="10800000" flipV="1">
            <a:off x="2225333" y="2726492"/>
            <a:ext cx="3602558" cy="109367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6BC19318-E13C-47A8-A281-9957BC028B38}"/>
              </a:ext>
            </a:extLst>
          </p:cNvPr>
          <p:cNvCxnSpPr>
            <a:cxnSpLocks/>
            <a:stCxn id="5" idx="1"/>
            <a:endCxn id="4" idx="3"/>
          </p:cNvCxnSpPr>
          <p:nvPr/>
        </p:nvCxnSpPr>
        <p:spPr>
          <a:xfrm rot="10800000">
            <a:off x="2225333" y="3820170"/>
            <a:ext cx="3602560" cy="110365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63EDBDD-E6A3-461F-89B4-F3909489F40E}"/>
                  </a:ext>
                </a:extLst>
              </p:cNvPr>
              <p:cNvSpPr txBox="1"/>
              <p:nvPr/>
            </p:nvSpPr>
            <p:spPr>
              <a:xfrm>
                <a:off x="2571565" y="3452229"/>
                <a:ext cx="1547603" cy="369332"/>
              </a:xfrm>
              <a:prstGeom prst="rect">
                <a:avLst/>
              </a:prstGeom>
              <a:noFill/>
            </p:spPr>
            <p:txBody>
              <a:bodyPr wrap="none" rtlCol="0">
                <a:spAutoFit/>
              </a:bodyPr>
              <a:lstStyle/>
              <a:p>
                <a:pPr/>
                <a14:m>
                  <m:oMathPara xmlns:m="http://schemas.openxmlformats.org/officeDocument/2006/math">
                    <m:oMath>
                      <m:r>
                        <a:rPr lang="en-GB" b="0" i="1" noProof="0" smtClean="0">
                          <a:latin typeface="Cambria Math" panose="02040503050406030204" pitchFamily="18" charset="0"/>
                        </a:rPr>
                        <m:t>𝑌</m:t>
                      </m:r>
                      <m:r>
                        <a:rPr lang="en-GB" b="0" i="1" noProof="0" smtClean="0">
                          <a:latin typeface="Cambria Math" panose="02040503050406030204" pitchFamily="18" charset="0"/>
                        </a:rPr>
                        <m:t>=</m:t>
                      </m:r>
                      <m:r>
                        <a:rPr lang="en-GB" b="0" i="1" noProof="0" smtClean="0">
                          <a:latin typeface="Cambria Math" panose="02040503050406030204" pitchFamily="18" charset="0"/>
                        </a:rPr>
                        <m:t>𝑓</m:t>
                      </m:r>
                      <m:r>
                        <a:rPr lang="en-GB" b="0" i="1" noProof="0" smtClean="0">
                          <a:latin typeface="Cambria Math" panose="02040503050406030204" pitchFamily="18" charset="0"/>
                        </a:rPr>
                        <m:t>(</m:t>
                      </m:r>
                      <m:r>
                        <a:rPr lang="en-GB" b="0" i="1" noProof="0" smtClean="0">
                          <a:latin typeface="Cambria Math" panose="02040503050406030204" pitchFamily="18" charset="0"/>
                        </a:rPr>
                        <m:t>𝑇</m:t>
                      </m:r>
                      <m:r>
                        <a:rPr lang="en-GB" b="0" i="1" noProof="0" smtClean="0">
                          <a:latin typeface="Cambria Math" panose="02040503050406030204" pitchFamily="18" charset="0"/>
                        </a:rPr>
                        <m:t>, </m:t>
                      </m:r>
                      <m:r>
                        <a:rPr lang="en-GB" b="0" i="1" noProof="0" smtClean="0">
                          <a:latin typeface="Cambria Math" panose="02040503050406030204" pitchFamily="18" charset="0"/>
                        </a:rPr>
                        <m:t>𝑆</m:t>
                      </m:r>
                      <m:r>
                        <a:rPr lang="en-GB" b="0" i="1" noProof="0" smtClean="0">
                          <a:latin typeface="Cambria Math" panose="02040503050406030204" pitchFamily="18" charset="0"/>
                        </a:rPr>
                        <m:t>,</m:t>
                      </m:r>
                      <m:r>
                        <a:rPr lang="en-GB" b="0" i="1" noProof="0" smtClean="0">
                          <a:latin typeface="Cambria Math" panose="02040503050406030204" pitchFamily="18" charset="0"/>
                        </a:rPr>
                        <m:t>𝐼</m:t>
                      </m:r>
                      <m:r>
                        <a:rPr lang="en-GB" b="0" i="1" noProof="0" smtClean="0">
                          <a:latin typeface="Cambria Math" panose="02040503050406030204" pitchFamily="18" charset="0"/>
                        </a:rPr>
                        <m:t>)</m:t>
                      </m:r>
                    </m:oMath>
                  </m:oMathPara>
                </a14:m>
                <a:endParaRPr lang="en-GB" noProof="0" dirty="0"/>
              </a:p>
            </p:txBody>
          </p:sp>
        </mc:Choice>
        <mc:Fallback xmlns="">
          <p:sp>
            <p:nvSpPr>
              <p:cNvPr id="18" name="TextBox 17">
                <a:extLst>
                  <a:ext uri="{FF2B5EF4-FFF2-40B4-BE49-F238E27FC236}">
                    <a16:creationId xmlns:a16="http://schemas.microsoft.com/office/drawing/2014/main" id="{063EDBDD-E6A3-461F-89B4-F3909489F40E}"/>
                  </a:ext>
                </a:extLst>
              </p:cNvPr>
              <p:cNvSpPr txBox="1">
                <a:spLocks noRot="1" noChangeAspect="1" noMove="1" noResize="1" noEditPoints="1" noAdjustHandles="1" noChangeArrowheads="1" noChangeShapeType="1" noTextEdit="1"/>
              </p:cNvSpPr>
              <p:nvPr/>
            </p:nvSpPr>
            <p:spPr>
              <a:xfrm>
                <a:off x="2571565" y="3452229"/>
                <a:ext cx="1547603"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 name="Rectangle: Rounded Corners 24">
                <a:extLst>
                  <a:ext uri="{FF2B5EF4-FFF2-40B4-BE49-F238E27FC236}">
                    <a16:creationId xmlns:a16="http://schemas.microsoft.com/office/drawing/2014/main" id="{E2CEC76A-9F33-451A-B5A5-FCCF66CF508F}"/>
                  </a:ext>
                </a:extLst>
              </p:cNvPr>
              <p:cNvSpPr/>
              <p:nvPr/>
            </p:nvSpPr>
            <p:spPr>
              <a:xfrm>
                <a:off x="5479444" y="3245894"/>
                <a:ext cx="2767615" cy="2704045"/>
              </a:xfrm>
              <a:prstGeom prst="roundRect">
                <a:avLst/>
              </a:prstGeom>
              <a:noFill/>
              <a:ln w="57150"/>
            </p:spPr>
            <p:style>
              <a:lnRef idx="2">
                <a:schemeClr val="accent3">
                  <a:shade val="50000"/>
                </a:schemeClr>
              </a:lnRef>
              <a:fillRef idx="1">
                <a:schemeClr val="accent3"/>
              </a:fillRef>
              <a:effectRef idx="0">
                <a:schemeClr val="accent3"/>
              </a:effectRef>
              <a:fontRef idx="minor">
                <a:schemeClr val="lt1"/>
              </a:fontRef>
            </p:style>
            <p:txBody>
              <a:bodyPr rtlCol="0" anchor="b"/>
              <a:lstStyle/>
              <a:p>
                <a:pPr algn="ctr"/>
                <a:r>
                  <a:rPr lang="en-GB" noProof="0" dirty="0">
                    <a:solidFill>
                      <a:schemeClr val="tx1"/>
                    </a:solidFill>
                  </a:rPr>
                  <a:t>Seasonally </a:t>
                </a:r>
                <a:r>
                  <a:rPr lang="en-GB" noProof="0" dirty="0" err="1">
                    <a:solidFill>
                      <a:schemeClr val="tx1"/>
                    </a:solidFill>
                  </a:rPr>
                  <a:t>adj</a:t>
                </a:r>
                <a:r>
                  <a:rPr lang="en-GB" noProof="0" dirty="0">
                    <a:solidFill>
                      <a:schemeClr val="tx1"/>
                    </a:solidFill>
                  </a:rPr>
                  <a:t> (</a:t>
                </a:r>
                <a14:m>
                  <m:oMath xmlns:m="http://schemas.openxmlformats.org/officeDocument/2006/math">
                    <m:sSub>
                      <m:sSubPr>
                        <m:ctrlPr>
                          <a:rPr lang="en-GB" b="0" i="1" noProof="0" smtClean="0">
                            <a:solidFill>
                              <a:schemeClr val="tx1"/>
                            </a:solidFill>
                            <a:latin typeface="Cambria Math" panose="02040503050406030204" pitchFamily="18" charset="0"/>
                          </a:rPr>
                        </m:ctrlPr>
                      </m:sSubPr>
                      <m:e>
                        <m:r>
                          <a:rPr lang="en-GB" b="0" i="1" noProof="0" smtClean="0">
                            <a:solidFill>
                              <a:schemeClr val="tx1"/>
                            </a:solidFill>
                            <a:latin typeface="Cambria Math" panose="02040503050406030204" pitchFamily="18" charset="0"/>
                          </a:rPr>
                          <m:t>𝑆𝐴</m:t>
                        </m:r>
                      </m:e>
                      <m:sub>
                        <m:r>
                          <a:rPr lang="en-GB" b="0" i="1" noProof="0" smtClean="0">
                            <a:solidFill>
                              <a:schemeClr val="tx1"/>
                            </a:solidFill>
                            <a:latin typeface="Cambria Math" panose="02040503050406030204" pitchFamily="18" charset="0"/>
                          </a:rPr>
                          <m:t>𝑡</m:t>
                        </m:r>
                      </m:sub>
                    </m:sSub>
                  </m:oMath>
                </a14:m>
                <a:r>
                  <a:rPr lang="en-GB" noProof="0" dirty="0">
                    <a:solidFill>
                      <a:schemeClr val="tx1"/>
                    </a:solidFill>
                  </a:rPr>
                  <a:t>)</a:t>
                </a:r>
              </a:p>
            </p:txBody>
          </p:sp>
        </mc:Choice>
        <mc:Fallback xmlns="">
          <p:sp>
            <p:nvSpPr>
              <p:cNvPr id="25" name="Rectangle: Rounded Corners 24">
                <a:extLst>
                  <a:ext uri="{FF2B5EF4-FFF2-40B4-BE49-F238E27FC236}">
                    <a16:creationId xmlns:a16="http://schemas.microsoft.com/office/drawing/2014/main" id="{E2CEC76A-9F33-451A-B5A5-FCCF66CF508F}"/>
                  </a:ext>
                </a:extLst>
              </p:cNvPr>
              <p:cNvSpPr>
                <a:spLocks noRot="1" noChangeAspect="1" noMove="1" noResize="1" noEditPoints="1" noAdjustHandles="1" noChangeArrowheads="1" noChangeShapeType="1" noTextEdit="1"/>
              </p:cNvSpPr>
              <p:nvPr/>
            </p:nvSpPr>
            <p:spPr>
              <a:xfrm>
                <a:off x="5479444" y="3245894"/>
                <a:ext cx="2767615" cy="2704045"/>
              </a:xfrm>
              <a:prstGeom prst="roundRect">
                <a:avLst/>
              </a:prstGeom>
              <a:blipFill>
                <a:blip r:embed="rId7"/>
                <a:stretch>
                  <a:fillRect/>
                </a:stretch>
              </a:blipFill>
              <a:ln w="57150"/>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Rectangle: Rounded Corners 25">
                <a:extLst>
                  <a:ext uri="{FF2B5EF4-FFF2-40B4-BE49-F238E27FC236}">
                    <a16:creationId xmlns:a16="http://schemas.microsoft.com/office/drawing/2014/main" id="{FD5B45F7-D9D7-481C-A78E-F69393B8A6CD}"/>
                  </a:ext>
                </a:extLst>
              </p:cNvPr>
              <p:cNvSpPr/>
              <p:nvPr/>
            </p:nvSpPr>
            <p:spPr>
              <a:xfrm>
                <a:off x="8676072" y="1705904"/>
                <a:ext cx="2364423" cy="772357"/>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noProof="0" dirty="0"/>
                  <a:t>Calendar effect (</a:t>
                </a:r>
                <a14:m>
                  <m:oMath xmlns:m="http://schemas.openxmlformats.org/officeDocument/2006/math">
                    <m:sSub>
                      <m:sSubPr>
                        <m:ctrlPr>
                          <a:rPr lang="en-GB" b="0" i="1" noProof="0" smtClean="0">
                            <a:latin typeface="Cambria Math" panose="02040503050406030204" pitchFamily="18" charset="0"/>
                          </a:rPr>
                        </m:ctrlPr>
                      </m:sSubPr>
                      <m:e>
                        <m:r>
                          <a:rPr lang="en-GB" b="0" i="1" noProof="0" smtClean="0">
                            <a:latin typeface="Cambria Math" panose="02040503050406030204" pitchFamily="18" charset="0"/>
                          </a:rPr>
                          <m:t>𝐶𝑎𝑙</m:t>
                        </m:r>
                      </m:e>
                      <m:sub>
                        <m:r>
                          <a:rPr lang="en-GB" b="0" i="1" noProof="0" smtClean="0">
                            <a:latin typeface="Cambria Math" panose="02040503050406030204" pitchFamily="18" charset="0"/>
                          </a:rPr>
                          <m:t>𝑡</m:t>
                        </m:r>
                      </m:sub>
                    </m:sSub>
                  </m:oMath>
                </a14:m>
                <a:r>
                  <a:rPr lang="en-GB" noProof="0" dirty="0"/>
                  <a:t>)</a:t>
                </a:r>
              </a:p>
            </p:txBody>
          </p:sp>
        </mc:Choice>
        <mc:Fallback xmlns="">
          <p:sp>
            <p:nvSpPr>
              <p:cNvPr id="26" name="Rectangle: Rounded Corners 25">
                <a:extLst>
                  <a:ext uri="{FF2B5EF4-FFF2-40B4-BE49-F238E27FC236}">
                    <a16:creationId xmlns:a16="http://schemas.microsoft.com/office/drawing/2014/main" id="{FD5B45F7-D9D7-481C-A78E-F69393B8A6CD}"/>
                  </a:ext>
                </a:extLst>
              </p:cNvPr>
              <p:cNvSpPr>
                <a:spLocks noRot="1" noChangeAspect="1" noMove="1" noResize="1" noEditPoints="1" noAdjustHandles="1" noChangeArrowheads="1" noChangeShapeType="1" noTextEdit="1"/>
              </p:cNvSpPr>
              <p:nvPr/>
            </p:nvSpPr>
            <p:spPr>
              <a:xfrm>
                <a:off x="8676072" y="1705904"/>
                <a:ext cx="2364423" cy="772357"/>
              </a:xfrm>
              <a:prstGeom prst="roundRect">
                <a:avLst/>
              </a:prstGeom>
              <a:blipFill>
                <a:blip r:embed="rId8"/>
                <a:stretch>
                  <a:fillRect/>
                </a:stretch>
              </a:blipFill>
              <a:ln>
                <a:noFill/>
              </a:ln>
            </p:spPr>
            <p:txBody>
              <a:bodyPr/>
              <a:lstStyle/>
              <a:p>
                <a:r>
                  <a:rPr lang="en-GB">
                    <a:noFill/>
                  </a:rPr>
                  <a:t> </a:t>
                </a:r>
              </a:p>
            </p:txBody>
          </p:sp>
        </mc:Fallback>
      </mc:AlternateContent>
      <p:cxnSp>
        <p:nvCxnSpPr>
          <p:cNvPr id="28" name="Connector: Elbow 27">
            <a:extLst>
              <a:ext uri="{FF2B5EF4-FFF2-40B4-BE49-F238E27FC236}">
                <a16:creationId xmlns:a16="http://schemas.microsoft.com/office/drawing/2014/main" id="{B244EADF-C818-424B-AEA5-B0588A32EE10}"/>
              </a:ext>
            </a:extLst>
          </p:cNvPr>
          <p:cNvCxnSpPr>
            <a:cxnSpLocks/>
            <a:stCxn id="26" idx="2"/>
            <a:endCxn id="6" idx="3"/>
          </p:cNvCxnSpPr>
          <p:nvPr/>
        </p:nvCxnSpPr>
        <p:spPr>
          <a:xfrm rot="5400000">
            <a:off x="8755439" y="1623648"/>
            <a:ext cx="248232" cy="195745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8A9E8AD-87E4-41AC-BD52-8E6E4E061022}"/>
                  </a:ext>
                </a:extLst>
              </p:cNvPr>
              <p:cNvSpPr txBox="1"/>
              <p:nvPr/>
            </p:nvSpPr>
            <p:spPr>
              <a:xfrm>
                <a:off x="215204" y="4597917"/>
                <a:ext cx="3729739" cy="147732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14:m>
                  <m:oMathPara xmlns:m="http://schemas.openxmlformats.org/officeDocument/2006/math">
                    <m:oMathParaPr>
                      <m:jc m:val="left"/>
                    </m:oMathParaPr>
                    <m:oMath>
                      <m:r>
                        <a:rPr lang="en-GB" b="0" i="1" noProof="0" smtClean="0">
                          <a:latin typeface="Cambria Math" panose="02040503050406030204" pitchFamily="18" charset="0"/>
                        </a:rPr>
                        <m:t>𝑌</m:t>
                      </m:r>
                      <m:r>
                        <a:rPr lang="en-GB" b="0" i="1" noProof="0" smtClean="0">
                          <a:latin typeface="Cambria Math" panose="02040503050406030204" pitchFamily="18" charset="0"/>
                        </a:rPr>
                        <m:t>=</m:t>
                      </m:r>
                      <m:r>
                        <a:rPr lang="en-GB" b="0" i="1" noProof="0" smtClean="0">
                          <a:latin typeface="Cambria Math" panose="02040503050406030204" pitchFamily="18" charset="0"/>
                        </a:rPr>
                        <m:t>𝑇</m:t>
                      </m:r>
                      <m:r>
                        <a:rPr lang="en-GB" b="0" i="1" noProof="0" smtClean="0">
                          <a:latin typeface="Cambria Math" panose="02040503050406030204" pitchFamily="18" charset="0"/>
                        </a:rPr>
                        <m:t>+</m:t>
                      </m:r>
                      <m:r>
                        <a:rPr lang="en-GB" b="0" i="1" noProof="0" smtClean="0">
                          <a:latin typeface="Cambria Math" panose="02040503050406030204" pitchFamily="18" charset="0"/>
                        </a:rPr>
                        <m:t>𝑆</m:t>
                      </m:r>
                      <m:r>
                        <a:rPr lang="en-GB" b="0" i="1" noProof="0" smtClean="0">
                          <a:latin typeface="Cambria Math" panose="02040503050406030204" pitchFamily="18" charset="0"/>
                        </a:rPr>
                        <m:t>+</m:t>
                      </m:r>
                      <m:r>
                        <a:rPr lang="en-GB" b="0" i="1" noProof="0" smtClean="0">
                          <a:latin typeface="Cambria Math" panose="02040503050406030204" pitchFamily="18" charset="0"/>
                        </a:rPr>
                        <m:t>𝐼</m:t>
                      </m:r>
                    </m:oMath>
                  </m:oMathPara>
                </a14:m>
                <a:endParaRPr lang="en-GB" noProof="0" dirty="0"/>
              </a:p>
              <a:p>
                <a:pPr/>
                <a14:m>
                  <m:oMathPara xmlns:m="http://schemas.openxmlformats.org/officeDocument/2006/math">
                    <m:oMathParaPr>
                      <m:jc m:val="left"/>
                    </m:oMathParaPr>
                    <m:oMath>
                      <m:r>
                        <a:rPr lang="en-GB" b="0" i="1" noProof="0" smtClean="0">
                          <a:latin typeface="Cambria Math" panose="02040503050406030204" pitchFamily="18" charset="0"/>
                        </a:rPr>
                        <m:t>𝑌</m:t>
                      </m:r>
                      <m:r>
                        <a:rPr lang="en-GB" b="0" i="1" noProof="0" smtClean="0">
                          <a:latin typeface="Cambria Math" panose="02040503050406030204" pitchFamily="18" charset="0"/>
                        </a:rPr>
                        <m:t>=</m:t>
                      </m:r>
                      <m:r>
                        <a:rPr lang="en-GB" b="0" i="1" noProof="0" smtClean="0">
                          <a:latin typeface="Cambria Math" panose="02040503050406030204" pitchFamily="18" charset="0"/>
                        </a:rPr>
                        <m:t>𝑇</m:t>
                      </m:r>
                      <m:r>
                        <a:rPr lang="en-GB" b="0" i="1" noProof="0" smtClean="0">
                          <a:latin typeface="Cambria Math" panose="02040503050406030204" pitchFamily="18" charset="0"/>
                        </a:rPr>
                        <m:t>∗</m:t>
                      </m:r>
                      <m:r>
                        <a:rPr lang="en-GB" b="0" i="1" noProof="0" smtClean="0">
                          <a:latin typeface="Cambria Math" panose="02040503050406030204" pitchFamily="18" charset="0"/>
                        </a:rPr>
                        <m:t>𝑆</m:t>
                      </m:r>
                      <m:r>
                        <a:rPr lang="en-GB" b="0" i="1" noProof="0" smtClean="0">
                          <a:latin typeface="Cambria Math" panose="02040503050406030204" pitchFamily="18" charset="0"/>
                        </a:rPr>
                        <m:t>∗</m:t>
                      </m:r>
                      <m:r>
                        <a:rPr lang="en-GB" b="0" i="1" noProof="0" smtClean="0">
                          <a:latin typeface="Cambria Math" panose="02040503050406030204" pitchFamily="18" charset="0"/>
                        </a:rPr>
                        <m:t>𝐼</m:t>
                      </m:r>
                    </m:oMath>
                  </m:oMathPara>
                </a14:m>
                <a:endParaRPr lang="en-GB" noProof="0" dirty="0"/>
              </a:p>
              <a:p>
                <a:pPr/>
                <a14:m>
                  <m:oMathPara xmlns:m="http://schemas.openxmlformats.org/officeDocument/2006/math">
                    <m:oMathParaPr>
                      <m:jc m:val="left"/>
                    </m:oMathParaPr>
                    <m:oMath>
                      <m:func>
                        <m:funcPr>
                          <m:ctrlPr>
                            <a:rPr lang="en-GB" b="0" i="1" noProof="0" smtClean="0">
                              <a:latin typeface="Cambria Math" panose="02040503050406030204" pitchFamily="18" charset="0"/>
                            </a:rPr>
                          </m:ctrlPr>
                        </m:funcPr>
                        <m:fName>
                          <m:r>
                            <a:rPr lang="en-GB" b="0" i="1" noProof="0" smtClean="0">
                              <a:latin typeface="Cambria Math" panose="02040503050406030204" pitchFamily="18" charset="0"/>
                            </a:rPr>
                            <m:t>𝑙𝑜𝑔</m:t>
                          </m:r>
                        </m:fName>
                        <m:e>
                          <m:d>
                            <m:dPr>
                              <m:ctrlPr>
                                <a:rPr lang="en-GB" b="0" i="1" noProof="0" smtClean="0">
                                  <a:latin typeface="Cambria Math" panose="02040503050406030204" pitchFamily="18" charset="0"/>
                                </a:rPr>
                              </m:ctrlPr>
                            </m:dPr>
                            <m:e>
                              <m:r>
                                <a:rPr lang="en-GB" b="0" i="1" noProof="0" smtClean="0">
                                  <a:latin typeface="Cambria Math" panose="02040503050406030204" pitchFamily="18" charset="0"/>
                                </a:rPr>
                                <m:t>𝑌</m:t>
                              </m:r>
                            </m:e>
                          </m:d>
                        </m:e>
                      </m:func>
                      <m:r>
                        <a:rPr lang="en-GB" b="0" i="1" noProof="0" smtClean="0">
                          <a:latin typeface="Cambria Math" panose="02040503050406030204" pitchFamily="18" charset="0"/>
                        </a:rPr>
                        <m:t>=</m:t>
                      </m:r>
                      <m:func>
                        <m:funcPr>
                          <m:ctrlPr>
                            <a:rPr lang="en-GB" b="0" i="1" noProof="0" smtClean="0">
                              <a:latin typeface="Cambria Math" panose="02040503050406030204" pitchFamily="18" charset="0"/>
                            </a:rPr>
                          </m:ctrlPr>
                        </m:funcPr>
                        <m:fName>
                          <m:r>
                            <a:rPr lang="en-GB" b="0" i="1" noProof="0" smtClean="0">
                              <a:latin typeface="Cambria Math" panose="02040503050406030204" pitchFamily="18" charset="0"/>
                            </a:rPr>
                            <m:t>𝑙𝑜𝑔</m:t>
                          </m:r>
                        </m:fName>
                        <m:e>
                          <m:d>
                            <m:dPr>
                              <m:ctrlPr>
                                <a:rPr lang="en-GB" b="0" i="1" noProof="0" smtClean="0">
                                  <a:latin typeface="Cambria Math" panose="02040503050406030204" pitchFamily="18" charset="0"/>
                                </a:rPr>
                              </m:ctrlPr>
                            </m:dPr>
                            <m:e>
                              <m:r>
                                <a:rPr lang="en-GB" b="0" i="1" noProof="0" smtClean="0">
                                  <a:latin typeface="Cambria Math" panose="02040503050406030204" pitchFamily="18" charset="0"/>
                                </a:rPr>
                                <m:t>𝑇</m:t>
                              </m:r>
                            </m:e>
                          </m:d>
                        </m:e>
                      </m:func>
                      <m:r>
                        <a:rPr lang="en-GB" b="0" i="1" noProof="0" smtClean="0">
                          <a:latin typeface="Cambria Math" panose="02040503050406030204" pitchFamily="18" charset="0"/>
                        </a:rPr>
                        <m:t>+</m:t>
                      </m:r>
                      <m:func>
                        <m:funcPr>
                          <m:ctrlPr>
                            <a:rPr lang="en-GB" b="0" i="1" noProof="0" smtClean="0">
                              <a:latin typeface="Cambria Math" panose="02040503050406030204" pitchFamily="18" charset="0"/>
                            </a:rPr>
                          </m:ctrlPr>
                        </m:funcPr>
                        <m:fName>
                          <m:r>
                            <a:rPr lang="en-GB" b="0" i="1" noProof="0" smtClean="0">
                              <a:latin typeface="Cambria Math" panose="02040503050406030204" pitchFamily="18" charset="0"/>
                            </a:rPr>
                            <m:t>𝑙𝑜𝑔</m:t>
                          </m:r>
                        </m:fName>
                        <m:e>
                          <m:d>
                            <m:dPr>
                              <m:ctrlPr>
                                <a:rPr lang="en-GB" b="0" i="1" noProof="0" smtClean="0">
                                  <a:latin typeface="Cambria Math" panose="02040503050406030204" pitchFamily="18" charset="0"/>
                                </a:rPr>
                              </m:ctrlPr>
                            </m:dPr>
                            <m:e>
                              <m:r>
                                <a:rPr lang="en-GB" b="0" i="1" noProof="0" smtClean="0">
                                  <a:latin typeface="Cambria Math" panose="02040503050406030204" pitchFamily="18" charset="0"/>
                                </a:rPr>
                                <m:t>𝑆</m:t>
                              </m:r>
                            </m:e>
                          </m:d>
                        </m:e>
                      </m:func>
                      <m:r>
                        <a:rPr lang="en-GB" b="0" i="1" noProof="0" smtClean="0">
                          <a:latin typeface="Cambria Math" panose="02040503050406030204" pitchFamily="18" charset="0"/>
                        </a:rPr>
                        <m:t>+</m:t>
                      </m:r>
                      <m:r>
                        <a:rPr lang="en-GB" b="0" i="1" noProof="0" smtClean="0">
                          <a:latin typeface="Cambria Math" panose="02040503050406030204" pitchFamily="18" charset="0"/>
                        </a:rPr>
                        <m:t>𝑙𝑜𝑔</m:t>
                      </m:r>
                      <m:r>
                        <a:rPr lang="en-GB" b="0" i="1" noProof="0" smtClean="0">
                          <a:latin typeface="Cambria Math" panose="02040503050406030204" pitchFamily="18" charset="0"/>
                        </a:rPr>
                        <m:t>(</m:t>
                      </m:r>
                      <m:r>
                        <a:rPr lang="en-GB" b="0" i="1" noProof="0" smtClean="0">
                          <a:latin typeface="Cambria Math" panose="02040503050406030204" pitchFamily="18" charset="0"/>
                        </a:rPr>
                        <m:t>𝐼</m:t>
                      </m:r>
                      <m:r>
                        <a:rPr lang="en-GB" b="0" i="1" noProof="0" smtClean="0">
                          <a:latin typeface="Cambria Math" panose="02040503050406030204" pitchFamily="18" charset="0"/>
                        </a:rPr>
                        <m:t>)</m:t>
                      </m:r>
                    </m:oMath>
                  </m:oMathPara>
                </a14:m>
                <a:endParaRPr lang="en-GB" noProof="0" dirty="0"/>
              </a:p>
              <a:p>
                <a:pPr/>
                <a14:m>
                  <m:oMathPara xmlns:m="http://schemas.openxmlformats.org/officeDocument/2006/math">
                    <m:oMathParaPr>
                      <m:jc m:val="left"/>
                    </m:oMathParaPr>
                    <m:oMath>
                      <m:r>
                        <a:rPr lang="en-GB" b="0" i="1" noProof="0" smtClean="0">
                          <a:latin typeface="Cambria Math" panose="02040503050406030204" pitchFamily="18" charset="0"/>
                        </a:rPr>
                        <m:t>𝑌</m:t>
                      </m:r>
                      <m:r>
                        <a:rPr lang="en-GB" b="0" i="1" noProof="0" smtClean="0">
                          <a:latin typeface="Cambria Math" panose="02040503050406030204" pitchFamily="18" charset="0"/>
                        </a:rPr>
                        <m:t>=</m:t>
                      </m:r>
                      <m:r>
                        <a:rPr lang="en-GB" b="0" i="1" noProof="0" smtClean="0">
                          <a:latin typeface="Cambria Math" panose="02040503050406030204" pitchFamily="18" charset="0"/>
                        </a:rPr>
                        <m:t>𝑇</m:t>
                      </m:r>
                      <m:r>
                        <a:rPr lang="en-GB" b="0" i="1" noProof="0" smtClean="0">
                          <a:latin typeface="Cambria Math" panose="02040503050406030204" pitchFamily="18" charset="0"/>
                        </a:rPr>
                        <m:t>∗</m:t>
                      </m:r>
                      <m:d>
                        <m:dPr>
                          <m:ctrlPr>
                            <a:rPr lang="en-GB" b="0" i="1" noProof="0" smtClean="0">
                              <a:latin typeface="Cambria Math" panose="02040503050406030204" pitchFamily="18" charset="0"/>
                            </a:rPr>
                          </m:ctrlPr>
                        </m:dPr>
                        <m:e>
                          <m:r>
                            <a:rPr lang="en-GB" b="0" i="1" noProof="0" smtClean="0">
                              <a:latin typeface="Cambria Math" panose="02040503050406030204" pitchFamily="18" charset="0"/>
                            </a:rPr>
                            <m:t>𝑆</m:t>
                          </m:r>
                          <m:r>
                            <a:rPr lang="en-GB" b="0" i="1" noProof="0" smtClean="0">
                              <a:latin typeface="Cambria Math" panose="02040503050406030204" pitchFamily="18" charset="0"/>
                            </a:rPr>
                            <m:t>+</m:t>
                          </m:r>
                          <m:r>
                            <a:rPr lang="en-GB" b="0" i="1" noProof="0" smtClean="0">
                              <a:latin typeface="Cambria Math" panose="02040503050406030204" pitchFamily="18" charset="0"/>
                            </a:rPr>
                            <m:t>𝐼</m:t>
                          </m:r>
                          <m:r>
                            <a:rPr lang="en-GB" b="0" i="1" noProof="0" smtClean="0">
                              <a:latin typeface="Cambria Math" panose="02040503050406030204" pitchFamily="18" charset="0"/>
                            </a:rPr>
                            <m:t>−1</m:t>
                          </m:r>
                        </m:e>
                      </m:d>
                    </m:oMath>
                  </m:oMathPara>
                </a14:m>
                <a:endParaRPr lang="en-GB" noProof="0" dirty="0"/>
              </a:p>
              <a:p>
                <a:r>
                  <a:rPr lang="en-GB" noProof="0" dirty="0"/>
                  <a:t>…</a:t>
                </a:r>
              </a:p>
            </p:txBody>
          </p:sp>
        </mc:Choice>
        <mc:Fallback xmlns="">
          <p:sp>
            <p:nvSpPr>
              <p:cNvPr id="31" name="TextBox 30">
                <a:extLst>
                  <a:ext uri="{FF2B5EF4-FFF2-40B4-BE49-F238E27FC236}">
                    <a16:creationId xmlns:a16="http://schemas.microsoft.com/office/drawing/2014/main" id="{F8A9E8AD-87E4-41AC-BD52-8E6E4E061022}"/>
                  </a:ext>
                </a:extLst>
              </p:cNvPr>
              <p:cNvSpPr txBox="1">
                <a:spLocks noRot="1" noChangeAspect="1" noMove="1" noResize="1" noEditPoints="1" noAdjustHandles="1" noChangeArrowheads="1" noChangeShapeType="1" noTextEdit="1"/>
              </p:cNvSpPr>
              <p:nvPr/>
            </p:nvSpPr>
            <p:spPr>
              <a:xfrm>
                <a:off x="215204" y="4597917"/>
                <a:ext cx="3729739" cy="1477328"/>
              </a:xfrm>
              <a:prstGeom prst="rect">
                <a:avLst/>
              </a:prstGeom>
              <a:blipFill>
                <a:blip r:embed="rId9"/>
                <a:stretch>
                  <a:fillRect l="-1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30">
                <a:extLst>
                  <a:ext uri="{FF2B5EF4-FFF2-40B4-BE49-F238E27FC236}">
                    <a16:creationId xmlns:a16="http://schemas.microsoft.com/office/drawing/2014/main" id="{FB860FE4-00A4-F5AF-37E6-9970E65803FD}"/>
                  </a:ext>
                </a:extLst>
              </p:cNvPr>
              <p:cNvSpPr txBox="1"/>
              <p:nvPr/>
            </p:nvSpPr>
            <p:spPr>
              <a:xfrm>
                <a:off x="8569425" y="3791293"/>
                <a:ext cx="2662168" cy="17189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14:m>
                  <m:oMathPara xmlns:m="http://schemas.openxmlformats.org/officeDocument/2006/math">
                    <m:oMathParaPr>
                      <m:jc m:val="left"/>
                    </m:oMathParaPr>
                    <m:oMath>
                      <m:r>
                        <a:rPr lang="en-GB" b="0" i="1" noProof="0" smtClean="0">
                          <a:latin typeface="Cambria Math" panose="02040503050406030204" pitchFamily="18" charset="0"/>
                        </a:rPr>
                        <m:t>𝑆𝐴</m:t>
                      </m:r>
                      <m:r>
                        <a:rPr lang="en-GB" b="0" i="1" noProof="0" smtClean="0">
                          <a:latin typeface="Cambria Math" panose="02040503050406030204" pitchFamily="18" charset="0"/>
                        </a:rPr>
                        <m:t>=</m:t>
                      </m:r>
                      <m:r>
                        <a:rPr lang="en-GB" b="0" i="1" noProof="0" smtClean="0">
                          <a:latin typeface="Cambria Math" panose="02040503050406030204" pitchFamily="18" charset="0"/>
                        </a:rPr>
                        <m:t>𝑌</m:t>
                      </m:r>
                      <m:r>
                        <a:rPr lang="en-GB" b="0" i="1" noProof="0" smtClean="0">
                          <a:latin typeface="Cambria Math" panose="02040503050406030204" pitchFamily="18" charset="0"/>
                        </a:rPr>
                        <m:t> −</m:t>
                      </m:r>
                      <m:r>
                        <a:rPr lang="en-GB" b="0" i="1" noProof="0" smtClean="0">
                          <a:latin typeface="Cambria Math" panose="02040503050406030204" pitchFamily="18" charset="0"/>
                        </a:rPr>
                        <m:t>𝑆</m:t>
                      </m:r>
                      <m:r>
                        <a:rPr lang="en-GB" b="0" i="1" noProof="0" smtClean="0">
                          <a:latin typeface="Cambria Math" panose="02040503050406030204" pitchFamily="18" charset="0"/>
                        </a:rPr>
                        <m:t>= </m:t>
                      </m:r>
                      <m:r>
                        <a:rPr lang="en-GB" b="0" i="1" noProof="0" smtClean="0">
                          <a:latin typeface="Cambria Math" panose="02040503050406030204" pitchFamily="18" charset="0"/>
                        </a:rPr>
                        <m:t>𝑇</m:t>
                      </m:r>
                      <m:r>
                        <a:rPr lang="en-GB" b="0" i="1" noProof="0" smtClean="0">
                          <a:latin typeface="Cambria Math" panose="02040503050406030204" pitchFamily="18" charset="0"/>
                        </a:rPr>
                        <m:t>+</m:t>
                      </m:r>
                      <m:r>
                        <a:rPr lang="en-GB" b="0" i="1" noProof="0" smtClean="0">
                          <a:latin typeface="Cambria Math" panose="02040503050406030204" pitchFamily="18" charset="0"/>
                        </a:rPr>
                        <m:t>𝐼</m:t>
                      </m:r>
                    </m:oMath>
                  </m:oMathPara>
                </a14:m>
                <a:endParaRPr lang="en-GB" noProof="0" dirty="0"/>
              </a:p>
              <a:p>
                <a:endParaRPr lang="en-GB" b="0" i="1" noProof="0" dirty="0">
                  <a:latin typeface="Cambria Math" panose="02040503050406030204" pitchFamily="18" charset="0"/>
                </a:endParaRPr>
              </a:p>
              <a:p>
                <a:pPr/>
                <a14:m>
                  <m:oMathPara xmlns:m="http://schemas.openxmlformats.org/officeDocument/2006/math">
                    <m:oMathParaPr>
                      <m:jc m:val="left"/>
                    </m:oMathParaPr>
                    <m:oMath>
                      <m:r>
                        <a:rPr lang="en-GB" b="0" i="1" noProof="0" smtClean="0">
                          <a:latin typeface="Cambria Math" panose="02040503050406030204" pitchFamily="18" charset="0"/>
                        </a:rPr>
                        <m:t>𝑆𝐴</m:t>
                      </m:r>
                      <m:r>
                        <a:rPr lang="en-GB" b="0" i="1" noProof="0" smtClean="0">
                          <a:latin typeface="Cambria Math" panose="02040503050406030204" pitchFamily="18" charset="0"/>
                        </a:rPr>
                        <m:t>=</m:t>
                      </m:r>
                      <m:f>
                        <m:fPr>
                          <m:ctrlPr>
                            <a:rPr lang="en-GB" b="0" i="1" noProof="0" smtClean="0">
                              <a:latin typeface="Cambria Math" panose="02040503050406030204" pitchFamily="18" charset="0"/>
                            </a:rPr>
                          </m:ctrlPr>
                        </m:fPr>
                        <m:num>
                          <m:r>
                            <a:rPr lang="en-GB" b="0" i="1" noProof="0" smtClean="0">
                              <a:latin typeface="Cambria Math" panose="02040503050406030204" pitchFamily="18" charset="0"/>
                            </a:rPr>
                            <m:t>𝑌</m:t>
                          </m:r>
                        </m:num>
                        <m:den>
                          <m:r>
                            <a:rPr lang="en-GB" b="0" i="1" noProof="0" smtClean="0">
                              <a:latin typeface="Cambria Math" panose="02040503050406030204" pitchFamily="18" charset="0"/>
                            </a:rPr>
                            <m:t>𝑆</m:t>
                          </m:r>
                        </m:den>
                      </m:f>
                      <m:r>
                        <a:rPr lang="en-GB" b="0" i="1" noProof="0" smtClean="0">
                          <a:latin typeface="Cambria Math" panose="02040503050406030204" pitchFamily="18" charset="0"/>
                        </a:rPr>
                        <m:t>=</m:t>
                      </m:r>
                      <m:r>
                        <a:rPr lang="en-GB" b="0" i="1" noProof="0" smtClean="0">
                          <a:latin typeface="Cambria Math" panose="02040503050406030204" pitchFamily="18" charset="0"/>
                        </a:rPr>
                        <m:t>𝑇</m:t>
                      </m:r>
                      <m:r>
                        <a:rPr lang="en-GB" b="0" i="1" noProof="0" smtClean="0">
                          <a:latin typeface="Cambria Math" panose="02040503050406030204" pitchFamily="18" charset="0"/>
                        </a:rPr>
                        <m:t>∗</m:t>
                      </m:r>
                      <m:r>
                        <a:rPr lang="en-GB" b="0" i="1" noProof="0" smtClean="0">
                          <a:latin typeface="Cambria Math" panose="02040503050406030204" pitchFamily="18" charset="0"/>
                        </a:rPr>
                        <m:t>𝐼</m:t>
                      </m:r>
                    </m:oMath>
                  </m:oMathPara>
                </a14:m>
                <a:endParaRPr lang="en-GB" noProof="0" dirty="0"/>
              </a:p>
              <a:p>
                <a:endParaRPr lang="en-GB" noProof="0" dirty="0"/>
              </a:p>
              <a:p>
                <a:r>
                  <a:rPr lang="en-GB" noProof="0" dirty="0"/>
                  <a:t>…</a:t>
                </a:r>
              </a:p>
            </p:txBody>
          </p:sp>
        </mc:Choice>
        <mc:Fallback xmlns="">
          <p:sp>
            <p:nvSpPr>
              <p:cNvPr id="30" name="TextBox 30">
                <a:extLst>
                  <a:ext uri="{FF2B5EF4-FFF2-40B4-BE49-F238E27FC236}">
                    <a16:creationId xmlns:a16="http://schemas.microsoft.com/office/drawing/2014/main" id="{FB860FE4-00A4-F5AF-37E6-9970E65803FD}"/>
                  </a:ext>
                </a:extLst>
              </p:cNvPr>
              <p:cNvSpPr txBox="1">
                <a:spLocks noRot="1" noChangeAspect="1" noMove="1" noResize="1" noEditPoints="1" noAdjustHandles="1" noChangeArrowheads="1" noChangeShapeType="1" noTextEdit="1"/>
              </p:cNvSpPr>
              <p:nvPr/>
            </p:nvSpPr>
            <p:spPr>
              <a:xfrm>
                <a:off x="8569425" y="3791293"/>
                <a:ext cx="2662168" cy="1718932"/>
              </a:xfrm>
              <a:prstGeom prst="rect">
                <a:avLst/>
              </a:prstGeom>
              <a:blipFill>
                <a:blip r:embed="rId10"/>
                <a:stretch>
                  <a:fillRect l="-227"/>
                </a:stretch>
              </a:blipFill>
            </p:spPr>
            <p:txBody>
              <a:bodyPr/>
              <a:lstStyle/>
              <a:p>
                <a:r>
                  <a:rPr lang="en-GB">
                    <a:noFill/>
                  </a:rPr>
                  <a:t> </a:t>
                </a:r>
              </a:p>
            </p:txBody>
          </p:sp>
        </mc:Fallback>
      </mc:AlternateContent>
    </p:spTree>
    <p:extLst>
      <p:ext uri="{BB962C8B-B14F-4D97-AF65-F5344CB8AC3E}">
        <p14:creationId xmlns:p14="http://schemas.microsoft.com/office/powerpoint/2010/main" val="3914167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9E5C1-5C3F-4D47-8188-6D11A3DB7781}"/>
              </a:ext>
            </a:extLst>
          </p:cNvPr>
          <p:cNvSpPr>
            <a:spLocks noGrp="1"/>
          </p:cNvSpPr>
          <p:nvPr>
            <p:ph type="title"/>
          </p:nvPr>
        </p:nvSpPr>
        <p:spPr/>
        <p:txBody>
          <a:bodyPr/>
          <a:lstStyle/>
          <a:p>
            <a:r>
              <a:rPr lang="en-GB" noProof="0" dirty="0"/>
              <a:t>2.2 Expected properties of the components</a:t>
            </a:r>
          </a:p>
        </p:txBody>
      </p:sp>
      <p:sp>
        <p:nvSpPr>
          <p:cNvPr id="4" name="Espace réservé du numéro de diapositive 3">
            <a:extLst>
              <a:ext uri="{FF2B5EF4-FFF2-40B4-BE49-F238E27FC236}">
                <a16:creationId xmlns:a16="http://schemas.microsoft.com/office/drawing/2014/main" id="{91C4CBE4-D51E-AD3F-CFE8-AA1590D4DE1D}"/>
              </a:ext>
            </a:extLst>
          </p:cNvPr>
          <p:cNvSpPr>
            <a:spLocks noGrp="1"/>
          </p:cNvSpPr>
          <p:nvPr>
            <p:ph type="sldNum" idx="12"/>
          </p:nvPr>
        </p:nvSpPr>
        <p:spPr/>
        <p:txBody>
          <a:bodyPr/>
          <a:lstStyle/>
          <a:p>
            <a:fld id="{1E1EA8E3-33CC-465E-BBDB-C5F5B41B1D80}" type="slidenum">
              <a:rPr lang="en-GB" smtClean="0"/>
              <a:t>6</a:t>
            </a:fld>
            <a:endParaRPr lang="en-GB"/>
          </a:p>
        </p:txBody>
      </p:sp>
      <p:sp>
        <p:nvSpPr>
          <p:cNvPr id="3" name="Content Placeholder 2">
            <a:extLst>
              <a:ext uri="{FF2B5EF4-FFF2-40B4-BE49-F238E27FC236}">
                <a16:creationId xmlns:a16="http://schemas.microsoft.com/office/drawing/2014/main" id="{C1EC0B8D-CB09-4E77-B0D9-01E0CE299A1A}"/>
              </a:ext>
            </a:extLst>
          </p:cNvPr>
          <p:cNvSpPr>
            <a:spLocks noGrp="1"/>
          </p:cNvSpPr>
          <p:nvPr>
            <p:ph sz="half" idx="2"/>
          </p:nvPr>
        </p:nvSpPr>
        <p:spPr/>
        <p:txBody>
          <a:bodyPr>
            <a:normAutofit fontScale="40000" lnSpcReduction="20000"/>
          </a:bodyPr>
          <a:lstStyle/>
          <a:p>
            <a:r>
              <a:rPr lang="en-GB" sz="7400" noProof="0" dirty="0"/>
              <a:t>Trend-cycle</a:t>
            </a:r>
          </a:p>
          <a:p>
            <a:pPr lvl="1"/>
            <a:r>
              <a:rPr lang="en-GB" sz="5000" noProof="0" dirty="0"/>
              <a:t>Smooth (?), around the series</a:t>
            </a:r>
          </a:p>
          <a:p>
            <a:r>
              <a:rPr lang="en-GB" sz="6000" noProof="0" dirty="0"/>
              <a:t>Seasonal</a:t>
            </a:r>
          </a:p>
          <a:p>
            <a:pPr lvl="1"/>
            <a:r>
              <a:rPr lang="en-GB" sz="5000" noProof="0" dirty="0"/>
              <a:t>Periodic, with slow changes (?), nearly 0 or 1 in average during 1 cycle (year)</a:t>
            </a:r>
          </a:p>
          <a:p>
            <a:pPr lvl="1"/>
            <a:r>
              <a:rPr lang="en-GB" sz="5000" noProof="0" dirty="0"/>
              <a:t>Calendar effects (predictable)</a:t>
            </a:r>
          </a:p>
          <a:p>
            <a:r>
              <a:rPr lang="en-GB" sz="6000" noProof="0" dirty="0"/>
              <a:t>Irregular</a:t>
            </a:r>
          </a:p>
          <a:p>
            <a:pPr lvl="1"/>
            <a:r>
              <a:rPr lang="en-GB" sz="5000" noProof="0" dirty="0"/>
              <a:t>Residual , around 0 or 1</a:t>
            </a:r>
          </a:p>
          <a:p>
            <a:pPr marL="457200" lvl="1" indent="0">
              <a:buNone/>
            </a:pPr>
            <a:endParaRPr lang="en-GB" sz="3400" noProof="0" dirty="0">
              <a:solidFill>
                <a:srgbClr val="FF0000"/>
              </a:solidFill>
              <a:latin typeface="Calibri" panose="020F0502020204030204" pitchFamily="34" charset="0"/>
              <a:ea typeface="Cambria Math" panose="02040503050406030204" pitchFamily="18" charset="0"/>
              <a:cs typeface="Calibri" panose="020F0502020204030204" pitchFamily="34" charset="0"/>
            </a:endParaRPr>
          </a:p>
          <a:p>
            <a:pPr marL="0" indent="0">
              <a:buNone/>
            </a:pPr>
            <a:r>
              <a:rPr lang="en-GB" sz="7400" noProof="0" dirty="0">
                <a:solidFill>
                  <a:srgbClr val="FF0000"/>
                </a:solidFill>
                <a:latin typeface="Calibri" panose="020F0502020204030204" pitchFamily="34" charset="0"/>
                <a:ea typeface="Cambria Math" panose="02040503050406030204" pitchFamily="18" charset="0"/>
                <a:cs typeface="Calibri" panose="020F0502020204030204" pitchFamily="34" charset="0"/>
              </a:rPr>
              <a:t>No actual definition of the components / decomposition</a:t>
            </a:r>
          </a:p>
          <a:p>
            <a:pPr marL="0" indent="0">
              <a:buNone/>
            </a:pPr>
            <a:r>
              <a:rPr lang="en-GB" sz="7400" noProof="0" dirty="0">
                <a:solidFill>
                  <a:srgbClr val="FF0000"/>
                </a:solidFill>
                <a:latin typeface="Calibri" panose="020F0502020204030204" pitchFamily="34" charset="0"/>
                <a:ea typeface="Cambria Math" panose="02040503050406030204" pitchFamily="18" charset="0"/>
                <a:cs typeface="Calibri" panose="020F0502020204030204" pitchFamily="34" charset="0"/>
              </a:rPr>
              <a:t> 			</a:t>
            </a:r>
            <a:r>
              <a:rPr lang="en-GB" sz="7400" noProof="0" dirty="0">
                <a:solidFill>
                  <a:srgbClr val="FF0000"/>
                </a:solidFill>
                <a:latin typeface="Cambria Math" panose="02040503050406030204" pitchFamily="18" charset="0"/>
                <a:ea typeface="Cambria Math" panose="02040503050406030204" pitchFamily="18" charset="0"/>
              </a:rPr>
              <a:t>⇒ </a:t>
            </a:r>
            <a:r>
              <a:rPr lang="en-GB" sz="7400" noProof="0" dirty="0">
                <a:solidFill>
                  <a:srgbClr val="FF0000"/>
                </a:solidFill>
                <a:latin typeface="Calibri" panose="020F0502020204030204" pitchFamily="34" charset="0"/>
                <a:ea typeface="Cambria Math" panose="02040503050406030204" pitchFamily="18" charset="0"/>
                <a:cs typeface="Calibri" panose="020F0502020204030204" pitchFamily="34" charset="0"/>
              </a:rPr>
              <a:t>methods/software give different results </a:t>
            </a:r>
          </a:p>
          <a:p>
            <a:pPr marL="457200" lvl="1" indent="0">
              <a:buNone/>
            </a:pPr>
            <a:endParaRPr lang="en-GB" noProof="0" dirty="0">
              <a:latin typeface="Calibri" panose="020F0502020204030204" pitchFamily="34" charset="0"/>
              <a:cs typeface="Calibri" panose="020F0502020204030204" pitchFamily="34" charset="0"/>
            </a:endParaRPr>
          </a:p>
        </p:txBody>
      </p:sp>
      <p:sp>
        <p:nvSpPr>
          <p:cNvPr id="5" name="Footer Placeholder 4">
            <a:extLst>
              <a:ext uri="{FF2B5EF4-FFF2-40B4-BE49-F238E27FC236}">
                <a16:creationId xmlns:a16="http://schemas.microsoft.com/office/drawing/2014/main" id="{BF6E0A25-D9EB-4A4F-AAB4-CB3AC3539058}"/>
              </a:ext>
            </a:extLst>
          </p:cNvPr>
          <p:cNvSpPr>
            <a:spLocks noGrp="1"/>
          </p:cNvSpPr>
          <p:nvPr>
            <p:ph type="ftr" sz="quarter" idx="4294967295"/>
          </p:nvPr>
        </p:nvSpPr>
        <p:spPr>
          <a:xfrm>
            <a:off x="0" y="0"/>
            <a:ext cx="0" cy="0"/>
          </a:xfrm>
        </p:spPr>
        <p:txBody>
          <a:bodyPr/>
          <a:lstStyle/>
          <a:p>
            <a:r>
              <a:rPr lang="en-GB" noProof="0" dirty="0"/>
              <a:t>ESTP Training. Seasonal adjustment</a:t>
            </a:r>
          </a:p>
        </p:txBody>
      </p:sp>
    </p:spTree>
    <p:extLst>
      <p:ext uri="{BB962C8B-B14F-4D97-AF65-F5344CB8AC3E}">
        <p14:creationId xmlns:p14="http://schemas.microsoft.com/office/powerpoint/2010/main" val="3593351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370A7-7C82-5299-C7C2-9006DDE7F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4038C2-9BDE-9C3D-3FEE-F9E271FC9B57}"/>
              </a:ext>
            </a:extLst>
          </p:cNvPr>
          <p:cNvSpPr>
            <a:spLocks noGrp="1"/>
          </p:cNvSpPr>
          <p:nvPr>
            <p:ph type="title"/>
          </p:nvPr>
        </p:nvSpPr>
        <p:spPr/>
        <p:txBody>
          <a:bodyPr/>
          <a:lstStyle/>
          <a:p>
            <a:r>
              <a:rPr lang="en-GB" noProof="0" dirty="0"/>
              <a:t>2.3 Non unicity of the series decomposition</a:t>
            </a:r>
          </a:p>
        </p:txBody>
      </p:sp>
      <p:sp>
        <p:nvSpPr>
          <p:cNvPr id="4" name="Espace réservé du numéro de diapositive 3">
            <a:extLst>
              <a:ext uri="{FF2B5EF4-FFF2-40B4-BE49-F238E27FC236}">
                <a16:creationId xmlns:a16="http://schemas.microsoft.com/office/drawing/2014/main" id="{FCD14BBE-B79E-82A9-C8DD-90668A0546E9}"/>
              </a:ext>
            </a:extLst>
          </p:cNvPr>
          <p:cNvSpPr>
            <a:spLocks noGrp="1"/>
          </p:cNvSpPr>
          <p:nvPr>
            <p:ph type="sldNum" idx="12"/>
          </p:nvPr>
        </p:nvSpPr>
        <p:spPr/>
        <p:txBody>
          <a:bodyPr/>
          <a:lstStyle/>
          <a:p>
            <a:fld id="{1E1EA8E3-33CC-465E-BBDB-C5F5B41B1D80}" type="slidenum">
              <a:rPr lang="en-GB" smtClean="0"/>
              <a:t>7</a:t>
            </a:fld>
            <a:endParaRPr lang="en-GB"/>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33B37F-5A83-5375-81E7-6C155A65CD0F}"/>
                  </a:ext>
                </a:extLst>
              </p:cNvPr>
              <p:cNvSpPr>
                <a:spLocks noGrp="1"/>
              </p:cNvSpPr>
              <p:nvPr>
                <p:ph sz="half" idx="2"/>
              </p:nvPr>
            </p:nvSpPr>
            <p:spPr/>
            <p:txBody>
              <a:bodyPr>
                <a:normAutofit/>
              </a:bodyPr>
              <a:lstStyle/>
              <a:p>
                <a:pPr marL="342900" indent="-342900"/>
                <a14:m>
                  <m:oMath xmlns:m="http://schemas.openxmlformats.org/officeDocument/2006/math">
                    <m:r>
                      <a:rPr lang="en-GB" sz="2400" b="0" i="1" noProof="0" smtClean="0">
                        <a:latin typeface="Cambria Math" panose="02040503050406030204" pitchFamily="18" charset="0"/>
                        <a:cs typeface="Calibri" panose="020F0502020204030204" pitchFamily="34" charset="0"/>
                      </a:rPr>
                      <m:t>𝑌</m:t>
                    </m:r>
                    <m:r>
                      <a:rPr lang="en-GB" sz="2400" b="0" i="1" noProof="0" smtClean="0">
                        <a:latin typeface="Cambria Math" panose="02040503050406030204" pitchFamily="18" charset="0"/>
                        <a:cs typeface="Calibri" panose="020F0502020204030204" pitchFamily="34" charset="0"/>
                      </a:rPr>
                      <m:t>=</m:t>
                    </m:r>
                    <m:r>
                      <a:rPr lang="en-GB" sz="2400" b="0" i="1" noProof="0" smtClean="0">
                        <a:latin typeface="Cambria Math" panose="02040503050406030204" pitchFamily="18" charset="0"/>
                        <a:cs typeface="Calibri" panose="020F0502020204030204" pitchFamily="34" charset="0"/>
                      </a:rPr>
                      <m:t>𝑇</m:t>
                    </m:r>
                    <m:r>
                      <a:rPr lang="en-GB" sz="2400" b="0" i="1" noProof="0" smtClean="0">
                        <a:latin typeface="Cambria Math" panose="02040503050406030204" pitchFamily="18" charset="0"/>
                        <a:cs typeface="Calibri" panose="020F0502020204030204" pitchFamily="34" charset="0"/>
                      </a:rPr>
                      <m:t>+ </m:t>
                    </m:r>
                    <m:r>
                      <a:rPr lang="en-GB" sz="2400" b="0" i="1" noProof="0" smtClean="0">
                        <a:latin typeface="Cambria Math" panose="02040503050406030204" pitchFamily="18" charset="0"/>
                        <a:cs typeface="Calibri" panose="020F0502020204030204" pitchFamily="34" charset="0"/>
                      </a:rPr>
                      <m:t>𝑆</m:t>
                    </m:r>
                    <m:r>
                      <a:rPr lang="en-GB" sz="2400" b="0" i="1" noProof="0" smtClean="0">
                        <a:latin typeface="Cambria Math" panose="02040503050406030204" pitchFamily="18" charset="0"/>
                        <a:cs typeface="Calibri" panose="020F0502020204030204" pitchFamily="34" charset="0"/>
                      </a:rPr>
                      <m:t>+</m:t>
                    </m:r>
                    <m:r>
                      <a:rPr lang="en-GB" sz="2400" b="0" i="1" noProof="0" smtClean="0">
                        <a:latin typeface="Cambria Math" panose="02040503050406030204" pitchFamily="18" charset="0"/>
                        <a:cs typeface="Calibri" panose="020F0502020204030204" pitchFamily="34" charset="0"/>
                      </a:rPr>
                      <m:t>𝐼</m:t>
                    </m:r>
                  </m:oMath>
                </a14:m>
                <a:endParaRPr lang="en-GB" sz="2400" b="0" i="1" noProof="0" dirty="0">
                  <a:latin typeface="Cambria Math" panose="02040503050406030204" pitchFamily="18" charset="0"/>
                  <a:cs typeface="Calibri" panose="020F0502020204030204" pitchFamily="34" charset="0"/>
                </a:endParaRPr>
              </a:p>
              <a:p>
                <a:pPr marL="342900" indent="-342900"/>
                <a14:m>
                  <m:oMath xmlns:m="http://schemas.openxmlformats.org/officeDocument/2006/math">
                    <m:r>
                      <a:rPr lang="en-GB" sz="2400" i="1" smtClean="0">
                        <a:latin typeface="Cambria Math" panose="02040503050406030204" pitchFamily="18" charset="0"/>
                        <a:cs typeface="Calibri" panose="020F0502020204030204" pitchFamily="34" charset="0"/>
                      </a:rPr>
                      <m:t>𝑌</m:t>
                    </m:r>
                    <m:r>
                      <a:rPr lang="en-GB" sz="2400" i="1" smtClean="0">
                        <a:latin typeface="Cambria Math" panose="02040503050406030204" pitchFamily="18" charset="0"/>
                        <a:cs typeface="Calibri" panose="020F0502020204030204" pitchFamily="34" charset="0"/>
                      </a:rPr>
                      <m:t>=(</m:t>
                    </m:r>
                    <m:r>
                      <a:rPr lang="en-GB" sz="2400" i="1" smtClean="0">
                        <a:latin typeface="Cambria Math" panose="02040503050406030204" pitchFamily="18" charset="0"/>
                        <a:cs typeface="Calibri" panose="020F0502020204030204" pitchFamily="34" charset="0"/>
                      </a:rPr>
                      <m:t>𝑇</m:t>
                    </m:r>
                    <m:r>
                      <a:rPr lang="en-GB" sz="2400" b="0" i="1" smtClean="0">
                        <a:latin typeface="Cambria Math" panose="02040503050406030204" pitchFamily="18" charset="0"/>
                        <a:cs typeface="Calibri" panose="020F0502020204030204" pitchFamily="34" charset="0"/>
                      </a:rPr>
                      <m:t>+</m:t>
                    </m:r>
                    <m:sSub>
                      <m:sSubPr>
                        <m:ctrlPr>
                          <a:rPr lang="en-GB" sz="2400" b="0" i="1" smtClean="0">
                            <a:latin typeface="Cambria Math" panose="02040503050406030204" pitchFamily="18" charset="0"/>
                            <a:cs typeface="Calibri" panose="020F0502020204030204" pitchFamily="34" charset="0"/>
                          </a:rPr>
                        </m:ctrlPr>
                      </m:sSubPr>
                      <m:e>
                        <m:r>
                          <a:rPr lang="en-GB" sz="2400" b="0" i="1" smtClean="0">
                            <a:latin typeface="Cambria Math" panose="02040503050406030204" pitchFamily="18" charset="0"/>
                            <a:cs typeface="Calibri" panose="020F0502020204030204" pitchFamily="34" charset="0"/>
                          </a:rPr>
                          <m:t>𝐼</m:t>
                        </m:r>
                      </m:e>
                      <m:sub>
                        <m:r>
                          <a:rPr lang="en-GB" sz="2400" b="0" i="1" smtClean="0">
                            <a:latin typeface="Cambria Math" panose="02040503050406030204" pitchFamily="18" charset="0"/>
                            <a:cs typeface="Calibri" panose="020F0502020204030204" pitchFamily="34" charset="0"/>
                          </a:rPr>
                          <m:t>1</m:t>
                        </m:r>
                      </m:sub>
                    </m:sSub>
                    <m:r>
                      <a:rPr lang="en-GB" sz="2400" b="0" i="1" smtClean="0">
                        <a:latin typeface="Cambria Math" panose="02040503050406030204" pitchFamily="18" charset="0"/>
                        <a:cs typeface="Calibri" panose="020F0502020204030204" pitchFamily="34" charset="0"/>
                      </a:rPr>
                      <m:t>)</m:t>
                    </m:r>
                    <m:r>
                      <a:rPr lang="en-GB" sz="2400" i="1" smtClean="0">
                        <a:latin typeface="Cambria Math" panose="02040503050406030204" pitchFamily="18" charset="0"/>
                        <a:cs typeface="Calibri" panose="020F0502020204030204" pitchFamily="34" charset="0"/>
                      </a:rPr>
                      <m:t>+ </m:t>
                    </m:r>
                    <m:r>
                      <a:rPr lang="en-GB" sz="2400" i="1" smtClean="0">
                        <a:latin typeface="Cambria Math" panose="02040503050406030204" pitchFamily="18" charset="0"/>
                        <a:cs typeface="Calibri" panose="020F0502020204030204" pitchFamily="34" charset="0"/>
                      </a:rPr>
                      <m:t>𝑆</m:t>
                    </m:r>
                    <m:r>
                      <a:rPr lang="en-GB" sz="2400" i="1" smtClean="0">
                        <a:latin typeface="Cambria Math" panose="02040503050406030204" pitchFamily="18" charset="0"/>
                        <a:cs typeface="Calibri" panose="020F0502020204030204" pitchFamily="34" charset="0"/>
                      </a:rPr>
                      <m:t>+</m:t>
                    </m:r>
                    <m:sSub>
                      <m:sSubPr>
                        <m:ctrlPr>
                          <a:rPr lang="en-GB" sz="2400" b="0" i="1" smtClean="0">
                            <a:latin typeface="Cambria Math" panose="02040503050406030204" pitchFamily="18" charset="0"/>
                            <a:cs typeface="Calibri" panose="020F0502020204030204" pitchFamily="34" charset="0"/>
                          </a:rPr>
                        </m:ctrlPr>
                      </m:sSubPr>
                      <m:e>
                        <m:r>
                          <a:rPr lang="en-GB" sz="2400" b="0" i="1" smtClean="0">
                            <a:latin typeface="Cambria Math" panose="02040503050406030204" pitchFamily="18" charset="0"/>
                            <a:cs typeface="Calibri" panose="020F0502020204030204" pitchFamily="34" charset="0"/>
                          </a:rPr>
                          <m:t>𝐼</m:t>
                        </m:r>
                      </m:e>
                      <m:sub>
                        <m:r>
                          <a:rPr lang="en-GB" sz="2400" b="0" i="1" smtClean="0">
                            <a:latin typeface="Cambria Math" panose="02040503050406030204" pitchFamily="18" charset="0"/>
                            <a:cs typeface="Calibri" panose="020F0502020204030204" pitchFamily="34" charset="0"/>
                          </a:rPr>
                          <m:t>2</m:t>
                        </m:r>
                      </m:sub>
                    </m:sSub>
                  </m:oMath>
                </a14:m>
                <a:r>
                  <a:rPr lang="en-GB" sz="2400" i="1" dirty="0">
                    <a:latin typeface="Cambria Math" panose="02040503050406030204" pitchFamily="18" charset="0"/>
                    <a:cs typeface="Calibri" panose="020F0502020204030204" pitchFamily="34" charset="0"/>
                  </a:rPr>
                  <a:t>⇒ noisy T, no impact on SA</a:t>
                </a:r>
              </a:p>
              <a:p>
                <a:pPr marL="342900" indent="-342900"/>
                <a14:m>
                  <m:oMath xmlns:m="http://schemas.openxmlformats.org/officeDocument/2006/math">
                    <m:r>
                      <a:rPr lang="en-GB" sz="2400" i="1" smtClean="0">
                        <a:latin typeface="Cambria Math" panose="02040503050406030204" pitchFamily="18" charset="0"/>
                        <a:cs typeface="Calibri" panose="020F0502020204030204" pitchFamily="34" charset="0"/>
                      </a:rPr>
                      <m:t>𝑌</m:t>
                    </m:r>
                    <m:r>
                      <a:rPr lang="en-GB" sz="2400" i="1" smtClean="0">
                        <a:latin typeface="Cambria Math" panose="02040503050406030204" pitchFamily="18" charset="0"/>
                        <a:cs typeface="Calibri" panose="020F0502020204030204" pitchFamily="34" charset="0"/>
                      </a:rPr>
                      <m:t>=</m:t>
                    </m:r>
                    <m:r>
                      <a:rPr lang="en-GB" sz="2400" i="1" smtClean="0">
                        <a:latin typeface="Cambria Math" panose="02040503050406030204" pitchFamily="18" charset="0"/>
                        <a:cs typeface="Calibri" panose="020F0502020204030204" pitchFamily="34" charset="0"/>
                      </a:rPr>
                      <m:t>𝑇</m:t>
                    </m:r>
                    <m:r>
                      <a:rPr lang="en-GB" sz="2400" b="0" i="1" smtClean="0">
                        <a:latin typeface="Cambria Math" panose="02040503050406030204" pitchFamily="18" charset="0"/>
                        <a:cs typeface="Calibri" panose="020F0502020204030204" pitchFamily="34" charset="0"/>
                      </a:rPr>
                      <m:t>+(</m:t>
                    </m:r>
                    <m:r>
                      <a:rPr lang="en-GB" sz="2400" i="1" smtClean="0">
                        <a:latin typeface="Cambria Math" panose="02040503050406030204" pitchFamily="18" charset="0"/>
                        <a:cs typeface="Calibri" panose="020F0502020204030204" pitchFamily="34" charset="0"/>
                      </a:rPr>
                      <m:t>𝑆</m:t>
                    </m:r>
                    <m:r>
                      <a:rPr lang="en-GB" sz="2400" b="0" i="1" smtClean="0">
                        <a:latin typeface="Cambria Math" panose="02040503050406030204" pitchFamily="18" charset="0"/>
                        <a:cs typeface="Calibri" panose="020F0502020204030204" pitchFamily="34" charset="0"/>
                      </a:rPr>
                      <m:t>+</m:t>
                    </m:r>
                    <m:sSub>
                      <m:sSubPr>
                        <m:ctrlPr>
                          <a:rPr lang="en-GB" sz="2400" i="1" smtClean="0">
                            <a:latin typeface="Cambria Math" panose="02040503050406030204" pitchFamily="18" charset="0"/>
                            <a:cs typeface="Calibri" panose="020F0502020204030204" pitchFamily="34" charset="0"/>
                          </a:rPr>
                        </m:ctrlPr>
                      </m:sSubPr>
                      <m:e>
                        <m:r>
                          <a:rPr lang="en-GB" sz="2400" i="1" smtClean="0">
                            <a:latin typeface="Cambria Math" panose="02040503050406030204" pitchFamily="18" charset="0"/>
                            <a:cs typeface="Calibri" panose="020F0502020204030204" pitchFamily="34" charset="0"/>
                          </a:rPr>
                          <m:t>𝐼</m:t>
                        </m:r>
                      </m:e>
                      <m:sub>
                        <m:r>
                          <a:rPr lang="en-GB" sz="2400" i="1" smtClean="0">
                            <a:latin typeface="Cambria Math" panose="02040503050406030204" pitchFamily="18" charset="0"/>
                            <a:cs typeface="Calibri" panose="020F0502020204030204" pitchFamily="34" charset="0"/>
                          </a:rPr>
                          <m:t>1</m:t>
                        </m:r>
                      </m:sub>
                    </m:sSub>
                    <m:r>
                      <a:rPr lang="en-GB" sz="2400" b="0" i="1" smtClean="0">
                        <a:latin typeface="Cambria Math" panose="02040503050406030204" pitchFamily="18" charset="0"/>
                        <a:cs typeface="Calibri" panose="020F0502020204030204" pitchFamily="34" charset="0"/>
                      </a:rPr>
                      <m:t>)</m:t>
                    </m:r>
                    <m:r>
                      <a:rPr lang="en-GB" sz="2400" i="1" smtClean="0">
                        <a:latin typeface="Cambria Math" panose="02040503050406030204" pitchFamily="18" charset="0"/>
                        <a:cs typeface="Calibri" panose="020F0502020204030204" pitchFamily="34" charset="0"/>
                      </a:rPr>
                      <m:t>+</m:t>
                    </m:r>
                    <m:sSub>
                      <m:sSubPr>
                        <m:ctrlPr>
                          <a:rPr lang="en-GB" sz="2400" i="1" smtClean="0">
                            <a:latin typeface="Cambria Math" panose="02040503050406030204" pitchFamily="18" charset="0"/>
                            <a:cs typeface="Calibri" panose="020F0502020204030204" pitchFamily="34" charset="0"/>
                          </a:rPr>
                        </m:ctrlPr>
                      </m:sSubPr>
                      <m:e>
                        <m:r>
                          <a:rPr lang="en-GB" sz="2400" i="1" smtClean="0">
                            <a:latin typeface="Cambria Math" panose="02040503050406030204" pitchFamily="18" charset="0"/>
                            <a:cs typeface="Calibri" panose="020F0502020204030204" pitchFamily="34" charset="0"/>
                          </a:rPr>
                          <m:t>𝐼</m:t>
                        </m:r>
                      </m:e>
                      <m:sub>
                        <m:r>
                          <a:rPr lang="en-GB" sz="2400" i="1" smtClean="0">
                            <a:latin typeface="Cambria Math" panose="02040503050406030204" pitchFamily="18" charset="0"/>
                            <a:cs typeface="Calibri" panose="020F0502020204030204" pitchFamily="34" charset="0"/>
                          </a:rPr>
                          <m:t>2</m:t>
                        </m:r>
                      </m:sub>
                    </m:sSub>
                  </m:oMath>
                </a14:m>
                <a:r>
                  <a:rPr lang="en-GB" sz="2400" i="1" dirty="0">
                    <a:latin typeface="Cambria Math" panose="02040503050406030204" pitchFamily="18" charset="0"/>
                    <a:cs typeface="Calibri" panose="020F0502020204030204" pitchFamily="34" charset="0"/>
                  </a:rPr>
                  <a:t>⇒ noisy S, smoother SA</a:t>
                </a:r>
              </a:p>
              <a:p>
                <a:pPr marL="342900" indent="-342900"/>
                <a:r>
                  <a:rPr lang="en-GB" sz="2400" i="1" dirty="0">
                    <a:latin typeface="Cambria Math" panose="02040503050406030204" pitchFamily="18" charset="0"/>
                    <a:cs typeface="Calibri" panose="020F0502020204030204" pitchFamily="34" charset="0"/>
                  </a:rPr>
                  <a:t>…</a:t>
                </a:r>
              </a:p>
              <a:p>
                <a:pPr marL="342900" indent="-342900"/>
                <a:endParaRPr lang="en-GB" sz="2400" i="1" dirty="0">
                  <a:latin typeface="Cambria Math" panose="02040503050406030204" pitchFamily="18" charset="0"/>
                  <a:cs typeface="Calibri" panose="020F0502020204030204" pitchFamily="34" charset="0"/>
                </a:endParaRPr>
              </a:p>
              <a:p>
                <a:pPr marL="0" indent="0">
                  <a:buNone/>
                </a:pPr>
                <a:r>
                  <a:rPr lang="en-GB" sz="2400" i="1" dirty="0">
                    <a:latin typeface="Cambria Math" panose="02040503050406030204" pitchFamily="18" charset="0"/>
                    <a:cs typeface="Calibri" panose="020F0502020204030204" pitchFamily="34" charset="0"/>
                  </a:rPr>
                  <a:t>Remark : all those decompositions should  pass most of the diagnostics successfully</a:t>
                </a:r>
              </a:p>
              <a:p>
                <a:pPr marL="342900" indent="-342900"/>
                <a:endParaRPr lang="en-GB" sz="2400" i="1" dirty="0">
                  <a:latin typeface="Cambria Math" panose="02040503050406030204" pitchFamily="18" charset="0"/>
                  <a:cs typeface="Calibri" panose="020F0502020204030204" pitchFamily="34" charset="0"/>
                </a:endParaRPr>
              </a:p>
              <a:p>
                <a:pPr marL="342900" indent="-342900"/>
                <a:endParaRPr lang="en-GB" sz="2400" i="1" dirty="0">
                  <a:latin typeface="Cambria Math" panose="02040503050406030204" pitchFamily="18" charset="0"/>
                  <a:cs typeface="Calibri" panose="020F0502020204030204" pitchFamily="34" charset="0"/>
                </a:endParaRPr>
              </a:p>
              <a:p>
                <a:pPr marL="342900" indent="-342900"/>
                <a:endParaRPr lang="en-GB" noProof="0" dirty="0">
                  <a:latin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6D33B37F-5A83-5375-81E7-6C155A65CD0F}"/>
                  </a:ext>
                </a:extLst>
              </p:cNvPr>
              <p:cNvSpPr>
                <a:spLocks noGrp="1" noRot="1" noChangeAspect="1" noMove="1" noResize="1" noEditPoints="1" noAdjustHandles="1" noChangeArrowheads="1" noChangeShapeType="1" noTextEdit="1"/>
              </p:cNvSpPr>
              <p:nvPr>
                <p:ph sz="half" idx="2"/>
              </p:nvPr>
            </p:nvSpPr>
            <p:spPr>
              <a:blipFill>
                <a:blip r:embed="rId2"/>
                <a:stretch>
                  <a:fillRect l="-870" t="-1172"/>
                </a:stretch>
              </a:blipFill>
            </p:spPr>
            <p:txBody>
              <a:bodyPr/>
              <a:lstStyle/>
              <a:p>
                <a:r>
                  <a:rPr lang="en-GB">
                    <a:noFill/>
                  </a:rPr>
                  <a:t> </a:t>
                </a:r>
              </a:p>
            </p:txBody>
          </p:sp>
        </mc:Fallback>
      </mc:AlternateContent>
      <p:sp>
        <p:nvSpPr>
          <p:cNvPr id="5" name="Footer Placeholder 4">
            <a:extLst>
              <a:ext uri="{FF2B5EF4-FFF2-40B4-BE49-F238E27FC236}">
                <a16:creationId xmlns:a16="http://schemas.microsoft.com/office/drawing/2014/main" id="{8EB89C32-4ACF-515F-0A5E-CB3B22C7F741}"/>
              </a:ext>
            </a:extLst>
          </p:cNvPr>
          <p:cNvSpPr>
            <a:spLocks noGrp="1"/>
          </p:cNvSpPr>
          <p:nvPr>
            <p:ph type="ftr" sz="quarter" idx="4294967295"/>
          </p:nvPr>
        </p:nvSpPr>
        <p:spPr>
          <a:xfrm>
            <a:off x="0" y="0"/>
            <a:ext cx="0" cy="0"/>
          </a:xfrm>
        </p:spPr>
        <p:txBody>
          <a:bodyPr/>
          <a:lstStyle/>
          <a:p>
            <a:r>
              <a:rPr lang="en-GB" noProof="0" dirty="0"/>
              <a:t>ESTP Training. Seasonal adjustment</a:t>
            </a:r>
          </a:p>
        </p:txBody>
      </p:sp>
    </p:spTree>
    <p:extLst>
      <p:ext uri="{BB962C8B-B14F-4D97-AF65-F5344CB8AC3E}">
        <p14:creationId xmlns:p14="http://schemas.microsoft.com/office/powerpoint/2010/main" val="1757251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3A367-3A86-3DAD-B1C1-758ADCDBB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DADCA4-4ECB-B045-F30A-FEF0D293548A}"/>
              </a:ext>
            </a:extLst>
          </p:cNvPr>
          <p:cNvSpPr>
            <a:spLocks noGrp="1"/>
          </p:cNvSpPr>
          <p:nvPr>
            <p:ph type="title"/>
          </p:nvPr>
        </p:nvSpPr>
        <p:spPr/>
        <p:txBody>
          <a:bodyPr/>
          <a:lstStyle/>
          <a:p>
            <a:r>
              <a:rPr lang="en-GB" noProof="0" dirty="0"/>
              <a:t>2.4 Other expected properties of the </a:t>
            </a:r>
            <a:r>
              <a:rPr lang="en-GB" dirty="0"/>
              <a:t>decomposition</a:t>
            </a:r>
            <a:endParaRPr lang="en-GB" noProof="0" dirty="0"/>
          </a:p>
        </p:txBody>
      </p:sp>
      <p:sp>
        <p:nvSpPr>
          <p:cNvPr id="4" name="Espace réservé du numéro de diapositive 3">
            <a:extLst>
              <a:ext uri="{FF2B5EF4-FFF2-40B4-BE49-F238E27FC236}">
                <a16:creationId xmlns:a16="http://schemas.microsoft.com/office/drawing/2014/main" id="{FA280532-DADF-5F57-10B0-53EEAFE9FB08}"/>
              </a:ext>
            </a:extLst>
          </p:cNvPr>
          <p:cNvSpPr>
            <a:spLocks noGrp="1"/>
          </p:cNvSpPr>
          <p:nvPr>
            <p:ph type="sldNum" idx="12"/>
          </p:nvPr>
        </p:nvSpPr>
        <p:spPr/>
        <p:txBody>
          <a:bodyPr/>
          <a:lstStyle/>
          <a:p>
            <a:fld id="{1E1EA8E3-33CC-465E-BBDB-C5F5B41B1D80}" type="slidenum">
              <a:rPr lang="en-GB" smtClean="0"/>
              <a:t>8</a:t>
            </a:fld>
            <a:endParaRPr lang="en-GB"/>
          </a:p>
        </p:txBody>
      </p:sp>
      <p:sp>
        <p:nvSpPr>
          <p:cNvPr id="3" name="Content Placeholder 2">
            <a:extLst>
              <a:ext uri="{FF2B5EF4-FFF2-40B4-BE49-F238E27FC236}">
                <a16:creationId xmlns:a16="http://schemas.microsoft.com/office/drawing/2014/main" id="{A2BFC6E8-0DD1-FE76-EC84-771E17A0D079}"/>
              </a:ext>
            </a:extLst>
          </p:cNvPr>
          <p:cNvSpPr>
            <a:spLocks noGrp="1"/>
          </p:cNvSpPr>
          <p:nvPr>
            <p:ph sz="half" idx="2"/>
          </p:nvPr>
        </p:nvSpPr>
        <p:spPr>
          <a:xfrm>
            <a:off x="970722" y="1850065"/>
            <a:ext cx="10515597" cy="4246062"/>
          </a:xfrm>
        </p:spPr>
        <p:txBody>
          <a:bodyPr>
            <a:normAutofit/>
          </a:bodyPr>
          <a:lstStyle/>
          <a:p>
            <a:pPr marL="342900" indent="-342900"/>
            <a:r>
              <a:rPr lang="en-GB" sz="2800" dirty="0">
                <a:latin typeface="Calibri" panose="020F0502020204030204" pitchFamily="34" charset="0"/>
                <a:cs typeface="Calibri" panose="020F0502020204030204" pitchFamily="34" charset="0"/>
              </a:rPr>
              <a:t>Limited revisions</a:t>
            </a:r>
          </a:p>
          <a:p>
            <a:pPr marL="342900" indent="-342900"/>
            <a:r>
              <a:rPr lang="en-GB" sz="2800" dirty="0">
                <a:latin typeface="Calibri" panose="020F0502020204030204" pitchFamily="34" charset="0"/>
                <a:cs typeface="Calibri" panose="020F0502020204030204" pitchFamily="34" charset="0"/>
              </a:rPr>
              <a:t>Robust estimation</a:t>
            </a:r>
          </a:p>
          <a:p>
            <a:pPr marL="342900" indent="-342900"/>
            <a:r>
              <a:rPr lang="en-GB" sz="2800" dirty="0">
                <a:latin typeface="Calibri" panose="020F0502020204030204" pitchFamily="34" charset="0"/>
                <a:cs typeface="Calibri" panose="020F0502020204030204" pitchFamily="34" charset="0"/>
              </a:rPr>
              <a:t>Explainable results</a:t>
            </a:r>
          </a:p>
          <a:p>
            <a:pPr marL="342900" indent="-342900"/>
            <a:r>
              <a:rPr lang="en-GB" sz="2800" dirty="0">
                <a:latin typeface="Calibri" panose="020F0502020204030204" pitchFamily="34" charset="0"/>
                <a:cs typeface="Calibri" panose="020F0502020204030204" pitchFamily="34" charset="0"/>
              </a:rPr>
              <a:t>Efficient algorithms</a:t>
            </a:r>
          </a:p>
          <a:p>
            <a:pPr marL="342900" indent="-342900"/>
            <a:r>
              <a:rPr lang="en-GB" sz="2800" noProof="0" dirty="0">
                <a:latin typeface="Calibri" panose="020F0502020204030204" pitchFamily="34" charset="0"/>
                <a:cs typeface="Calibri" panose="020F0502020204030204" pitchFamily="34" charset="0"/>
              </a:rPr>
              <a:t>…</a:t>
            </a:r>
          </a:p>
        </p:txBody>
      </p:sp>
      <p:sp>
        <p:nvSpPr>
          <p:cNvPr id="5" name="Footer Placeholder 4">
            <a:extLst>
              <a:ext uri="{FF2B5EF4-FFF2-40B4-BE49-F238E27FC236}">
                <a16:creationId xmlns:a16="http://schemas.microsoft.com/office/drawing/2014/main" id="{FC4FFCCA-8E21-B232-77AB-B05AEAE576EA}"/>
              </a:ext>
            </a:extLst>
          </p:cNvPr>
          <p:cNvSpPr>
            <a:spLocks noGrp="1"/>
          </p:cNvSpPr>
          <p:nvPr>
            <p:ph type="ftr" sz="quarter" idx="4294967295"/>
          </p:nvPr>
        </p:nvSpPr>
        <p:spPr>
          <a:xfrm>
            <a:off x="0" y="0"/>
            <a:ext cx="0" cy="0"/>
          </a:xfrm>
        </p:spPr>
        <p:txBody>
          <a:bodyPr/>
          <a:lstStyle/>
          <a:p>
            <a:r>
              <a:rPr lang="en-GB" noProof="0" dirty="0"/>
              <a:t>ESTP Training. Seasonal adjustment</a:t>
            </a:r>
          </a:p>
        </p:txBody>
      </p:sp>
    </p:spTree>
    <p:extLst>
      <p:ext uri="{BB962C8B-B14F-4D97-AF65-F5344CB8AC3E}">
        <p14:creationId xmlns:p14="http://schemas.microsoft.com/office/powerpoint/2010/main" val="3786287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42788-F7E8-27C8-B319-27D925698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B2C01-6F77-97D7-748C-ABA302004B57}"/>
              </a:ext>
            </a:extLst>
          </p:cNvPr>
          <p:cNvSpPr>
            <a:spLocks noGrp="1"/>
          </p:cNvSpPr>
          <p:nvPr>
            <p:ph type="title"/>
          </p:nvPr>
        </p:nvSpPr>
        <p:spPr/>
        <p:txBody>
          <a:bodyPr/>
          <a:lstStyle/>
          <a:p>
            <a:r>
              <a:rPr lang="en-GB" noProof="0" dirty="0"/>
              <a:t>3. Rapid overview of common SA methods</a:t>
            </a:r>
          </a:p>
        </p:txBody>
      </p:sp>
      <p:sp>
        <p:nvSpPr>
          <p:cNvPr id="3" name="Espace réservé du numéro de diapositive 2">
            <a:extLst>
              <a:ext uri="{FF2B5EF4-FFF2-40B4-BE49-F238E27FC236}">
                <a16:creationId xmlns:a16="http://schemas.microsoft.com/office/drawing/2014/main" id="{2C9F1EEB-999D-04D4-EB47-FFEF720009F8}"/>
              </a:ext>
            </a:extLst>
          </p:cNvPr>
          <p:cNvSpPr>
            <a:spLocks noGrp="1"/>
          </p:cNvSpPr>
          <p:nvPr>
            <p:ph type="sldNum" idx="12"/>
          </p:nvPr>
        </p:nvSpPr>
        <p:spPr>
          <a:xfrm>
            <a:off x="4490484" y="6079285"/>
            <a:ext cx="2743200" cy="365125"/>
          </a:xfrm>
        </p:spPr>
        <p:txBody>
          <a:bodyPr/>
          <a:lstStyle/>
          <a:p>
            <a:fld id="{1E1EA8E3-33CC-465E-BBDB-C5F5B41B1D80}" type="slidenum">
              <a:rPr lang="en-GB" smtClean="0"/>
              <a:t>9</a:t>
            </a:fld>
            <a:endParaRPr lang="en-GB"/>
          </a:p>
        </p:txBody>
      </p:sp>
      <p:sp>
        <p:nvSpPr>
          <p:cNvPr id="56" name="Footer Placeholder 55">
            <a:extLst>
              <a:ext uri="{FF2B5EF4-FFF2-40B4-BE49-F238E27FC236}">
                <a16:creationId xmlns:a16="http://schemas.microsoft.com/office/drawing/2014/main" id="{5ECA7318-D064-E296-BA22-992B24A337FA}"/>
              </a:ext>
            </a:extLst>
          </p:cNvPr>
          <p:cNvSpPr>
            <a:spLocks noGrp="1"/>
          </p:cNvSpPr>
          <p:nvPr>
            <p:ph type="ftr" sz="quarter" idx="4294967295"/>
          </p:nvPr>
        </p:nvSpPr>
        <p:spPr>
          <a:xfrm>
            <a:off x="0" y="0"/>
            <a:ext cx="0" cy="0"/>
          </a:xfrm>
        </p:spPr>
        <p:txBody>
          <a:bodyPr/>
          <a:lstStyle/>
          <a:p>
            <a:r>
              <a:rPr lang="en-GB" noProof="0" dirty="0"/>
              <a:t>ESTP Training. Seasonal adjustment</a:t>
            </a:r>
          </a:p>
        </p:txBody>
      </p:sp>
      <p:sp>
        <p:nvSpPr>
          <p:cNvPr id="5" name="Rectangle: Rounded Corners 4">
            <a:extLst>
              <a:ext uri="{FF2B5EF4-FFF2-40B4-BE49-F238E27FC236}">
                <a16:creationId xmlns:a16="http://schemas.microsoft.com/office/drawing/2014/main" id="{B20EEB24-6242-B14B-997A-8A70222721F2}"/>
              </a:ext>
            </a:extLst>
          </p:cNvPr>
          <p:cNvSpPr/>
          <p:nvPr/>
        </p:nvSpPr>
        <p:spPr>
          <a:xfrm>
            <a:off x="2284702" y="1350556"/>
            <a:ext cx="2869035" cy="46978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200" noProof="0" dirty="0"/>
              <a:t>Non parametric</a:t>
            </a:r>
          </a:p>
        </p:txBody>
      </p:sp>
      <p:sp>
        <p:nvSpPr>
          <p:cNvPr id="6" name="Rectangle: Rounded Corners 5">
            <a:extLst>
              <a:ext uri="{FF2B5EF4-FFF2-40B4-BE49-F238E27FC236}">
                <a16:creationId xmlns:a16="http://schemas.microsoft.com/office/drawing/2014/main" id="{92ACF298-1FAA-9507-AF07-5B5A5356D025}"/>
              </a:ext>
            </a:extLst>
          </p:cNvPr>
          <p:cNvSpPr/>
          <p:nvPr/>
        </p:nvSpPr>
        <p:spPr>
          <a:xfrm>
            <a:off x="8311311" y="1324070"/>
            <a:ext cx="2869035" cy="46978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200" noProof="0" dirty="0"/>
              <a:t>Parametric</a:t>
            </a:r>
          </a:p>
        </p:txBody>
      </p:sp>
      <p:sp>
        <p:nvSpPr>
          <p:cNvPr id="7" name="Oval 6">
            <a:extLst>
              <a:ext uri="{FF2B5EF4-FFF2-40B4-BE49-F238E27FC236}">
                <a16:creationId xmlns:a16="http://schemas.microsoft.com/office/drawing/2014/main" id="{94BA8B4A-0DED-E953-CA34-F116892137BF}"/>
              </a:ext>
            </a:extLst>
          </p:cNvPr>
          <p:cNvSpPr/>
          <p:nvPr/>
        </p:nvSpPr>
        <p:spPr>
          <a:xfrm>
            <a:off x="3238890" y="2344564"/>
            <a:ext cx="1291131" cy="675315"/>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sz="1200" noProof="0" dirty="0"/>
              <a:t>Lo(w)ess</a:t>
            </a:r>
          </a:p>
        </p:txBody>
      </p:sp>
      <p:sp>
        <p:nvSpPr>
          <p:cNvPr id="8" name="Rectangle: Rounded Corners 7">
            <a:extLst>
              <a:ext uri="{FF2B5EF4-FFF2-40B4-BE49-F238E27FC236}">
                <a16:creationId xmlns:a16="http://schemas.microsoft.com/office/drawing/2014/main" id="{911DB814-97DC-A027-0A22-32D63C3C35CE}"/>
              </a:ext>
            </a:extLst>
          </p:cNvPr>
          <p:cNvSpPr/>
          <p:nvPr/>
        </p:nvSpPr>
        <p:spPr>
          <a:xfrm>
            <a:off x="3234000" y="3613766"/>
            <a:ext cx="1296544" cy="6753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STL</a:t>
            </a:r>
          </a:p>
        </p:txBody>
      </p:sp>
      <p:sp>
        <p:nvSpPr>
          <p:cNvPr id="9" name="Oval 8">
            <a:extLst>
              <a:ext uri="{FF2B5EF4-FFF2-40B4-BE49-F238E27FC236}">
                <a16:creationId xmlns:a16="http://schemas.microsoft.com/office/drawing/2014/main" id="{DC8A0BE8-542A-3EAC-8DAD-721E0C3D83F2}"/>
              </a:ext>
            </a:extLst>
          </p:cNvPr>
          <p:cNvSpPr/>
          <p:nvPr/>
        </p:nvSpPr>
        <p:spPr>
          <a:xfrm>
            <a:off x="4534904" y="2332889"/>
            <a:ext cx="1698814" cy="675315"/>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sz="1200" noProof="0" dirty="0"/>
              <a:t>Moving averages</a:t>
            </a:r>
          </a:p>
        </p:txBody>
      </p:sp>
      <p:sp>
        <p:nvSpPr>
          <p:cNvPr id="10" name="Oval 9">
            <a:extLst>
              <a:ext uri="{FF2B5EF4-FFF2-40B4-BE49-F238E27FC236}">
                <a16:creationId xmlns:a16="http://schemas.microsoft.com/office/drawing/2014/main" id="{070B0308-4FCC-DDCC-7553-5E532A7A72FE}"/>
              </a:ext>
            </a:extLst>
          </p:cNvPr>
          <p:cNvSpPr/>
          <p:nvPr/>
        </p:nvSpPr>
        <p:spPr>
          <a:xfrm>
            <a:off x="146102" y="2356239"/>
            <a:ext cx="1449717" cy="675315"/>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noProof="0" dirty="0"/>
              <a:t>Machine learning</a:t>
            </a:r>
          </a:p>
        </p:txBody>
      </p:sp>
      <p:sp>
        <p:nvSpPr>
          <p:cNvPr id="11" name="Rectangle: Rounded Corners 10">
            <a:extLst>
              <a:ext uri="{FF2B5EF4-FFF2-40B4-BE49-F238E27FC236}">
                <a16:creationId xmlns:a16="http://schemas.microsoft.com/office/drawing/2014/main" id="{60B11E01-1E23-86BD-3B08-B47D054E6E24}"/>
              </a:ext>
            </a:extLst>
          </p:cNvPr>
          <p:cNvSpPr/>
          <p:nvPr/>
        </p:nvSpPr>
        <p:spPr>
          <a:xfrm>
            <a:off x="382772" y="3912532"/>
            <a:ext cx="974491" cy="6753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Prophet</a:t>
            </a:r>
          </a:p>
        </p:txBody>
      </p:sp>
      <p:sp>
        <p:nvSpPr>
          <p:cNvPr id="12" name="Rectangle: Rounded Corners 11">
            <a:extLst>
              <a:ext uri="{FF2B5EF4-FFF2-40B4-BE49-F238E27FC236}">
                <a16:creationId xmlns:a16="http://schemas.microsoft.com/office/drawing/2014/main" id="{A0E79644-1F6F-DF90-67F8-FC5856FFF7BF}"/>
              </a:ext>
            </a:extLst>
          </p:cNvPr>
          <p:cNvSpPr/>
          <p:nvPr/>
        </p:nvSpPr>
        <p:spPr>
          <a:xfrm>
            <a:off x="4713866" y="3652061"/>
            <a:ext cx="1296544" cy="6753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X11</a:t>
            </a:r>
          </a:p>
        </p:txBody>
      </p:sp>
      <p:cxnSp>
        <p:nvCxnSpPr>
          <p:cNvPr id="14" name="Connector: Elbow 13">
            <a:extLst>
              <a:ext uri="{FF2B5EF4-FFF2-40B4-BE49-F238E27FC236}">
                <a16:creationId xmlns:a16="http://schemas.microsoft.com/office/drawing/2014/main" id="{838830FD-3B24-C393-B63F-B4436D796512}"/>
              </a:ext>
            </a:extLst>
          </p:cNvPr>
          <p:cNvCxnSpPr>
            <a:cxnSpLocks/>
            <a:stCxn id="5" idx="2"/>
            <a:endCxn id="7" idx="0"/>
          </p:cNvCxnSpPr>
          <p:nvPr/>
        </p:nvCxnSpPr>
        <p:spPr>
          <a:xfrm rot="16200000" flipH="1">
            <a:off x="3539726" y="1999833"/>
            <a:ext cx="524225" cy="165236"/>
          </a:xfrm>
          <a:prstGeom prst="bentConnector3">
            <a:avLst/>
          </a:prstGeom>
          <a:ln w="38100">
            <a:tailEnd type="triangle"/>
          </a:ln>
        </p:spPr>
        <p:style>
          <a:lnRef idx="1">
            <a:schemeClr val="dk1"/>
          </a:lnRef>
          <a:fillRef idx="0">
            <a:schemeClr val="dk1"/>
          </a:fillRef>
          <a:effectRef idx="0">
            <a:schemeClr val="dk1"/>
          </a:effectRef>
          <a:fontRef idx="minor">
            <a:schemeClr val="tx1"/>
          </a:fontRef>
        </p:style>
      </p:cxnSp>
      <p:cxnSp>
        <p:nvCxnSpPr>
          <p:cNvPr id="16" name="Connector: Elbow 15">
            <a:extLst>
              <a:ext uri="{FF2B5EF4-FFF2-40B4-BE49-F238E27FC236}">
                <a16:creationId xmlns:a16="http://schemas.microsoft.com/office/drawing/2014/main" id="{416E1231-52E2-4007-1AFD-7819454ED621}"/>
              </a:ext>
            </a:extLst>
          </p:cNvPr>
          <p:cNvCxnSpPr>
            <a:cxnSpLocks/>
            <a:stCxn id="5" idx="2"/>
            <a:endCxn id="10" idx="0"/>
          </p:cNvCxnSpPr>
          <p:nvPr/>
        </p:nvCxnSpPr>
        <p:spPr>
          <a:xfrm rot="5400000">
            <a:off x="2027141" y="664160"/>
            <a:ext cx="535900" cy="2848259"/>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17" name="Connector: Elbow 16">
            <a:extLst>
              <a:ext uri="{FF2B5EF4-FFF2-40B4-BE49-F238E27FC236}">
                <a16:creationId xmlns:a16="http://schemas.microsoft.com/office/drawing/2014/main" id="{2B685320-2F2E-CD52-AB20-B789288CB334}"/>
              </a:ext>
            </a:extLst>
          </p:cNvPr>
          <p:cNvCxnSpPr>
            <a:cxnSpLocks/>
            <a:stCxn id="5" idx="2"/>
            <a:endCxn id="9" idx="0"/>
          </p:cNvCxnSpPr>
          <p:nvPr/>
        </p:nvCxnSpPr>
        <p:spPr>
          <a:xfrm rot="16200000" flipH="1">
            <a:off x="4295490" y="1244068"/>
            <a:ext cx="512550" cy="1665091"/>
          </a:xfrm>
          <a:prstGeom prst="bentConnector3">
            <a:avLst/>
          </a:prstGeom>
          <a:ln w="38100">
            <a:tailEnd type="triangle"/>
          </a:ln>
        </p:spPr>
        <p:style>
          <a:lnRef idx="1">
            <a:schemeClr val="dk1"/>
          </a:lnRef>
          <a:fillRef idx="0">
            <a:schemeClr val="dk1"/>
          </a:fillRef>
          <a:effectRef idx="0">
            <a:schemeClr val="dk1"/>
          </a:effectRef>
          <a:fontRef idx="minor">
            <a:schemeClr val="tx1"/>
          </a:fontRef>
        </p:style>
      </p:cxnSp>
      <p:sp>
        <p:nvSpPr>
          <p:cNvPr id="22" name="Oval 21">
            <a:extLst>
              <a:ext uri="{FF2B5EF4-FFF2-40B4-BE49-F238E27FC236}">
                <a16:creationId xmlns:a16="http://schemas.microsoft.com/office/drawing/2014/main" id="{8C5F1A99-8AF7-2DD0-357D-334A96DBC673}"/>
              </a:ext>
            </a:extLst>
          </p:cNvPr>
          <p:cNvSpPr/>
          <p:nvPr/>
        </p:nvSpPr>
        <p:spPr>
          <a:xfrm>
            <a:off x="7208708" y="2259299"/>
            <a:ext cx="1862817" cy="675315"/>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sz="1200" noProof="0" dirty="0"/>
              <a:t>Stochastic</a:t>
            </a:r>
          </a:p>
        </p:txBody>
      </p:sp>
      <p:sp>
        <p:nvSpPr>
          <p:cNvPr id="23" name="Oval 22">
            <a:extLst>
              <a:ext uri="{FF2B5EF4-FFF2-40B4-BE49-F238E27FC236}">
                <a16:creationId xmlns:a16="http://schemas.microsoft.com/office/drawing/2014/main" id="{97091878-95AD-5BA2-B5AD-57B1CBC59B3E}"/>
              </a:ext>
            </a:extLst>
          </p:cNvPr>
          <p:cNvSpPr/>
          <p:nvPr/>
        </p:nvSpPr>
        <p:spPr>
          <a:xfrm>
            <a:off x="10079280" y="2264615"/>
            <a:ext cx="1683391" cy="675315"/>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sz="1200" noProof="0" dirty="0"/>
              <a:t>Deterministic</a:t>
            </a:r>
          </a:p>
        </p:txBody>
      </p:sp>
      <p:cxnSp>
        <p:nvCxnSpPr>
          <p:cNvPr id="24" name="Connector: Elbow 23">
            <a:extLst>
              <a:ext uri="{FF2B5EF4-FFF2-40B4-BE49-F238E27FC236}">
                <a16:creationId xmlns:a16="http://schemas.microsoft.com/office/drawing/2014/main" id="{475587C9-5995-8504-59BB-14578D51764B}"/>
              </a:ext>
            </a:extLst>
          </p:cNvPr>
          <p:cNvCxnSpPr>
            <a:cxnSpLocks/>
            <a:stCxn id="6" idx="2"/>
            <a:endCxn id="22" idx="0"/>
          </p:cNvCxnSpPr>
          <p:nvPr/>
        </p:nvCxnSpPr>
        <p:spPr>
          <a:xfrm rot="5400000">
            <a:off x="8710250" y="1223720"/>
            <a:ext cx="465446" cy="1605712"/>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Connector: Elbow 26">
            <a:extLst>
              <a:ext uri="{FF2B5EF4-FFF2-40B4-BE49-F238E27FC236}">
                <a16:creationId xmlns:a16="http://schemas.microsoft.com/office/drawing/2014/main" id="{F92AACF4-06AC-EF66-A12E-C6B142FCE679}"/>
              </a:ext>
            </a:extLst>
          </p:cNvPr>
          <p:cNvCxnSpPr>
            <a:cxnSpLocks/>
            <a:stCxn id="6" idx="2"/>
            <a:endCxn id="23" idx="0"/>
          </p:cNvCxnSpPr>
          <p:nvPr/>
        </p:nvCxnSpPr>
        <p:spPr>
          <a:xfrm rot="16200000" flipH="1">
            <a:off x="10098021" y="1441660"/>
            <a:ext cx="470762" cy="1175147"/>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Connector: Elbow 33">
            <a:extLst>
              <a:ext uri="{FF2B5EF4-FFF2-40B4-BE49-F238E27FC236}">
                <a16:creationId xmlns:a16="http://schemas.microsoft.com/office/drawing/2014/main" id="{752A2947-D40F-57BA-52F8-E2B6F5E9CAA7}"/>
              </a:ext>
            </a:extLst>
          </p:cNvPr>
          <p:cNvCxnSpPr>
            <a:cxnSpLocks/>
            <a:stCxn id="10" idx="4"/>
            <a:endCxn id="11" idx="0"/>
          </p:cNvCxnSpPr>
          <p:nvPr/>
        </p:nvCxnSpPr>
        <p:spPr>
          <a:xfrm rot="5400000">
            <a:off x="430001" y="3471572"/>
            <a:ext cx="880978" cy="943"/>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37" name="Connector: Elbow 36">
            <a:extLst>
              <a:ext uri="{FF2B5EF4-FFF2-40B4-BE49-F238E27FC236}">
                <a16:creationId xmlns:a16="http://schemas.microsoft.com/office/drawing/2014/main" id="{B907D710-A8B5-1E2B-E2EA-C23EBF98D833}"/>
              </a:ext>
            </a:extLst>
          </p:cNvPr>
          <p:cNvCxnSpPr>
            <a:cxnSpLocks/>
            <a:stCxn id="7" idx="4"/>
            <a:endCxn id="8" idx="0"/>
          </p:cNvCxnSpPr>
          <p:nvPr/>
        </p:nvCxnSpPr>
        <p:spPr>
          <a:xfrm rot="5400000">
            <a:off x="3586421" y="3315730"/>
            <a:ext cx="593887" cy="2184"/>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Connector: Elbow 37">
            <a:extLst>
              <a:ext uri="{FF2B5EF4-FFF2-40B4-BE49-F238E27FC236}">
                <a16:creationId xmlns:a16="http://schemas.microsoft.com/office/drawing/2014/main" id="{6E0EA7A6-A130-3835-47D4-7FC3B4CC9640}"/>
              </a:ext>
            </a:extLst>
          </p:cNvPr>
          <p:cNvCxnSpPr>
            <a:cxnSpLocks/>
            <a:stCxn id="9" idx="4"/>
            <a:endCxn id="12" idx="0"/>
          </p:cNvCxnSpPr>
          <p:nvPr/>
        </p:nvCxnSpPr>
        <p:spPr>
          <a:xfrm rot="5400000">
            <a:off x="5051297" y="3319046"/>
            <a:ext cx="643857" cy="22173"/>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sp>
        <p:nvSpPr>
          <p:cNvPr id="43" name="Rectangle: Rounded Corners 42">
            <a:extLst>
              <a:ext uri="{FF2B5EF4-FFF2-40B4-BE49-F238E27FC236}">
                <a16:creationId xmlns:a16="http://schemas.microsoft.com/office/drawing/2014/main" id="{F9F53A8F-D057-B167-2769-70D54F353BC0}"/>
              </a:ext>
            </a:extLst>
          </p:cNvPr>
          <p:cNvSpPr/>
          <p:nvPr/>
        </p:nvSpPr>
        <p:spPr>
          <a:xfrm>
            <a:off x="6345341" y="3350519"/>
            <a:ext cx="1876731" cy="8058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1200" noProof="0" dirty="0" err="1"/>
              <a:t>RegArima</a:t>
            </a:r>
            <a:endParaRPr lang="en-GB" sz="1200" noProof="0" dirty="0"/>
          </a:p>
          <a:p>
            <a:pPr algn="ctr"/>
            <a:r>
              <a:rPr lang="en-GB" sz="1200" noProof="0" dirty="0"/>
              <a:t>models</a:t>
            </a:r>
          </a:p>
        </p:txBody>
      </p:sp>
      <p:sp>
        <p:nvSpPr>
          <p:cNvPr id="44" name="Rectangle: Rounded Corners 43">
            <a:extLst>
              <a:ext uri="{FF2B5EF4-FFF2-40B4-BE49-F238E27FC236}">
                <a16:creationId xmlns:a16="http://schemas.microsoft.com/office/drawing/2014/main" id="{7005268F-C451-5ED7-7008-F4B5D3AC0EBF}"/>
              </a:ext>
            </a:extLst>
          </p:cNvPr>
          <p:cNvSpPr/>
          <p:nvPr/>
        </p:nvSpPr>
        <p:spPr>
          <a:xfrm>
            <a:off x="8280398" y="3350517"/>
            <a:ext cx="1876737" cy="1720814"/>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1200" noProof="0" dirty="0"/>
              <a:t>Structural models</a:t>
            </a:r>
          </a:p>
        </p:txBody>
      </p:sp>
      <p:sp>
        <p:nvSpPr>
          <p:cNvPr id="45" name="Rectangle: Rounded Corners 44">
            <a:extLst>
              <a:ext uri="{FF2B5EF4-FFF2-40B4-BE49-F238E27FC236}">
                <a16:creationId xmlns:a16="http://schemas.microsoft.com/office/drawing/2014/main" id="{018AE1CB-1038-EBCB-68B8-18599615E78F}"/>
              </a:ext>
            </a:extLst>
          </p:cNvPr>
          <p:cNvSpPr/>
          <p:nvPr/>
        </p:nvSpPr>
        <p:spPr>
          <a:xfrm>
            <a:off x="6345341" y="4421846"/>
            <a:ext cx="1876737" cy="805800"/>
          </a:xfrm>
          <a:prstGeom prst="roundRect">
            <a:avLst/>
          </a:prstGeom>
          <a:solidFill>
            <a:schemeClr val="bg2">
              <a:lumMod val="60000"/>
              <a:lumOff val="40000"/>
            </a:schemeClr>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GB" sz="1200" noProof="0" dirty="0"/>
              <a:t>Canonical decomposition</a:t>
            </a:r>
          </a:p>
        </p:txBody>
      </p:sp>
      <p:sp>
        <p:nvSpPr>
          <p:cNvPr id="46" name="Rectangle: Rounded Corners 45">
            <a:extLst>
              <a:ext uri="{FF2B5EF4-FFF2-40B4-BE49-F238E27FC236}">
                <a16:creationId xmlns:a16="http://schemas.microsoft.com/office/drawing/2014/main" id="{049C754C-9BAC-AF79-153B-C870746F7431}"/>
              </a:ext>
            </a:extLst>
          </p:cNvPr>
          <p:cNvSpPr/>
          <p:nvPr/>
        </p:nvSpPr>
        <p:spPr>
          <a:xfrm>
            <a:off x="7926068" y="5542092"/>
            <a:ext cx="1876737" cy="805800"/>
          </a:xfrm>
          <a:prstGeom prst="roundRect">
            <a:avLst/>
          </a:prstGeom>
          <a:solidFill>
            <a:schemeClr val="bg2">
              <a:lumMod val="60000"/>
              <a:lumOff val="40000"/>
            </a:schemeClr>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GB" sz="1200" noProof="0" dirty="0"/>
              <a:t>Kalman filter</a:t>
            </a:r>
          </a:p>
          <a:p>
            <a:pPr algn="ctr"/>
            <a:r>
              <a:rPr lang="en-GB" sz="1200" noProof="0" dirty="0"/>
              <a:t>WK filter</a:t>
            </a:r>
          </a:p>
        </p:txBody>
      </p:sp>
      <p:sp>
        <p:nvSpPr>
          <p:cNvPr id="48" name="Rectangle: Rounded Corners 47">
            <a:extLst>
              <a:ext uri="{FF2B5EF4-FFF2-40B4-BE49-F238E27FC236}">
                <a16:creationId xmlns:a16="http://schemas.microsoft.com/office/drawing/2014/main" id="{16A1304C-C6A5-B418-B518-9ECCDB419DD7}"/>
              </a:ext>
            </a:extLst>
          </p:cNvPr>
          <p:cNvSpPr/>
          <p:nvPr/>
        </p:nvSpPr>
        <p:spPr>
          <a:xfrm>
            <a:off x="4732044" y="4988587"/>
            <a:ext cx="1262507" cy="675315"/>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X12-ARIMA</a:t>
            </a:r>
          </a:p>
        </p:txBody>
      </p:sp>
      <p:cxnSp>
        <p:nvCxnSpPr>
          <p:cNvPr id="49" name="Connector: Elbow 48">
            <a:extLst>
              <a:ext uri="{FF2B5EF4-FFF2-40B4-BE49-F238E27FC236}">
                <a16:creationId xmlns:a16="http://schemas.microsoft.com/office/drawing/2014/main" id="{C82E8C38-A522-189B-5AF7-BC0F10CB3DAB}"/>
              </a:ext>
            </a:extLst>
          </p:cNvPr>
          <p:cNvCxnSpPr>
            <a:cxnSpLocks/>
            <a:stCxn id="22" idx="4"/>
            <a:endCxn id="43" idx="0"/>
          </p:cNvCxnSpPr>
          <p:nvPr/>
        </p:nvCxnSpPr>
        <p:spPr>
          <a:xfrm rot="5400000">
            <a:off x="7503960" y="2714361"/>
            <a:ext cx="415905" cy="856410"/>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59" name="Connector: Elbow 58">
            <a:extLst>
              <a:ext uri="{FF2B5EF4-FFF2-40B4-BE49-F238E27FC236}">
                <a16:creationId xmlns:a16="http://schemas.microsoft.com/office/drawing/2014/main" id="{FA1D2AE7-AE9A-90B9-5DDF-44EBB7D4C83B}"/>
              </a:ext>
            </a:extLst>
          </p:cNvPr>
          <p:cNvCxnSpPr>
            <a:cxnSpLocks/>
            <a:stCxn id="22" idx="4"/>
            <a:endCxn id="44" idx="0"/>
          </p:cNvCxnSpPr>
          <p:nvPr/>
        </p:nvCxnSpPr>
        <p:spPr>
          <a:xfrm rot="16200000" flipH="1">
            <a:off x="8471491" y="2603240"/>
            <a:ext cx="415903" cy="1078650"/>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63" name="Connector: Elbow 62">
            <a:extLst>
              <a:ext uri="{FF2B5EF4-FFF2-40B4-BE49-F238E27FC236}">
                <a16:creationId xmlns:a16="http://schemas.microsoft.com/office/drawing/2014/main" id="{7B435588-B7F7-7037-B4EA-A3079129457B}"/>
              </a:ext>
            </a:extLst>
          </p:cNvPr>
          <p:cNvCxnSpPr>
            <a:cxnSpLocks/>
            <a:stCxn id="43" idx="2"/>
            <a:endCxn id="45" idx="0"/>
          </p:cNvCxnSpPr>
          <p:nvPr/>
        </p:nvCxnSpPr>
        <p:spPr>
          <a:xfrm rot="16200000" flipH="1">
            <a:off x="7150945" y="4289080"/>
            <a:ext cx="265527" cy="3"/>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82" name="Connector: Elbow 81">
            <a:extLst>
              <a:ext uri="{FF2B5EF4-FFF2-40B4-BE49-F238E27FC236}">
                <a16:creationId xmlns:a16="http://schemas.microsoft.com/office/drawing/2014/main" id="{572CC128-9EF3-2601-52DD-A71FC881ACB2}"/>
              </a:ext>
            </a:extLst>
          </p:cNvPr>
          <p:cNvCxnSpPr>
            <a:cxnSpLocks/>
            <a:stCxn id="12" idx="2"/>
            <a:endCxn id="48" idx="0"/>
          </p:cNvCxnSpPr>
          <p:nvPr/>
        </p:nvCxnSpPr>
        <p:spPr>
          <a:xfrm rot="16200000" flipH="1">
            <a:off x="5032113" y="4657401"/>
            <a:ext cx="661211" cy="1160"/>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94" name="Straight Arrow Connector 93">
            <a:extLst>
              <a:ext uri="{FF2B5EF4-FFF2-40B4-BE49-F238E27FC236}">
                <a16:creationId xmlns:a16="http://schemas.microsoft.com/office/drawing/2014/main" id="{C7C0A1F0-F6F3-FE22-C0DA-7DEFAF23FBF8}"/>
              </a:ext>
            </a:extLst>
          </p:cNvPr>
          <p:cNvCxnSpPr>
            <a:cxnSpLocks/>
            <a:stCxn id="44" idx="2"/>
            <a:endCxn id="46" idx="0"/>
          </p:cNvCxnSpPr>
          <p:nvPr/>
        </p:nvCxnSpPr>
        <p:spPr>
          <a:xfrm flipH="1">
            <a:off x="8864437" y="5071331"/>
            <a:ext cx="354330" cy="47076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a:extLst>
              <a:ext uri="{FF2B5EF4-FFF2-40B4-BE49-F238E27FC236}">
                <a16:creationId xmlns:a16="http://schemas.microsoft.com/office/drawing/2014/main" id="{65EFFB5C-1299-B622-A6C2-D4561D7C9F29}"/>
              </a:ext>
            </a:extLst>
          </p:cNvPr>
          <p:cNvCxnSpPr>
            <a:cxnSpLocks/>
            <a:stCxn id="43" idx="1"/>
            <a:endCxn id="48" idx="0"/>
          </p:cNvCxnSpPr>
          <p:nvPr/>
        </p:nvCxnSpPr>
        <p:spPr>
          <a:xfrm flipH="1">
            <a:off x="5363298" y="3753419"/>
            <a:ext cx="982043" cy="123516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2" name="Rectangle: Rounded Corners 31">
            <a:extLst>
              <a:ext uri="{FF2B5EF4-FFF2-40B4-BE49-F238E27FC236}">
                <a16:creationId xmlns:a16="http://schemas.microsoft.com/office/drawing/2014/main" id="{45B7162D-00F5-29D0-E249-DCD6A138ADEF}"/>
              </a:ext>
            </a:extLst>
          </p:cNvPr>
          <p:cNvSpPr/>
          <p:nvPr/>
        </p:nvSpPr>
        <p:spPr>
          <a:xfrm>
            <a:off x="5878018" y="5705273"/>
            <a:ext cx="1556070" cy="675315"/>
          </a:xfrm>
          <a:prstGeom prst="round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200" noProof="0" dirty="0">
                <a:solidFill>
                  <a:schemeClr val="tx1"/>
                </a:solidFill>
              </a:rPr>
              <a:t>Tramo-Seats</a:t>
            </a:r>
          </a:p>
        </p:txBody>
      </p:sp>
      <p:sp>
        <p:nvSpPr>
          <p:cNvPr id="33" name="Rectangle: Rounded Corners 32">
            <a:extLst>
              <a:ext uri="{FF2B5EF4-FFF2-40B4-BE49-F238E27FC236}">
                <a16:creationId xmlns:a16="http://schemas.microsoft.com/office/drawing/2014/main" id="{90979E30-676E-F8E2-FBB4-842C594D62D7}"/>
              </a:ext>
            </a:extLst>
          </p:cNvPr>
          <p:cNvSpPr/>
          <p:nvPr/>
        </p:nvSpPr>
        <p:spPr>
          <a:xfrm>
            <a:off x="10192298" y="5035573"/>
            <a:ext cx="1191234" cy="838496"/>
          </a:xfrm>
          <a:prstGeom prst="round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1200" noProof="0" dirty="0"/>
              <a:t>Stamp, </a:t>
            </a:r>
          </a:p>
          <a:p>
            <a:pPr algn="ctr"/>
            <a:r>
              <a:rPr lang="en-GB" sz="1200" noProof="0" dirty="0" err="1"/>
              <a:t>RegCmp</a:t>
            </a:r>
            <a:r>
              <a:rPr lang="en-GB" sz="1200" noProof="0" dirty="0"/>
              <a:t>,</a:t>
            </a:r>
          </a:p>
          <a:p>
            <a:pPr algn="ctr"/>
            <a:r>
              <a:rPr lang="en-GB" sz="1200" noProof="0" dirty="0"/>
              <a:t>(T)Bats,</a:t>
            </a:r>
          </a:p>
          <a:p>
            <a:pPr algn="ctr"/>
            <a:r>
              <a:rPr lang="en-GB" sz="1200" noProof="0" dirty="0"/>
              <a:t>…</a:t>
            </a:r>
          </a:p>
        </p:txBody>
      </p:sp>
      <p:cxnSp>
        <p:nvCxnSpPr>
          <p:cNvPr id="35" name="Straight Arrow Connector 34">
            <a:extLst>
              <a:ext uri="{FF2B5EF4-FFF2-40B4-BE49-F238E27FC236}">
                <a16:creationId xmlns:a16="http://schemas.microsoft.com/office/drawing/2014/main" id="{CAD1C0D5-AD4D-B448-19C1-58CFD4B546A4}"/>
              </a:ext>
            </a:extLst>
          </p:cNvPr>
          <p:cNvCxnSpPr>
            <a:cxnSpLocks/>
            <a:stCxn id="45" idx="2"/>
            <a:endCxn id="32" idx="0"/>
          </p:cNvCxnSpPr>
          <p:nvPr/>
        </p:nvCxnSpPr>
        <p:spPr>
          <a:xfrm flipH="1">
            <a:off x="6656053" y="5227646"/>
            <a:ext cx="627657" cy="47762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E57FB2C9-BEEF-F837-C0BD-64F603C39C4F}"/>
              </a:ext>
            </a:extLst>
          </p:cNvPr>
          <p:cNvCxnSpPr>
            <a:cxnSpLocks/>
            <a:stCxn id="44" idx="3"/>
            <a:endCxn id="33" idx="0"/>
          </p:cNvCxnSpPr>
          <p:nvPr/>
        </p:nvCxnSpPr>
        <p:spPr>
          <a:xfrm>
            <a:off x="10157135" y="4210924"/>
            <a:ext cx="630780" cy="82464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277DD1C0-0523-4800-B0C0-490F42503034}"/>
              </a:ext>
            </a:extLst>
          </p:cNvPr>
          <p:cNvCxnSpPr>
            <a:cxnSpLocks/>
            <a:stCxn id="45" idx="2"/>
            <a:endCxn id="46" idx="0"/>
          </p:cNvCxnSpPr>
          <p:nvPr/>
        </p:nvCxnSpPr>
        <p:spPr>
          <a:xfrm>
            <a:off x="7283710" y="5227646"/>
            <a:ext cx="1580727" cy="31444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8A77506E-6626-40B4-024E-C3FF608714EB}"/>
              </a:ext>
            </a:extLst>
          </p:cNvPr>
          <p:cNvCxnSpPr>
            <a:cxnSpLocks/>
            <a:stCxn id="46" idx="1"/>
            <a:endCxn id="32" idx="3"/>
          </p:cNvCxnSpPr>
          <p:nvPr/>
        </p:nvCxnSpPr>
        <p:spPr>
          <a:xfrm flipH="1">
            <a:off x="7434088" y="5944992"/>
            <a:ext cx="491980" cy="97939"/>
          </a:xfrm>
          <a:prstGeom prst="straightConnector1">
            <a:avLst/>
          </a:prstGeom>
          <a:ln w="28575">
            <a:prstDash val="dash"/>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52E73B80-79D5-08D1-5DF0-744BC1853778}"/>
              </a:ext>
            </a:extLst>
          </p:cNvPr>
          <p:cNvCxnSpPr>
            <a:cxnSpLocks/>
            <a:stCxn id="46" idx="3"/>
            <a:endCxn id="33" idx="1"/>
          </p:cNvCxnSpPr>
          <p:nvPr/>
        </p:nvCxnSpPr>
        <p:spPr>
          <a:xfrm flipV="1">
            <a:off x="9802805" y="5454821"/>
            <a:ext cx="389493" cy="490171"/>
          </a:xfrm>
          <a:prstGeom prst="straightConnector1">
            <a:avLst/>
          </a:prstGeom>
          <a:ln w="28575">
            <a:prstDash val="dash"/>
            <a:tailEnd type="triangle"/>
          </a:ln>
        </p:spPr>
        <p:style>
          <a:lnRef idx="1">
            <a:schemeClr val="dk1"/>
          </a:lnRef>
          <a:fillRef idx="0">
            <a:schemeClr val="dk1"/>
          </a:fillRef>
          <a:effectRef idx="0">
            <a:schemeClr val="dk1"/>
          </a:effectRef>
          <a:fontRef idx="minor">
            <a:schemeClr val="tx1"/>
          </a:fontRef>
        </p:style>
      </p:cxnSp>
      <p:sp>
        <p:nvSpPr>
          <p:cNvPr id="61" name="Oval 9">
            <a:extLst>
              <a:ext uri="{FF2B5EF4-FFF2-40B4-BE49-F238E27FC236}">
                <a16:creationId xmlns:a16="http://schemas.microsoft.com/office/drawing/2014/main" id="{E5B3449D-7836-3E79-4C8C-088D3443E337}"/>
              </a:ext>
            </a:extLst>
          </p:cNvPr>
          <p:cNvSpPr/>
          <p:nvPr/>
        </p:nvSpPr>
        <p:spPr>
          <a:xfrm>
            <a:off x="1716041" y="2336016"/>
            <a:ext cx="1423693" cy="675315"/>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noProof="0" dirty="0"/>
              <a:t>Others</a:t>
            </a:r>
          </a:p>
        </p:txBody>
      </p:sp>
      <p:sp>
        <p:nvSpPr>
          <p:cNvPr id="62" name="Rectangle: Rounded Corners 10">
            <a:extLst>
              <a:ext uri="{FF2B5EF4-FFF2-40B4-BE49-F238E27FC236}">
                <a16:creationId xmlns:a16="http://schemas.microsoft.com/office/drawing/2014/main" id="{B449DCE2-9838-FFEC-498C-D979CAEBED03}"/>
              </a:ext>
            </a:extLst>
          </p:cNvPr>
          <p:cNvSpPr/>
          <p:nvPr/>
        </p:nvSpPr>
        <p:spPr>
          <a:xfrm>
            <a:off x="1730507" y="3626176"/>
            <a:ext cx="1407686" cy="6753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err="1"/>
              <a:t>Camplet</a:t>
            </a:r>
            <a:endParaRPr lang="en-GB" sz="1200" noProof="0" dirty="0"/>
          </a:p>
        </p:txBody>
      </p:sp>
      <p:cxnSp>
        <p:nvCxnSpPr>
          <p:cNvPr id="64" name="Connector: Elbow 33">
            <a:extLst>
              <a:ext uri="{FF2B5EF4-FFF2-40B4-BE49-F238E27FC236}">
                <a16:creationId xmlns:a16="http://schemas.microsoft.com/office/drawing/2014/main" id="{3A97038D-AD0F-4FE4-E4E7-5B5C051798CE}"/>
              </a:ext>
            </a:extLst>
          </p:cNvPr>
          <p:cNvCxnSpPr>
            <a:cxnSpLocks/>
            <a:stCxn id="61" idx="4"/>
            <a:endCxn id="62" idx="0"/>
          </p:cNvCxnSpPr>
          <p:nvPr/>
        </p:nvCxnSpPr>
        <p:spPr>
          <a:xfrm rot="16200000" flipH="1">
            <a:off x="2123697" y="3315522"/>
            <a:ext cx="614845" cy="6462"/>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65" name="Connector: Elbow 15">
            <a:extLst>
              <a:ext uri="{FF2B5EF4-FFF2-40B4-BE49-F238E27FC236}">
                <a16:creationId xmlns:a16="http://schemas.microsoft.com/office/drawing/2014/main" id="{AB4541B2-A679-1CE2-3C47-A362B82FBFE5}"/>
              </a:ext>
            </a:extLst>
          </p:cNvPr>
          <p:cNvCxnSpPr>
            <a:cxnSpLocks/>
            <a:stCxn id="5" idx="2"/>
            <a:endCxn id="61" idx="0"/>
          </p:cNvCxnSpPr>
          <p:nvPr/>
        </p:nvCxnSpPr>
        <p:spPr>
          <a:xfrm rot="5400000">
            <a:off x="2815716" y="1432511"/>
            <a:ext cx="515677" cy="1291332"/>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sp>
        <p:nvSpPr>
          <p:cNvPr id="73" name="Rectangle: Rounded Corners 32">
            <a:extLst>
              <a:ext uri="{FF2B5EF4-FFF2-40B4-BE49-F238E27FC236}">
                <a16:creationId xmlns:a16="http://schemas.microsoft.com/office/drawing/2014/main" id="{BE3C6BDF-EB45-DDFB-5715-987720A8C1E6}"/>
              </a:ext>
            </a:extLst>
          </p:cNvPr>
          <p:cNvSpPr/>
          <p:nvPr/>
        </p:nvSpPr>
        <p:spPr>
          <a:xfrm>
            <a:off x="10788706" y="3286222"/>
            <a:ext cx="1191234" cy="838496"/>
          </a:xfrm>
          <a:prstGeom prst="round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1200" noProof="0" dirty="0"/>
              <a:t>BV4</a:t>
            </a:r>
          </a:p>
          <a:p>
            <a:pPr algn="ctr"/>
            <a:r>
              <a:rPr lang="en-GB" sz="1200" noProof="0" dirty="0"/>
              <a:t>…</a:t>
            </a:r>
          </a:p>
        </p:txBody>
      </p:sp>
      <p:cxnSp>
        <p:nvCxnSpPr>
          <p:cNvPr id="29" name="Straight Arrow Connector 38">
            <a:extLst>
              <a:ext uri="{FF2B5EF4-FFF2-40B4-BE49-F238E27FC236}">
                <a16:creationId xmlns:a16="http://schemas.microsoft.com/office/drawing/2014/main" id="{5ED88F88-1601-40C1-3525-0FEF8AD4AF66}"/>
              </a:ext>
            </a:extLst>
          </p:cNvPr>
          <p:cNvCxnSpPr>
            <a:cxnSpLocks/>
            <a:stCxn id="23" idx="4"/>
            <a:endCxn id="73" idx="0"/>
          </p:cNvCxnSpPr>
          <p:nvPr/>
        </p:nvCxnSpPr>
        <p:spPr>
          <a:xfrm>
            <a:off x="10920976" y="2939930"/>
            <a:ext cx="463347" cy="34629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11219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63AEF-DD26-89A0-2453-A18B9E033B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544E60-53C8-F650-B09E-1CAAC2D8F75A}"/>
              </a:ext>
            </a:extLst>
          </p:cNvPr>
          <p:cNvSpPr>
            <a:spLocks noGrp="1"/>
          </p:cNvSpPr>
          <p:nvPr>
            <p:ph type="title"/>
          </p:nvPr>
        </p:nvSpPr>
        <p:spPr/>
        <p:txBody>
          <a:bodyPr/>
          <a:lstStyle/>
          <a:p>
            <a:r>
              <a:rPr lang="en-GB" noProof="0" dirty="0"/>
              <a:t>3. Rapid overview of common SA methods</a:t>
            </a:r>
          </a:p>
        </p:txBody>
      </p:sp>
      <p:sp>
        <p:nvSpPr>
          <p:cNvPr id="3" name="Espace réservé du numéro de diapositive 2">
            <a:extLst>
              <a:ext uri="{FF2B5EF4-FFF2-40B4-BE49-F238E27FC236}">
                <a16:creationId xmlns:a16="http://schemas.microsoft.com/office/drawing/2014/main" id="{23F21E1F-E55C-9AB2-D397-F7FFE88CE998}"/>
              </a:ext>
            </a:extLst>
          </p:cNvPr>
          <p:cNvSpPr>
            <a:spLocks noGrp="1"/>
          </p:cNvSpPr>
          <p:nvPr>
            <p:ph type="sldNum" idx="12"/>
          </p:nvPr>
        </p:nvSpPr>
        <p:spPr>
          <a:xfrm>
            <a:off x="4479851" y="6079285"/>
            <a:ext cx="2743200" cy="365125"/>
          </a:xfrm>
        </p:spPr>
        <p:txBody>
          <a:bodyPr/>
          <a:lstStyle/>
          <a:p>
            <a:fld id="{1E1EA8E3-33CC-465E-BBDB-C5F5B41B1D80}" type="slidenum">
              <a:rPr lang="en-GB" smtClean="0"/>
              <a:t>10</a:t>
            </a:fld>
            <a:endParaRPr lang="en-GB"/>
          </a:p>
        </p:txBody>
      </p:sp>
      <p:sp>
        <p:nvSpPr>
          <p:cNvPr id="56" name="Footer Placeholder 55">
            <a:extLst>
              <a:ext uri="{FF2B5EF4-FFF2-40B4-BE49-F238E27FC236}">
                <a16:creationId xmlns:a16="http://schemas.microsoft.com/office/drawing/2014/main" id="{5A528134-9E0C-98C2-DC05-EE5161233B25}"/>
              </a:ext>
            </a:extLst>
          </p:cNvPr>
          <p:cNvSpPr>
            <a:spLocks noGrp="1"/>
          </p:cNvSpPr>
          <p:nvPr>
            <p:ph type="ftr" sz="quarter" idx="4294967295"/>
          </p:nvPr>
        </p:nvSpPr>
        <p:spPr>
          <a:xfrm>
            <a:off x="0" y="0"/>
            <a:ext cx="0" cy="0"/>
          </a:xfrm>
        </p:spPr>
        <p:txBody>
          <a:bodyPr/>
          <a:lstStyle/>
          <a:p>
            <a:r>
              <a:rPr lang="en-GB" noProof="0" dirty="0"/>
              <a:t>ESTP Training. Seasonal adjustment</a:t>
            </a:r>
          </a:p>
        </p:txBody>
      </p:sp>
      <p:sp>
        <p:nvSpPr>
          <p:cNvPr id="5" name="Rectangle: Rounded Corners 4">
            <a:extLst>
              <a:ext uri="{FF2B5EF4-FFF2-40B4-BE49-F238E27FC236}">
                <a16:creationId xmlns:a16="http://schemas.microsoft.com/office/drawing/2014/main" id="{CA733DD8-9834-0949-1EEB-6173F4DD9EA7}"/>
              </a:ext>
            </a:extLst>
          </p:cNvPr>
          <p:cNvSpPr/>
          <p:nvPr/>
        </p:nvSpPr>
        <p:spPr>
          <a:xfrm>
            <a:off x="2274069" y="1350556"/>
            <a:ext cx="2869035" cy="46978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200" noProof="0" dirty="0"/>
              <a:t>Non parametric</a:t>
            </a:r>
          </a:p>
        </p:txBody>
      </p:sp>
      <p:sp>
        <p:nvSpPr>
          <p:cNvPr id="6" name="Rectangle: Rounded Corners 5">
            <a:extLst>
              <a:ext uri="{FF2B5EF4-FFF2-40B4-BE49-F238E27FC236}">
                <a16:creationId xmlns:a16="http://schemas.microsoft.com/office/drawing/2014/main" id="{8E71E2FC-9A7C-E1D2-FEFC-B8D9C1254F5F}"/>
              </a:ext>
            </a:extLst>
          </p:cNvPr>
          <p:cNvSpPr/>
          <p:nvPr/>
        </p:nvSpPr>
        <p:spPr>
          <a:xfrm>
            <a:off x="8300678" y="1324070"/>
            <a:ext cx="2869035" cy="469783"/>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200" noProof="0" dirty="0"/>
              <a:t>Parametric</a:t>
            </a:r>
          </a:p>
        </p:txBody>
      </p:sp>
      <p:sp>
        <p:nvSpPr>
          <p:cNvPr id="7" name="Oval 6">
            <a:extLst>
              <a:ext uri="{FF2B5EF4-FFF2-40B4-BE49-F238E27FC236}">
                <a16:creationId xmlns:a16="http://schemas.microsoft.com/office/drawing/2014/main" id="{3DD81B96-F04F-6C17-ABB5-0941CC7474F0}"/>
              </a:ext>
            </a:extLst>
          </p:cNvPr>
          <p:cNvSpPr/>
          <p:nvPr/>
        </p:nvSpPr>
        <p:spPr>
          <a:xfrm>
            <a:off x="3228257" y="2344564"/>
            <a:ext cx="1291131" cy="675315"/>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sz="1200" noProof="0" dirty="0"/>
              <a:t>Lo(w)ess</a:t>
            </a:r>
          </a:p>
        </p:txBody>
      </p:sp>
      <p:sp>
        <p:nvSpPr>
          <p:cNvPr id="8" name="Rectangle: Rounded Corners 7">
            <a:extLst>
              <a:ext uri="{FF2B5EF4-FFF2-40B4-BE49-F238E27FC236}">
                <a16:creationId xmlns:a16="http://schemas.microsoft.com/office/drawing/2014/main" id="{F74ABBF2-2BAF-536A-3CC2-DD52C9136B96}"/>
              </a:ext>
            </a:extLst>
          </p:cNvPr>
          <p:cNvSpPr/>
          <p:nvPr/>
        </p:nvSpPr>
        <p:spPr>
          <a:xfrm>
            <a:off x="3223367" y="3613766"/>
            <a:ext cx="1296544" cy="6753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STL</a:t>
            </a:r>
          </a:p>
        </p:txBody>
      </p:sp>
      <p:sp>
        <p:nvSpPr>
          <p:cNvPr id="9" name="Oval 8">
            <a:extLst>
              <a:ext uri="{FF2B5EF4-FFF2-40B4-BE49-F238E27FC236}">
                <a16:creationId xmlns:a16="http://schemas.microsoft.com/office/drawing/2014/main" id="{26E29681-00F3-67F8-3F62-AC10EA954FE8}"/>
              </a:ext>
            </a:extLst>
          </p:cNvPr>
          <p:cNvSpPr/>
          <p:nvPr/>
        </p:nvSpPr>
        <p:spPr>
          <a:xfrm>
            <a:off x="4524271" y="2332889"/>
            <a:ext cx="1698814" cy="675315"/>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sz="1200" noProof="0" dirty="0"/>
              <a:t>Moving averages</a:t>
            </a:r>
          </a:p>
        </p:txBody>
      </p:sp>
      <p:sp>
        <p:nvSpPr>
          <p:cNvPr id="10" name="Oval 9">
            <a:extLst>
              <a:ext uri="{FF2B5EF4-FFF2-40B4-BE49-F238E27FC236}">
                <a16:creationId xmlns:a16="http://schemas.microsoft.com/office/drawing/2014/main" id="{22887BF3-2688-D9D6-C8B7-80BE8BF22812}"/>
              </a:ext>
            </a:extLst>
          </p:cNvPr>
          <p:cNvSpPr/>
          <p:nvPr/>
        </p:nvSpPr>
        <p:spPr>
          <a:xfrm>
            <a:off x="135469" y="2356239"/>
            <a:ext cx="1449717" cy="675315"/>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noProof="0" dirty="0"/>
              <a:t>Machine learning</a:t>
            </a:r>
          </a:p>
        </p:txBody>
      </p:sp>
      <p:sp>
        <p:nvSpPr>
          <p:cNvPr id="11" name="Rectangle: Rounded Corners 10">
            <a:extLst>
              <a:ext uri="{FF2B5EF4-FFF2-40B4-BE49-F238E27FC236}">
                <a16:creationId xmlns:a16="http://schemas.microsoft.com/office/drawing/2014/main" id="{96606C9D-0DD2-807D-711A-E6A0B20C3F38}"/>
              </a:ext>
            </a:extLst>
          </p:cNvPr>
          <p:cNvSpPr/>
          <p:nvPr/>
        </p:nvSpPr>
        <p:spPr>
          <a:xfrm>
            <a:off x="372139" y="3912532"/>
            <a:ext cx="974491" cy="6753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Prophet</a:t>
            </a:r>
          </a:p>
        </p:txBody>
      </p:sp>
      <p:sp>
        <p:nvSpPr>
          <p:cNvPr id="12" name="Rectangle: Rounded Corners 11">
            <a:extLst>
              <a:ext uri="{FF2B5EF4-FFF2-40B4-BE49-F238E27FC236}">
                <a16:creationId xmlns:a16="http://schemas.microsoft.com/office/drawing/2014/main" id="{E7D0A699-93B6-B098-242A-C0700899C115}"/>
              </a:ext>
            </a:extLst>
          </p:cNvPr>
          <p:cNvSpPr/>
          <p:nvPr/>
        </p:nvSpPr>
        <p:spPr>
          <a:xfrm>
            <a:off x="4703233" y="3652061"/>
            <a:ext cx="1296544" cy="6753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X11</a:t>
            </a:r>
          </a:p>
        </p:txBody>
      </p:sp>
      <p:cxnSp>
        <p:nvCxnSpPr>
          <p:cNvPr id="14" name="Connector: Elbow 13">
            <a:extLst>
              <a:ext uri="{FF2B5EF4-FFF2-40B4-BE49-F238E27FC236}">
                <a16:creationId xmlns:a16="http://schemas.microsoft.com/office/drawing/2014/main" id="{B8D2AB31-43B8-A03F-58C4-C4FB660239D6}"/>
              </a:ext>
            </a:extLst>
          </p:cNvPr>
          <p:cNvCxnSpPr>
            <a:cxnSpLocks/>
            <a:stCxn id="5" idx="2"/>
            <a:endCxn id="7" idx="0"/>
          </p:cNvCxnSpPr>
          <p:nvPr/>
        </p:nvCxnSpPr>
        <p:spPr>
          <a:xfrm rot="16200000" flipH="1">
            <a:off x="3529093" y="1999833"/>
            <a:ext cx="524225" cy="165236"/>
          </a:xfrm>
          <a:prstGeom prst="bentConnector3">
            <a:avLst/>
          </a:prstGeom>
          <a:ln w="38100">
            <a:tailEnd type="triangle"/>
          </a:ln>
        </p:spPr>
        <p:style>
          <a:lnRef idx="1">
            <a:schemeClr val="dk1"/>
          </a:lnRef>
          <a:fillRef idx="0">
            <a:schemeClr val="dk1"/>
          </a:fillRef>
          <a:effectRef idx="0">
            <a:schemeClr val="dk1"/>
          </a:effectRef>
          <a:fontRef idx="minor">
            <a:schemeClr val="tx1"/>
          </a:fontRef>
        </p:style>
      </p:cxnSp>
      <p:cxnSp>
        <p:nvCxnSpPr>
          <p:cNvPr id="16" name="Connector: Elbow 15">
            <a:extLst>
              <a:ext uri="{FF2B5EF4-FFF2-40B4-BE49-F238E27FC236}">
                <a16:creationId xmlns:a16="http://schemas.microsoft.com/office/drawing/2014/main" id="{2B23954C-ACCE-A3F0-AE20-683966553B81}"/>
              </a:ext>
            </a:extLst>
          </p:cNvPr>
          <p:cNvCxnSpPr>
            <a:cxnSpLocks/>
            <a:stCxn id="5" idx="2"/>
            <a:endCxn id="10" idx="0"/>
          </p:cNvCxnSpPr>
          <p:nvPr/>
        </p:nvCxnSpPr>
        <p:spPr>
          <a:xfrm rot="5400000">
            <a:off x="2016508" y="664160"/>
            <a:ext cx="535900" cy="2848259"/>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17" name="Connector: Elbow 16">
            <a:extLst>
              <a:ext uri="{FF2B5EF4-FFF2-40B4-BE49-F238E27FC236}">
                <a16:creationId xmlns:a16="http://schemas.microsoft.com/office/drawing/2014/main" id="{E2474207-3598-9A34-6AF7-BAF2CCBE20ED}"/>
              </a:ext>
            </a:extLst>
          </p:cNvPr>
          <p:cNvCxnSpPr>
            <a:cxnSpLocks/>
            <a:stCxn id="5" idx="2"/>
            <a:endCxn id="9" idx="0"/>
          </p:cNvCxnSpPr>
          <p:nvPr/>
        </p:nvCxnSpPr>
        <p:spPr>
          <a:xfrm rot="16200000" flipH="1">
            <a:off x="4284857" y="1244068"/>
            <a:ext cx="512550" cy="1665091"/>
          </a:xfrm>
          <a:prstGeom prst="bentConnector3">
            <a:avLst/>
          </a:prstGeom>
          <a:ln w="38100">
            <a:tailEnd type="triangle"/>
          </a:ln>
        </p:spPr>
        <p:style>
          <a:lnRef idx="1">
            <a:schemeClr val="dk1"/>
          </a:lnRef>
          <a:fillRef idx="0">
            <a:schemeClr val="dk1"/>
          </a:fillRef>
          <a:effectRef idx="0">
            <a:schemeClr val="dk1"/>
          </a:effectRef>
          <a:fontRef idx="minor">
            <a:schemeClr val="tx1"/>
          </a:fontRef>
        </p:style>
      </p:cxnSp>
      <p:sp>
        <p:nvSpPr>
          <p:cNvPr id="22" name="Oval 21">
            <a:extLst>
              <a:ext uri="{FF2B5EF4-FFF2-40B4-BE49-F238E27FC236}">
                <a16:creationId xmlns:a16="http://schemas.microsoft.com/office/drawing/2014/main" id="{403F81D9-6053-3124-B369-3A448463AF22}"/>
              </a:ext>
            </a:extLst>
          </p:cNvPr>
          <p:cNvSpPr/>
          <p:nvPr/>
        </p:nvSpPr>
        <p:spPr>
          <a:xfrm>
            <a:off x="7198075" y="2259299"/>
            <a:ext cx="1862817" cy="675315"/>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sz="1200" noProof="0" dirty="0"/>
              <a:t>Stochastic</a:t>
            </a:r>
          </a:p>
        </p:txBody>
      </p:sp>
      <p:sp>
        <p:nvSpPr>
          <p:cNvPr id="23" name="Oval 22">
            <a:extLst>
              <a:ext uri="{FF2B5EF4-FFF2-40B4-BE49-F238E27FC236}">
                <a16:creationId xmlns:a16="http://schemas.microsoft.com/office/drawing/2014/main" id="{E1B63506-FC58-7A16-38B0-189329D6A5AF}"/>
              </a:ext>
            </a:extLst>
          </p:cNvPr>
          <p:cNvSpPr/>
          <p:nvPr/>
        </p:nvSpPr>
        <p:spPr>
          <a:xfrm>
            <a:off x="10068647" y="2264615"/>
            <a:ext cx="1683391" cy="675315"/>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sz="1200" noProof="0" dirty="0"/>
              <a:t>Deterministic</a:t>
            </a:r>
          </a:p>
        </p:txBody>
      </p:sp>
      <p:cxnSp>
        <p:nvCxnSpPr>
          <p:cNvPr id="24" name="Connector: Elbow 23">
            <a:extLst>
              <a:ext uri="{FF2B5EF4-FFF2-40B4-BE49-F238E27FC236}">
                <a16:creationId xmlns:a16="http://schemas.microsoft.com/office/drawing/2014/main" id="{4B2CF631-02DA-D4BB-5CBB-F622AF46727B}"/>
              </a:ext>
            </a:extLst>
          </p:cNvPr>
          <p:cNvCxnSpPr>
            <a:cxnSpLocks/>
            <a:stCxn id="6" idx="2"/>
            <a:endCxn id="22" idx="0"/>
          </p:cNvCxnSpPr>
          <p:nvPr/>
        </p:nvCxnSpPr>
        <p:spPr>
          <a:xfrm rot="5400000">
            <a:off x="8699617" y="1223720"/>
            <a:ext cx="465446" cy="1605712"/>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27" name="Connector: Elbow 26">
            <a:extLst>
              <a:ext uri="{FF2B5EF4-FFF2-40B4-BE49-F238E27FC236}">
                <a16:creationId xmlns:a16="http://schemas.microsoft.com/office/drawing/2014/main" id="{B05449B5-E89E-3122-DE2F-5944B9BDD650}"/>
              </a:ext>
            </a:extLst>
          </p:cNvPr>
          <p:cNvCxnSpPr>
            <a:cxnSpLocks/>
            <a:stCxn id="6" idx="2"/>
            <a:endCxn id="23" idx="0"/>
          </p:cNvCxnSpPr>
          <p:nvPr/>
        </p:nvCxnSpPr>
        <p:spPr>
          <a:xfrm rot="16200000" flipH="1">
            <a:off x="10087388" y="1441660"/>
            <a:ext cx="470762" cy="1175147"/>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34" name="Connector: Elbow 33">
            <a:extLst>
              <a:ext uri="{FF2B5EF4-FFF2-40B4-BE49-F238E27FC236}">
                <a16:creationId xmlns:a16="http://schemas.microsoft.com/office/drawing/2014/main" id="{1C02D418-E4EC-707E-5621-6B35851D2054}"/>
              </a:ext>
            </a:extLst>
          </p:cNvPr>
          <p:cNvCxnSpPr>
            <a:cxnSpLocks/>
            <a:stCxn id="10" idx="4"/>
            <a:endCxn id="11" idx="0"/>
          </p:cNvCxnSpPr>
          <p:nvPr/>
        </p:nvCxnSpPr>
        <p:spPr>
          <a:xfrm rot="5400000">
            <a:off x="419368" y="3471572"/>
            <a:ext cx="880978" cy="943"/>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37" name="Connector: Elbow 36">
            <a:extLst>
              <a:ext uri="{FF2B5EF4-FFF2-40B4-BE49-F238E27FC236}">
                <a16:creationId xmlns:a16="http://schemas.microsoft.com/office/drawing/2014/main" id="{929A78B3-27B9-F694-5FD8-747A413833C1}"/>
              </a:ext>
            </a:extLst>
          </p:cNvPr>
          <p:cNvCxnSpPr>
            <a:cxnSpLocks/>
            <a:stCxn id="7" idx="4"/>
            <a:endCxn id="8" idx="0"/>
          </p:cNvCxnSpPr>
          <p:nvPr/>
        </p:nvCxnSpPr>
        <p:spPr>
          <a:xfrm rot="5400000">
            <a:off x="3575788" y="3315730"/>
            <a:ext cx="593887" cy="2184"/>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Connector: Elbow 37">
            <a:extLst>
              <a:ext uri="{FF2B5EF4-FFF2-40B4-BE49-F238E27FC236}">
                <a16:creationId xmlns:a16="http://schemas.microsoft.com/office/drawing/2014/main" id="{8FBBBBC4-5569-C3BF-E177-BD839EE341CC}"/>
              </a:ext>
            </a:extLst>
          </p:cNvPr>
          <p:cNvCxnSpPr>
            <a:cxnSpLocks/>
            <a:stCxn id="9" idx="4"/>
            <a:endCxn id="12" idx="0"/>
          </p:cNvCxnSpPr>
          <p:nvPr/>
        </p:nvCxnSpPr>
        <p:spPr>
          <a:xfrm rot="5400000">
            <a:off x="5040664" y="3319046"/>
            <a:ext cx="643857" cy="22173"/>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sp>
        <p:nvSpPr>
          <p:cNvPr id="43" name="Rectangle: Rounded Corners 42">
            <a:extLst>
              <a:ext uri="{FF2B5EF4-FFF2-40B4-BE49-F238E27FC236}">
                <a16:creationId xmlns:a16="http://schemas.microsoft.com/office/drawing/2014/main" id="{057D2ED9-D37E-8585-A813-D784A232CC3E}"/>
              </a:ext>
            </a:extLst>
          </p:cNvPr>
          <p:cNvSpPr/>
          <p:nvPr/>
        </p:nvSpPr>
        <p:spPr>
          <a:xfrm>
            <a:off x="6334708" y="3350519"/>
            <a:ext cx="1876731" cy="8058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1200" noProof="0" dirty="0" err="1"/>
              <a:t>RegArima</a:t>
            </a:r>
            <a:endParaRPr lang="en-GB" sz="1200" noProof="0" dirty="0"/>
          </a:p>
          <a:p>
            <a:pPr algn="ctr"/>
            <a:r>
              <a:rPr lang="en-GB" sz="1200" noProof="0" dirty="0"/>
              <a:t>models</a:t>
            </a:r>
          </a:p>
        </p:txBody>
      </p:sp>
      <p:sp>
        <p:nvSpPr>
          <p:cNvPr id="44" name="Rectangle: Rounded Corners 43">
            <a:extLst>
              <a:ext uri="{FF2B5EF4-FFF2-40B4-BE49-F238E27FC236}">
                <a16:creationId xmlns:a16="http://schemas.microsoft.com/office/drawing/2014/main" id="{85FB864E-4D63-674A-79C1-5242F2DF1D5F}"/>
              </a:ext>
            </a:extLst>
          </p:cNvPr>
          <p:cNvSpPr/>
          <p:nvPr/>
        </p:nvSpPr>
        <p:spPr>
          <a:xfrm>
            <a:off x="8269765" y="3350517"/>
            <a:ext cx="1876737" cy="1720814"/>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1200" noProof="0" dirty="0"/>
              <a:t>Structural models</a:t>
            </a:r>
          </a:p>
        </p:txBody>
      </p:sp>
      <p:sp>
        <p:nvSpPr>
          <p:cNvPr id="45" name="Rectangle: Rounded Corners 44">
            <a:extLst>
              <a:ext uri="{FF2B5EF4-FFF2-40B4-BE49-F238E27FC236}">
                <a16:creationId xmlns:a16="http://schemas.microsoft.com/office/drawing/2014/main" id="{2AA8CB6A-5D7E-09C1-4C1E-488B30F4B4A4}"/>
              </a:ext>
            </a:extLst>
          </p:cNvPr>
          <p:cNvSpPr/>
          <p:nvPr/>
        </p:nvSpPr>
        <p:spPr>
          <a:xfrm>
            <a:off x="6334708" y="4421846"/>
            <a:ext cx="1876737" cy="805800"/>
          </a:xfrm>
          <a:prstGeom prst="roundRect">
            <a:avLst/>
          </a:prstGeom>
          <a:solidFill>
            <a:schemeClr val="bg2">
              <a:lumMod val="60000"/>
              <a:lumOff val="40000"/>
            </a:schemeClr>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GB" sz="1200" noProof="0" dirty="0"/>
              <a:t>Canonical decomposition</a:t>
            </a:r>
          </a:p>
        </p:txBody>
      </p:sp>
      <p:sp>
        <p:nvSpPr>
          <p:cNvPr id="46" name="Rectangle: Rounded Corners 45">
            <a:extLst>
              <a:ext uri="{FF2B5EF4-FFF2-40B4-BE49-F238E27FC236}">
                <a16:creationId xmlns:a16="http://schemas.microsoft.com/office/drawing/2014/main" id="{4AB10C8D-AF53-5C0B-A530-F5ECF3213029}"/>
              </a:ext>
            </a:extLst>
          </p:cNvPr>
          <p:cNvSpPr/>
          <p:nvPr/>
        </p:nvSpPr>
        <p:spPr>
          <a:xfrm>
            <a:off x="7915435" y="5542092"/>
            <a:ext cx="1876737" cy="805800"/>
          </a:xfrm>
          <a:prstGeom prst="roundRect">
            <a:avLst/>
          </a:prstGeom>
          <a:solidFill>
            <a:schemeClr val="bg2">
              <a:lumMod val="60000"/>
              <a:lumOff val="40000"/>
            </a:schemeClr>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GB" sz="1200" noProof="0" dirty="0"/>
              <a:t>Kalman filter</a:t>
            </a:r>
          </a:p>
          <a:p>
            <a:pPr algn="ctr"/>
            <a:r>
              <a:rPr lang="en-GB" sz="1200" noProof="0" dirty="0"/>
              <a:t>WK filter</a:t>
            </a:r>
          </a:p>
        </p:txBody>
      </p:sp>
      <p:sp>
        <p:nvSpPr>
          <p:cNvPr id="48" name="Rectangle: Rounded Corners 47">
            <a:extLst>
              <a:ext uri="{FF2B5EF4-FFF2-40B4-BE49-F238E27FC236}">
                <a16:creationId xmlns:a16="http://schemas.microsoft.com/office/drawing/2014/main" id="{617B6B5A-7517-9AFC-A5FE-B0A9F074246F}"/>
              </a:ext>
            </a:extLst>
          </p:cNvPr>
          <p:cNvSpPr/>
          <p:nvPr/>
        </p:nvSpPr>
        <p:spPr>
          <a:xfrm>
            <a:off x="4721411" y="4988587"/>
            <a:ext cx="1262507" cy="675315"/>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a:t>X12-ARIMA</a:t>
            </a:r>
          </a:p>
        </p:txBody>
      </p:sp>
      <p:cxnSp>
        <p:nvCxnSpPr>
          <p:cNvPr id="49" name="Connector: Elbow 48">
            <a:extLst>
              <a:ext uri="{FF2B5EF4-FFF2-40B4-BE49-F238E27FC236}">
                <a16:creationId xmlns:a16="http://schemas.microsoft.com/office/drawing/2014/main" id="{6B7A6D95-E7A9-C8BA-DE54-19054774D362}"/>
              </a:ext>
            </a:extLst>
          </p:cNvPr>
          <p:cNvCxnSpPr>
            <a:cxnSpLocks/>
            <a:stCxn id="22" idx="4"/>
            <a:endCxn id="43" idx="0"/>
          </p:cNvCxnSpPr>
          <p:nvPr/>
        </p:nvCxnSpPr>
        <p:spPr>
          <a:xfrm rot="5400000">
            <a:off x="7493327" y="2714361"/>
            <a:ext cx="415905" cy="856410"/>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59" name="Connector: Elbow 58">
            <a:extLst>
              <a:ext uri="{FF2B5EF4-FFF2-40B4-BE49-F238E27FC236}">
                <a16:creationId xmlns:a16="http://schemas.microsoft.com/office/drawing/2014/main" id="{88BA0C26-19D2-359E-F445-800C4D878971}"/>
              </a:ext>
            </a:extLst>
          </p:cNvPr>
          <p:cNvCxnSpPr>
            <a:cxnSpLocks/>
            <a:stCxn id="22" idx="4"/>
            <a:endCxn id="44" idx="0"/>
          </p:cNvCxnSpPr>
          <p:nvPr/>
        </p:nvCxnSpPr>
        <p:spPr>
          <a:xfrm rot="16200000" flipH="1">
            <a:off x="8460858" y="2603240"/>
            <a:ext cx="415903" cy="1078650"/>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63" name="Connector: Elbow 62">
            <a:extLst>
              <a:ext uri="{FF2B5EF4-FFF2-40B4-BE49-F238E27FC236}">
                <a16:creationId xmlns:a16="http://schemas.microsoft.com/office/drawing/2014/main" id="{0F6258E0-0040-0963-473B-81BC11B89A0F}"/>
              </a:ext>
            </a:extLst>
          </p:cNvPr>
          <p:cNvCxnSpPr>
            <a:cxnSpLocks/>
            <a:stCxn id="43" idx="2"/>
            <a:endCxn id="45" idx="0"/>
          </p:cNvCxnSpPr>
          <p:nvPr/>
        </p:nvCxnSpPr>
        <p:spPr>
          <a:xfrm rot="16200000" flipH="1">
            <a:off x="7140312" y="4289080"/>
            <a:ext cx="265527" cy="3"/>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82" name="Connector: Elbow 81">
            <a:extLst>
              <a:ext uri="{FF2B5EF4-FFF2-40B4-BE49-F238E27FC236}">
                <a16:creationId xmlns:a16="http://schemas.microsoft.com/office/drawing/2014/main" id="{D3978029-6FA4-DB0F-4FDB-0E70AB56CA5F}"/>
              </a:ext>
            </a:extLst>
          </p:cNvPr>
          <p:cNvCxnSpPr>
            <a:cxnSpLocks/>
            <a:stCxn id="12" idx="2"/>
            <a:endCxn id="48" idx="0"/>
          </p:cNvCxnSpPr>
          <p:nvPr/>
        </p:nvCxnSpPr>
        <p:spPr>
          <a:xfrm rot="16200000" flipH="1">
            <a:off x="5021480" y="4657401"/>
            <a:ext cx="661211" cy="1160"/>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94" name="Straight Arrow Connector 93">
            <a:extLst>
              <a:ext uri="{FF2B5EF4-FFF2-40B4-BE49-F238E27FC236}">
                <a16:creationId xmlns:a16="http://schemas.microsoft.com/office/drawing/2014/main" id="{5EB5E6E9-078E-E4E2-4A30-0332CC2A1346}"/>
              </a:ext>
            </a:extLst>
          </p:cNvPr>
          <p:cNvCxnSpPr>
            <a:cxnSpLocks/>
            <a:stCxn id="44" idx="2"/>
            <a:endCxn id="46" idx="0"/>
          </p:cNvCxnSpPr>
          <p:nvPr/>
        </p:nvCxnSpPr>
        <p:spPr>
          <a:xfrm flipH="1">
            <a:off x="8853804" y="5071331"/>
            <a:ext cx="354330" cy="47076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a:extLst>
              <a:ext uri="{FF2B5EF4-FFF2-40B4-BE49-F238E27FC236}">
                <a16:creationId xmlns:a16="http://schemas.microsoft.com/office/drawing/2014/main" id="{FC6515B7-B558-AF8A-5DED-B1EDF761B21A}"/>
              </a:ext>
            </a:extLst>
          </p:cNvPr>
          <p:cNvCxnSpPr>
            <a:cxnSpLocks/>
            <a:stCxn id="43" idx="1"/>
            <a:endCxn id="48" idx="0"/>
          </p:cNvCxnSpPr>
          <p:nvPr/>
        </p:nvCxnSpPr>
        <p:spPr>
          <a:xfrm flipH="1">
            <a:off x="5352665" y="3753419"/>
            <a:ext cx="982043" cy="123516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32" name="Rectangle: Rounded Corners 31">
            <a:extLst>
              <a:ext uri="{FF2B5EF4-FFF2-40B4-BE49-F238E27FC236}">
                <a16:creationId xmlns:a16="http://schemas.microsoft.com/office/drawing/2014/main" id="{AF9A53A0-D0FD-0B9C-F686-CFFDCA9456B5}"/>
              </a:ext>
            </a:extLst>
          </p:cNvPr>
          <p:cNvSpPr/>
          <p:nvPr/>
        </p:nvSpPr>
        <p:spPr>
          <a:xfrm>
            <a:off x="5867385" y="5705273"/>
            <a:ext cx="1556070" cy="675315"/>
          </a:xfrm>
          <a:prstGeom prst="roundRect">
            <a:avLst/>
          </a:prstGeom>
          <a:solidFill>
            <a:schemeClr val="bg1">
              <a:lumMod val="9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200" noProof="0" dirty="0">
                <a:solidFill>
                  <a:schemeClr val="tx1"/>
                </a:solidFill>
              </a:rPr>
              <a:t>Tramo-Seats</a:t>
            </a:r>
          </a:p>
        </p:txBody>
      </p:sp>
      <p:sp>
        <p:nvSpPr>
          <p:cNvPr id="33" name="Rectangle: Rounded Corners 32">
            <a:extLst>
              <a:ext uri="{FF2B5EF4-FFF2-40B4-BE49-F238E27FC236}">
                <a16:creationId xmlns:a16="http://schemas.microsoft.com/office/drawing/2014/main" id="{1CCD8620-804B-2722-8B58-F9DE927F1A16}"/>
              </a:ext>
            </a:extLst>
          </p:cNvPr>
          <p:cNvSpPr/>
          <p:nvPr/>
        </p:nvSpPr>
        <p:spPr>
          <a:xfrm>
            <a:off x="10181665" y="5035573"/>
            <a:ext cx="1191234" cy="838496"/>
          </a:xfrm>
          <a:prstGeom prst="round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1200" noProof="0" dirty="0"/>
              <a:t>Stamp, </a:t>
            </a:r>
          </a:p>
          <a:p>
            <a:pPr algn="ctr"/>
            <a:r>
              <a:rPr lang="en-GB" sz="1200" noProof="0" dirty="0" err="1"/>
              <a:t>RegCmp</a:t>
            </a:r>
            <a:r>
              <a:rPr lang="en-GB" sz="1200" noProof="0" dirty="0"/>
              <a:t>,</a:t>
            </a:r>
          </a:p>
          <a:p>
            <a:pPr algn="ctr"/>
            <a:r>
              <a:rPr lang="en-GB" sz="1200" noProof="0" dirty="0"/>
              <a:t>(T)Bats,</a:t>
            </a:r>
          </a:p>
          <a:p>
            <a:pPr algn="ctr"/>
            <a:r>
              <a:rPr lang="en-GB" sz="1200" noProof="0" dirty="0"/>
              <a:t>…</a:t>
            </a:r>
          </a:p>
        </p:txBody>
      </p:sp>
      <p:cxnSp>
        <p:nvCxnSpPr>
          <p:cNvPr id="35" name="Straight Arrow Connector 34">
            <a:extLst>
              <a:ext uri="{FF2B5EF4-FFF2-40B4-BE49-F238E27FC236}">
                <a16:creationId xmlns:a16="http://schemas.microsoft.com/office/drawing/2014/main" id="{B1A15F3F-F2C9-4567-836C-3B1B4B2DCF90}"/>
              </a:ext>
            </a:extLst>
          </p:cNvPr>
          <p:cNvCxnSpPr>
            <a:cxnSpLocks/>
            <a:stCxn id="45" idx="2"/>
            <a:endCxn id="32" idx="0"/>
          </p:cNvCxnSpPr>
          <p:nvPr/>
        </p:nvCxnSpPr>
        <p:spPr>
          <a:xfrm flipH="1">
            <a:off x="6645420" y="5227646"/>
            <a:ext cx="627657" cy="47762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B547BE94-A0B4-8831-426F-47099ECF21DC}"/>
              </a:ext>
            </a:extLst>
          </p:cNvPr>
          <p:cNvCxnSpPr>
            <a:cxnSpLocks/>
            <a:stCxn id="44" idx="3"/>
            <a:endCxn id="33" idx="0"/>
          </p:cNvCxnSpPr>
          <p:nvPr/>
        </p:nvCxnSpPr>
        <p:spPr>
          <a:xfrm>
            <a:off x="10146502" y="4210924"/>
            <a:ext cx="630780" cy="82464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FB5D554B-5590-169F-C0E7-73A83E8EE54B}"/>
              </a:ext>
            </a:extLst>
          </p:cNvPr>
          <p:cNvCxnSpPr>
            <a:cxnSpLocks/>
            <a:stCxn id="45" idx="2"/>
            <a:endCxn id="46" idx="0"/>
          </p:cNvCxnSpPr>
          <p:nvPr/>
        </p:nvCxnSpPr>
        <p:spPr>
          <a:xfrm>
            <a:off x="7273077" y="5227646"/>
            <a:ext cx="1580727" cy="31444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C5DC8888-E750-8788-F30B-F72F9CF6EC49}"/>
              </a:ext>
            </a:extLst>
          </p:cNvPr>
          <p:cNvCxnSpPr>
            <a:cxnSpLocks/>
            <a:stCxn id="46" idx="1"/>
            <a:endCxn id="32" idx="3"/>
          </p:cNvCxnSpPr>
          <p:nvPr/>
        </p:nvCxnSpPr>
        <p:spPr>
          <a:xfrm flipH="1">
            <a:off x="7423455" y="5944992"/>
            <a:ext cx="491980" cy="97939"/>
          </a:xfrm>
          <a:prstGeom prst="straightConnector1">
            <a:avLst/>
          </a:prstGeom>
          <a:ln w="28575">
            <a:prstDash val="dash"/>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1AAA2789-707F-5271-3D8F-22AF34D83717}"/>
              </a:ext>
            </a:extLst>
          </p:cNvPr>
          <p:cNvCxnSpPr>
            <a:cxnSpLocks/>
            <a:stCxn id="46" idx="3"/>
            <a:endCxn id="33" idx="1"/>
          </p:cNvCxnSpPr>
          <p:nvPr/>
        </p:nvCxnSpPr>
        <p:spPr>
          <a:xfrm flipV="1">
            <a:off x="9792172" y="5454821"/>
            <a:ext cx="389493" cy="490171"/>
          </a:xfrm>
          <a:prstGeom prst="straightConnector1">
            <a:avLst/>
          </a:prstGeom>
          <a:ln w="28575">
            <a:prstDash val="dash"/>
            <a:tailEnd type="triangle"/>
          </a:ln>
        </p:spPr>
        <p:style>
          <a:lnRef idx="1">
            <a:schemeClr val="dk1"/>
          </a:lnRef>
          <a:fillRef idx="0">
            <a:schemeClr val="dk1"/>
          </a:fillRef>
          <a:effectRef idx="0">
            <a:schemeClr val="dk1"/>
          </a:effectRef>
          <a:fontRef idx="minor">
            <a:schemeClr val="tx1"/>
          </a:fontRef>
        </p:style>
      </p:cxnSp>
      <p:sp>
        <p:nvSpPr>
          <p:cNvPr id="61" name="Oval 9">
            <a:extLst>
              <a:ext uri="{FF2B5EF4-FFF2-40B4-BE49-F238E27FC236}">
                <a16:creationId xmlns:a16="http://schemas.microsoft.com/office/drawing/2014/main" id="{92F80EEB-9681-9039-4EAB-C6F5F7AE8D56}"/>
              </a:ext>
            </a:extLst>
          </p:cNvPr>
          <p:cNvSpPr/>
          <p:nvPr/>
        </p:nvSpPr>
        <p:spPr>
          <a:xfrm>
            <a:off x="1705408" y="2336016"/>
            <a:ext cx="1423693" cy="675315"/>
          </a:xfrm>
          <a:prstGeom prst="ellipse">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GB" noProof="0" dirty="0"/>
              <a:t>Others</a:t>
            </a:r>
          </a:p>
        </p:txBody>
      </p:sp>
      <p:sp>
        <p:nvSpPr>
          <p:cNvPr id="62" name="Rectangle: Rounded Corners 10">
            <a:extLst>
              <a:ext uri="{FF2B5EF4-FFF2-40B4-BE49-F238E27FC236}">
                <a16:creationId xmlns:a16="http://schemas.microsoft.com/office/drawing/2014/main" id="{0F380FED-ADA5-23A1-E050-FE8B042CFAF5}"/>
              </a:ext>
            </a:extLst>
          </p:cNvPr>
          <p:cNvSpPr/>
          <p:nvPr/>
        </p:nvSpPr>
        <p:spPr>
          <a:xfrm>
            <a:off x="1719874" y="3626176"/>
            <a:ext cx="1407686" cy="6753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noProof="0" dirty="0" err="1"/>
              <a:t>Camplet</a:t>
            </a:r>
            <a:endParaRPr lang="en-GB" sz="1200" noProof="0" dirty="0"/>
          </a:p>
        </p:txBody>
      </p:sp>
      <p:cxnSp>
        <p:nvCxnSpPr>
          <p:cNvPr id="64" name="Connector: Elbow 33">
            <a:extLst>
              <a:ext uri="{FF2B5EF4-FFF2-40B4-BE49-F238E27FC236}">
                <a16:creationId xmlns:a16="http://schemas.microsoft.com/office/drawing/2014/main" id="{F1C0C6D3-0D45-C08C-D67A-EED55880935A}"/>
              </a:ext>
            </a:extLst>
          </p:cNvPr>
          <p:cNvCxnSpPr>
            <a:cxnSpLocks/>
            <a:stCxn id="61" idx="4"/>
            <a:endCxn id="62" idx="0"/>
          </p:cNvCxnSpPr>
          <p:nvPr/>
        </p:nvCxnSpPr>
        <p:spPr>
          <a:xfrm rot="16200000" flipH="1">
            <a:off x="2113064" y="3315522"/>
            <a:ext cx="614845" cy="6462"/>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cxnSp>
        <p:nvCxnSpPr>
          <p:cNvPr id="65" name="Connector: Elbow 15">
            <a:extLst>
              <a:ext uri="{FF2B5EF4-FFF2-40B4-BE49-F238E27FC236}">
                <a16:creationId xmlns:a16="http://schemas.microsoft.com/office/drawing/2014/main" id="{3593054B-80A4-DE71-DCDB-6E6F6E2565DA}"/>
              </a:ext>
            </a:extLst>
          </p:cNvPr>
          <p:cNvCxnSpPr>
            <a:cxnSpLocks/>
            <a:stCxn id="5" idx="2"/>
            <a:endCxn id="61" idx="0"/>
          </p:cNvCxnSpPr>
          <p:nvPr/>
        </p:nvCxnSpPr>
        <p:spPr>
          <a:xfrm rot="5400000">
            <a:off x="2805083" y="1432511"/>
            <a:ext cx="515677" cy="1291332"/>
          </a:xfrm>
          <a:prstGeom prst="bentConnector3">
            <a:avLst>
              <a:gd name="adj1" fmla="val 50000"/>
            </a:avLst>
          </a:prstGeom>
          <a:ln w="38100">
            <a:tailEnd type="triangle"/>
          </a:ln>
        </p:spPr>
        <p:style>
          <a:lnRef idx="1">
            <a:schemeClr val="dk1"/>
          </a:lnRef>
          <a:fillRef idx="0">
            <a:schemeClr val="dk1"/>
          </a:fillRef>
          <a:effectRef idx="0">
            <a:schemeClr val="dk1"/>
          </a:effectRef>
          <a:fontRef idx="minor">
            <a:schemeClr val="tx1"/>
          </a:fontRef>
        </p:style>
      </p:cxnSp>
      <p:sp>
        <p:nvSpPr>
          <p:cNvPr id="73" name="Rectangle: Rounded Corners 32">
            <a:extLst>
              <a:ext uri="{FF2B5EF4-FFF2-40B4-BE49-F238E27FC236}">
                <a16:creationId xmlns:a16="http://schemas.microsoft.com/office/drawing/2014/main" id="{AAB76597-203D-8484-8791-502108818BC6}"/>
              </a:ext>
            </a:extLst>
          </p:cNvPr>
          <p:cNvSpPr/>
          <p:nvPr/>
        </p:nvSpPr>
        <p:spPr>
          <a:xfrm>
            <a:off x="10778073" y="3286222"/>
            <a:ext cx="1191234" cy="838496"/>
          </a:xfrm>
          <a:prstGeom prst="round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rtlCol="0" anchor="ctr"/>
          <a:lstStyle/>
          <a:p>
            <a:pPr algn="ctr"/>
            <a:r>
              <a:rPr lang="en-GB" sz="1200" noProof="0" dirty="0"/>
              <a:t>BV4</a:t>
            </a:r>
          </a:p>
          <a:p>
            <a:pPr algn="ctr"/>
            <a:r>
              <a:rPr lang="en-GB" sz="1200" noProof="0" dirty="0"/>
              <a:t>…</a:t>
            </a:r>
          </a:p>
        </p:txBody>
      </p:sp>
      <p:sp>
        <p:nvSpPr>
          <p:cNvPr id="4" name="Rectangle: Rounded Corners 31">
            <a:extLst>
              <a:ext uri="{FF2B5EF4-FFF2-40B4-BE49-F238E27FC236}">
                <a16:creationId xmlns:a16="http://schemas.microsoft.com/office/drawing/2014/main" id="{65264BB2-9F17-ED64-D851-21D802178116}"/>
              </a:ext>
            </a:extLst>
          </p:cNvPr>
          <p:cNvSpPr/>
          <p:nvPr/>
        </p:nvSpPr>
        <p:spPr>
          <a:xfrm>
            <a:off x="1467685" y="3099724"/>
            <a:ext cx="9497388" cy="3331954"/>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GB" sz="2800" noProof="0" dirty="0">
                <a:solidFill>
                  <a:srgbClr val="FF0000"/>
                </a:solidFill>
              </a:rPr>
              <a:t>JD+ 3.x</a:t>
            </a:r>
          </a:p>
        </p:txBody>
      </p:sp>
      <p:cxnSp>
        <p:nvCxnSpPr>
          <p:cNvPr id="29" name="Straight Arrow Connector 38">
            <a:extLst>
              <a:ext uri="{FF2B5EF4-FFF2-40B4-BE49-F238E27FC236}">
                <a16:creationId xmlns:a16="http://schemas.microsoft.com/office/drawing/2014/main" id="{7C1F8514-6C31-F175-F13E-E8D541D0D5DC}"/>
              </a:ext>
            </a:extLst>
          </p:cNvPr>
          <p:cNvCxnSpPr>
            <a:cxnSpLocks/>
            <a:stCxn id="23" idx="4"/>
            <a:endCxn id="73" idx="0"/>
          </p:cNvCxnSpPr>
          <p:nvPr/>
        </p:nvCxnSpPr>
        <p:spPr>
          <a:xfrm>
            <a:off x="10910343" y="2939930"/>
            <a:ext cx="463347" cy="34629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08379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9C1BE-4E26-39A0-A63E-4A8CE5A7E46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3F7A753-271B-DC3D-AFB7-AB174FBF20B2}"/>
              </a:ext>
            </a:extLst>
          </p:cNvPr>
          <p:cNvSpPr>
            <a:spLocks noGrp="1"/>
          </p:cNvSpPr>
          <p:nvPr>
            <p:ph type="title"/>
          </p:nvPr>
        </p:nvSpPr>
        <p:spPr/>
        <p:txBody>
          <a:bodyPr/>
          <a:lstStyle/>
          <a:p>
            <a:r>
              <a:rPr lang="en-GB" noProof="0" dirty="0"/>
              <a:t>4.1.1 Some examples</a:t>
            </a:r>
          </a:p>
        </p:txBody>
      </p:sp>
      <p:sp>
        <p:nvSpPr>
          <p:cNvPr id="3" name="Espace réservé du numéro de diapositive 2">
            <a:extLst>
              <a:ext uri="{FF2B5EF4-FFF2-40B4-BE49-F238E27FC236}">
                <a16:creationId xmlns:a16="http://schemas.microsoft.com/office/drawing/2014/main" id="{698E0F6F-73DA-F35B-E426-26D064B702AA}"/>
              </a:ext>
            </a:extLst>
          </p:cNvPr>
          <p:cNvSpPr>
            <a:spLocks noGrp="1"/>
          </p:cNvSpPr>
          <p:nvPr>
            <p:ph type="sldNum" idx="12"/>
          </p:nvPr>
        </p:nvSpPr>
        <p:spPr/>
        <p:txBody>
          <a:bodyPr/>
          <a:lstStyle/>
          <a:p>
            <a:fld id="{1E1EA8E3-33CC-465E-BBDB-C5F5B41B1D80}" type="slidenum">
              <a:rPr lang="en-GB" smtClean="0"/>
              <a:t>11</a:t>
            </a:fld>
            <a:endParaRPr lang="en-GB"/>
          </a:p>
        </p:txBody>
      </p:sp>
      <p:sp>
        <p:nvSpPr>
          <p:cNvPr id="4" name="Espace réservé du pied de page 3">
            <a:extLst>
              <a:ext uri="{FF2B5EF4-FFF2-40B4-BE49-F238E27FC236}">
                <a16:creationId xmlns:a16="http://schemas.microsoft.com/office/drawing/2014/main" id="{F4C92877-F48F-11E3-D6A7-B291B020D873}"/>
              </a:ext>
            </a:extLst>
          </p:cNvPr>
          <p:cNvSpPr>
            <a:spLocks noGrp="1"/>
          </p:cNvSpPr>
          <p:nvPr>
            <p:ph type="ftr" sz="quarter" idx="4294967295"/>
          </p:nvPr>
        </p:nvSpPr>
        <p:spPr>
          <a:xfrm>
            <a:off x="0" y="0"/>
            <a:ext cx="0" cy="0"/>
          </a:xfrm>
        </p:spPr>
        <p:txBody>
          <a:bodyPr/>
          <a:lstStyle/>
          <a:p>
            <a:r>
              <a:rPr lang="en-GB" noProof="0" dirty="0"/>
              <a:t>ESTP Training. Seasonal adjustment</a:t>
            </a:r>
          </a:p>
        </p:txBody>
      </p:sp>
      <p:graphicFrame>
        <p:nvGraphicFramePr>
          <p:cNvPr id="5" name="Graphique 4">
            <a:extLst>
              <a:ext uri="{FF2B5EF4-FFF2-40B4-BE49-F238E27FC236}">
                <a16:creationId xmlns:a16="http://schemas.microsoft.com/office/drawing/2014/main" id="{4E80BF13-7F96-7057-1D85-FE0A1F6120D6}"/>
              </a:ext>
            </a:extLst>
          </p:cNvPr>
          <p:cNvGraphicFramePr>
            <a:graphicFrameLocks/>
          </p:cNvGraphicFramePr>
          <p:nvPr>
            <p:extLst>
              <p:ext uri="{D42A27DB-BD31-4B8C-83A1-F6EECF244321}">
                <p14:modId xmlns:p14="http://schemas.microsoft.com/office/powerpoint/2010/main" val="3007774434"/>
              </p:ext>
            </p:extLst>
          </p:nvPr>
        </p:nvGraphicFramePr>
        <p:xfrm>
          <a:off x="1077048" y="1224710"/>
          <a:ext cx="10534649" cy="52197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42668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EDDE9-C819-D641-7AA9-6EB473363C4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D7FFA32-2482-1D30-2E78-3D8C44F3690A}"/>
              </a:ext>
            </a:extLst>
          </p:cNvPr>
          <p:cNvSpPr>
            <a:spLocks noGrp="1"/>
          </p:cNvSpPr>
          <p:nvPr>
            <p:ph type="title"/>
          </p:nvPr>
        </p:nvSpPr>
        <p:spPr/>
        <p:txBody>
          <a:bodyPr/>
          <a:lstStyle/>
          <a:p>
            <a:r>
              <a:rPr lang="en-GB" noProof="0" dirty="0"/>
              <a:t>4.1.2 Some examples</a:t>
            </a:r>
          </a:p>
        </p:txBody>
      </p:sp>
      <p:sp>
        <p:nvSpPr>
          <p:cNvPr id="3" name="Espace réservé du numéro de diapositive 2">
            <a:extLst>
              <a:ext uri="{FF2B5EF4-FFF2-40B4-BE49-F238E27FC236}">
                <a16:creationId xmlns:a16="http://schemas.microsoft.com/office/drawing/2014/main" id="{86D09FDB-91AD-8015-4D34-976DBFF95598}"/>
              </a:ext>
            </a:extLst>
          </p:cNvPr>
          <p:cNvSpPr>
            <a:spLocks noGrp="1"/>
          </p:cNvSpPr>
          <p:nvPr>
            <p:ph type="sldNum" idx="12"/>
          </p:nvPr>
        </p:nvSpPr>
        <p:spPr/>
        <p:txBody>
          <a:bodyPr/>
          <a:lstStyle/>
          <a:p>
            <a:fld id="{1E1EA8E3-33CC-465E-BBDB-C5F5B41B1D80}" type="slidenum">
              <a:rPr lang="en-GB" smtClean="0"/>
              <a:t>12</a:t>
            </a:fld>
            <a:endParaRPr lang="en-GB"/>
          </a:p>
        </p:txBody>
      </p:sp>
      <p:sp>
        <p:nvSpPr>
          <p:cNvPr id="4" name="Espace réservé du pied de page 3">
            <a:extLst>
              <a:ext uri="{FF2B5EF4-FFF2-40B4-BE49-F238E27FC236}">
                <a16:creationId xmlns:a16="http://schemas.microsoft.com/office/drawing/2014/main" id="{9CA002B5-4471-8187-D3FE-FAC818BD851C}"/>
              </a:ext>
            </a:extLst>
          </p:cNvPr>
          <p:cNvSpPr>
            <a:spLocks noGrp="1"/>
          </p:cNvSpPr>
          <p:nvPr>
            <p:ph type="ftr" sz="quarter" idx="4294967295"/>
          </p:nvPr>
        </p:nvSpPr>
        <p:spPr>
          <a:xfrm>
            <a:off x="0" y="0"/>
            <a:ext cx="0" cy="0"/>
          </a:xfrm>
        </p:spPr>
        <p:txBody>
          <a:bodyPr/>
          <a:lstStyle/>
          <a:p>
            <a:r>
              <a:rPr lang="en-GB" noProof="0" dirty="0"/>
              <a:t>ESTP Training. Seasonal adjustment</a:t>
            </a:r>
          </a:p>
        </p:txBody>
      </p:sp>
      <p:graphicFrame>
        <p:nvGraphicFramePr>
          <p:cNvPr id="5" name="Graphique 4">
            <a:extLst>
              <a:ext uri="{FF2B5EF4-FFF2-40B4-BE49-F238E27FC236}">
                <a16:creationId xmlns:a16="http://schemas.microsoft.com/office/drawing/2014/main" id="{87E5FEB4-2ADD-F6DC-9790-DC49FABFAF11}"/>
              </a:ext>
            </a:extLst>
          </p:cNvPr>
          <p:cNvGraphicFramePr>
            <a:graphicFrameLocks/>
          </p:cNvGraphicFramePr>
          <p:nvPr>
            <p:extLst>
              <p:ext uri="{D42A27DB-BD31-4B8C-83A1-F6EECF244321}">
                <p14:modId xmlns:p14="http://schemas.microsoft.com/office/powerpoint/2010/main" val="1852347903"/>
              </p:ext>
            </p:extLst>
          </p:nvPr>
        </p:nvGraphicFramePr>
        <p:xfrm>
          <a:off x="1077048" y="1224710"/>
          <a:ext cx="10534649" cy="52197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20402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816A13-D6CA-7371-3EA2-5F53E7818C39}"/>
              </a:ext>
            </a:extLst>
          </p:cNvPr>
          <p:cNvSpPr>
            <a:spLocks noGrp="1"/>
          </p:cNvSpPr>
          <p:nvPr>
            <p:ph type="title"/>
          </p:nvPr>
        </p:nvSpPr>
        <p:spPr/>
        <p:txBody>
          <a:bodyPr/>
          <a:lstStyle/>
          <a:p>
            <a:r>
              <a:rPr lang="en-GB" noProof="0" dirty="0"/>
              <a:t>4.2.1 Some examples. Diagnostics</a:t>
            </a:r>
          </a:p>
        </p:txBody>
      </p:sp>
      <p:sp>
        <p:nvSpPr>
          <p:cNvPr id="6" name="Espace réservé du numéro de diapositive 5">
            <a:extLst>
              <a:ext uri="{FF2B5EF4-FFF2-40B4-BE49-F238E27FC236}">
                <a16:creationId xmlns:a16="http://schemas.microsoft.com/office/drawing/2014/main" id="{EC0D09F5-83EB-D066-D7EA-A65AEDDC9507}"/>
              </a:ext>
            </a:extLst>
          </p:cNvPr>
          <p:cNvSpPr>
            <a:spLocks noGrp="1"/>
          </p:cNvSpPr>
          <p:nvPr>
            <p:ph type="sldNum" idx="12"/>
          </p:nvPr>
        </p:nvSpPr>
        <p:spPr/>
        <p:txBody>
          <a:bodyPr/>
          <a:lstStyle/>
          <a:p>
            <a:fld id="{1E1EA8E3-33CC-465E-BBDB-C5F5B41B1D80}" type="slidenum">
              <a:rPr lang="en-GB" smtClean="0"/>
              <a:t>13</a:t>
            </a:fld>
            <a:endParaRPr lang="en-GB"/>
          </a:p>
        </p:txBody>
      </p:sp>
      <p:sp>
        <p:nvSpPr>
          <p:cNvPr id="3" name="Espace réservé du contenu 2">
            <a:extLst>
              <a:ext uri="{FF2B5EF4-FFF2-40B4-BE49-F238E27FC236}">
                <a16:creationId xmlns:a16="http://schemas.microsoft.com/office/drawing/2014/main" id="{343EC9A5-808E-D190-BA73-5966C7D25348}"/>
              </a:ext>
            </a:extLst>
          </p:cNvPr>
          <p:cNvSpPr>
            <a:spLocks noGrp="1"/>
          </p:cNvSpPr>
          <p:nvPr>
            <p:ph sz="half" idx="2"/>
          </p:nvPr>
        </p:nvSpPr>
        <p:spPr/>
        <p:txBody>
          <a:bodyPr/>
          <a:lstStyle/>
          <a:p>
            <a:r>
              <a:rPr lang="en-GB" noProof="0" dirty="0"/>
              <a:t>US Retail: Automobile dealers (monthly)</a:t>
            </a:r>
          </a:p>
        </p:txBody>
      </p:sp>
      <p:sp>
        <p:nvSpPr>
          <p:cNvPr id="4" name="Espace réservé du pied de page 3">
            <a:extLst>
              <a:ext uri="{FF2B5EF4-FFF2-40B4-BE49-F238E27FC236}">
                <a16:creationId xmlns:a16="http://schemas.microsoft.com/office/drawing/2014/main" id="{FA365CB2-9EBD-96C2-58D8-B8FA6AA53D43}"/>
              </a:ext>
            </a:extLst>
          </p:cNvPr>
          <p:cNvSpPr>
            <a:spLocks noGrp="1"/>
          </p:cNvSpPr>
          <p:nvPr>
            <p:ph type="ftr" sz="quarter" idx="4294967295"/>
          </p:nvPr>
        </p:nvSpPr>
        <p:spPr>
          <a:xfrm>
            <a:off x="0" y="0"/>
            <a:ext cx="0" cy="0"/>
          </a:xfrm>
        </p:spPr>
        <p:txBody>
          <a:bodyPr/>
          <a:lstStyle/>
          <a:p>
            <a:r>
              <a:rPr lang="en-GB" noProof="0" dirty="0"/>
              <a:t>ESTP Training. Seasonal adjustment</a:t>
            </a:r>
          </a:p>
        </p:txBody>
      </p:sp>
      <p:graphicFrame>
        <p:nvGraphicFramePr>
          <p:cNvPr id="5" name="Tableau 4">
            <a:extLst>
              <a:ext uri="{FF2B5EF4-FFF2-40B4-BE49-F238E27FC236}">
                <a16:creationId xmlns:a16="http://schemas.microsoft.com/office/drawing/2014/main" id="{E4962BE3-B6C5-E1BE-F307-BE2F1EACB269}"/>
              </a:ext>
            </a:extLst>
          </p:cNvPr>
          <p:cNvGraphicFramePr>
            <a:graphicFrameLocks noGrp="1"/>
          </p:cNvGraphicFramePr>
          <p:nvPr>
            <p:extLst>
              <p:ext uri="{D42A27DB-BD31-4B8C-83A1-F6EECF244321}">
                <p14:modId xmlns:p14="http://schemas.microsoft.com/office/powerpoint/2010/main" val="3019922543"/>
              </p:ext>
            </p:extLst>
          </p:nvPr>
        </p:nvGraphicFramePr>
        <p:xfrm>
          <a:off x="1594884" y="2518885"/>
          <a:ext cx="9229061" cy="3440565"/>
        </p:xfrm>
        <a:graphic>
          <a:graphicData uri="http://schemas.openxmlformats.org/drawingml/2006/table">
            <a:tbl>
              <a:tblPr/>
              <a:tblGrid>
                <a:gridCol w="2248921">
                  <a:extLst>
                    <a:ext uri="{9D8B030D-6E8A-4147-A177-3AD203B41FA5}">
                      <a16:colId xmlns:a16="http://schemas.microsoft.com/office/drawing/2014/main" val="1795173521"/>
                    </a:ext>
                  </a:extLst>
                </a:gridCol>
                <a:gridCol w="1272974">
                  <a:extLst>
                    <a:ext uri="{9D8B030D-6E8A-4147-A177-3AD203B41FA5}">
                      <a16:colId xmlns:a16="http://schemas.microsoft.com/office/drawing/2014/main" val="2595132730"/>
                    </a:ext>
                  </a:extLst>
                </a:gridCol>
                <a:gridCol w="1272974">
                  <a:extLst>
                    <a:ext uri="{9D8B030D-6E8A-4147-A177-3AD203B41FA5}">
                      <a16:colId xmlns:a16="http://schemas.microsoft.com/office/drawing/2014/main" val="1217959854"/>
                    </a:ext>
                  </a:extLst>
                </a:gridCol>
                <a:gridCol w="1272974">
                  <a:extLst>
                    <a:ext uri="{9D8B030D-6E8A-4147-A177-3AD203B41FA5}">
                      <a16:colId xmlns:a16="http://schemas.microsoft.com/office/drawing/2014/main" val="3511941722"/>
                    </a:ext>
                  </a:extLst>
                </a:gridCol>
                <a:gridCol w="1272974">
                  <a:extLst>
                    <a:ext uri="{9D8B030D-6E8A-4147-A177-3AD203B41FA5}">
                      <a16:colId xmlns:a16="http://schemas.microsoft.com/office/drawing/2014/main" val="4054035167"/>
                    </a:ext>
                  </a:extLst>
                </a:gridCol>
                <a:gridCol w="1888244">
                  <a:extLst>
                    <a:ext uri="{9D8B030D-6E8A-4147-A177-3AD203B41FA5}">
                      <a16:colId xmlns:a16="http://schemas.microsoft.com/office/drawing/2014/main" val="1006017587"/>
                    </a:ext>
                  </a:extLst>
                </a:gridCol>
              </a:tblGrid>
              <a:tr h="290270">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gridSpan="4">
                  <a:txBody>
                    <a:bodyPr/>
                    <a:lstStyle/>
                    <a:p>
                      <a:pPr algn="l" fontAlgn="b">
                        <a:buNone/>
                      </a:pPr>
                      <a:r>
                        <a:rPr lang="en-GB" sz="1600" b="0" i="0" u="none" strike="noStrike" noProof="0" dirty="0">
                          <a:solidFill>
                            <a:srgbClr val="000000"/>
                          </a:solidFill>
                          <a:effectLst/>
                          <a:latin typeface="Aptos Narrow" panose="020B0004020202020204" pitchFamily="34" charset="0"/>
                        </a:rPr>
                        <a:t>Seasonality tests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a:p>
                  </a:txBody>
                  <a:tcPr marL="4763" marR="4763" marT="4763"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a:p>
                  </a:txBody>
                  <a:tcPr marL="4763" marR="4763" marT="4763"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dirty="0"/>
                    </a:p>
                  </a:txBody>
                  <a:tcPr marL="4763" marR="4763" marT="4763"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Trading days tests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0401813"/>
                  </a:ext>
                </a:extLst>
              </a:tr>
              <a:tr h="290270">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F</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F(last)</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QS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Kruskal-Wallis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7795131"/>
                  </a:ext>
                </a:extLst>
              </a:tr>
              <a:tr h="290270">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209095874"/>
                  </a:ext>
                </a:extLst>
              </a:tr>
              <a:tr h="290270">
                <a:tc>
                  <a:txBody>
                    <a:bodyPr/>
                    <a:lstStyle/>
                    <a:p>
                      <a:pPr algn="l" fontAlgn="b">
                        <a:buNone/>
                      </a:pPr>
                      <a:r>
                        <a:rPr lang="en-GB" sz="1600" b="0" i="0" u="none" strike="noStrike" noProof="0" dirty="0" err="1">
                          <a:solidFill>
                            <a:srgbClr val="000000"/>
                          </a:solidFill>
                          <a:effectLst/>
                          <a:latin typeface="Aptos Narrow" panose="020B0004020202020204" pitchFamily="34" charset="0"/>
                        </a:rPr>
                        <a:t>Camplet</a:t>
                      </a:r>
                      <a:endParaRPr lang="en-GB" sz="1600" b="0" i="0" u="none" strike="noStrike" noProof="0" dirty="0">
                        <a:solidFill>
                          <a:srgbClr val="000000"/>
                        </a:solidFill>
                        <a:effectLst/>
                        <a:latin typeface="Aptos Narrow" panose="020B0004020202020204" pitchFamily="34" charset="0"/>
                      </a:endParaRP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0.89</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0.89</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87204294"/>
                  </a:ext>
                </a:extLst>
              </a:tr>
              <a:tr h="290270">
                <a:tc>
                  <a:txBody>
                    <a:bodyPr/>
                    <a:lstStyle/>
                    <a:p>
                      <a:pPr algn="l" fontAlgn="b">
                        <a:buNone/>
                      </a:pPr>
                      <a:r>
                        <a:rPr lang="en-GB" sz="1600" b="0" i="0" u="none" strike="noStrike" noProof="0" dirty="0">
                          <a:solidFill>
                            <a:srgbClr val="000000"/>
                          </a:solidFill>
                          <a:effectLst/>
                          <a:latin typeface="Aptos Narrow" panose="020B0004020202020204" pitchFamily="34" charset="0"/>
                        </a:rPr>
                        <a:t>Prophet</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182312990"/>
                  </a:ext>
                </a:extLst>
              </a:tr>
              <a:tr h="290270">
                <a:tc>
                  <a:txBody>
                    <a:bodyPr/>
                    <a:lstStyle/>
                    <a:p>
                      <a:pPr algn="l" fontAlgn="b">
                        <a:buNone/>
                      </a:pPr>
                      <a:r>
                        <a:rPr lang="en-GB" sz="1600" b="0" i="0" u="none" strike="noStrike" noProof="0" dirty="0">
                          <a:solidFill>
                            <a:srgbClr val="000000"/>
                          </a:solidFill>
                          <a:effectLst/>
                          <a:latin typeface="Aptos Narrow" panose="020B0004020202020204" pitchFamily="34" charset="0"/>
                        </a:rPr>
                        <a:t>STL</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0.95</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61509021"/>
                  </a:ext>
                </a:extLst>
              </a:tr>
              <a:tr h="290270">
                <a:tc>
                  <a:txBody>
                    <a:bodyPr/>
                    <a:lstStyle/>
                    <a:p>
                      <a:pPr algn="l" fontAlgn="b">
                        <a:buNone/>
                      </a:pPr>
                      <a:r>
                        <a:rPr lang="en-GB" sz="1600" b="0" i="0" u="none" strike="noStrike" noProof="0" dirty="0">
                          <a:solidFill>
                            <a:srgbClr val="000000"/>
                          </a:solidFill>
                          <a:effectLst/>
                          <a:latin typeface="Aptos Narrow" panose="020B0004020202020204" pitchFamily="34" charset="0"/>
                        </a:rPr>
                        <a:t>STS (td-varying)</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0.89</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1752324"/>
                  </a:ext>
                </a:extLst>
              </a:tr>
              <a:tr h="290270">
                <a:tc>
                  <a:txBody>
                    <a:bodyPr/>
                    <a:lstStyle/>
                    <a:p>
                      <a:pPr algn="l" fontAlgn="b">
                        <a:buNone/>
                      </a:pPr>
                      <a:r>
                        <a:rPr lang="en-GB" sz="1600" b="0" i="0" u="none" strike="noStrike" noProof="0" dirty="0">
                          <a:solidFill>
                            <a:srgbClr val="000000"/>
                          </a:solidFill>
                          <a:effectLst/>
                          <a:latin typeface="Aptos Narrow" panose="020B0004020202020204" pitchFamily="34" charset="0"/>
                        </a:rPr>
                        <a:t>Tramo-Seats (RSA0)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0.98</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0.69</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913970764"/>
                  </a:ext>
                </a:extLst>
              </a:tr>
              <a:tr h="290270">
                <a:tc>
                  <a:txBody>
                    <a:bodyPr/>
                    <a:lstStyle/>
                    <a:p>
                      <a:pPr algn="l" fontAlgn="b">
                        <a:buNone/>
                      </a:pPr>
                      <a:r>
                        <a:rPr lang="en-GB" sz="1600" b="0" i="0" u="none" strike="noStrike" noProof="0" dirty="0">
                          <a:solidFill>
                            <a:srgbClr val="000000"/>
                          </a:solidFill>
                          <a:effectLst/>
                          <a:latin typeface="Aptos Narrow" panose="020B0004020202020204" pitchFamily="34" charset="0"/>
                        </a:rPr>
                        <a:t>Tramo-Seats (</a:t>
                      </a:r>
                      <a:r>
                        <a:rPr lang="en-GB" sz="1600" b="0" i="0" u="none" strike="noStrike" noProof="0" dirty="0" err="1">
                          <a:solidFill>
                            <a:srgbClr val="000000"/>
                          </a:solidFill>
                          <a:effectLst/>
                          <a:latin typeface="Aptos Narrow" panose="020B0004020202020204" pitchFamily="34" charset="0"/>
                        </a:rPr>
                        <a:t>RSAfull</a:t>
                      </a:r>
                      <a:r>
                        <a:rPr lang="en-GB" sz="1600" b="0" i="0" u="none" strike="noStrike" noProof="0" dirty="0">
                          <a:solidFill>
                            <a:srgbClr val="000000"/>
                          </a:solidFill>
                          <a:effectLst/>
                          <a:latin typeface="Aptos Narrow" panose="020B0004020202020204" pitchFamily="34" charset="0"/>
                        </a:rPr>
                        <a:t>)</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0.82</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0.99</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chemeClr val="tx1"/>
                          </a:solidFill>
                          <a:effectLst/>
                          <a:latin typeface="Aptos Narrow" panose="020B0004020202020204" pitchFamily="34" charset="0"/>
                        </a:rPr>
                        <a:t>0.81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92648414"/>
                  </a:ext>
                </a:extLst>
              </a:tr>
              <a:tr h="290270">
                <a:tc>
                  <a:txBody>
                    <a:bodyPr/>
                    <a:lstStyle/>
                    <a:p>
                      <a:pPr algn="l" fontAlgn="b">
                        <a:buNone/>
                      </a:pPr>
                      <a:r>
                        <a:rPr lang="en-GB" sz="1600" b="0" i="0" u="none" strike="noStrike" noProof="0" dirty="0">
                          <a:solidFill>
                            <a:srgbClr val="000000"/>
                          </a:solidFill>
                          <a:effectLst/>
                          <a:latin typeface="Aptos Narrow" panose="020B0004020202020204" pitchFamily="34" charset="0"/>
                        </a:rPr>
                        <a:t>X11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0.97</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0.77</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0.56</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696902489"/>
                  </a:ext>
                </a:extLst>
              </a:tr>
              <a:tr h="290270">
                <a:tc>
                  <a:txBody>
                    <a:bodyPr/>
                    <a:lstStyle/>
                    <a:p>
                      <a:pPr algn="l" fontAlgn="b">
                        <a:buNone/>
                      </a:pPr>
                      <a:r>
                        <a:rPr lang="en-GB" sz="1600" b="0" i="0" u="none" strike="noStrike" noProof="0" dirty="0">
                          <a:solidFill>
                            <a:srgbClr val="000000"/>
                          </a:solidFill>
                          <a:effectLst/>
                          <a:latin typeface="Aptos Narrow" panose="020B0004020202020204" pitchFamily="34" charset="0"/>
                        </a:rPr>
                        <a:t>X13 (RSA5c)</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0.97</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0.92</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0.99</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0.75</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chemeClr val="tx1"/>
                          </a:solidFill>
                          <a:effectLst/>
                          <a:latin typeface="Aptos Narrow" panose="020B0004020202020204" pitchFamily="34" charset="0"/>
                        </a:rPr>
                        <a:t>0.83</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975169306"/>
                  </a:ext>
                </a:extLst>
              </a:tr>
              <a:tr h="247595">
                <a:tc>
                  <a:txBody>
                    <a:bodyPr/>
                    <a:lstStyle/>
                    <a:p>
                      <a:pPr algn="l" fontAlgn="b">
                        <a:buNone/>
                      </a:pPr>
                      <a:r>
                        <a:rPr lang="en-GB" sz="11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0609398"/>
                  </a:ext>
                </a:extLst>
              </a:tr>
            </a:tbl>
          </a:graphicData>
        </a:graphic>
      </p:graphicFrame>
    </p:spTree>
    <p:extLst>
      <p:ext uri="{BB962C8B-B14F-4D97-AF65-F5344CB8AC3E}">
        <p14:creationId xmlns:p14="http://schemas.microsoft.com/office/powerpoint/2010/main" val="2662577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A4C44-3796-51A2-A049-AF89B791E5E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398B5A4-F79C-1435-5BE8-927D1EEEA4EE}"/>
              </a:ext>
            </a:extLst>
          </p:cNvPr>
          <p:cNvSpPr>
            <a:spLocks noGrp="1"/>
          </p:cNvSpPr>
          <p:nvPr>
            <p:ph type="title"/>
          </p:nvPr>
        </p:nvSpPr>
        <p:spPr/>
        <p:txBody>
          <a:bodyPr/>
          <a:lstStyle/>
          <a:p>
            <a:r>
              <a:rPr lang="en-GB" noProof="0" dirty="0"/>
              <a:t>4.2.2 Some examples. Diagnostics</a:t>
            </a:r>
          </a:p>
        </p:txBody>
      </p:sp>
      <p:sp>
        <p:nvSpPr>
          <p:cNvPr id="6" name="Espace réservé du numéro de diapositive 5">
            <a:extLst>
              <a:ext uri="{FF2B5EF4-FFF2-40B4-BE49-F238E27FC236}">
                <a16:creationId xmlns:a16="http://schemas.microsoft.com/office/drawing/2014/main" id="{82C1B982-4F1C-E374-A918-517772D7E382}"/>
              </a:ext>
            </a:extLst>
          </p:cNvPr>
          <p:cNvSpPr>
            <a:spLocks noGrp="1"/>
          </p:cNvSpPr>
          <p:nvPr>
            <p:ph type="sldNum" idx="12"/>
          </p:nvPr>
        </p:nvSpPr>
        <p:spPr/>
        <p:txBody>
          <a:bodyPr/>
          <a:lstStyle/>
          <a:p>
            <a:fld id="{1E1EA8E3-33CC-465E-BBDB-C5F5B41B1D80}" type="slidenum">
              <a:rPr lang="en-GB" smtClean="0"/>
              <a:t>14</a:t>
            </a:fld>
            <a:endParaRPr lang="en-GB"/>
          </a:p>
        </p:txBody>
      </p:sp>
      <p:sp>
        <p:nvSpPr>
          <p:cNvPr id="3" name="Espace réservé du contenu 2">
            <a:extLst>
              <a:ext uri="{FF2B5EF4-FFF2-40B4-BE49-F238E27FC236}">
                <a16:creationId xmlns:a16="http://schemas.microsoft.com/office/drawing/2014/main" id="{744B79F1-3C58-F582-E2A6-043548187B01}"/>
              </a:ext>
            </a:extLst>
          </p:cNvPr>
          <p:cNvSpPr>
            <a:spLocks noGrp="1"/>
          </p:cNvSpPr>
          <p:nvPr>
            <p:ph sz="half" idx="2"/>
          </p:nvPr>
        </p:nvSpPr>
        <p:spPr/>
        <p:txBody>
          <a:bodyPr/>
          <a:lstStyle/>
          <a:p>
            <a:r>
              <a:rPr lang="en-GB" noProof="0" dirty="0"/>
              <a:t>ABS Retail: X0.2.09.10.M</a:t>
            </a:r>
          </a:p>
        </p:txBody>
      </p:sp>
      <p:sp>
        <p:nvSpPr>
          <p:cNvPr id="4" name="Espace réservé du pied de page 3">
            <a:extLst>
              <a:ext uri="{FF2B5EF4-FFF2-40B4-BE49-F238E27FC236}">
                <a16:creationId xmlns:a16="http://schemas.microsoft.com/office/drawing/2014/main" id="{9DFDCC4A-51B2-4AED-4EA2-7DA1639C2D57}"/>
              </a:ext>
            </a:extLst>
          </p:cNvPr>
          <p:cNvSpPr>
            <a:spLocks noGrp="1"/>
          </p:cNvSpPr>
          <p:nvPr>
            <p:ph type="ftr" sz="quarter" idx="4294967295"/>
          </p:nvPr>
        </p:nvSpPr>
        <p:spPr>
          <a:xfrm>
            <a:off x="0" y="0"/>
            <a:ext cx="0" cy="0"/>
          </a:xfrm>
        </p:spPr>
        <p:txBody>
          <a:bodyPr/>
          <a:lstStyle/>
          <a:p>
            <a:r>
              <a:rPr lang="en-GB" noProof="0" dirty="0"/>
              <a:t>ESTP Training. Seasonal adjustment</a:t>
            </a:r>
          </a:p>
        </p:txBody>
      </p:sp>
      <p:graphicFrame>
        <p:nvGraphicFramePr>
          <p:cNvPr id="5" name="Tableau 4">
            <a:extLst>
              <a:ext uri="{FF2B5EF4-FFF2-40B4-BE49-F238E27FC236}">
                <a16:creationId xmlns:a16="http://schemas.microsoft.com/office/drawing/2014/main" id="{8207EA4B-7468-ABBB-0056-87601DF538D2}"/>
              </a:ext>
            </a:extLst>
          </p:cNvPr>
          <p:cNvGraphicFramePr>
            <a:graphicFrameLocks noGrp="1"/>
          </p:cNvGraphicFramePr>
          <p:nvPr>
            <p:extLst>
              <p:ext uri="{D42A27DB-BD31-4B8C-83A1-F6EECF244321}">
                <p14:modId xmlns:p14="http://schemas.microsoft.com/office/powerpoint/2010/main" val="1911955890"/>
              </p:ext>
            </p:extLst>
          </p:nvPr>
        </p:nvGraphicFramePr>
        <p:xfrm>
          <a:off x="1669312" y="2338552"/>
          <a:ext cx="9207796" cy="3519984"/>
        </p:xfrm>
        <a:graphic>
          <a:graphicData uri="http://schemas.openxmlformats.org/drawingml/2006/table">
            <a:tbl>
              <a:tblPr/>
              <a:tblGrid>
                <a:gridCol w="2077593">
                  <a:extLst>
                    <a:ext uri="{9D8B030D-6E8A-4147-A177-3AD203B41FA5}">
                      <a16:colId xmlns:a16="http://schemas.microsoft.com/office/drawing/2014/main" val="4291614966"/>
                    </a:ext>
                  </a:extLst>
                </a:gridCol>
                <a:gridCol w="1253933">
                  <a:extLst>
                    <a:ext uri="{9D8B030D-6E8A-4147-A177-3AD203B41FA5}">
                      <a16:colId xmlns:a16="http://schemas.microsoft.com/office/drawing/2014/main" val="2174481090"/>
                    </a:ext>
                  </a:extLst>
                </a:gridCol>
                <a:gridCol w="1272371">
                  <a:extLst>
                    <a:ext uri="{9D8B030D-6E8A-4147-A177-3AD203B41FA5}">
                      <a16:colId xmlns:a16="http://schemas.microsoft.com/office/drawing/2014/main" val="2769245085"/>
                    </a:ext>
                  </a:extLst>
                </a:gridCol>
                <a:gridCol w="1534633">
                  <a:extLst>
                    <a:ext uri="{9D8B030D-6E8A-4147-A177-3AD203B41FA5}">
                      <a16:colId xmlns:a16="http://schemas.microsoft.com/office/drawing/2014/main" val="1243972604"/>
                    </a:ext>
                  </a:extLst>
                </a:gridCol>
                <a:gridCol w="1534633">
                  <a:extLst>
                    <a:ext uri="{9D8B030D-6E8A-4147-A177-3AD203B41FA5}">
                      <a16:colId xmlns:a16="http://schemas.microsoft.com/office/drawing/2014/main" val="397629333"/>
                    </a:ext>
                  </a:extLst>
                </a:gridCol>
                <a:gridCol w="1534633">
                  <a:extLst>
                    <a:ext uri="{9D8B030D-6E8A-4147-A177-3AD203B41FA5}">
                      <a16:colId xmlns:a16="http://schemas.microsoft.com/office/drawing/2014/main" val="2045694333"/>
                    </a:ext>
                  </a:extLst>
                </a:gridCol>
              </a:tblGrid>
              <a:tr h="293332">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gridSpan="4">
                  <a:txBody>
                    <a:bodyPr/>
                    <a:lstStyle/>
                    <a:p>
                      <a:pPr algn="l" fontAlgn="b">
                        <a:buNone/>
                      </a:pPr>
                      <a:r>
                        <a:rPr lang="en-GB" sz="1600" b="0" i="0" u="none" strike="noStrike" noProof="0" dirty="0">
                          <a:solidFill>
                            <a:srgbClr val="000000"/>
                          </a:solidFill>
                          <a:effectLst/>
                          <a:latin typeface="Aptos Narrow" panose="020B0004020202020204" pitchFamily="34" charset="0"/>
                        </a:rPr>
                        <a:t>Seasonality tests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a:p>
                  </a:txBody>
                  <a:tcPr marL="4763" marR="4763" marT="4763"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a:p>
                  </a:txBody>
                  <a:tcPr marL="4763" marR="4763" marT="4763"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dirty="0"/>
                    </a:p>
                  </a:txBody>
                  <a:tcPr marL="4763" marR="4763" marT="4763"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Trading days tests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32975498"/>
                  </a:ext>
                </a:extLst>
              </a:tr>
              <a:tr h="293332">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F</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F(last)</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QS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Kruskal-Wallis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2863120"/>
                  </a:ext>
                </a:extLst>
              </a:tr>
              <a:tr h="293332">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613785375"/>
                  </a:ext>
                </a:extLst>
              </a:tr>
              <a:tr h="293332">
                <a:tc>
                  <a:txBody>
                    <a:bodyPr/>
                    <a:lstStyle/>
                    <a:p>
                      <a:pPr algn="l" fontAlgn="b">
                        <a:buNone/>
                      </a:pPr>
                      <a:r>
                        <a:rPr lang="en-GB" sz="1600" b="0" i="0" u="none" strike="noStrike" noProof="0" dirty="0" err="1">
                          <a:solidFill>
                            <a:srgbClr val="000000"/>
                          </a:solidFill>
                          <a:effectLst/>
                          <a:latin typeface="Aptos Narrow" panose="020B0004020202020204" pitchFamily="34" charset="0"/>
                        </a:rPr>
                        <a:t>Camplet</a:t>
                      </a:r>
                      <a:endParaRPr lang="en-GB" sz="1600" b="0" i="0" u="none" strike="noStrike" noProof="0" dirty="0">
                        <a:solidFill>
                          <a:srgbClr val="000000"/>
                        </a:solidFill>
                        <a:effectLst/>
                        <a:latin typeface="Aptos Narrow" panose="020B0004020202020204" pitchFamily="34" charset="0"/>
                      </a:endParaRP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E97132"/>
                          </a:solidFill>
                          <a:effectLst/>
                          <a:latin typeface="Aptos Narrow" panose="020B0004020202020204" pitchFamily="34" charset="0"/>
                        </a:rPr>
                        <a:t>0.14</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71780104"/>
                  </a:ext>
                </a:extLst>
              </a:tr>
              <a:tr h="293332">
                <a:tc>
                  <a:txBody>
                    <a:bodyPr/>
                    <a:lstStyle/>
                    <a:p>
                      <a:pPr algn="l" fontAlgn="b">
                        <a:buNone/>
                      </a:pPr>
                      <a:r>
                        <a:rPr lang="en-GB" sz="1600" b="0" i="0" u="none" strike="noStrike" noProof="0" dirty="0">
                          <a:solidFill>
                            <a:srgbClr val="000000"/>
                          </a:solidFill>
                          <a:effectLst/>
                          <a:latin typeface="Aptos Narrow" panose="020B0004020202020204" pitchFamily="34" charset="0"/>
                        </a:rPr>
                        <a:t>Prophet</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0.27</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E97132"/>
                          </a:solidFill>
                          <a:effectLst/>
                          <a:latin typeface="Aptos Narrow" panose="020B0004020202020204" pitchFamily="34" charset="0"/>
                        </a:rPr>
                        <a:t>0.12</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109184"/>
                  </a:ext>
                </a:extLst>
              </a:tr>
              <a:tr h="293332">
                <a:tc>
                  <a:txBody>
                    <a:bodyPr/>
                    <a:lstStyle/>
                    <a:p>
                      <a:pPr algn="l" fontAlgn="b">
                        <a:buNone/>
                      </a:pPr>
                      <a:r>
                        <a:rPr lang="en-GB" sz="1600" b="0" i="0" u="none" strike="noStrike" noProof="0" dirty="0">
                          <a:solidFill>
                            <a:srgbClr val="000000"/>
                          </a:solidFill>
                          <a:effectLst/>
                          <a:latin typeface="Aptos Narrow" panose="020B0004020202020204" pitchFamily="34" charset="0"/>
                        </a:rPr>
                        <a:t>STL</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565089139"/>
                  </a:ext>
                </a:extLst>
              </a:tr>
              <a:tr h="293332">
                <a:tc>
                  <a:txBody>
                    <a:bodyPr/>
                    <a:lstStyle/>
                    <a:p>
                      <a:pPr algn="l" fontAlgn="b">
                        <a:buNone/>
                      </a:pPr>
                      <a:r>
                        <a:rPr lang="en-GB" sz="1600" b="0" i="0" u="none" strike="noStrike" noProof="0" dirty="0">
                          <a:solidFill>
                            <a:srgbClr val="000000"/>
                          </a:solidFill>
                          <a:effectLst/>
                          <a:latin typeface="Aptos Narrow" panose="020B0004020202020204" pitchFamily="34" charset="0"/>
                        </a:rPr>
                        <a:t>STS (td-varying)</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0.51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0.97</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677940080"/>
                  </a:ext>
                </a:extLst>
              </a:tr>
              <a:tr h="293332">
                <a:tc>
                  <a:txBody>
                    <a:bodyPr/>
                    <a:lstStyle/>
                    <a:p>
                      <a:pPr algn="l" fontAlgn="b">
                        <a:buNone/>
                      </a:pPr>
                      <a:r>
                        <a:rPr lang="en-GB" sz="1600" b="0" i="0" u="none" strike="noStrike" noProof="0" dirty="0">
                          <a:solidFill>
                            <a:srgbClr val="000000"/>
                          </a:solidFill>
                          <a:effectLst/>
                          <a:latin typeface="Aptos Narrow" panose="020B0004020202020204" pitchFamily="34" charset="0"/>
                        </a:rPr>
                        <a:t>Tramo-Seats (RSA0)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0.85</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85891385"/>
                  </a:ext>
                </a:extLst>
              </a:tr>
              <a:tr h="293332">
                <a:tc>
                  <a:txBody>
                    <a:bodyPr/>
                    <a:lstStyle/>
                    <a:p>
                      <a:pPr algn="l" fontAlgn="b">
                        <a:buNone/>
                      </a:pPr>
                      <a:r>
                        <a:rPr lang="en-GB" sz="1600" b="0" i="0" u="none" strike="noStrike" noProof="0" dirty="0">
                          <a:solidFill>
                            <a:srgbClr val="000000"/>
                          </a:solidFill>
                          <a:effectLst/>
                          <a:latin typeface="Aptos Narrow" panose="020B0004020202020204" pitchFamily="34" charset="0"/>
                        </a:rPr>
                        <a:t>Tramo-Seats (</a:t>
                      </a:r>
                      <a:r>
                        <a:rPr lang="en-GB" sz="1600" b="0" i="0" u="none" strike="noStrike" noProof="0" dirty="0" err="1">
                          <a:solidFill>
                            <a:srgbClr val="000000"/>
                          </a:solidFill>
                          <a:effectLst/>
                          <a:latin typeface="Aptos Narrow" panose="020B0004020202020204" pitchFamily="34" charset="0"/>
                        </a:rPr>
                        <a:t>RSAfull</a:t>
                      </a:r>
                      <a:r>
                        <a:rPr lang="en-GB" sz="1600" b="0" i="0" u="none" strike="noStrike" noProof="0" dirty="0">
                          <a:solidFill>
                            <a:srgbClr val="000000"/>
                          </a:solidFill>
                          <a:effectLst/>
                          <a:latin typeface="Aptos Narrow" panose="020B0004020202020204" pitchFamily="34" charset="0"/>
                        </a:rPr>
                        <a:t>)</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0.98</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0.84</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776818978"/>
                  </a:ext>
                </a:extLst>
              </a:tr>
              <a:tr h="293332">
                <a:tc>
                  <a:txBody>
                    <a:bodyPr/>
                    <a:lstStyle/>
                    <a:p>
                      <a:pPr algn="l" fontAlgn="b">
                        <a:buNone/>
                      </a:pPr>
                      <a:r>
                        <a:rPr lang="en-GB" sz="1600" b="0" i="0" u="none" strike="noStrike" noProof="0" dirty="0">
                          <a:solidFill>
                            <a:srgbClr val="000000"/>
                          </a:solidFill>
                          <a:effectLst/>
                          <a:latin typeface="Aptos Narrow" panose="020B0004020202020204" pitchFamily="34" charset="0"/>
                        </a:rPr>
                        <a:t>X11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0.98</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0.94</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710875636"/>
                  </a:ext>
                </a:extLst>
              </a:tr>
              <a:tr h="293332">
                <a:tc>
                  <a:txBody>
                    <a:bodyPr/>
                    <a:lstStyle/>
                    <a:p>
                      <a:pPr algn="l" fontAlgn="b">
                        <a:buNone/>
                      </a:pPr>
                      <a:r>
                        <a:rPr lang="en-GB" sz="1600" b="0" i="0" u="none" strike="noStrike" noProof="0" dirty="0">
                          <a:solidFill>
                            <a:srgbClr val="000000"/>
                          </a:solidFill>
                          <a:effectLst/>
                          <a:latin typeface="Aptos Narrow" panose="020B0004020202020204" pitchFamily="34" charset="0"/>
                        </a:rPr>
                        <a:t>X13 (RSA5c)</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0.95</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0.80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0.23</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0000"/>
                          </a:solidFill>
                          <a:effectLst/>
                          <a:latin typeface="Aptos Narrow" panose="020B0004020202020204" pitchFamily="34" charset="0"/>
                        </a:rPr>
                        <a:t>0.00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649581185"/>
                  </a:ext>
                </a:extLst>
              </a:tr>
              <a:tr h="293332">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02608473"/>
                  </a:ext>
                </a:extLst>
              </a:tr>
            </a:tbl>
          </a:graphicData>
        </a:graphic>
      </p:graphicFrame>
    </p:spTree>
    <p:extLst>
      <p:ext uri="{BB962C8B-B14F-4D97-AF65-F5344CB8AC3E}">
        <p14:creationId xmlns:p14="http://schemas.microsoft.com/office/powerpoint/2010/main" val="875354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2AF02-D93B-EDF3-509C-657D3CADEB0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38AD29A-E248-7BAE-F371-39E7D77441CA}"/>
              </a:ext>
            </a:extLst>
          </p:cNvPr>
          <p:cNvSpPr>
            <a:spLocks noGrp="1"/>
          </p:cNvSpPr>
          <p:nvPr>
            <p:ph type="title"/>
          </p:nvPr>
        </p:nvSpPr>
        <p:spPr/>
        <p:txBody>
          <a:bodyPr/>
          <a:lstStyle/>
          <a:p>
            <a:r>
              <a:rPr lang="en-GB" noProof="0" dirty="0"/>
              <a:t>4.2.3 Some examples. Diagnostics</a:t>
            </a:r>
          </a:p>
        </p:txBody>
      </p:sp>
      <p:sp>
        <p:nvSpPr>
          <p:cNvPr id="5" name="Espace réservé du numéro de diapositive 4">
            <a:extLst>
              <a:ext uri="{FF2B5EF4-FFF2-40B4-BE49-F238E27FC236}">
                <a16:creationId xmlns:a16="http://schemas.microsoft.com/office/drawing/2014/main" id="{B582F1C4-AE5D-4E93-E897-5847503A84FF}"/>
              </a:ext>
            </a:extLst>
          </p:cNvPr>
          <p:cNvSpPr>
            <a:spLocks noGrp="1"/>
          </p:cNvSpPr>
          <p:nvPr>
            <p:ph type="sldNum" idx="12"/>
          </p:nvPr>
        </p:nvSpPr>
        <p:spPr/>
        <p:txBody>
          <a:bodyPr/>
          <a:lstStyle/>
          <a:p>
            <a:fld id="{1E1EA8E3-33CC-465E-BBDB-C5F5B41B1D80}" type="slidenum">
              <a:rPr lang="en-GB" smtClean="0"/>
              <a:t>15</a:t>
            </a:fld>
            <a:endParaRPr lang="en-GB"/>
          </a:p>
        </p:txBody>
      </p:sp>
      <p:sp>
        <p:nvSpPr>
          <p:cNvPr id="3" name="Espace réservé du contenu 2">
            <a:extLst>
              <a:ext uri="{FF2B5EF4-FFF2-40B4-BE49-F238E27FC236}">
                <a16:creationId xmlns:a16="http://schemas.microsoft.com/office/drawing/2014/main" id="{A897F020-B6F6-4CD7-5620-34B6A37D6CB1}"/>
              </a:ext>
            </a:extLst>
          </p:cNvPr>
          <p:cNvSpPr>
            <a:spLocks noGrp="1"/>
          </p:cNvSpPr>
          <p:nvPr>
            <p:ph sz="half" idx="2"/>
          </p:nvPr>
        </p:nvSpPr>
        <p:spPr/>
        <p:txBody>
          <a:bodyPr/>
          <a:lstStyle/>
          <a:p>
            <a:r>
              <a:rPr lang="en-GB" noProof="0" dirty="0"/>
              <a:t>US Retail: Total (quarterly)</a:t>
            </a:r>
          </a:p>
        </p:txBody>
      </p:sp>
      <p:sp>
        <p:nvSpPr>
          <p:cNvPr id="4" name="Espace réservé du pied de page 3">
            <a:extLst>
              <a:ext uri="{FF2B5EF4-FFF2-40B4-BE49-F238E27FC236}">
                <a16:creationId xmlns:a16="http://schemas.microsoft.com/office/drawing/2014/main" id="{B0E9AAA7-07F5-1859-CD82-7B090A5AB668}"/>
              </a:ext>
            </a:extLst>
          </p:cNvPr>
          <p:cNvSpPr>
            <a:spLocks noGrp="1"/>
          </p:cNvSpPr>
          <p:nvPr>
            <p:ph type="ftr" sz="quarter" idx="4294967295"/>
          </p:nvPr>
        </p:nvSpPr>
        <p:spPr>
          <a:xfrm>
            <a:off x="0" y="0"/>
            <a:ext cx="0" cy="0"/>
          </a:xfrm>
        </p:spPr>
        <p:txBody>
          <a:bodyPr/>
          <a:lstStyle/>
          <a:p>
            <a:r>
              <a:rPr lang="en-GB" noProof="0" dirty="0"/>
              <a:t>ESTP Training. Seasonal adjustment</a:t>
            </a:r>
          </a:p>
        </p:txBody>
      </p:sp>
      <p:graphicFrame>
        <p:nvGraphicFramePr>
          <p:cNvPr id="6" name="Tableau 5">
            <a:extLst>
              <a:ext uri="{FF2B5EF4-FFF2-40B4-BE49-F238E27FC236}">
                <a16:creationId xmlns:a16="http://schemas.microsoft.com/office/drawing/2014/main" id="{381FF078-1410-9FFF-4E5F-2AB0F1122BB2}"/>
              </a:ext>
            </a:extLst>
          </p:cNvPr>
          <p:cNvGraphicFramePr>
            <a:graphicFrameLocks noGrp="1"/>
          </p:cNvGraphicFramePr>
          <p:nvPr>
            <p:extLst>
              <p:ext uri="{D42A27DB-BD31-4B8C-83A1-F6EECF244321}">
                <p14:modId xmlns:p14="http://schemas.microsoft.com/office/powerpoint/2010/main" val="1526414506"/>
              </p:ext>
            </p:extLst>
          </p:nvPr>
        </p:nvGraphicFramePr>
        <p:xfrm>
          <a:off x="1562986" y="2595879"/>
          <a:ext cx="9516140" cy="3363567"/>
        </p:xfrm>
        <a:graphic>
          <a:graphicData uri="http://schemas.openxmlformats.org/drawingml/2006/table">
            <a:tbl>
              <a:tblPr/>
              <a:tblGrid>
                <a:gridCol w="2251586">
                  <a:extLst>
                    <a:ext uri="{9D8B030D-6E8A-4147-A177-3AD203B41FA5}">
                      <a16:colId xmlns:a16="http://schemas.microsoft.com/office/drawing/2014/main" val="3759032800"/>
                    </a:ext>
                  </a:extLst>
                </a:gridCol>
                <a:gridCol w="1274483">
                  <a:extLst>
                    <a:ext uri="{9D8B030D-6E8A-4147-A177-3AD203B41FA5}">
                      <a16:colId xmlns:a16="http://schemas.microsoft.com/office/drawing/2014/main" val="3683961229"/>
                    </a:ext>
                  </a:extLst>
                </a:gridCol>
                <a:gridCol w="1274483">
                  <a:extLst>
                    <a:ext uri="{9D8B030D-6E8A-4147-A177-3AD203B41FA5}">
                      <a16:colId xmlns:a16="http://schemas.microsoft.com/office/drawing/2014/main" val="3604630393"/>
                    </a:ext>
                  </a:extLst>
                </a:gridCol>
                <a:gridCol w="1274483">
                  <a:extLst>
                    <a:ext uri="{9D8B030D-6E8A-4147-A177-3AD203B41FA5}">
                      <a16:colId xmlns:a16="http://schemas.microsoft.com/office/drawing/2014/main" val="4159861386"/>
                    </a:ext>
                  </a:extLst>
                </a:gridCol>
                <a:gridCol w="1550621">
                  <a:extLst>
                    <a:ext uri="{9D8B030D-6E8A-4147-A177-3AD203B41FA5}">
                      <a16:colId xmlns:a16="http://schemas.microsoft.com/office/drawing/2014/main" val="2896804835"/>
                    </a:ext>
                  </a:extLst>
                </a:gridCol>
                <a:gridCol w="1890484">
                  <a:extLst>
                    <a:ext uri="{9D8B030D-6E8A-4147-A177-3AD203B41FA5}">
                      <a16:colId xmlns:a16="http://schemas.microsoft.com/office/drawing/2014/main" val="3580996855"/>
                    </a:ext>
                  </a:extLst>
                </a:gridCol>
              </a:tblGrid>
              <a:tr h="286157">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gridSpan="4">
                  <a:txBody>
                    <a:bodyPr/>
                    <a:lstStyle/>
                    <a:p>
                      <a:pPr algn="l" fontAlgn="b">
                        <a:buNone/>
                      </a:pPr>
                      <a:r>
                        <a:rPr lang="en-GB" sz="1600" b="0" i="0" u="none" strike="noStrike" noProof="0" dirty="0">
                          <a:solidFill>
                            <a:srgbClr val="000000"/>
                          </a:solidFill>
                          <a:effectLst/>
                          <a:latin typeface="Aptos Narrow" panose="020B0004020202020204" pitchFamily="34" charset="0"/>
                        </a:rPr>
                        <a:t>Seasonality tests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a:p>
                  </a:txBody>
                  <a:tcPr marL="4763" marR="4763" marT="4763"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a:p>
                  </a:txBody>
                  <a:tcPr marL="4763" marR="4763" marT="4763"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dirty="0"/>
                    </a:p>
                  </a:txBody>
                  <a:tcPr marL="4763" marR="4763" marT="4763"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Trading days tests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3903949"/>
                  </a:ext>
                </a:extLst>
              </a:tr>
              <a:tr h="286157">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F</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F(last)</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QS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Kruskal-Wallis</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4280223"/>
                  </a:ext>
                </a:extLst>
              </a:tr>
              <a:tr h="278344">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en-GB" sz="16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653812999"/>
                  </a:ext>
                </a:extLst>
              </a:tr>
              <a:tr h="278344">
                <a:tc>
                  <a:txBody>
                    <a:bodyPr/>
                    <a:lstStyle/>
                    <a:p>
                      <a:pPr algn="l" fontAlgn="b">
                        <a:buNone/>
                      </a:pPr>
                      <a:r>
                        <a:rPr lang="en-GB" sz="1600" b="0" i="0" u="none" strike="noStrike" noProof="0" dirty="0" err="1">
                          <a:solidFill>
                            <a:srgbClr val="000000"/>
                          </a:solidFill>
                          <a:effectLst/>
                          <a:latin typeface="Aptos Narrow" panose="020B0004020202020204" pitchFamily="34" charset="0"/>
                        </a:rPr>
                        <a:t>Camplet</a:t>
                      </a:r>
                      <a:endParaRPr lang="en-GB" sz="1600" b="0" i="0" u="none" strike="noStrike" noProof="0" dirty="0">
                        <a:solidFill>
                          <a:srgbClr val="000000"/>
                        </a:solidFill>
                        <a:effectLst/>
                        <a:latin typeface="Aptos Narrow" panose="020B0004020202020204" pitchFamily="34" charset="0"/>
                      </a:endParaRP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0.93</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0.68</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0.83</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0.25</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560777321"/>
                  </a:ext>
                </a:extLst>
              </a:tr>
              <a:tr h="278344">
                <a:tc>
                  <a:txBody>
                    <a:bodyPr/>
                    <a:lstStyle/>
                    <a:p>
                      <a:pPr algn="l" fontAlgn="b">
                        <a:buNone/>
                      </a:pPr>
                      <a:r>
                        <a:rPr lang="en-GB" sz="1600" b="0" i="0" u="none" strike="noStrike" noProof="0" dirty="0">
                          <a:solidFill>
                            <a:srgbClr val="000000"/>
                          </a:solidFill>
                          <a:effectLst/>
                          <a:latin typeface="Aptos Narrow" panose="020B0004020202020204" pitchFamily="34" charset="0"/>
                        </a:rPr>
                        <a:t>Prophet</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0.86</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0.70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0.44</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0.66</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C000"/>
                          </a:solidFill>
                          <a:effectLst/>
                          <a:latin typeface="Aptos Narrow" panose="020B0004020202020204" pitchFamily="34" charset="0"/>
                        </a:rPr>
                        <a:t>0.12</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708527312"/>
                  </a:ext>
                </a:extLst>
              </a:tr>
              <a:tr h="278344">
                <a:tc>
                  <a:txBody>
                    <a:bodyPr/>
                    <a:lstStyle/>
                    <a:p>
                      <a:pPr algn="l" fontAlgn="b">
                        <a:buNone/>
                      </a:pPr>
                      <a:r>
                        <a:rPr lang="en-GB" sz="1600" b="0" i="0" u="none" strike="noStrike" noProof="0" dirty="0">
                          <a:solidFill>
                            <a:srgbClr val="000000"/>
                          </a:solidFill>
                          <a:effectLst/>
                          <a:latin typeface="Aptos Narrow" panose="020B0004020202020204" pitchFamily="34" charset="0"/>
                        </a:rPr>
                        <a:t>STL</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0.99</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0.79</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0.85</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C000"/>
                          </a:solidFill>
                          <a:effectLst/>
                          <a:latin typeface="Aptos Narrow" panose="020B0004020202020204" pitchFamily="34" charset="0"/>
                        </a:rPr>
                        <a:t>0.12</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507265567"/>
                  </a:ext>
                </a:extLst>
              </a:tr>
              <a:tr h="278344">
                <a:tc>
                  <a:txBody>
                    <a:bodyPr/>
                    <a:lstStyle/>
                    <a:p>
                      <a:pPr algn="l" fontAlgn="b">
                        <a:buNone/>
                      </a:pPr>
                      <a:r>
                        <a:rPr lang="en-GB" sz="1600" b="0" i="0" u="none" strike="noStrike" noProof="0" dirty="0">
                          <a:solidFill>
                            <a:srgbClr val="000000"/>
                          </a:solidFill>
                          <a:effectLst/>
                          <a:latin typeface="Aptos Narrow" panose="020B0004020202020204" pitchFamily="34" charset="0"/>
                        </a:rPr>
                        <a:t>STS (td-varying)</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0.45</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0.99</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178079164"/>
                  </a:ext>
                </a:extLst>
              </a:tr>
              <a:tr h="278344">
                <a:tc>
                  <a:txBody>
                    <a:bodyPr/>
                    <a:lstStyle/>
                    <a:p>
                      <a:pPr algn="l" fontAlgn="b">
                        <a:buNone/>
                      </a:pPr>
                      <a:r>
                        <a:rPr lang="en-GB" sz="1600" b="0" i="0" u="none" strike="noStrike" noProof="0" dirty="0">
                          <a:solidFill>
                            <a:srgbClr val="000000"/>
                          </a:solidFill>
                          <a:effectLst/>
                          <a:latin typeface="Aptos Narrow" panose="020B0004020202020204" pitchFamily="34" charset="0"/>
                        </a:rPr>
                        <a:t>Tramo-Seats (RSA0)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0.83</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C000"/>
                          </a:solidFill>
                          <a:effectLst/>
                          <a:latin typeface="Aptos Narrow" panose="020B0004020202020204" pitchFamily="34" charset="0"/>
                        </a:rPr>
                        <a:t>0.20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66226006"/>
                  </a:ext>
                </a:extLst>
              </a:tr>
              <a:tr h="278344">
                <a:tc>
                  <a:txBody>
                    <a:bodyPr/>
                    <a:lstStyle/>
                    <a:p>
                      <a:pPr algn="l" fontAlgn="b">
                        <a:buNone/>
                      </a:pPr>
                      <a:r>
                        <a:rPr lang="en-GB" sz="1600" b="0" i="0" u="none" strike="noStrike" noProof="0" dirty="0">
                          <a:solidFill>
                            <a:srgbClr val="000000"/>
                          </a:solidFill>
                          <a:effectLst/>
                          <a:latin typeface="Aptos Narrow" panose="020B0004020202020204" pitchFamily="34" charset="0"/>
                        </a:rPr>
                        <a:t>Tramo-Seats (</a:t>
                      </a:r>
                      <a:r>
                        <a:rPr lang="en-GB" sz="1600" b="0" i="0" u="none" strike="noStrike" noProof="0" dirty="0" err="1">
                          <a:solidFill>
                            <a:srgbClr val="000000"/>
                          </a:solidFill>
                          <a:effectLst/>
                          <a:latin typeface="Aptos Narrow" panose="020B0004020202020204" pitchFamily="34" charset="0"/>
                        </a:rPr>
                        <a:t>RSAfull</a:t>
                      </a:r>
                      <a:r>
                        <a:rPr lang="en-GB" sz="1600" b="0" i="0" u="none" strike="noStrike" noProof="0" dirty="0">
                          <a:solidFill>
                            <a:srgbClr val="000000"/>
                          </a:solidFill>
                          <a:effectLst/>
                          <a:latin typeface="Aptos Narrow" panose="020B0004020202020204" pitchFamily="34" charset="0"/>
                        </a:rPr>
                        <a:t>)</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0.44</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0.44</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0.73</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0.33</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946671204"/>
                  </a:ext>
                </a:extLst>
              </a:tr>
              <a:tr h="278344">
                <a:tc>
                  <a:txBody>
                    <a:bodyPr/>
                    <a:lstStyle/>
                    <a:p>
                      <a:pPr algn="l" fontAlgn="b">
                        <a:buNone/>
                      </a:pPr>
                      <a:r>
                        <a:rPr lang="en-GB" sz="1600" b="0" i="0" u="none" strike="noStrike" noProof="0" dirty="0">
                          <a:solidFill>
                            <a:srgbClr val="000000"/>
                          </a:solidFill>
                          <a:effectLst/>
                          <a:latin typeface="Aptos Narrow" panose="020B0004020202020204" pitchFamily="34" charset="0"/>
                        </a:rPr>
                        <a:t>X11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0.95</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0.76</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0.45</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FFC000"/>
                          </a:solidFill>
                          <a:effectLst/>
                          <a:latin typeface="Aptos Narrow" panose="020B0004020202020204" pitchFamily="34" charset="0"/>
                        </a:rPr>
                        <a:t>0.14</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209061128"/>
                  </a:ext>
                </a:extLst>
              </a:tr>
              <a:tr h="278344">
                <a:tc>
                  <a:txBody>
                    <a:bodyPr/>
                    <a:lstStyle/>
                    <a:p>
                      <a:pPr algn="l" fontAlgn="b">
                        <a:buNone/>
                      </a:pPr>
                      <a:r>
                        <a:rPr lang="en-GB" sz="1600" b="0" i="0" u="none" strike="noStrike" noProof="0" dirty="0">
                          <a:solidFill>
                            <a:srgbClr val="000000"/>
                          </a:solidFill>
                          <a:effectLst/>
                          <a:latin typeface="Aptos Narrow" panose="020B0004020202020204" pitchFamily="34" charset="0"/>
                        </a:rPr>
                        <a:t>X13 (RSA5c)</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0.71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1.00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0.91</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GB" sz="1600" b="0" i="0" u="none" strike="noStrike" noProof="0" dirty="0">
                          <a:solidFill>
                            <a:srgbClr val="000000"/>
                          </a:solidFill>
                          <a:effectLst/>
                          <a:latin typeface="Aptos Narrow" panose="020B0004020202020204" pitchFamily="34" charset="0"/>
                        </a:rPr>
                        <a:t>0.70</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4219415615"/>
                  </a:ext>
                </a:extLst>
              </a:tr>
              <a:tr h="286157">
                <a:tc>
                  <a:txBody>
                    <a:bodyPr/>
                    <a:lstStyle/>
                    <a:p>
                      <a:pPr algn="l" fontAlgn="b">
                        <a:buNone/>
                      </a:pPr>
                      <a:r>
                        <a:rPr lang="en-GB" sz="11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l" fontAlgn="b">
                        <a:buNone/>
                      </a:pPr>
                      <a:r>
                        <a:rPr lang="en-GB" sz="1100" b="0" i="0" u="none" strike="noStrike" noProof="0" dirty="0">
                          <a:solidFill>
                            <a:srgbClr val="000000"/>
                          </a:solidFill>
                          <a:effectLst/>
                          <a:latin typeface="Aptos Narrow" panose="020B0004020202020204" pitchFamily="34" charset="0"/>
                        </a:rPr>
                        <a:t> </a:t>
                      </a:r>
                    </a:p>
                  </a:txBody>
                  <a:tcPr marL="4763" marR="4763" marT="4763"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0211088"/>
                  </a:ext>
                </a:extLst>
              </a:tr>
            </a:tbl>
          </a:graphicData>
        </a:graphic>
      </p:graphicFrame>
    </p:spTree>
    <p:extLst>
      <p:ext uri="{BB962C8B-B14F-4D97-AF65-F5344CB8AC3E}">
        <p14:creationId xmlns:p14="http://schemas.microsoft.com/office/powerpoint/2010/main" val="5717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A6FF2-0790-6774-ECC1-8C941C233EA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08002F1-51EF-4672-A92F-FC5DC1E7056A}"/>
              </a:ext>
            </a:extLst>
          </p:cNvPr>
          <p:cNvSpPr>
            <a:spLocks noGrp="1"/>
          </p:cNvSpPr>
          <p:nvPr>
            <p:ph type="title"/>
          </p:nvPr>
        </p:nvSpPr>
        <p:spPr/>
        <p:txBody>
          <a:bodyPr/>
          <a:lstStyle/>
          <a:p>
            <a:r>
              <a:rPr lang="en-GB" noProof="0" dirty="0"/>
              <a:t>4.3 Some examples. Seasonal pattern</a:t>
            </a:r>
          </a:p>
        </p:txBody>
      </p:sp>
      <p:sp>
        <p:nvSpPr>
          <p:cNvPr id="5" name="Espace réservé du numéro de diapositive 4">
            <a:extLst>
              <a:ext uri="{FF2B5EF4-FFF2-40B4-BE49-F238E27FC236}">
                <a16:creationId xmlns:a16="http://schemas.microsoft.com/office/drawing/2014/main" id="{BBFE2F80-E0F9-2CB7-7148-B311018189DD}"/>
              </a:ext>
            </a:extLst>
          </p:cNvPr>
          <p:cNvSpPr>
            <a:spLocks noGrp="1"/>
          </p:cNvSpPr>
          <p:nvPr>
            <p:ph type="sldNum" idx="12"/>
          </p:nvPr>
        </p:nvSpPr>
        <p:spPr>
          <a:xfrm>
            <a:off x="4617190" y="5949791"/>
            <a:ext cx="2743200" cy="365125"/>
          </a:xfrm>
        </p:spPr>
        <p:txBody>
          <a:bodyPr/>
          <a:lstStyle/>
          <a:p>
            <a:fld id="{1E1EA8E3-33CC-465E-BBDB-C5F5B41B1D80}" type="slidenum">
              <a:rPr lang="en-GB" smtClean="0"/>
              <a:t>16</a:t>
            </a:fld>
            <a:endParaRPr lang="en-GB"/>
          </a:p>
        </p:txBody>
      </p:sp>
      <p:sp>
        <p:nvSpPr>
          <p:cNvPr id="3" name="Espace réservé du contenu 2">
            <a:extLst>
              <a:ext uri="{FF2B5EF4-FFF2-40B4-BE49-F238E27FC236}">
                <a16:creationId xmlns:a16="http://schemas.microsoft.com/office/drawing/2014/main" id="{FD56B031-4DE8-760B-30AC-514F0F54A9BF}"/>
              </a:ext>
            </a:extLst>
          </p:cNvPr>
          <p:cNvSpPr>
            <a:spLocks noGrp="1"/>
          </p:cNvSpPr>
          <p:nvPr>
            <p:ph sz="half" idx="2"/>
          </p:nvPr>
        </p:nvSpPr>
        <p:spPr/>
        <p:txBody>
          <a:bodyPr/>
          <a:lstStyle/>
          <a:p>
            <a:r>
              <a:rPr lang="en-GB" noProof="0" dirty="0"/>
              <a:t>US Retail: Automobile dealers (quarterly)</a:t>
            </a:r>
          </a:p>
        </p:txBody>
      </p:sp>
      <p:sp>
        <p:nvSpPr>
          <p:cNvPr id="4" name="Espace réservé du pied de page 3">
            <a:extLst>
              <a:ext uri="{FF2B5EF4-FFF2-40B4-BE49-F238E27FC236}">
                <a16:creationId xmlns:a16="http://schemas.microsoft.com/office/drawing/2014/main" id="{E701839D-51C4-A4F6-4F6B-B979DC710AF7}"/>
              </a:ext>
            </a:extLst>
          </p:cNvPr>
          <p:cNvSpPr>
            <a:spLocks noGrp="1"/>
          </p:cNvSpPr>
          <p:nvPr>
            <p:ph type="ftr" sz="quarter" idx="4294967295"/>
          </p:nvPr>
        </p:nvSpPr>
        <p:spPr>
          <a:xfrm>
            <a:off x="0" y="0"/>
            <a:ext cx="0" cy="0"/>
          </a:xfrm>
        </p:spPr>
        <p:txBody>
          <a:bodyPr/>
          <a:lstStyle/>
          <a:p>
            <a:r>
              <a:rPr lang="en-GB" noProof="0" dirty="0"/>
              <a:t>ESTP Training. Seasonal adjustment</a:t>
            </a:r>
          </a:p>
        </p:txBody>
      </p:sp>
      <p:graphicFrame>
        <p:nvGraphicFramePr>
          <p:cNvPr id="8" name="Tableau 7">
            <a:extLst>
              <a:ext uri="{FF2B5EF4-FFF2-40B4-BE49-F238E27FC236}">
                <a16:creationId xmlns:a16="http://schemas.microsoft.com/office/drawing/2014/main" id="{925CDAA5-21D0-D58B-6A3A-5F97C0EB4009}"/>
              </a:ext>
            </a:extLst>
          </p:cNvPr>
          <p:cNvGraphicFramePr>
            <a:graphicFrameLocks noGrp="1"/>
          </p:cNvGraphicFramePr>
          <p:nvPr>
            <p:extLst>
              <p:ext uri="{D42A27DB-BD31-4B8C-83A1-F6EECF244321}">
                <p14:modId xmlns:p14="http://schemas.microsoft.com/office/powerpoint/2010/main" val="2769595543"/>
              </p:ext>
            </p:extLst>
          </p:nvPr>
        </p:nvGraphicFramePr>
        <p:xfrm>
          <a:off x="730989" y="1862255"/>
          <a:ext cx="10730022" cy="4098552"/>
        </p:xfrm>
        <a:graphic>
          <a:graphicData uri="http://schemas.openxmlformats.org/drawingml/2006/table">
            <a:tbl>
              <a:tblPr firstRow="1" bandRow="1">
                <a:tableStyleId>{073A0DAA-6AF3-43AB-8588-CEC1D06C72B9}</a:tableStyleId>
              </a:tblPr>
              <a:tblGrid>
                <a:gridCol w="3576674">
                  <a:extLst>
                    <a:ext uri="{9D8B030D-6E8A-4147-A177-3AD203B41FA5}">
                      <a16:colId xmlns:a16="http://schemas.microsoft.com/office/drawing/2014/main" val="120294651"/>
                    </a:ext>
                  </a:extLst>
                </a:gridCol>
                <a:gridCol w="3576674">
                  <a:extLst>
                    <a:ext uri="{9D8B030D-6E8A-4147-A177-3AD203B41FA5}">
                      <a16:colId xmlns:a16="http://schemas.microsoft.com/office/drawing/2014/main" val="4294134868"/>
                    </a:ext>
                  </a:extLst>
                </a:gridCol>
                <a:gridCol w="3576674">
                  <a:extLst>
                    <a:ext uri="{9D8B030D-6E8A-4147-A177-3AD203B41FA5}">
                      <a16:colId xmlns:a16="http://schemas.microsoft.com/office/drawing/2014/main" val="3941971931"/>
                    </a:ext>
                  </a:extLst>
                </a:gridCol>
              </a:tblGrid>
              <a:tr h="552893">
                <a:tc>
                  <a:txBody>
                    <a:bodyPr/>
                    <a:lstStyle/>
                    <a:p>
                      <a:r>
                        <a:rPr lang="en-GB" noProof="0" dirty="0"/>
                        <a:t>CAMPLET</a:t>
                      </a:r>
                    </a:p>
                  </a:txBody>
                  <a:tcPr/>
                </a:tc>
                <a:tc>
                  <a:txBody>
                    <a:bodyPr/>
                    <a:lstStyle/>
                    <a:p>
                      <a:r>
                        <a:rPr lang="en-GB" noProof="0" dirty="0"/>
                        <a:t>X11</a:t>
                      </a:r>
                    </a:p>
                  </a:txBody>
                  <a:tcPr/>
                </a:tc>
                <a:tc>
                  <a:txBody>
                    <a:bodyPr/>
                    <a:lstStyle/>
                    <a:p>
                      <a:r>
                        <a:rPr lang="en-GB" noProof="0" dirty="0"/>
                        <a:t>TRAMO-SEATS</a:t>
                      </a:r>
                    </a:p>
                  </a:txBody>
                  <a:tcPr/>
                </a:tc>
                <a:extLst>
                  <a:ext uri="{0D108BD9-81ED-4DB2-BD59-A6C34878D82A}">
                    <a16:rowId xmlns:a16="http://schemas.microsoft.com/office/drawing/2014/main" val="3712255288"/>
                  </a:ext>
                </a:extLst>
              </a:tr>
              <a:tr h="3545659">
                <a:tc>
                  <a:txBody>
                    <a:bodyPr/>
                    <a:lstStyle/>
                    <a:p>
                      <a:endParaRPr lang="en-GB" noProof="0" dirty="0"/>
                    </a:p>
                  </a:txBody>
                  <a:tcPr/>
                </a:tc>
                <a:tc>
                  <a:txBody>
                    <a:bodyPr/>
                    <a:lstStyle/>
                    <a:p>
                      <a:endParaRPr lang="en-GB" noProof="0" dirty="0"/>
                    </a:p>
                  </a:txBody>
                  <a:tcPr/>
                </a:tc>
                <a:tc>
                  <a:txBody>
                    <a:bodyPr/>
                    <a:lstStyle/>
                    <a:p>
                      <a:endParaRPr lang="en-GB" noProof="0" dirty="0"/>
                    </a:p>
                  </a:txBody>
                  <a:tcPr/>
                </a:tc>
                <a:extLst>
                  <a:ext uri="{0D108BD9-81ED-4DB2-BD59-A6C34878D82A}">
                    <a16:rowId xmlns:a16="http://schemas.microsoft.com/office/drawing/2014/main" val="487959285"/>
                  </a:ext>
                </a:extLst>
              </a:tr>
            </a:tbl>
          </a:graphicData>
        </a:graphic>
      </p:graphicFrame>
      <p:pic>
        <p:nvPicPr>
          <p:cNvPr id="14" name="Image 13">
            <a:extLst>
              <a:ext uri="{FF2B5EF4-FFF2-40B4-BE49-F238E27FC236}">
                <a16:creationId xmlns:a16="http://schemas.microsoft.com/office/drawing/2014/main" id="{35175AD1-B096-00D6-49B3-53A2CD0A98BC}"/>
              </a:ext>
            </a:extLst>
          </p:cNvPr>
          <p:cNvPicPr>
            <a:picLocks noChangeAspect="1"/>
          </p:cNvPicPr>
          <p:nvPr/>
        </p:nvPicPr>
        <p:blipFill>
          <a:blip r:embed="rId2"/>
          <a:stretch>
            <a:fillRect/>
          </a:stretch>
        </p:blipFill>
        <p:spPr>
          <a:xfrm>
            <a:off x="809294" y="2550336"/>
            <a:ext cx="3410947" cy="3193823"/>
          </a:xfrm>
          <a:prstGeom prst="rect">
            <a:avLst/>
          </a:prstGeom>
        </p:spPr>
      </p:pic>
      <p:pic>
        <p:nvPicPr>
          <p:cNvPr id="16" name="Image 15">
            <a:extLst>
              <a:ext uri="{FF2B5EF4-FFF2-40B4-BE49-F238E27FC236}">
                <a16:creationId xmlns:a16="http://schemas.microsoft.com/office/drawing/2014/main" id="{509683E7-48CB-2C91-7908-7F8CFCE8834A}"/>
              </a:ext>
            </a:extLst>
          </p:cNvPr>
          <p:cNvPicPr>
            <a:picLocks noChangeAspect="1"/>
          </p:cNvPicPr>
          <p:nvPr/>
        </p:nvPicPr>
        <p:blipFill>
          <a:blip r:embed="rId3"/>
          <a:stretch>
            <a:fillRect/>
          </a:stretch>
        </p:blipFill>
        <p:spPr>
          <a:xfrm>
            <a:off x="4404207" y="2560969"/>
            <a:ext cx="3410947" cy="3180760"/>
          </a:xfrm>
          <a:prstGeom prst="rect">
            <a:avLst/>
          </a:prstGeom>
        </p:spPr>
      </p:pic>
      <p:pic>
        <p:nvPicPr>
          <p:cNvPr id="20" name="Image 19">
            <a:extLst>
              <a:ext uri="{FF2B5EF4-FFF2-40B4-BE49-F238E27FC236}">
                <a16:creationId xmlns:a16="http://schemas.microsoft.com/office/drawing/2014/main" id="{6CD634A6-71D3-8699-91E8-A4BE9E10356B}"/>
              </a:ext>
            </a:extLst>
          </p:cNvPr>
          <p:cNvPicPr>
            <a:picLocks noChangeAspect="1"/>
          </p:cNvPicPr>
          <p:nvPr/>
        </p:nvPicPr>
        <p:blipFill>
          <a:blip r:embed="rId4"/>
          <a:stretch>
            <a:fillRect/>
          </a:stretch>
        </p:blipFill>
        <p:spPr>
          <a:xfrm>
            <a:off x="7938867" y="2560968"/>
            <a:ext cx="3459789" cy="3226307"/>
          </a:xfrm>
          <a:prstGeom prst="rect">
            <a:avLst/>
          </a:prstGeom>
        </p:spPr>
      </p:pic>
    </p:spTree>
    <p:extLst>
      <p:ext uri="{BB962C8B-B14F-4D97-AF65-F5344CB8AC3E}">
        <p14:creationId xmlns:p14="http://schemas.microsoft.com/office/powerpoint/2010/main" val="640251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19D74-80F8-4B32-8575-1B2DD139F2C2}"/>
              </a:ext>
            </a:extLst>
          </p:cNvPr>
          <p:cNvSpPr>
            <a:spLocks noGrp="1"/>
          </p:cNvSpPr>
          <p:nvPr>
            <p:ph type="title"/>
          </p:nvPr>
        </p:nvSpPr>
        <p:spPr/>
        <p:txBody>
          <a:bodyPr/>
          <a:lstStyle/>
          <a:p>
            <a:r>
              <a:rPr lang="en-GB" noProof="0" dirty="0"/>
              <a:t>5. Final remarks</a:t>
            </a:r>
          </a:p>
        </p:txBody>
      </p:sp>
      <p:sp>
        <p:nvSpPr>
          <p:cNvPr id="4" name="Espace réservé du numéro de diapositive 3">
            <a:extLst>
              <a:ext uri="{FF2B5EF4-FFF2-40B4-BE49-F238E27FC236}">
                <a16:creationId xmlns:a16="http://schemas.microsoft.com/office/drawing/2014/main" id="{4F3FF027-F030-A44A-DFB1-EAC01371A65A}"/>
              </a:ext>
            </a:extLst>
          </p:cNvPr>
          <p:cNvSpPr>
            <a:spLocks noGrp="1"/>
          </p:cNvSpPr>
          <p:nvPr>
            <p:ph type="sldNum" idx="12"/>
          </p:nvPr>
        </p:nvSpPr>
        <p:spPr/>
        <p:txBody>
          <a:bodyPr/>
          <a:lstStyle/>
          <a:p>
            <a:fld id="{1E1EA8E3-33CC-465E-BBDB-C5F5B41B1D80}" type="slidenum">
              <a:rPr lang="en-GB" smtClean="0"/>
              <a:t>17</a:t>
            </a:fld>
            <a:endParaRPr lang="en-GB"/>
          </a:p>
        </p:txBody>
      </p:sp>
      <p:sp>
        <p:nvSpPr>
          <p:cNvPr id="3" name="Content Placeholder 2">
            <a:extLst>
              <a:ext uri="{FF2B5EF4-FFF2-40B4-BE49-F238E27FC236}">
                <a16:creationId xmlns:a16="http://schemas.microsoft.com/office/drawing/2014/main" id="{035D4CE9-0A1D-4AF7-ABF4-C9361D2E5AFD}"/>
              </a:ext>
            </a:extLst>
          </p:cNvPr>
          <p:cNvSpPr>
            <a:spLocks noGrp="1"/>
          </p:cNvSpPr>
          <p:nvPr>
            <p:ph sz="half" idx="2"/>
          </p:nvPr>
        </p:nvSpPr>
        <p:spPr/>
        <p:txBody>
          <a:bodyPr/>
          <a:lstStyle/>
          <a:p>
            <a:r>
              <a:rPr lang="en-GB" sz="2400" noProof="0" dirty="0"/>
              <a:t>Need to understand the principles of the main algorithms (not all the technical details)</a:t>
            </a:r>
          </a:p>
          <a:p>
            <a:pPr lvl="1"/>
            <a:r>
              <a:rPr lang="en-GB" sz="2000" noProof="0" dirty="0"/>
              <a:t>Software automates many details</a:t>
            </a:r>
          </a:p>
          <a:p>
            <a:r>
              <a:rPr lang="en-GB" sz="2400" noProof="0" dirty="0"/>
              <a:t>Need for good quality reports</a:t>
            </a:r>
          </a:p>
          <a:p>
            <a:pPr lvl="1"/>
            <a:r>
              <a:rPr lang="en-GB" sz="2000" noProof="0" dirty="0"/>
              <a:t>Recall: </a:t>
            </a:r>
            <a:r>
              <a:rPr lang="en-GB" sz="2000" i="1" noProof="0" dirty="0"/>
              <a:t>“</a:t>
            </a:r>
            <a:r>
              <a:rPr lang="en-GB" sz="2800" i="1" noProof="0" dirty="0"/>
              <a:t>seasonally adjusted series should have neither residual seasonality nor residual calendar effects” +  should respect the hypotheses on the components</a:t>
            </a:r>
            <a:endParaRPr lang="en-GB" sz="2000" i="1" noProof="0" dirty="0"/>
          </a:p>
          <a:p>
            <a:r>
              <a:rPr lang="en-GB" sz="2400" noProof="0" dirty="0"/>
              <a:t>Need to “industrialize” the seasonal adjustment processing</a:t>
            </a:r>
          </a:p>
          <a:p>
            <a:pPr lvl="1"/>
            <a:r>
              <a:rPr lang="en-GB" sz="2000" noProof="0" dirty="0"/>
              <a:t>Additional request: </a:t>
            </a:r>
            <a:r>
              <a:rPr lang="en-GB" sz="2000" i="1" noProof="0" dirty="0"/>
              <a:t>“Seasonal adjustment procedures should generate consistent and robust results”</a:t>
            </a:r>
          </a:p>
          <a:p>
            <a:endParaRPr lang="en-GB" noProof="0" dirty="0"/>
          </a:p>
          <a:p>
            <a:endParaRPr lang="en-GB" noProof="0" dirty="0"/>
          </a:p>
        </p:txBody>
      </p:sp>
      <p:sp>
        <p:nvSpPr>
          <p:cNvPr id="5" name="Footer Placeholder 4">
            <a:extLst>
              <a:ext uri="{FF2B5EF4-FFF2-40B4-BE49-F238E27FC236}">
                <a16:creationId xmlns:a16="http://schemas.microsoft.com/office/drawing/2014/main" id="{47C33019-719F-45C7-910A-FF3E5A3AC703}"/>
              </a:ext>
            </a:extLst>
          </p:cNvPr>
          <p:cNvSpPr>
            <a:spLocks noGrp="1"/>
          </p:cNvSpPr>
          <p:nvPr>
            <p:ph type="ftr" sz="quarter" idx="4294967295"/>
          </p:nvPr>
        </p:nvSpPr>
        <p:spPr>
          <a:xfrm>
            <a:off x="0" y="0"/>
            <a:ext cx="0" cy="0"/>
          </a:xfrm>
        </p:spPr>
        <p:txBody>
          <a:bodyPr/>
          <a:lstStyle/>
          <a:p>
            <a:r>
              <a:rPr lang="en-GB" noProof="0" dirty="0"/>
              <a:t>ESTP Training. Seasonal adjustment</a:t>
            </a:r>
          </a:p>
        </p:txBody>
      </p:sp>
    </p:spTree>
    <p:extLst>
      <p:ext uri="{BB962C8B-B14F-4D97-AF65-F5344CB8AC3E}">
        <p14:creationId xmlns:p14="http://schemas.microsoft.com/office/powerpoint/2010/main" val="3430259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39CC45C-6ECF-1414-149F-897E6C17440A}"/>
              </a:ext>
            </a:extLst>
          </p:cNvPr>
          <p:cNvSpPr>
            <a:spLocks noGrp="1"/>
          </p:cNvSpPr>
          <p:nvPr>
            <p:ph type="body" idx="1"/>
          </p:nvPr>
        </p:nvSpPr>
        <p:spPr/>
        <p:txBody>
          <a:bodyPr/>
          <a:lstStyle/>
          <a:p>
            <a:endParaRPr lang="en-GB" noProof="0" dirty="0"/>
          </a:p>
        </p:txBody>
      </p:sp>
      <p:sp>
        <p:nvSpPr>
          <p:cNvPr id="3" name="Title 2">
            <a:extLst>
              <a:ext uri="{FF2B5EF4-FFF2-40B4-BE49-F238E27FC236}">
                <a16:creationId xmlns:a16="http://schemas.microsoft.com/office/drawing/2014/main" id="{B0CA729C-10AD-F90E-DB78-5A4E0B79E3B8}"/>
              </a:ext>
            </a:extLst>
          </p:cNvPr>
          <p:cNvSpPr>
            <a:spLocks noGrp="1"/>
          </p:cNvSpPr>
          <p:nvPr>
            <p:ph type="title"/>
          </p:nvPr>
        </p:nvSpPr>
        <p:spPr/>
        <p:txBody>
          <a:bodyPr/>
          <a:lstStyle/>
          <a:p>
            <a:endParaRPr lang="en-GB" noProof="0" dirty="0"/>
          </a:p>
        </p:txBody>
      </p:sp>
      <p:sp>
        <p:nvSpPr>
          <p:cNvPr id="4" name="Espace réservé du numéro de diapositive 3">
            <a:extLst>
              <a:ext uri="{FF2B5EF4-FFF2-40B4-BE49-F238E27FC236}">
                <a16:creationId xmlns:a16="http://schemas.microsoft.com/office/drawing/2014/main" id="{5B627E33-3EE2-3D50-3D36-5630AEFA6A74}"/>
              </a:ext>
            </a:extLst>
          </p:cNvPr>
          <p:cNvSpPr>
            <a:spLocks noGrp="1"/>
          </p:cNvSpPr>
          <p:nvPr>
            <p:ph type="sldNum" idx="12"/>
          </p:nvPr>
        </p:nvSpPr>
        <p:spPr/>
        <p:txBody>
          <a:bodyPr/>
          <a:lstStyle/>
          <a:p>
            <a:fld id="{00000000-1234-1234-1234-123412341234}" type="slidenum">
              <a:rPr lang="en-GB" smtClean="0"/>
              <a:pPr/>
              <a:t>18</a:t>
            </a:fld>
            <a:endParaRPr lang="en-GB"/>
          </a:p>
        </p:txBody>
      </p:sp>
    </p:spTree>
    <p:extLst>
      <p:ext uri="{BB962C8B-B14F-4D97-AF65-F5344CB8AC3E}">
        <p14:creationId xmlns:p14="http://schemas.microsoft.com/office/powerpoint/2010/main" val="11788438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3.3511"/>
  <p:tag name="SLIDO_PRESENTATION_ID" val="00000000-0000-0000-0000-000000000000"/>
  <p:tag name="SLIDO_EVENT_UUID" val="d5f05ec8-edda-47a7-a42e-90bbfcebfc5f"/>
  <p:tag name="SLIDO_EVENT_SECTION_UUID" val="71a6711e-5d0b-4e9f-9223-093e31161b77"/>
</p:tagLst>
</file>

<file path=ppt/theme/theme1.xml><?xml version="1.0" encoding="utf-8"?>
<a:theme xmlns:a="http://schemas.openxmlformats.org/drawingml/2006/main" name="ESTAT Theme">
  <a:themeElements>
    <a:clrScheme name="EC colour scheme">
      <a:dk1>
        <a:srgbClr val="4D4D4D"/>
      </a:dk1>
      <a:lt1>
        <a:srgbClr val="FFFFFF"/>
      </a:lt1>
      <a:dk2>
        <a:srgbClr val="034EA2"/>
      </a:dk2>
      <a:lt2>
        <a:srgbClr val="D3E8F9"/>
      </a:lt2>
      <a:accent1>
        <a:srgbClr val="1E858B"/>
      </a:accent1>
      <a:accent2>
        <a:srgbClr val="4BC5DE"/>
      </a:accent2>
      <a:accent3>
        <a:srgbClr val="1EC08A"/>
      </a:accent3>
      <a:accent4>
        <a:srgbClr val="ED8D2F"/>
      </a:accent4>
      <a:accent5>
        <a:srgbClr val="FFC000"/>
      </a:accent5>
      <a:accent6>
        <a:srgbClr val="E76C53"/>
      </a:accent6>
      <a:hlink>
        <a:srgbClr val="0563C1"/>
      </a:hlink>
      <a:folHlink>
        <a:srgbClr val="243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ESTAT PPT Template.potx" id="{44100892-7769-4A20-A750-3553371E0F2E}" vid="{905E760A-09FE-4DBA-89B6-DF3A5D6D095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6AA5C57F8EADE4E9CD6BB064C0C3195" ma:contentTypeVersion="16" ma:contentTypeDescription="Create a new document." ma:contentTypeScope="" ma:versionID="bb51c19a58f458ddcddd050a07659236">
  <xsd:schema xmlns:xsd="http://www.w3.org/2001/XMLSchema" xmlns:xs="http://www.w3.org/2001/XMLSchema" xmlns:p="http://schemas.microsoft.com/office/2006/metadata/properties" xmlns:ns2="0e422b70-e85d-4377-8ee0-b6227433d381" xmlns:ns3="199f642e-5af9-486c-ac06-f366742ef41a" targetNamespace="http://schemas.microsoft.com/office/2006/metadata/properties" ma:root="true" ma:fieldsID="0ee7a3bac0352a48a43420936abd968a" ns2:_="" ns3:_="">
    <xsd:import namespace="0e422b70-e85d-4377-8ee0-b6227433d381"/>
    <xsd:import namespace="199f642e-5af9-486c-ac06-f366742ef41a"/>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DateTaken" minOccurs="0"/>
                <xsd:element ref="ns2:MediaLengthInSecond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422b70-e85d-4377-8ee0-b6227433d38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22b2fad6-9d2c-441c-a321-3f5f1e9bd928"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99f642e-5af9-486c-ac06-f366742ef41a"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22defd33-e0ca-4991-a4bb-5bf1ac0b491c}" ma:internalName="TaxCatchAll" ma:showField="CatchAllData" ma:web="199f642e-5af9-486c-ac06-f366742ef41a">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e422b70-e85d-4377-8ee0-b6227433d381">
      <Terms xmlns="http://schemas.microsoft.com/office/infopath/2007/PartnerControls"/>
    </lcf76f155ced4ddcb4097134ff3c332f>
    <TaxCatchAll xmlns="199f642e-5af9-486c-ac06-f366742ef41a"/>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4B464EA-1576-49DD-9675-1E3399D4D1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422b70-e85d-4377-8ee0-b6227433d381"/>
    <ds:schemaRef ds:uri="199f642e-5af9-486c-ac06-f366742ef4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D6C293B-B8B4-4284-A17E-9F9E4C32B25A}">
  <ds:schemaRefs>
    <ds:schemaRef ds:uri="http://schemas.microsoft.com/office/2006/documentManagement/types"/>
    <ds:schemaRef ds:uri="http://purl.org/dc/elements/1.1/"/>
    <ds:schemaRef ds:uri="http://purl.org/dc/terms/"/>
    <ds:schemaRef ds:uri="http://purl.org/dc/dcmitype/"/>
    <ds:schemaRef ds:uri="0e422b70-e85d-4377-8ee0-b6227433d381"/>
    <ds:schemaRef ds:uri="http://schemas.microsoft.com/office/infopath/2007/PartnerControls"/>
    <ds:schemaRef ds:uri="199f642e-5af9-486c-ac06-f366742ef41a"/>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67DD9E9F-9EEB-4105-B29B-819486C285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ESTAT PPT Template</Template>
  <TotalTime>253</TotalTime>
  <Words>1206</Words>
  <Application>Microsoft Office PowerPoint</Application>
  <PresentationFormat>Grand écran</PresentationFormat>
  <Paragraphs>387</Paragraphs>
  <Slides>18</Slides>
  <Notes>2</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18</vt:i4>
      </vt:variant>
    </vt:vector>
  </HeadingPairs>
  <TitlesOfParts>
    <vt:vector size="24" baseType="lpstr">
      <vt:lpstr>Aptos Narrow</vt:lpstr>
      <vt:lpstr>Arial</vt:lpstr>
      <vt:lpstr>Calibri</vt:lpstr>
      <vt:lpstr>Cambria Math</vt:lpstr>
      <vt:lpstr>Myriad Pro Light SemiCond</vt:lpstr>
      <vt:lpstr>ESTAT Theme</vt:lpstr>
      <vt:lpstr>1 Seasonal adjustment</vt:lpstr>
      <vt:lpstr>0. Outline</vt:lpstr>
      <vt:lpstr>1. ESS Guidelines (2024)</vt:lpstr>
      <vt:lpstr>Présentation PowerPoint</vt:lpstr>
      <vt:lpstr>2.1 Series decomposition</vt:lpstr>
      <vt:lpstr>2.2 Expected properties of the components</vt:lpstr>
      <vt:lpstr>2.3 Non unicity of the series decomposition</vt:lpstr>
      <vt:lpstr>2.4 Other expected properties of the decomposition</vt:lpstr>
      <vt:lpstr>3. Rapid overview of common SA methods</vt:lpstr>
      <vt:lpstr>3. Rapid overview of common SA methods</vt:lpstr>
      <vt:lpstr>4.1.1 Some examples</vt:lpstr>
      <vt:lpstr>4.1.2 Some examples</vt:lpstr>
      <vt:lpstr>4.2.1 Some examples. Diagnostics</vt:lpstr>
      <vt:lpstr>4.2.2 Some examples. Diagnostics</vt:lpstr>
      <vt:lpstr>4.2.3 Some examples. Diagnostics</vt:lpstr>
      <vt:lpstr>4.3 Some examples. Seasonal pattern</vt:lpstr>
      <vt:lpstr>5. Final remarks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title title title title title title title title title title title title</dc:title>
  <dc:creator>HANZEVACKI Andrej (ESTAT)</dc:creator>
  <cp:lastModifiedBy>Jean Palate</cp:lastModifiedBy>
  <cp:revision>92</cp:revision>
  <dcterms:created xsi:type="dcterms:W3CDTF">2024-11-22T11:11:00Z</dcterms:created>
  <dcterms:modified xsi:type="dcterms:W3CDTF">2026-10-01T08:03:19Z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0x010100E6AA5C57F8EADE4E9CD6BB064C0C3195</vt:lpwstr>
  </property>
  <property fmtid="{D5CDD505-2E9C-101B-9397-08002B2CF9AE}" pid="3" name="MSIP_Label_6bd9ddd1-4d20-43f6-abfa-fc3c07406f94_Enabled">
    <vt:lpwstr>true</vt:lpwstr>
  </property>
  <property fmtid="{D5CDD505-2E9C-101B-9397-08002B2CF9AE}" pid="4" name="MSIP_Label_6bd9ddd1-4d20-43f6-abfa-fc3c07406f94_SetDate">
    <vt:lpwstr>2023-09-26T10:27:54Z</vt:lpwstr>
  </property>
  <property fmtid="{D5CDD505-2E9C-101B-9397-08002B2CF9AE}" pid="5" name="MSIP_Label_6bd9ddd1-4d20-43f6-abfa-fc3c07406f94_Method">
    <vt:lpwstr>Standard</vt:lpwstr>
  </property>
  <property fmtid="{D5CDD505-2E9C-101B-9397-08002B2CF9AE}" pid="6" name="MSIP_Label_6bd9ddd1-4d20-43f6-abfa-fc3c07406f94_Name">
    <vt:lpwstr>Commission Use</vt:lpwstr>
  </property>
  <property fmtid="{D5CDD505-2E9C-101B-9397-08002B2CF9AE}" pid="7" name="MSIP_Label_6bd9ddd1-4d20-43f6-abfa-fc3c07406f94_SiteId">
    <vt:lpwstr>b24c8b06-522c-46fe-9080-70926f8dddb1</vt:lpwstr>
  </property>
  <property fmtid="{D5CDD505-2E9C-101B-9397-08002B2CF9AE}" pid="8" name="MSIP_Label_6bd9ddd1-4d20-43f6-abfa-fc3c07406f94_ActionId">
    <vt:lpwstr>5f9041e0-26c3-439f-9557-91c751557f9e</vt:lpwstr>
  </property>
  <property fmtid="{D5CDD505-2E9C-101B-9397-08002B2CF9AE}" pid="9" name="MSIP_Label_6bd9ddd1-4d20-43f6-abfa-fc3c07406f94_ContentBits">
    <vt:lpwstr>0</vt:lpwstr>
  </property>
  <property fmtid="{D5CDD505-2E9C-101B-9397-08002B2CF9AE}" pid="10" name="SlidoAppVersion">
    <vt:lpwstr>1.5.3.3511</vt:lpwstr>
  </property>
  <property fmtid="{D5CDD505-2E9C-101B-9397-08002B2CF9AE}" pid="11" name="MediaServiceImageTags">
    <vt:lpwstr/>
  </property>
</Properties>
</file>