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4"/>
  </p:sldMasterIdLst>
  <p:notesMasterIdLst>
    <p:notesMasterId r:id="rId18"/>
  </p:notesMasterIdLst>
  <p:handoutMasterIdLst>
    <p:handoutMasterId r:id="rId19"/>
  </p:handoutMasterIdLst>
  <p:sldIdLst>
    <p:sldId id="256" r:id="rId5"/>
    <p:sldId id="283" r:id="rId6"/>
    <p:sldId id="284" r:id="rId7"/>
    <p:sldId id="288" r:id="rId8"/>
    <p:sldId id="289" r:id="rId9"/>
    <p:sldId id="285" r:id="rId10"/>
    <p:sldId id="279" r:id="rId11"/>
    <p:sldId id="280" r:id="rId12"/>
    <p:sldId id="281" r:id="rId13"/>
    <p:sldId id="290" r:id="rId14"/>
    <p:sldId id="286" r:id="rId15"/>
    <p:sldId id="258" r:id="rId16"/>
    <p:sldId id="261" r:id="rId17"/>
  </p:sldIdLst>
  <p:sldSz cx="12192000" cy="6858000"/>
  <p:notesSz cx="6858000" cy="9144000"/>
  <p:custDataLst>
    <p:tags r:id="rId20"/>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092">
          <p15:clr>
            <a:srgbClr val="A4A3A4"/>
          </p15:clr>
        </p15:guide>
        <p15:guide id="2" pos="3840">
          <p15:clr>
            <a:srgbClr val="A4A3A4"/>
          </p15:clr>
        </p15:guide>
      </p15:sldGuideLst>
    </p:ext>
    <p:ext uri="{2D200454-40CA-4A62-9FC3-DE9A4176ACB9}">
      <p15:notesGuideLst xmlns:p15="http://schemas.microsoft.com/office/powerpoint/2012/main"/>
    </p:ext>
    <p:ext uri="http://customooxmlschemas.google.com/">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59" roundtripDataSignature="AMtx7mh3YP3xexYcFoahXa2ehi0H5V4Za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44A7"/>
    <a:srgbClr val="101010"/>
    <a:srgbClr val="F4F4F4"/>
    <a:srgbClr val="104F99"/>
    <a:srgbClr val="0E47CB"/>
    <a:srgbClr val="003180"/>
    <a:srgbClr val="0A2744"/>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AA4A9A-08D4-41EC-A222-5D5926BFFED6}" v="2" dt="2025-07-04T13:46:36.3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645" autoAdjust="0"/>
    <p:restoredTop sz="81100" autoAdjust="0"/>
  </p:normalViewPr>
  <p:slideViewPr>
    <p:cSldViewPr snapToGrid="0">
      <p:cViewPr varScale="1">
        <p:scale>
          <a:sx n="90" d="100"/>
          <a:sy n="90" d="100"/>
        </p:scale>
        <p:origin x="1122" y="84"/>
      </p:cViewPr>
      <p:guideLst>
        <p:guide orient="horz" pos="2092"/>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75" d="100"/>
          <a:sy n="75" d="100"/>
        </p:scale>
        <p:origin x="2938"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63"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59" Type="http://customschemas.google.com/relationships/presentationmetadata" Target="meta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ags" Target="tags/tag1.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61"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handoutMaster" Target="handoutMasters/handoutMaster1.xml"/><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64"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66D6800-DB9C-EBAC-83AC-5F9D7E2C8B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a:extLst>
              <a:ext uri="{FF2B5EF4-FFF2-40B4-BE49-F238E27FC236}">
                <a16:creationId xmlns:a16="http://schemas.microsoft.com/office/drawing/2014/main" id="{BDED1430-DB1F-C50E-E2CC-369D36DF276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CBFB8CE-488C-4A7E-87F2-3AF6127C51C1}" type="datetimeFigureOut">
              <a:rPr lang="en-IE" smtClean="0"/>
              <a:t>27/08/2026</a:t>
            </a:fld>
            <a:endParaRPr lang="en-IE"/>
          </a:p>
        </p:txBody>
      </p:sp>
      <p:sp>
        <p:nvSpPr>
          <p:cNvPr id="4" name="Footer Placeholder 3">
            <a:extLst>
              <a:ext uri="{FF2B5EF4-FFF2-40B4-BE49-F238E27FC236}">
                <a16:creationId xmlns:a16="http://schemas.microsoft.com/office/drawing/2014/main" id="{E41B46C1-E31F-1BE5-CF29-FC2D8EA3E24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5" name="Slide Number Placeholder 4">
            <a:extLst>
              <a:ext uri="{FF2B5EF4-FFF2-40B4-BE49-F238E27FC236}">
                <a16:creationId xmlns:a16="http://schemas.microsoft.com/office/drawing/2014/main" id="{24A38F49-91A1-E3F0-770A-4578CF8E586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B9F2F4C-E206-483F-A4B8-E82471BA527C}" type="slidenum">
              <a:rPr lang="en-IE" smtClean="0"/>
              <a:t>‹N°›</a:t>
            </a:fld>
            <a:endParaRPr lang="en-IE"/>
          </a:p>
        </p:txBody>
      </p:sp>
    </p:spTree>
    <p:extLst>
      <p:ext uri="{BB962C8B-B14F-4D97-AF65-F5344CB8AC3E}">
        <p14:creationId xmlns:p14="http://schemas.microsoft.com/office/powerpoint/2010/main" val="26198277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reserve="1" userDrawn="1">
  <p:cSld name=" Title Slide">
    <p:spTree>
      <p:nvGrpSpPr>
        <p:cNvPr id="1" name="Shape 14"/>
        <p:cNvGrpSpPr/>
        <p:nvPr/>
      </p:nvGrpSpPr>
      <p:grpSpPr>
        <a:xfrm>
          <a:off x="0" y="0"/>
          <a:ext cx="0" cy="0"/>
          <a:chOff x="0" y="0"/>
          <a:chExt cx="0" cy="0"/>
        </a:xfrm>
      </p:grpSpPr>
      <p:pic>
        <p:nvPicPr>
          <p:cNvPr id="3" name="Picture 2">
            <a:extLst>
              <a:ext uri="{FF2B5EF4-FFF2-40B4-BE49-F238E27FC236}">
                <a16:creationId xmlns:a16="http://schemas.microsoft.com/office/drawing/2014/main" id="{CD898605-EE7A-6AAE-447A-080B2C6D2258}"/>
              </a:ext>
            </a:extLst>
          </p:cNvPr>
          <p:cNvPicPr>
            <a:picLocks noGrp="1" noRot="1" noChangeAspect="1" noMove="1" noResize="1" noEditPoints="1" noAdjustHandles="1" noChangeArrowheads="1" noChangeShapeType="1" noCrop="1"/>
          </p:cNvPicPr>
          <p:nvPr userDrawn="1"/>
        </p:nvPicPr>
        <p:blipFill>
          <a:blip r:embed="rId2"/>
          <a:srcRect t="3042" b="3042"/>
          <a:stretch/>
        </p:blipFill>
        <p:spPr>
          <a:xfrm>
            <a:off x="-918" y="0"/>
            <a:ext cx="12192001" cy="6866879"/>
          </a:xfrm>
          <a:prstGeom prst="rect">
            <a:avLst/>
          </a:prstGeom>
        </p:spPr>
      </p:pic>
      <p:sp>
        <p:nvSpPr>
          <p:cNvPr id="19" name="Google Shape;19;p22"/>
          <p:cNvSpPr txBox="1">
            <a:spLocks noGrp="1"/>
          </p:cNvSpPr>
          <p:nvPr>
            <p:ph type="subTitle" idx="1"/>
          </p:nvPr>
        </p:nvSpPr>
        <p:spPr>
          <a:xfrm>
            <a:off x="1112521" y="3277775"/>
            <a:ext cx="3957106" cy="1745469"/>
          </a:xfrm>
          <a:prstGeom prst="rect">
            <a:avLst/>
          </a:prstGeom>
          <a:noFill/>
          <a:ln>
            <a:noFill/>
          </a:ln>
        </p:spPr>
        <p:txBody>
          <a:bodyPr spcFirstLastPara="1" wrap="square" lIns="91425" tIns="45700" rIns="91425" bIns="45700" anchor="t" anchorCtr="0">
            <a:noAutofit/>
          </a:bodyPr>
          <a:lstStyle>
            <a:lvl1pPr marL="0" lvl="0" algn="l">
              <a:lnSpc>
                <a:spcPct val="100000"/>
              </a:lnSpc>
              <a:spcBef>
                <a:spcPts val="0"/>
              </a:spcBef>
              <a:spcAft>
                <a:spcPts val="0"/>
              </a:spcAft>
              <a:buSzPts val="2800"/>
              <a:buNone/>
              <a:defRPr sz="2800" i="0">
                <a:solidFill>
                  <a:schemeClr val="bg1"/>
                </a:solidFill>
              </a:defRPr>
            </a:lvl1pPr>
            <a:lvl2pPr lvl="1" algn="ctr">
              <a:lnSpc>
                <a:spcPct val="100000"/>
              </a:lnSpc>
              <a:spcBef>
                <a:spcPts val="1800"/>
              </a:spcBef>
              <a:spcAft>
                <a:spcPts val="0"/>
              </a:spcAft>
              <a:buSzPts val="2000"/>
              <a:buNone/>
              <a:defRPr sz="2000"/>
            </a:lvl2pPr>
            <a:lvl3pPr lvl="2" algn="ctr">
              <a:lnSpc>
                <a:spcPct val="100000"/>
              </a:lnSpc>
              <a:spcBef>
                <a:spcPts val="1800"/>
              </a:spcBef>
              <a:spcAft>
                <a:spcPts val="0"/>
              </a:spcAft>
              <a:buSzPts val="1800"/>
              <a:buNone/>
              <a:defRPr sz="1800"/>
            </a:lvl3pPr>
            <a:lvl4pPr lvl="3" algn="ctr">
              <a:lnSpc>
                <a:spcPct val="100000"/>
              </a:lnSpc>
              <a:spcBef>
                <a:spcPts val="1800"/>
              </a:spcBef>
              <a:spcAft>
                <a:spcPts val="0"/>
              </a:spcAft>
              <a:buSzPts val="1600"/>
              <a:buNone/>
              <a:defRPr sz="1600"/>
            </a:lvl4pPr>
            <a:lvl5pPr lvl="4" algn="ctr">
              <a:lnSpc>
                <a:spcPct val="100000"/>
              </a:lnSpc>
              <a:spcBef>
                <a:spcPts val="1800"/>
              </a:spcBef>
              <a:spcAft>
                <a:spcPts val="0"/>
              </a:spcAft>
              <a:buSzPts val="1600"/>
              <a:buNone/>
              <a:defRPr sz="1600"/>
            </a:lvl5pPr>
            <a:lvl6pPr lvl="5" algn="ctr">
              <a:lnSpc>
                <a:spcPct val="90000"/>
              </a:lnSpc>
              <a:spcBef>
                <a:spcPts val="18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r>
              <a:rPr lang="en-US" dirty="0"/>
              <a:t>Click to edit Master subtitle style</a:t>
            </a:r>
            <a:endParaRPr dirty="0"/>
          </a:p>
        </p:txBody>
      </p:sp>
      <p:pic>
        <p:nvPicPr>
          <p:cNvPr id="5" name="Picture 4">
            <a:extLst>
              <a:ext uri="{FF2B5EF4-FFF2-40B4-BE49-F238E27FC236}">
                <a16:creationId xmlns:a16="http://schemas.microsoft.com/office/drawing/2014/main" id="{0D09F257-77BC-80DD-CDE4-F5B22D79517B}"/>
              </a:ext>
            </a:extLst>
          </p:cNvPr>
          <p:cNvPicPr>
            <a:picLocks noChangeAspect="1"/>
          </p:cNvPicPr>
          <p:nvPr userDrawn="1"/>
        </p:nvPicPr>
        <p:blipFill>
          <a:blip r:embed="rId3"/>
          <a:srcRect/>
          <a:stretch/>
        </p:blipFill>
        <p:spPr>
          <a:xfrm>
            <a:off x="7381876" y="3596720"/>
            <a:ext cx="4224858" cy="1374485"/>
          </a:xfrm>
          <a:prstGeom prst="rect">
            <a:avLst/>
          </a:prstGeom>
        </p:spPr>
      </p:pic>
      <p:sp>
        <p:nvSpPr>
          <p:cNvPr id="16" name="Title 15">
            <a:extLst>
              <a:ext uri="{FF2B5EF4-FFF2-40B4-BE49-F238E27FC236}">
                <a16:creationId xmlns:a16="http://schemas.microsoft.com/office/drawing/2014/main" id="{784A076C-4C5D-810C-C205-F06C491692A3}"/>
              </a:ext>
            </a:extLst>
          </p:cNvPr>
          <p:cNvSpPr>
            <a:spLocks noGrp="1"/>
          </p:cNvSpPr>
          <p:nvPr>
            <p:ph type="title"/>
          </p:nvPr>
        </p:nvSpPr>
        <p:spPr>
          <a:xfrm>
            <a:off x="1112521" y="885018"/>
            <a:ext cx="9448800" cy="2037783"/>
          </a:xfrm>
        </p:spPr>
        <p:txBody>
          <a:bodyPr anchor="ctr"/>
          <a:lstStyle>
            <a:lvl1pPr>
              <a:defRPr sz="4800">
                <a:solidFill>
                  <a:schemeClr val="bg1"/>
                </a:solidFill>
              </a:defRPr>
            </a:lvl1pPr>
          </a:lstStyle>
          <a:p>
            <a:r>
              <a:rPr lang="en-US" dirty="0"/>
              <a:t>Click to edit Master title style</a:t>
            </a:r>
            <a:endParaRPr lang="en-IE" dirty="0"/>
          </a:p>
        </p:txBody>
      </p:sp>
      <p:sp>
        <p:nvSpPr>
          <p:cNvPr id="24" name="Text Placeholder 23">
            <a:extLst>
              <a:ext uri="{FF2B5EF4-FFF2-40B4-BE49-F238E27FC236}">
                <a16:creationId xmlns:a16="http://schemas.microsoft.com/office/drawing/2014/main" id="{E5F2B0E4-A35A-CFA1-4E98-55EAD82CE82B}"/>
              </a:ext>
            </a:extLst>
          </p:cNvPr>
          <p:cNvSpPr>
            <a:spLocks noGrp="1"/>
          </p:cNvSpPr>
          <p:nvPr>
            <p:ph type="body" sz="quarter" idx="10"/>
          </p:nvPr>
        </p:nvSpPr>
        <p:spPr>
          <a:xfrm>
            <a:off x="1307994" y="5771588"/>
            <a:ext cx="2509626" cy="777875"/>
          </a:xfrm>
        </p:spPr>
        <p:txBody>
          <a:bodyPr/>
          <a:lstStyle>
            <a:lvl1pPr marL="0" indent="0">
              <a:buNone/>
              <a:defRPr sz="2000">
                <a:solidFill>
                  <a:schemeClr val="bg1"/>
                </a:solidFill>
              </a:defRPr>
            </a:lvl1pPr>
          </a:lstStyle>
          <a:p>
            <a:pPr lvl="0"/>
            <a:r>
              <a:rPr lang="en-US" dirty="0"/>
              <a:t>Click to edit Master text styles</a:t>
            </a:r>
          </a:p>
        </p:txBody>
      </p:sp>
    </p:spTree>
    <p:extLst>
      <p:ext uri="{BB962C8B-B14F-4D97-AF65-F5344CB8AC3E}">
        <p14:creationId xmlns:p14="http://schemas.microsoft.com/office/powerpoint/2010/main" val="31594073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5" name="Picture 4">
            <a:extLst>
              <a:ext uri="{FF2B5EF4-FFF2-40B4-BE49-F238E27FC236}">
                <a16:creationId xmlns:a16="http://schemas.microsoft.com/office/drawing/2014/main" id="{1F3BA733-25B6-C4BB-1150-48850654F2C6}"/>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6" name="Picture 5">
            <a:extLst>
              <a:ext uri="{FF2B5EF4-FFF2-40B4-BE49-F238E27FC236}">
                <a16:creationId xmlns:a16="http://schemas.microsoft.com/office/drawing/2014/main" id="{3BD3E27D-21BB-B8BD-0101-611C3D7A991F}"/>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4" name="Content Placeholder 3">
            <a:extLst>
              <a:ext uri="{FF2B5EF4-FFF2-40B4-BE49-F238E27FC236}">
                <a16:creationId xmlns:a16="http://schemas.microsoft.com/office/drawing/2014/main" id="{B938CD64-6B9A-81A2-BDB2-55DA96C9E7A9}"/>
              </a:ext>
            </a:extLst>
          </p:cNvPr>
          <p:cNvSpPr>
            <a:spLocks noGrp="1"/>
          </p:cNvSpPr>
          <p:nvPr>
            <p:ph sz="half" idx="2"/>
          </p:nvPr>
        </p:nvSpPr>
        <p:spPr>
          <a:xfrm>
            <a:off x="970722" y="1901951"/>
            <a:ext cx="10515597" cy="4194176"/>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3335037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2">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6" name="Picture 5">
            <a:extLst>
              <a:ext uri="{FF2B5EF4-FFF2-40B4-BE49-F238E27FC236}">
                <a16:creationId xmlns:a16="http://schemas.microsoft.com/office/drawing/2014/main" id="{B0491114-E7C3-4716-7109-6FDE72E853DE}"/>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7" name="Picture 6">
            <a:extLst>
              <a:ext uri="{FF2B5EF4-FFF2-40B4-BE49-F238E27FC236}">
                <a16:creationId xmlns:a16="http://schemas.microsoft.com/office/drawing/2014/main" id="{95C1ABAA-9559-8C24-1A56-0668CC664359}"/>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8" name="Content Placeholder 3">
            <a:extLst>
              <a:ext uri="{FF2B5EF4-FFF2-40B4-BE49-F238E27FC236}">
                <a16:creationId xmlns:a16="http://schemas.microsoft.com/office/drawing/2014/main" id="{EBC1E451-4262-316A-7418-6EF16E04908E}"/>
              </a:ext>
            </a:extLst>
          </p:cNvPr>
          <p:cNvSpPr>
            <a:spLocks noGrp="1"/>
          </p:cNvSpPr>
          <p:nvPr>
            <p:ph sz="half" idx="2"/>
          </p:nvPr>
        </p:nvSpPr>
        <p:spPr>
          <a:xfrm>
            <a:off x="970723"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Content Placeholder 3">
            <a:extLst>
              <a:ext uri="{FF2B5EF4-FFF2-40B4-BE49-F238E27FC236}">
                <a16:creationId xmlns:a16="http://schemas.microsoft.com/office/drawing/2014/main" id="{A0B9F341-14FC-51F5-105A-E4BFB54BFEDD}"/>
              </a:ext>
            </a:extLst>
          </p:cNvPr>
          <p:cNvSpPr>
            <a:spLocks noGrp="1"/>
          </p:cNvSpPr>
          <p:nvPr>
            <p:ph sz="half" idx="16"/>
          </p:nvPr>
        </p:nvSpPr>
        <p:spPr>
          <a:xfrm>
            <a:off x="6533867"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928248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3">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sp>
        <p:nvSpPr>
          <p:cNvPr id="4" name="Text Placeholder 2">
            <a:extLst>
              <a:ext uri="{FF2B5EF4-FFF2-40B4-BE49-F238E27FC236}">
                <a16:creationId xmlns:a16="http://schemas.microsoft.com/office/drawing/2014/main" id="{949220B6-B4CB-BA59-8F58-4304C8D422BD}"/>
              </a:ext>
            </a:extLst>
          </p:cNvPr>
          <p:cNvSpPr>
            <a:spLocks noGrp="1"/>
          </p:cNvSpPr>
          <p:nvPr>
            <p:ph type="body" idx="1"/>
          </p:nvPr>
        </p:nvSpPr>
        <p:spPr>
          <a:xfrm>
            <a:off x="970723" y="1894895"/>
            <a:ext cx="5157787" cy="823912"/>
          </a:xfrm>
        </p:spPr>
        <p:txBody>
          <a:bodyPr wrap="square" anchor="t">
            <a:noAutofit/>
          </a:bodyPr>
          <a:lstStyle>
            <a:lvl1pPr marL="0" indent="0">
              <a:buNone/>
              <a:defRPr sz="2400" b="0" baseline="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sp>
        <p:nvSpPr>
          <p:cNvPr id="6" name="Content Placeholder 3">
            <a:extLst>
              <a:ext uri="{FF2B5EF4-FFF2-40B4-BE49-F238E27FC236}">
                <a16:creationId xmlns:a16="http://schemas.microsoft.com/office/drawing/2014/main" id="{BDB0ABC1-873A-F2DD-170F-E80FE4830D28}"/>
              </a:ext>
            </a:extLst>
          </p:cNvPr>
          <p:cNvSpPr>
            <a:spLocks noGrp="1"/>
          </p:cNvSpPr>
          <p:nvPr>
            <p:ph sz="half" idx="2"/>
          </p:nvPr>
        </p:nvSpPr>
        <p:spPr>
          <a:xfrm>
            <a:off x="970723" y="2725735"/>
            <a:ext cx="5157787"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4">
            <a:extLst>
              <a:ext uri="{FF2B5EF4-FFF2-40B4-BE49-F238E27FC236}">
                <a16:creationId xmlns:a16="http://schemas.microsoft.com/office/drawing/2014/main" id="{0057B6DC-82B6-DC47-2B36-FBA16BFA54D7}"/>
              </a:ext>
            </a:extLst>
          </p:cNvPr>
          <p:cNvSpPr>
            <a:spLocks noGrp="1"/>
          </p:cNvSpPr>
          <p:nvPr>
            <p:ph type="body" sz="quarter" idx="3"/>
          </p:nvPr>
        </p:nvSpPr>
        <p:spPr>
          <a:xfrm>
            <a:off x="6303134" y="1894895"/>
            <a:ext cx="5183188" cy="823912"/>
          </a:xfrm>
          <a:noFill/>
        </p:spPr>
        <p:txBody>
          <a:bodyPr wrap="square" anchor="t">
            <a:noAutofit/>
          </a:bodyPr>
          <a:lstStyle>
            <a:lvl1pPr marL="0" indent="0">
              <a:buNone/>
              <a:defRPr sz="2400" b="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pic>
        <p:nvPicPr>
          <p:cNvPr id="9" name="Picture 8">
            <a:extLst>
              <a:ext uri="{FF2B5EF4-FFF2-40B4-BE49-F238E27FC236}">
                <a16:creationId xmlns:a16="http://schemas.microsoft.com/office/drawing/2014/main" id="{6495916A-C750-070D-C528-9F655246DF58}"/>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10" name="Picture 9">
            <a:extLst>
              <a:ext uri="{FF2B5EF4-FFF2-40B4-BE49-F238E27FC236}">
                <a16:creationId xmlns:a16="http://schemas.microsoft.com/office/drawing/2014/main" id="{457D36BD-C483-ED07-0866-A0A591A01707}"/>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2" name="Content Placeholder 3">
            <a:extLst>
              <a:ext uri="{FF2B5EF4-FFF2-40B4-BE49-F238E27FC236}">
                <a16:creationId xmlns:a16="http://schemas.microsoft.com/office/drawing/2014/main" id="{A623D267-A36F-1DAC-4912-F35877117825}"/>
              </a:ext>
            </a:extLst>
          </p:cNvPr>
          <p:cNvSpPr>
            <a:spLocks noGrp="1"/>
          </p:cNvSpPr>
          <p:nvPr>
            <p:ph sz="half" idx="13"/>
          </p:nvPr>
        </p:nvSpPr>
        <p:spPr>
          <a:xfrm>
            <a:off x="6309559" y="2725735"/>
            <a:ext cx="5183188"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1473445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Last slide (option 1)" preserve="1" userDrawn="1">
  <p:cSld name="Last slide (option 1)">
    <p:spTree>
      <p:nvGrpSpPr>
        <p:cNvPr id="1" name="Shape 140"/>
        <p:cNvGrpSpPr/>
        <p:nvPr/>
      </p:nvGrpSpPr>
      <p:grpSpPr>
        <a:xfrm>
          <a:off x="0" y="0"/>
          <a:ext cx="0" cy="0"/>
          <a:chOff x="0" y="0"/>
          <a:chExt cx="0" cy="0"/>
        </a:xfrm>
      </p:grpSpPr>
      <p:sp>
        <p:nvSpPr>
          <p:cNvPr id="3" name="Google Shape;141;p37">
            <a:extLst>
              <a:ext uri="{FF2B5EF4-FFF2-40B4-BE49-F238E27FC236}">
                <a16:creationId xmlns:a16="http://schemas.microsoft.com/office/drawing/2014/main" id="{ACED6512-1BD5-58D6-D635-D62C0A34BF8C}"/>
              </a:ext>
            </a:extLst>
          </p:cNvPr>
          <p:cNvSpPr>
            <a:spLocks/>
          </p:cNvSpPr>
          <p:nvPr userDrawn="1"/>
        </p:nvSpPr>
        <p:spPr>
          <a:xfrm>
            <a:off x="0" y="3328560"/>
            <a:ext cx="12192000" cy="2913720"/>
          </a:xfrm>
          <a:prstGeom prst="rect">
            <a:avLst/>
          </a:prstGeom>
          <a:solidFill>
            <a:srgbClr val="2644A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rial"/>
              <a:ea typeface="Arial"/>
              <a:cs typeface="Arial"/>
              <a:sym typeface="Arial"/>
            </a:endParaRPr>
          </a:p>
        </p:txBody>
      </p:sp>
      <p:sp>
        <p:nvSpPr>
          <p:cNvPr id="144" name="Google Shape;144;p37"/>
          <p:cNvSpPr txBox="1">
            <a:spLocks noGrp="1"/>
          </p:cNvSpPr>
          <p:nvPr>
            <p:ph type="body" idx="1"/>
          </p:nvPr>
        </p:nvSpPr>
        <p:spPr>
          <a:xfrm>
            <a:off x="970723" y="3777422"/>
            <a:ext cx="6865686" cy="2174332"/>
          </a:xfrm>
          <a:prstGeom prst="rect">
            <a:avLst/>
          </a:prstGeom>
          <a:noFill/>
          <a:ln>
            <a:noFill/>
          </a:ln>
        </p:spPr>
        <p:txBody>
          <a:bodyPr spcFirstLastPara="1" wrap="square" lIns="91425" tIns="45700" rIns="91425" bIns="45700" anchor="t" anchorCtr="0">
            <a:noAutofit/>
          </a:bodyPr>
          <a:lstStyle>
            <a:lvl1pPr marL="0" lvl="0" indent="0" algn="l">
              <a:lnSpc>
                <a:spcPct val="100000"/>
              </a:lnSpc>
              <a:spcBef>
                <a:spcPts val="0"/>
              </a:spcBef>
              <a:spcAft>
                <a:spcPts val="0"/>
              </a:spcAft>
              <a:buSzPts val="1400"/>
              <a:buFont typeface="Arial"/>
              <a:buNone/>
              <a:defRPr sz="2400">
                <a:solidFill>
                  <a:srgbClr val="F4F4F4"/>
                </a:solidFill>
              </a:defRPr>
            </a:lvl1pPr>
            <a:lvl2pPr marL="914400" lvl="1" indent="-228600" algn="l">
              <a:lnSpc>
                <a:spcPct val="100000"/>
              </a:lnSpc>
              <a:spcBef>
                <a:spcPts val="1800"/>
              </a:spcBef>
              <a:spcAft>
                <a:spcPts val="0"/>
              </a:spcAft>
              <a:buSzPts val="2000"/>
              <a:buNone/>
              <a:defRPr/>
            </a:lvl2pPr>
            <a:lvl3pPr marL="1371600" lvl="2" indent="-342900" algn="l">
              <a:lnSpc>
                <a:spcPct val="100000"/>
              </a:lnSpc>
              <a:spcBef>
                <a:spcPts val="1800"/>
              </a:spcBef>
              <a:spcAft>
                <a:spcPts val="0"/>
              </a:spcAft>
              <a:buSzPts val="1800"/>
              <a:buChar char="•"/>
              <a:defRPr/>
            </a:lvl3pPr>
            <a:lvl4pPr marL="1828800" lvl="3" indent="-342900" algn="l">
              <a:lnSpc>
                <a:spcPct val="100000"/>
              </a:lnSpc>
              <a:spcBef>
                <a:spcPts val="1800"/>
              </a:spcBef>
              <a:spcAft>
                <a:spcPts val="0"/>
              </a:spcAft>
              <a:buSzPts val="1800"/>
              <a:buChar char="•"/>
              <a:defRPr/>
            </a:lvl4pPr>
            <a:lvl5pPr marL="2286000" lvl="4" indent="-342900" algn="l">
              <a:lnSpc>
                <a:spcPct val="100000"/>
              </a:lnSpc>
              <a:spcBef>
                <a:spcPts val="1800"/>
              </a:spcBef>
              <a:spcAft>
                <a:spcPts val="0"/>
              </a:spcAft>
              <a:buSzPts val="1800"/>
              <a:buChar char="•"/>
              <a:defRPr/>
            </a:lvl5pPr>
            <a:lvl6pPr marL="2743200" lvl="5" indent="-342900" algn="l">
              <a:lnSpc>
                <a:spcPct val="90000"/>
              </a:lnSpc>
              <a:spcBef>
                <a:spcPts val="18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dirty="0"/>
              <a:t>Click to edit Master text styles</a:t>
            </a:r>
          </a:p>
        </p:txBody>
      </p:sp>
      <p:pic>
        <p:nvPicPr>
          <p:cNvPr id="5" name="Picture 4">
            <a:extLst>
              <a:ext uri="{FF2B5EF4-FFF2-40B4-BE49-F238E27FC236}">
                <a16:creationId xmlns:a16="http://schemas.microsoft.com/office/drawing/2014/main" id="{3488A19F-A201-3EB2-A71E-1E51EF3E1B23}"/>
              </a:ext>
            </a:extLst>
          </p:cNvPr>
          <p:cNvPicPr>
            <a:picLocks noChangeAspect="1"/>
          </p:cNvPicPr>
          <p:nvPr userDrawn="1"/>
        </p:nvPicPr>
        <p:blipFill>
          <a:blip r:embed="rId2"/>
          <a:srcRect/>
          <a:stretch/>
        </p:blipFill>
        <p:spPr>
          <a:xfrm>
            <a:off x="8107569" y="3538903"/>
            <a:ext cx="2931525" cy="2412704"/>
          </a:xfrm>
          <a:prstGeom prst="rect">
            <a:avLst/>
          </a:prstGeom>
        </p:spPr>
      </p:pic>
      <p:sp>
        <p:nvSpPr>
          <p:cNvPr id="7" name="Title Placeholder 1">
            <a:extLst>
              <a:ext uri="{FF2B5EF4-FFF2-40B4-BE49-F238E27FC236}">
                <a16:creationId xmlns:a16="http://schemas.microsoft.com/office/drawing/2014/main" id="{9CD49B01-566F-CA34-C636-83E50BFD40E0}"/>
              </a:ext>
            </a:extLst>
          </p:cNvPr>
          <p:cNvSpPr>
            <a:spLocks noGrp="1"/>
          </p:cNvSpPr>
          <p:nvPr>
            <p:ph type="title"/>
          </p:nvPr>
        </p:nvSpPr>
        <p:spPr>
          <a:xfrm>
            <a:off x="970722" y="414281"/>
            <a:ext cx="10515600" cy="2937139"/>
          </a:xfrm>
          <a:prstGeom prst="rect">
            <a:avLst/>
          </a:prstGeom>
        </p:spPr>
        <p:txBody>
          <a:bodyPr vert="horz" lIns="91440" tIns="45720" rIns="91440" bIns="0" rtlCol="0" anchor="ctr" anchorCtr="0">
            <a:noAutofit/>
          </a:bodyPr>
          <a:lstStyle>
            <a:lvl1pPr algn="ctr">
              <a:defRPr sz="4800">
                <a:solidFill>
                  <a:srgbClr val="101010"/>
                </a:solidFill>
              </a:defRPr>
            </a:lvl1pPr>
          </a:lstStyle>
          <a:p>
            <a:r>
              <a:rPr lang="en-US" dirty="0"/>
              <a:t>Click to edit Master title style</a:t>
            </a:r>
            <a:endParaRPr lang="en-GB" dirty="0"/>
          </a:p>
        </p:txBody>
      </p:sp>
      <p:sp>
        <p:nvSpPr>
          <p:cNvPr id="8" name="Google Shape;10;p21">
            <a:extLst>
              <a:ext uri="{FF2B5EF4-FFF2-40B4-BE49-F238E27FC236}">
                <a16:creationId xmlns:a16="http://schemas.microsoft.com/office/drawing/2014/main" id="{C209E83E-F338-C8C6-D016-6C5FE194EA8B}"/>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2" name="Picture 1">
            <a:extLst>
              <a:ext uri="{FF2B5EF4-FFF2-40B4-BE49-F238E27FC236}">
                <a16:creationId xmlns:a16="http://schemas.microsoft.com/office/drawing/2014/main" id="{736B8EBF-8A1C-818A-CBBC-1DC51D94C547}"/>
              </a:ext>
            </a:extLst>
          </p:cNvPr>
          <p:cNvPicPr>
            <a:picLocks noChangeAspect="1"/>
          </p:cNvPicPr>
          <p:nvPr userDrawn="1"/>
        </p:nvPicPr>
        <p:blipFill>
          <a:blip r:embed="rId3"/>
          <a:srcRect/>
          <a:stretch/>
        </p:blipFill>
        <p:spPr>
          <a:xfrm>
            <a:off x="10326539" y="5728720"/>
            <a:ext cx="1865461" cy="1130560"/>
          </a:xfrm>
          <a:prstGeom prst="rect">
            <a:avLst/>
          </a:prstGeom>
        </p:spPr>
      </p:pic>
      <p:pic>
        <p:nvPicPr>
          <p:cNvPr id="10" name="Picture 9">
            <a:extLst>
              <a:ext uri="{FF2B5EF4-FFF2-40B4-BE49-F238E27FC236}">
                <a16:creationId xmlns:a16="http://schemas.microsoft.com/office/drawing/2014/main" id="{A8541C9F-06FD-4BC7-C438-D852985D159B}"/>
              </a:ext>
            </a:extLst>
          </p:cNvPr>
          <p:cNvPicPr>
            <a:picLocks noChangeAspect="1"/>
          </p:cNvPicPr>
          <p:nvPr userDrawn="1"/>
        </p:nvPicPr>
        <p:blipFill>
          <a:blip r:embed="rId4"/>
          <a:srcRect/>
          <a:stretch/>
        </p:blipFill>
        <p:spPr>
          <a:xfrm>
            <a:off x="424731" y="6499013"/>
            <a:ext cx="1332000" cy="181429"/>
          </a:xfrm>
          <a:prstGeom prst="rect">
            <a:avLst/>
          </a:prstGeom>
        </p:spPr>
      </p:pic>
    </p:spTree>
    <p:extLst>
      <p:ext uri="{BB962C8B-B14F-4D97-AF65-F5344CB8AC3E}">
        <p14:creationId xmlns:p14="http://schemas.microsoft.com/office/powerpoint/2010/main" val="7271498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69C75-35E1-43D5-84A1-C734143FD2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2C58106-EE41-4A7E-B370-FB6D2BDB6A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4352F8-667F-4665-97EB-09DC9D79424D}"/>
              </a:ext>
            </a:extLst>
          </p:cNvPr>
          <p:cNvSpPr>
            <a:spLocks noGrp="1"/>
          </p:cNvSpPr>
          <p:nvPr>
            <p:ph type="dt" sz="half" idx="10"/>
          </p:nvPr>
        </p:nvSpPr>
        <p:spPr/>
        <p:txBody>
          <a:bodyPr/>
          <a:lstStyle/>
          <a:p>
            <a:r>
              <a:rPr lang="en-US"/>
              <a:t>15-17/10/2024</a:t>
            </a:r>
            <a:endParaRPr lang="en-GB"/>
          </a:p>
        </p:txBody>
      </p:sp>
      <p:sp>
        <p:nvSpPr>
          <p:cNvPr id="5" name="Footer Placeholder 4">
            <a:extLst>
              <a:ext uri="{FF2B5EF4-FFF2-40B4-BE49-F238E27FC236}">
                <a16:creationId xmlns:a16="http://schemas.microsoft.com/office/drawing/2014/main" id="{EC9D76B3-1E07-4245-A492-B6C66F40DCE4}"/>
              </a:ext>
            </a:extLst>
          </p:cNvPr>
          <p:cNvSpPr>
            <a:spLocks noGrp="1"/>
          </p:cNvSpPr>
          <p:nvPr>
            <p:ph type="ftr" sz="quarter" idx="11"/>
          </p:nvPr>
        </p:nvSpPr>
        <p:spPr/>
        <p:txBody>
          <a:bodyPr/>
          <a:lstStyle/>
          <a:p>
            <a:r>
              <a:rPr lang="en-GB"/>
              <a:t>ESTP Training. Seasonal adjustment</a:t>
            </a:r>
          </a:p>
        </p:txBody>
      </p:sp>
      <p:sp>
        <p:nvSpPr>
          <p:cNvPr id="6" name="Slide Number Placeholder 5">
            <a:extLst>
              <a:ext uri="{FF2B5EF4-FFF2-40B4-BE49-F238E27FC236}">
                <a16:creationId xmlns:a16="http://schemas.microsoft.com/office/drawing/2014/main" id="{6F965D1A-16CF-4345-8200-8650C462B98D}"/>
              </a:ext>
            </a:extLst>
          </p:cNvPr>
          <p:cNvSpPr>
            <a:spLocks noGrp="1"/>
          </p:cNvSpPr>
          <p:nvPr>
            <p:ph type="sldNum" sz="quarter" idx="12"/>
          </p:nvPr>
        </p:nvSpPr>
        <p:spPr/>
        <p:txBody>
          <a:bodyPr/>
          <a:lstStyle/>
          <a:p>
            <a:fld id="{1E1EA8E3-33CC-465E-BBDB-C5F5B41B1D80}" type="slidenum">
              <a:rPr lang="en-GB" smtClean="0"/>
              <a:t>‹N°›</a:t>
            </a:fld>
            <a:endParaRPr lang="en-GB"/>
          </a:p>
        </p:txBody>
      </p:sp>
    </p:spTree>
    <p:extLst>
      <p:ext uri="{BB962C8B-B14F-4D97-AF65-F5344CB8AC3E}">
        <p14:creationId xmlns:p14="http://schemas.microsoft.com/office/powerpoint/2010/main" val="330676883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1" name="Google Shape;11;p21"/>
          <p:cNvSpPr txBox="1">
            <a:spLocks noGrp="1"/>
          </p:cNvSpPr>
          <p:nvPr>
            <p:ph type="title"/>
          </p:nvPr>
        </p:nvSpPr>
        <p:spPr>
          <a:xfrm>
            <a:off x="838200" y="763064"/>
            <a:ext cx="10515600" cy="782357"/>
          </a:xfrm>
          <a:prstGeom prst="rect">
            <a:avLst/>
          </a:prstGeom>
          <a:noFill/>
          <a:ln>
            <a:noFill/>
          </a:ln>
        </p:spPr>
        <p:txBody>
          <a:bodyPr spcFirstLastPara="1" wrap="square" lIns="91425" tIns="45700" rIns="91425" bIns="0" anchor="b" anchorCtr="0">
            <a:noAutofit/>
          </a:bodyPr>
          <a:lstStyle>
            <a:lvl1pPr marR="0" lvl="0" algn="l" rtl="0">
              <a:lnSpc>
                <a:spcPct val="90000"/>
              </a:lnSpc>
              <a:spcBef>
                <a:spcPts val="0"/>
              </a:spcBef>
              <a:spcAft>
                <a:spcPts val="0"/>
              </a:spcAft>
              <a:buClr>
                <a:schemeClr val="dk2"/>
              </a:buClr>
              <a:buSzPts val="4000"/>
              <a:buFont typeface="Arial"/>
              <a:buNone/>
              <a:defRPr sz="4000" b="0" i="0" u="none" strike="noStrike" cap="non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dirty="0"/>
          </a:p>
        </p:txBody>
      </p:sp>
      <p:sp>
        <p:nvSpPr>
          <p:cNvPr id="12" name="Google Shape;12;p21"/>
          <p:cNvSpPr txBox="1">
            <a:spLocks noGrp="1"/>
          </p:cNvSpPr>
          <p:nvPr>
            <p:ph type="body" idx="1"/>
          </p:nvPr>
        </p:nvSpPr>
        <p:spPr>
          <a:xfrm>
            <a:off x="838200" y="1825625"/>
            <a:ext cx="10515600" cy="3881904"/>
          </a:xfrm>
          <a:prstGeom prst="rect">
            <a:avLst/>
          </a:prstGeom>
          <a:noFill/>
          <a:ln>
            <a:noFill/>
          </a:ln>
        </p:spPr>
        <p:txBody>
          <a:bodyPr spcFirstLastPara="1" wrap="square" lIns="91425" tIns="45700" rIns="91425" bIns="45700" anchor="t" anchorCtr="0">
            <a:noAutofit/>
          </a:bodyPr>
          <a:lstStyle>
            <a:lvl1pPr marL="457200" marR="0" lvl="0" indent="-381000" algn="l" rtl="0">
              <a:lnSpc>
                <a:spcPct val="100000"/>
              </a:lnSpc>
              <a:spcBef>
                <a:spcPts val="0"/>
              </a:spcBef>
              <a:spcAft>
                <a:spcPts val="0"/>
              </a:spcAft>
              <a:buClr>
                <a:schemeClr val="dk2"/>
              </a:buClr>
              <a:buSzPts val="2400"/>
              <a:buFont typeface="Arial"/>
              <a:buChar char="•"/>
              <a:defRPr sz="2400" b="0" i="0" u="none" strike="noStrike" cap="none">
                <a:solidFill>
                  <a:schemeClr val="dk1"/>
                </a:solidFill>
                <a:latin typeface="Arial"/>
                <a:ea typeface="Arial"/>
                <a:cs typeface="Arial"/>
                <a:sym typeface="Arial"/>
              </a:defRPr>
            </a:lvl1pPr>
            <a:lvl2pPr marL="914400" marR="0" lvl="1" indent="-355600" algn="l" rtl="0">
              <a:lnSpc>
                <a:spcPct val="100000"/>
              </a:lnSpc>
              <a:spcBef>
                <a:spcPts val="1800"/>
              </a:spcBef>
              <a:spcAft>
                <a:spcPts val="0"/>
              </a:spcAft>
              <a:buClr>
                <a:schemeClr val="dk2"/>
              </a:buClr>
              <a:buSzPts val="2000"/>
              <a:buFont typeface="Arial"/>
              <a:buChar char="•"/>
              <a:defRPr sz="2000" b="0" i="0" u="none" strike="noStrike" cap="none">
                <a:solidFill>
                  <a:schemeClr val="dk1"/>
                </a:solidFill>
                <a:latin typeface="Arial"/>
                <a:ea typeface="Arial"/>
                <a:cs typeface="Arial"/>
                <a:sym typeface="Arial"/>
              </a:defRPr>
            </a:lvl2pPr>
            <a:lvl3pPr marL="1371600" marR="0" lvl="2" indent="-342900" algn="l" rtl="0">
              <a:lnSpc>
                <a:spcPct val="100000"/>
              </a:lnSpc>
              <a:spcBef>
                <a:spcPts val="180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3pPr>
            <a:lvl4pPr marL="1828800" marR="0" lvl="3"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4pPr>
            <a:lvl5pPr marL="2286000" marR="0" lvl="4"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5pPr>
            <a:lvl6pPr marL="2743200" marR="0" lvl="5" indent="-342900" algn="l" rtl="0">
              <a:lnSpc>
                <a:spcPct val="90000"/>
              </a:lnSpc>
              <a:spcBef>
                <a:spcPts val="18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sldLayoutIdLst>
    <p:sldLayoutId id="2147483727" r:id="rId1"/>
    <p:sldLayoutId id="2147483717" r:id="rId2"/>
    <p:sldLayoutId id="2147483724" r:id="rId3"/>
    <p:sldLayoutId id="2147483725" r:id="rId4"/>
    <p:sldLayoutId id="2147483723" r:id="rId5"/>
    <p:sldLayoutId id="2147483728" r:id="rId6"/>
  </p:sldLayoutIdLst>
  <p:hf sldNum="0" hd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2644A7"/>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6.xml"/><Relationship Id="rId6"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86E511-2A8E-CD8D-FA1D-6DDA5388CE10}"/>
              </a:ext>
            </a:extLst>
          </p:cNvPr>
          <p:cNvSpPr>
            <a:spLocks noGrp="1"/>
          </p:cNvSpPr>
          <p:nvPr>
            <p:ph type="subTitle" idx="1"/>
          </p:nvPr>
        </p:nvSpPr>
        <p:spPr/>
        <p:txBody>
          <a:bodyPr/>
          <a:lstStyle/>
          <a:p>
            <a:r>
              <a:rPr lang="en-IE" dirty="0"/>
              <a:t>ESTP Training</a:t>
            </a:r>
          </a:p>
          <a:p>
            <a:r>
              <a:rPr lang="en-IE" dirty="0"/>
              <a:t>05-07 October 2026</a:t>
            </a:r>
          </a:p>
        </p:txBody>
      </p:sp>
      <p:sp>
        <p:nvSpPr>
          <p:cNvPr id="3" name="Title 2">
            <a:extLst>
              <a:ext uri="{FF2B5EF4-FFF2-40B4-BE49-F238E27FC236}">
                <a16:creationId xmlns:a16="http://schemas.microsoft.com/office/drawing/2014/main" id="{E2518E6D-618C-DDB2-DF84-26EB66F0C2A9}"/>
              </a:ext>
            </a:extLst>
          </p:cNvPr>
          <p:cNvSpPr>
            <a:spLocks noGrp="1"/>
          </p:cNvSpPr>
          <p:nvPr>
            <p:ph type="title"/>
          </p:nvPr>
        </p:nvSpPr>
        <p:spPr/>
        <p:txBody>
          <a:bodyPr/>
          <a:lstStyle/>
          <a:p>
            <a:r>
              <a:rPr lang="en-IE" dirty="0"/>
              <a:t>Seasonal adjustment</a:t>
            </a:r>
          </a:p>
        </p:txBody>
      </p:sp>
      <p:sp>
        <p:nvSpPr>
          <p:cNvPr id="4" name="Text Placeholder 3">
            <a:extLst>
              <a:ext uri="{FF2B5EF4-FFF2-40B4-BE49-F238E27FC236}">
                <a16:creationId xmlns:a16="http://schemas.microsoft.com/office/drawing/2014/main" id="{F3FA50BB-3958-DA6F-CD7B-74B9FFF5C40A}"/>
              </a:ext>
            </a:extLst>
          </p:cNvPr>
          <p:cNvSpPr>
            <a:spLocks noGrp="1"/>
          </p:cNvSpPr>
          <p:nvPr>
            <p:ph type="body" sz="quarter" idx="10"/>
          </p:nvPr>
        </p:nvSpPr>
        <p:spPr/>
        <p:txBody>
          <a:bodyPr/>
          <a:lstStyle/>
          <a:p>
            <a:endParaRPr lang="en-IE"/>
          </a:p>
        </p:txBody>
      </p:sp>
    </p:spTree>
    <p:extLst>
      <p:ext uri="{BB962C8B-B14F-4D97-AF65-F5344CB8AC3E}">
        <p14:creationId xmlns:p14="http://schemas.microsoft.com/office/powerpoint/2010/main" val="3481153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5CCB1-7632-4FCD-B0AC-611D8D65D2C6}"/>
              </a:ext>
            </a:extLst>
          </p:cNvPr>
          <p:cNvSpPr>
            <a:spLocks noGrp="1"/>
          </p:cNvSpPr>
          <p:nvPr>
            <p:ph type="title"/>
          </p:nvPr>
        </p:nvSpPr>
        <p:spPr/>
        <p:txBody>
          <a:bodyPr/>
          <a:lstStyle/>
          <a:p>
            <a:r>
              <a:rPr lang="en-GB" dirty="0"/>
              <a:t>0. Outline</a:t>
            </a:r>
          </a:p>
        </p:txBody>
      </p:sp>
      <p:sp>
        <p:nvSpPr>
          <p:cNvPr id="3" name="Content Placeholder 2">
            <a:extLst>
              <a:ext uri="{FF2B5EF4-FFF2-40B4-BE49-F238E27FC236}">
                <a16:creationId xmlns:a16="http://schemas.microsoft.com/office/drawing/2014/main" id="{BB3CD9BC-FDFA-4D2F-9496-DCBD4F7FCD64}"/>
              </a:ext>
            </a:extLst>
          </p:cNvPr>
          <p:cNvSpPr>
            <a:spLocks noGrp="1"/>
          </p:cNvSpPr>
          <p:nvPr>
            <p:ph idx="1"/>
          </p:nvPr>
        </p:nvSpPr>
        <p:spPr/>
        <p:txBody>
          <a:bodyPr/>
          <a:lstStyle/>
          <a:p>
            <a:r>
              <a:rPr lang="en-GB" dirty="0"/>
              <a:t>ESS guidelines</a:t>
            </a:r>
          </a:p>
          <a:p>
            <a:pPr lvl="1"/>
            <a:r>
              <a:rPr lang="en-GB" dirty="0"/>
              <a:t>Objectives</a:t>
            </a:r>
          </a:p>
          <a:p>
            <a:pPr lvl="1"/>
            <a:r>
              <a:rPr lang="en-GB" dirty="0"/>
              <a:t>Methods</a:t>
            </a:r>
          </a:p>
          <a:p>
            <a:r>
              <a:rPr lang="en-GB" dirty="0"/>
              <a:t>Series decomposition</a:t>
            </a:r>
          </a:p>
          <a:p>
            <a:r>
              <a:rPr lang="en-GB" dirty="0"/>
              <a:t>Overview of seasonal adjustment methods</a:t>
            </a:r>
          </a:p>
          <a:p>
            <a:r>
              <a:rPr lang="en-GB" dirty="0"/>
              <a:t>Outline of the training</a:t>
            </a:r>
          </a:p>
          <a:p>
            <a:r>
              <a:rPr lang="en-GB" dirty="0"/>
              <a:t>Final remarks</a:t>
            </a:r>
          </a:p>
          <a:p>
            <a:endParaRPr lang="en-GB" dirty="0"/>
          </a:p>
        </p:txBody>
      </p:sp>
      <p:sp>
        <p:nvSpPr>
          <p:cNvPr id="5" name="Footer Placeholder 4">
            <a:extLst>
              <a:ext uri="{FF2B5EF4-FFF2-40B4-BE49-F238E27FC236}">
                <a16:creationId xmlns:a16="http://schemas.microsoft.com/office/drawing/2014/main" id="{2C2B169F-4C84-4EC2-8993-D0A310984A11}"/>
              </a:ext>
            </a:extLst>
          </p:cNvPr>
          <p:cNvSpPr>
            <a:spLocks noGrp="1"/>
          </p:cNvSpPr>
          <p:nvPr>
            <p:ph type="ftr" sz="quarter" idx="11"/>
          </p:nvPr>
        </p:nvSpPr>
        <p:spPr/>
        <p:txBody>
          <a:bodyPr/>
          <a:lstStyle/>
          <a:p>
            <a:r>
              <a:rPr lang="en-GB" dirty="0"/>
              <a:t>ESTP Training. Seasonal adjustment</a:t>
            </a:r>
          </a:p>
        </p:txBody>
      </p:sp>
    </p:spTree>
    <p:extLst>
      <p:ext uri="{BB962C8B-B14F-4D97-AF65-F5344CB8AC3E}">
        <p14:creationId xmlns:p14="http://schemas.microsoft.com/office/powerpoint/2010/main" val="1850410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472AA7-9F6F-4D7F-AD96-0AF2E4A3CEAD}"/>
              </a:ext>
            </a:extLst>
          </p:cNvPr>
          <p:cNvSpPr>
            <a:spLocks noGrp="1"/>
          </p:cNvSpPr>
          <p:nvPr>
            <p:ph type="title"/>
          </p:nvPr>
        </p:nvSpPr>
        <p:spPr/>
        <p:txBody>
          <a:bodyPr/>
          <a:lstStyle/>
          <a:p>
            <a:r>
              <a:rPr lang="en-GB" dirty="0"/>
              <a:t>1. ESS Guidelines (2024)</a:t>
            </a:r>
          </a:p>
        </p:txBody>
      </p:sp>
      <p:sp>
        <p:nvSpPr>
          <p:cNvPr id="3" name="Content Placeholder 2">
            <a:extLst>
              <a:ext uri="{FF2B5EF4-FFF2-40B4-BE49-F238E27FC236}">
                <a16:creationId xmlns:a16="http://schemas.microsoft.com/office/drawing/2014/main" id="{CE59404C-6BF3-425F-910F-AF8077C4B96E}"/>
              </a:ext>
            </a:extLst>
          </p:cNvPr>
          <p:cNvSpPr>
            <a:spLocks noGrp="1"/>
          </p:cNvSpPr>
          <p:nvPr>
            <p:ph idx="1"/>
          </p:nvPr>
        </p:nvSpPr>
        <p:spPr/>
        <p:txBody>
          <a:bodyPr/>
          <a:lstStyle/>
          <a:p>
            <a:r>
              <a:rPr lang="en-US" dirty="0"/>
              <a:t>Background and basic definitions</a:t>
            </a:r>
          </a:p>
          <a:p>
            <a:endParaRPr lang="en-US" dirty="0"/>
          </a:p>
        </p:txBody>
      </p:sp>
      <p:sp>
        <p:nvSpPr>
          <p:cNvPr id="4" name="TextBox 3">
            <a:extLst>
              <a:ext uri="{FF2B5EF4-FFF2-40B4-BE49-F238E27FC236}">
                <a16:creationId xmlns:a16="http://schemas.microsoft.com/office/drawing/2014/main" id="{CFF4F76D-F7C9-4830-B478-936ABA7449D4}"/>
              </a:ext>
            </a:extLst>
          </p:cNvPr>
          <p:cNvSpPr txBox="1"/>
          <p:nvPr/>
        </p:nvSpPr>
        <p:spPr>
          <a:xfrm>
            <a:off x="1171112" y="2450237"/>
            <a:ext cx="10182688" cy="3785652"/>
          </a:xfrm>
          <a:prstGeom prst="rect">
            <a:avLst/>
          </a:prstGeom>
          <a:noFill/>
          <a:ln w="28575">
            <a:solidFill>
              <a:srgbClr val="0070C0"/>
            </a:solidFill>
          </a:ln>
        </p:spPr>
        <p:txBody>
          <a:bodyPr wrap="square" rtlCol="0">
            <a:spAutoFit/>
          </a:bodyPr>
          <a:lstStyle/>
          <a:p>
            <a:r>
              <a:rPr lang="en-GB" sz="2000" b="0" i="0" u="none" strike="noStrike" baseline="0" dirty="0">
                <a:solidFill>
                  <a:srgbClr val="000000"/>
                </a:solidFill>
                <a:latin typeface="Myriad Pro Light SemiCond"/>
              </a:rPr>
              <a:t>Seasonal adjustment is a fundamental process in the correct interpretation of short-term time series movement to inform policy makers. </a:t>
            </a:r>
          </a:p>
          <a:p>
            <a:endParaRPr lang="en-GB" sz="2000" b="0" i="0" u="none" strike="noStrike" baseline="0" dirty="0">
              <a:solidFill>
                <a:srgbClr val="000000"/>
              </a:solidFill>
              <a:latin typeface="Myriad Pro Light SemiCond"/>
            </a:endParaRPr>
          </a:p>
          <a:p>
            <a:r>
              <a:rPr lang="en-GB" sz="2000" b="0" i="0" u="none" strike="noStrike" baseline="0" dirty="0">
                <a:solidFill>
                  <a:srgbClr val="000000"/>
                </a:solidFill>
                <a:latin typeface="Myriad Pro Light SemiCond"/>
              </a:rPr>
              <a:t>Seasonal fluctuations and calendar effects can mask short and long-term movements in a time series and impede a clear understanding of underlying phenomena. Seasonal adjustment filters out usual seasonal fluctuations and typical calendar effects from a time series. </a:t>
            </a:r>
          </a:p>
          <a:p>
            <a:endParaRPr lang="en-GB" sz="2000" b="0" i="0" u="none" strike="noStrike" baseline="0" dirty="0">
              <a:solidFill>
                <a:srgbClr val="000000"/>
              </a:solidFill>
              <a:latin typeface="Myriad Pro Light SemiCond"/>
            </a:endParaRPr>
          </a:p>
          <a:p>
            <a:r>
              <a:rPr lang="en-GB" sz="2000" b="0" i="0" u="none" strike="noStrike" baseline="0" dirty="0">
                <a:solidFill>
                  <a:srgbClr val="000000"/>
                </a:solidFill>
                <a:latin typeface="Myriad Pro Light SemiCond"/>
              </a:rPr>
              <a:t>Usual seasonal fluctuations mean those movements which recur with similar intensity in the same season each year and which, based on the past movements of the time series in question and under normal circumstances, can be expected to recur. Calendar effects arise from annual differences in the number of working or trading days in a month or a quarter, or the dates or days of public holidays. </a:t>
            </a:r>
          </a:p>
        </p:txBody>
      </p:sp>
      <p:sp>
        <p:nvSpPr>
          <p:cNvPr id="6" name="Footer Placeholder 5">
            <a:extLst>
              <a:ext uri="{FF2B5EF4-FFF2-40B4-BE49-F238E27FC236}">
                <a16:creationId xmlns:a16="http://schemas.microsoft.com/office/drawing/2014/main" id="{D6ECB398-D35C-41B9-A4B3-1E1FFCE50321}"/>
              </a:ext>
            </a:extLst>
          </p:cNvPr>
          <p:cNvSpPr>
            <a:spLocks noGrp="1"/>
          </p:cNvSpPr>
          <p:nvPr>
            <p:ph type="ftr" sz="quarter" idx="11"/>
          </p:nvPr>
        </p:nvSpPr>
        <p:spPr/>
        <p:txBody>
          <a:bodyPr/>
          <a:lstStyle/>
          <a:p>
            <a:r>
              <a:rPr lang="en-GB" dirty="0"/>
              <a:t>ESTP Training. Seasonal adjustment</a:t>
            </a:r>
          </a:p>
        </p:txBody>
      </p:sp>
    </p:spTree>
    <p:extLst>
      <p:ext uri="{BB962C8B-B14F-4D97-AF65-F5344CB8AC3E}">
        <p14:creationId xmlns:p14="http://schemas.microsoft.com/office/powerpoint/2010/main" val="39825417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FF4F76D-F7C9-4830-B478-936ABA7449D4}"/>
              </a:ext>
            </a:extLst>
          </p:cNvPr>
          <p:cNvSpPr txBox="1"/>
          <p:nvPr/>
        </p:nvSpPr>
        <p:spPr>
          <a:xfrm>
            <a:off x="1004656" y="752045"/>
            <a:ext cx="10182688" cy="5016758"/>
          </a:xfrm>
          <a:prstGeom prst="rect">
            <a:avLst/>
          </a:prstGeom>
          <a:noFill/>
          <a:ln w="28575">
            <a:solidFill>
              <a:srgbClr val="0070C0"/>
            </a:solidFill>
          </a:ln>
        </p:spPr>
        <p:txBody>
          <a:bodyPr wrap="square" rtlCol="0">
            <a:spAutoFit/>
          </a:bodyPr>
          <a:lstStyle/>
          <a:p>
            <a:r>
              <a:rPr lang="en-GB" sz="2000" b="0" i="0" u="none" strike="noStrike" baseline="0" dirty="0">
                <a:solidFill>
                  <a:srgbClr val="000000"/>
                </a:solidFill>
                <a:latin typeface="Myriad Pro Light SemiCond"/>
              </a:rPr>
              <a:t>Movements due to exceptionally strong or weak seasonal influences, for example extreme weather conditions or atypical holiday patterns, will continue to be visible in the seasonally adjusted series. Other random disruptions and unusual movements with real-world interpretations, for example strikes or large orders, will also continue to be visible. </a:t>
            </a:r>
          </a:p>
          <a:p>
            <a:endParaRPr lang="en-GB" sz="2000" b="0" i="0" u="none" strike="noStrike" baseline="0" dirty="0">
              <a:solidFill>
                <a:srgbClr val="000000"/>
              </a:solidFill>
              <a:latin typeface="Myriad Pro Light SemiCond"/>
            </a:endParaRPr>
          </a:p>
          <a:p>
            <a:r>
              <a:rPr lang="en-GB" sz="2000" b="0" i="0" u="none" strike="noStrike" baseline="0" dirty="0">
                <a:solidFill>
                  <a:srgbClr val="000000"/>
                </a:solidFill>
                <a:latin typeface="Myriad Pro Light SemiCond"/>
              </a:rPr>
              <a:t>Hence, the seasonally adjusted results do not show “normal” and repeating events but do show the “news” in the time series, for example latest movements of the trend, the business cycle or the irregular components as well as the occurrence of turning points. </a:t>
            </a:r>
          </a:p>
          <a:p>
            <a:endParaRPr lang="en-GB" sz="2000" b="0" i="0" u="none" strike="noStrike" baseline="0" dirty="0">
              <a:solidFill>
                <a:srgbClr val="000000"/>
              </a:solidFill>
              <a:latin typeface="Myriad Pro Light SemiCond"/>
            </a:endParaRPr>
          </a:p>
          <a:p>
            <a:r>
              <a:rPr lang="en-GB" sz="2000" b="0" i="0" u="none" strike="noStrike" baseline="0" dirty="0">
                <a:solidFill>
                  <a:srgbClr val="000000"/>
                </a:solidFill>
                <a:latin typeface="Myriad Pro Light SemiCond"/>
              </a:rPr>
              <a:t>The downside of seasonal adjustment is that seasonality cannot be precisely defined and different approaches – such as the signal extraction approach (Burman, 1980; Gomez and </a:t>
            </a:r>
            <a:r>
              <a:rPr lang="en-GB" sz="2000" b="0" i="0" u="none" strike="noStrike" baseline="0" dirty="0" err="1">
                <a:solidFill>
                  <a:srgbClr val="000000"/>
                </a:solidFill>
                <a:latin typeface="Myriad Pro Light SemiCond"/>
              </a:rPr>
              <a:t>Maravall</a:t>
            </a:r>
            <a:r>
              <a:rPr lang="en-GB" sz="2000" b="0" i="0" u="none" strike="noStrike" baseline="0" dirty="0">
                <a:solidFill>
                  <a:srgbClr val="000000"/>
                </a:solidFill>
                <a:latin typeface="Myriad Pro Light SemiCond"/>
              </a:rPr>
              <a:t>, 1996) and the semi-parametric approach based on a set of predefined moving (</a:t>
            </a:r>
            <a:r>
              <a:rPr lang="en-GB" sz="2000" b="0" i="0" u="none" strike="noStrike" baseline="0" dirty="0" err="1">
                <a:solidFill>
                  <a:srgbClr val="000000"/>
                </a:solidFill>
                <a:latin typeface="Myriad Pro Light SemiCond"/>
              </a:rPr>
              <a:t>Shiskin</a:t>
            </a:r>
            <a:r>
              <a:rPr lang="en-GB" sz="2000" b="0" i="0" u="none" strike="noStrike" baseline="0" dirty="0">
                <a:solidFill>
                  <a:srgbClr val="000000"/>
                </a:solidFill>
                <a:latin typeface="Myriad Pro Light SemiCond"/>
              </a:rPr>
              <a:t> et al., 1967; Findley et al., 1998) – may result in different outcomes. </a:t>
            </a:r>
          </a:p>
          <a:p>
            <a:endParaRPr lang="en-GB" sz="2000" dirty="0">
              <a:solidFill>
                <a:srgbClr val="000000"/>
              </a:solidFill>
              <a:latin typeface="Myriad Pro Light SemiCond"/>
            </a:endParaRPr>
          </a:p>
          <a:p>
            <a:r>
              <a:rPr lang="en-GB" sz="2000" b="0" i="0" u="none" strike="noStrike" baseline="0" dirty="0">
                <a:solidFill>
                  <a:srgbClr val="000000"/>
                </a:solidFill>
                <a:latin typeface="Myriad Pro Light SemiCond"/>
              </a:rPr>
              <a:t>The expertise of an analyst will also impact on the quality of seasonal adjustment, although the primary drivers are the quality of the unadjusted time series and the production timetable. </a:t>
            </a:r>
          </a:p>
        </p:txBody>
      </p:sp>
      <p:sp>
        <p:nvSpPr>
          <p:cNvPr id="6" name="Footer Placeholder 5">
            <a:extLst>
              <a:ext uri="{FF2B5EF4-FFF2-40B4-BE49-F238E27FC236}">
                <a16:creationId xmlns:a16="http://schemas.microsoft.com/office/drawing/2014/main" id="{D6ECB398-D35C-41B9-A4B3-1E1FFCE50321}"/>
              </a:ext>
            </a:extLst>
          </p:cNvPr>
          <p:cNvSpPr>
            <a:spLocks noGrp="1"/>
          </p:cNvSpPr>
          <p:nvPr>
            <p:ph type="ftr" sz="quarter" idx="11"/>
          </p:nvPr>
        </p:nvSpPr>
        <p:spPr/>
        <p:txBody>
          <a:bodyPr/>
          <a:lstStyle/>
          <a:p>
            <a:r>
              <a:rPr lang="en-GB"/>
              <a:t>ESTP Training. Seasonal adjustment</a:t>
            </a:r>
          </a:p>
        </p:txBody>
      </p:sp>
    </p:spTree>
    <p:extLst>
      <p:ext uri="{BB962C8B-B14F-4D97-AF65-F5344CB8AC3E}">
        <p14:creationId xmlns:p14="http://schemas.microsoft.com/office/powerpoint/2010/main" val="34515165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798D1-0E5B-40BD-A8DD-408151A11DB9}"/>
              </a:ext>
            </a:extLst>
          </p:cNvPr>
          <p:cNvSpPr>
            <a:spLocks noGrp="1"/>
          </p:cNvSpPr>
          <p:nvPr>
            <p:ph type="title"/>
          </p:nvPr>
        </p:nvSpPr>
        <p:spPr/>
        <p:txBody>
          <a:bodyPr/>
          <a:lstStyle/>
          <a:p>
            <a:r>
              <a:rPr lang="en-GB" dirty="0"/>
              <a:t>2. Series decomposition</a:t>
            </a:r>
          </a:p>
        </p:txBody>
      </p:sp>
      <mc:AlternateContent xmlns:mc="http://schemas.openxmlformats.org/markup-compatibility/2006" xmlns:a14="http://schemas.microsoft.com/office/drawing/2010/main">
        <mc:Choice Requires="a14">
          <p:sp>
            <p:nvSpPr>
              <p:cNvPr id="4" name="Rectangle: Rounded Corners 3">
                <a:extLst>
                  <a:ext uri="{FF2B5EF4-FFF2-40B4-BE49-F238E27FC236}">
                    <a16:creationId xmlns:a16="http://schemas.microsoft.com/office/drawing/2014/main" id="{E7EB8FCC-B6E3-4C73-815C-68D3526B6A38}"/>
                  </a:ext>
                </a:extLst>
              </p:cNvPr>
              <p:cNvSpPr/>
              <p:nvPr/>
            </p:nvSpPr>
            <p:spPr>
              <a:xfrm>
                <a:off x="840417" y="3429000"/>
                <a:ext cx="1384916" cy="78234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Series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𝑌</m:t>
                        </m:r>
                      </m:e>
                      <m:sub>
                        <m:r>
                          <a:rPr lang="fr-BE" b="0" i="1" smtClean="0">
                            <a:latin typeface="Cambria Math" panose="02040503050406030204" pitchFamily="18" charset="0"/>
                          </a:rPr>
                          <m:t>𝑡</m:t>
                        </m:r>
                      </m:sub>
                    </m:sSub>
                  </m:oMath>
                </a14:m>
                <a:r>
                  <a:rPr lang="en-GB" dirty="0"/>
                  <a:t>)</a:t>
                </a:r>
              </a:p>
            </p:txBody>
          </p:sp>
        </mc:Choice>
        <mc:Fallback xmlns="">
          <p:sp>
            <p:nvSpPr>
              <p:cNvPr id="4" name="Rectangle: Rounded Corners 3">
                <a:extLst>
                  <a:ext uri="{FF2B5EF4-FFF2-40B4-BE49-F238E27FC236}">
                    <a16:creationId xmlns:a16="http://schemas.microsoft.com/office/drawing/2014/main" id="{E7EB8FCC-B6E3-4C73-815C-68D3526B6A38}"/>
                  </a:ext>
                </a:extLst>
              </p:cNvPr>
              <p:cNvSpPr>
                <a:spLocks noRot="1" noChangeAspect="1" noMove="1" noResize="1" noEditPoints="1" noAdjustHandles="1" noChangeArrowheads="1" noChangeShapeType="1" noTextEdit="1"/>
              </p:cNvSpPr>
              <p:nvPr/>
            </p:nvSpPr>
            <p:spPr>
              <a:xfrm>
                <a:off x="840417" y="3429000"/>
                <a:ext cx="1384916" cy="782340"/>
              </a:xfrm>
              <a:prstGeom prst="round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Rectangle: Rounded Corners 4">
                <a:extLst>
                  <a:ext uri="{FF2B5EF4-FFF2-40B4-BE49-F238E27FC236}">
                    <a16:creationId xmlns:a16="http://schemas.microsoft.com/office/drawing/2014/main" id="{AC125F20-8474-4529-BE73-5D5A031A93AF}"/>
                  </a:ext>
                </a:extLst>
              </p:cNvPr>
              <p:cNvSpPr/>
              <p:nvPr/>
            </p:nvSpPr>
            <p:spPr>
              <a:xfrm>
                <a:off x="5827893" y="4537649"/>
                <a:ext cx="2072934" cy="772357"/>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dirty="0"/>
                  <a:t>Irregular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𝐼</m:t>
                        </m:r>
                      </m:e>
                      <m:sub>
                        <m:r>
                          <a:rPr lang="fr-BE" b="0" i="1" smtClean="0">
                            <a:latin typeface="Cambria Math" panose="02040503050406030204" pitchFamily="18" charset="0"/>
                          </a:rPr>
                          <m:t>𝑡</m:t>
                        </m:r>
                      </m:sub>
                    </m:sSub>
                  </m:oMath>
                </a14:m>
                <a:r>
                  <a:rPr lang="en-GB" dirty="0"/>
                  <a:t>)</a:t>
                </a:r>
              </a:p>
            </p:txBody>
          </p:sp>
        </mc:Choice>
        <mc:Fallback xmlns="">
          <p:sp>
            <p:nvSpPr>
              <p:cNvPr id="5" name="Rectangle: Rounded Corners 4">
                <a:extLst>
                  <a:ext uri="{FF2B5EF4-FFF2-40B4-BE49-F238E27FC236}">
                    <a16:creationId xmlns:a16="http://schemas.microsoft.com/office/drawing/2014/main" id="{AC125F20-8474-4529-BE73-5D5A031A93AF}"/>
                  </a:ext>
                </a:extLst>
              </p:cNvPr>
              <p:cNvSpPr>
                <a:spLocks noRot="1" noChangeAspect="1" noMove="1" noResize="1" noEditPoints="1" noAdjustHandles="1" noChangeArrowheads="1" noChangeShapeType="1" noTextEdit="1"/>
              </p:cNvSpPr>
              <p:nvPr/>
            </p:nvSpPr>
            <p:spPr>
              <a:xfrm>
                <a:off x="5827893" y="4537649"/>
                <a:ext cx="2072934" cy="772357"/>
              </a:xfrm>
              <a:prstGeom prst="round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Rectangle: Rounded Corners 5">
                <a:extLst>
                  <a:ext uri="{FF2B5EF4-FFF2-40B4-BE49-F238E27FC236}">
                    <a16:creationId xmlns:a16="http://schemas.microsoft.com/office/drawing/2014/main" id="{EAAC2273-72C6-4B58-A3D9-BF8710B7B625}"/>
                  </a:ext>
                </a:extLst>
              </p:cNvPr>
              <p:cNvSpPr/>
              <p:nvPr/>
            </p:nvSpPr>
            <p:spPr>
              <a:xfrm>
                <a:off x="5827891" y="2340314"/>
                <a:ext cx="2072935" cy="772357"/>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GB" dirty="0"/>
                  <a:t>Seasonal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𝑆</m:t>
                        </m:r>
                      </m:e>
                      <m:sub>
                        <m:r>
                          <a:rPr lang="fr-BE" b="0" i="1" smtClean="0">
                            <a:latin typeface="Cambria Math" panose="02040503050406030204" pitchFamily="18" charset="0"/>
                          </a:rPr>
                          <m:t>𝑡</m:t>
                        </m:r>
                      </m:sub>
                    </m:sSub>
                  </m:oMath>
                </a14:m>
                <a:r>
                  <a:rPr lang="en-GB" dirty="0"/>
                  <a:t>)</a:t>
                </a:r>
              </a:p>
            </p:txBody>
          </p:sp>
        </mc:Choice>
        <mc:Fallback xmlns="">
          <p:sp>
            <p:nvSpPr>
              <p:cNvPr id="6" name="Rectangle: Rounded Corners 5">
                <a:extLst>
                  <a:ext uri="{FF2B5EF4-FFF2-40B4-BE49-F238E27FC236}">
                    <a16:creationId xmlns:a16="http://schemas.microsoft.com/office/drawing/2014/main" id="{EAAC2273-72C6-4B58-A3D9-BF8710B7B625}"/>
                  </a:ext>
                </a:extLst>
              </p:cNvPr>
              <p:cNvSpPr>
                <a:spLocks noRot="1" noChangeAspect="1" noMove="1" noResize="1" noEditPoints="1" noAdjustHandles="1" noChangeArrowheads="1" noChangeShapeType="1" noTextEdit="1"/>
              </p:cNvSpPr>
              <p:nvPr/>
            </p:nvSpPr>
            <p:spPr>
              <a:xfrm>
                <a:off x="5827891" y="2340314"/>
                <a:ext cx="2072935" cy="772357"/>
              </a:xfrm>
              <a:prstGeom prst="round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Rectangle: Rounded Corners 6">
                <a:extLst>
                  <a:ext uri="{FF2B5EF4-FFF2-40B4-BE49-F238E27FC236}">
                    <a16:creationId xmlns:a16="http://schemas.microsoft.com/office/drawing/2014/main" id="{03D4CBA6-1446-40BD-A55B-FAD1674A4FA5}"/>
                  </a:ext>
                </a:extLst>
              </p:cNvPr>
              <p:cNvSpPr/>
              <p:nvPr/>
            </p:nvSpPr>
            <p:spPr>
              <a:xfrm>
                <a:off x="5827892" y="3438982"/>
                <a:ext cx="2072935" cy="772357"/>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GB" dirty="0"/>
                  <a:t>Trend-cycle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𝑇</m:t>
                        </m:r>
                      </m:e>
                      <m:sub>
                        <m:r>
                          <a:rPr lang="fr-BE" b="0" i="1" smtClean="0">
                            <a:latin typeface="Cambria Math" panose="02040503050406030204" pitchFamily="18" charset="0"/>
                          </a:rPr>
                          <m:t>𝑡</m:t>
                        </m:r>
                      </m:sub>
                    </m:sSub>
                  </m:oMath>
                </a14:m>
                <a:r>
                  <a:rPr lang="en-GB" dirty="0"/>
                  <a:t>)</a:t>
                </a:r>
              </a:p>
            </p:txBody>
          </p:sp>
        </mc:Choice>
        <mc:Fallback xmlns="">
          <p:sp>
            <p:nvSpPr>
              <p:cNvPr id="7" name="Rectangle: Rounded Corners 6">
                <a:extLst>
                  <a:ext uri="{FF2B5EF4-FFF2-40B4-BE49-F238E27FC236}">
                    <a16:creationId xmlns:a16="http://schemas.microsoft.com/office/drawing/2014/main" id="{03D4CBA6-1446-40BD-A55B-FAD1674A4FA5}"/>
                  </a:ext>
                </a:extLst>
              </p:cNvPr>
              <p:cNvSpPr>
                <a:spLocks noRot="1" noChangeAspect="1" noMove="1" noResize="1" noEditPoints="1" noAdjustHandles="1" noChangeArrowheads="1" noChangeShapeType="1" noTextEdit="1"/>
              </p:cNvSpPr>
              <p:nvPr/>
            </p:nvSpPr>
            <p:spPr>
              <a:xfrm>
                <a:off x="5827892" y="3438982"/>
                <a:ext cx="2072935" cy="772357"/>
              </a:xfrm>
              <a:prstGeom prst="roundRect">
                <a:avLst/>
              </a:prstGeom>
              <a:blipFill>
                <a:blip r:embed="rId5"/>
                <a:stretch>
                  <a:fillRect/>
                </a:stretch>
              </a:blipFill>
            </p:spPr>
            <p:txBody>
              <a:bodyPr/>
              <a:lstStyle/>
              <a:p>
                <a:r>
                  <a:rPr lang="en-GB">
                    <a:noFill/>
                  </a:rPr>
                  <a:t> </a:t>
                </a:r>
              </a:p>
            </p:txBody>
          </p:sp>
        </mc:Fallback>
      </mc:AlternateContent>
      <p:cxnSp>
        <p:nvCxnSpPr>
          <p:cNvPr id="9" name="Connector: Elbow 8">
            <a:extLst>
              <a:ext uri="{FF2B5EF4-FFF2-40B4-BE49-F238E27FC236}">
                <a16:creationId xmlns:a16="http://schemas.microsoft.com/office/drawing/2014/main" id="{A5F9547D-162A-4677-BDB8-702E844BE123}"/>
              </a:ext>
            </a:extLst>
          </p:cNvPr>
          <p:cNvCxnSpPr>
            <a:cxnSpLocks/>
            <a:stCxn id="7" idx="1"/>
            <a:endCxn id="4" idx="3"/>
          </p:cNvCxnSpPr>
          <p:nvPr/>
        </p:nvCxnSpPr>
        <p:spPr>
          <a:xfrm rot="10800000">
            <a:off x="2225334" y="3820171"/>
            <a:ext cx="3602559" cy="499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E8ABEE7C-76D2-49D4-9575-C80268452E5E}"/>
              </a:ext>
            </a:extLst>
          </p:cNvPr>
          <p:cNvCxnSpPr>
            <a:cxnSpLocks/>
            <a:stCxn id="6" idx="1"/>
            <a:endCxn id="4" idx="3"/>
          </p:cNvCxnSpPr>
          <p:nvPr/>
        </p:nvCxnSpPr>
        <p:spPr>
          <a:xfrm rot="10800000" flipV="1">
            <a:off x="2225333" y="2726492"/>
            <a:ext cx="3602558" cy="1093677"/>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6BC19318-E13C-47A8-A281-9957BC028B38}"/>
              </a:ext>
            </a:extLst>
          </p:cNvPr>
          <p:cNvCxnSpPr>
            <a:cxnSpLocks/>
            <a:stCxn id="5" idx="1"/>
            <a:endCxn id="4" idx="3"/>
          </p:cNvCxnSpPr>
          <p:nvPr/>
        </p:nvCxnSpPr>
        <p:spPr>
          <a:xfrm rot="10800000">
            <a:off x="2225333" y="3820170"/>
            <a:ext cx="3602560" cy="110365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63EDBDD-E6A3-461F-89B4-F3909489F40E}"/>
                  </a:ext>
                </a:extLst>
              </p:cNvPr>
              <p:cNvSpPr txBox="1"/>
              <p:nvPr/>
            </p:nvSpPr>
            <p:spPr>
              <a:xfrm>
                <a:off x="2571565" y="3452229"/>
                <a:ext cx="1547603" cy="369332"/>
              </a:xfrm>
              <a:prstGeom prst="rect">
                <a:avLst/>
              </a:prstGeom>
              <a:noFill/>
            </p:spPr>
            <p:txBody>
              <a:bodyPr wrap="none" rtlCol="0">
                <a:spAutoFit/>
              </a:bodyPr>
              <a:lstStyle/>
              <a:p>
                <a:pPr/>
                <a14:m>
                  <m:oMathPara xmlns:m="http://schemas.openxmlformats.org/officeDocument/2006/math">
                    <m:oMath>
                      <m:r>
                        <a:rPr lang="fr-BE" b="0" i="1" smtClean="0">
                          <a:latin typeface="Cambria Math" panose="02040503050406030204" pitchFamily="18" charset="0"/>
                        </a:rPr>
                        <m:t>𝑌</m:t>
                      </m:r>
                      <m:r>
                        <a:rPr lang="fr-BE" b="0" i="1" smtClean="0">
                          <a:latin typeface="Cambria Math" panose="02040503050406030204" pitchFamily="18" charset="0"/>
                        </a:rPr>
                        <m:t>=</m:t>
                      </m:r>
                      <m:r>
                        <a:rPr lang="fr-BE" b="0" i="1" smtClean="0">
                          <a:latin typeface="Cambria Math" panose="02040503050406030204" pitchFamily="18" charset="0"/>
                        </a:rPr>
                        <m:t>𝑓</m:t>
                      </m:r>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 </m:t>
                      </m:r>
                      <m:r>
                        <a:rPr lang="fr-BE" b="0" i="1" smtClean="0">
                          <a:latin typeface="Cambria Math" panose="02040503050406030204" pitchFamily="18" charset="0"/>
                        </a:rPr>
                        <m:t>𝑆</m:t>
                      </m:r>
                      <m:r>
                        <a:rPr lang="fr-BE" b="0" i="1" smtClean="0">
                          <a:latin typeface="Cambria Math" panose="02040503050406030204" pitchFamily="18" charset="0"/>
                        </a:rPr>
                        <m:t>,</m:t>
                      </m:r>
                      <m:r>
                        <a:rPr lang="fr-BE" b="0" i="1" smtClean="0">
                          <a:latin typeface="Cambria Math" panose="02040503050406030204" pitchFamily="18" charset="0"/>
                        </a:rPr>
                        <m:t>𝐼</m:t>
                      </m:r>
                      <m:r>
                        <a:rPr lang="fr-BE" b="0" i="1" smtClean="0">
                          <a:latin typeface="Cambria Math" panose="02040503050406030204" pitchFamily="18" charset="0"/>
                        </a:rPr>
                        <m:t>)</m:t>
                      </m:r>
                    </m:oMath>
                  </m:oMathPara>
                </a14:m>
                <a:endParaRPr lang="en-GB" dirty="0"/>
              </a:p>
            </p:txBody>
          </p:sp>
        </mc:Choice>
        <mc:Fallback xmlns="">
          <p:sp>
            <p:nvSpPr>
              <p:cNvPr id="18" name="TextBox 17">
                <a:extLst>
                  <a:ext uri="{FF2B5EF4-FFF2-40B4-BE49-F238E27FC236}">
                    <a16:creationId xmlns:a16="http://schemas.microsoft.com/office/drawing/2014/main" id="{063EDBDD-E6A3-461F-89B4-F3909489F40E}"/>
                  </a:ext>
                </a:extLst>
              </p:cNvPr>
              <p:cNvSpPr txBox="1">
                <a:spLocks noRot="1" noChangeAspect="1" noMove="1" noResize="1" noEditPoints="1" noAdjustHandles="1" noChangeArrowheads="1" noChangeShapeType="1" noTextEdit="1"/>
              </p:cNvSpPr>
              <p:nvPr/>
            </p:nvSpPr>
            <p:spPr>
              <a:xfrm>
                <a:off x="2571565" y="3452229"/>
                <a:ext cx="1547603" cy="369332"/>
              </a:xfrm>
              <a:prstGeom prst="rect">
                <a:avLst/>
              </a:prstGeom>
              <a:blipFill>
                <a:blip r:embed="rId6"/>
                <a:stretch>
                  <a:fillRect b="-131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5" name="Rectangle: Rounded Corners 24">
                <a:extLst>
                  <a:ext uri="{FF2B5EF4-FFF2-40B4-BE49-F238E27FC236}">
                    <a16:creationId xmlns:a16="http://schemas.microsoft.com/office/drawing/2014/main" id="{E2CEC76A-9F33-451A-B5A5-FCCF66CF508F}"/>
                  </a:ext>
                </a:extLst>
              </p:cNvPr>
              <p:cNvSpPr/>
              <p:nvPr/>
            </p:nvSpPr>
            <p:spPr>
              <a:xfrm>
                <a:off x="5479444" y="3245894"/>
                <a:ext cx="2767615" cy="2704045"/>
              </a:xfrm>
              <a:prstGeom prst="roundRect">
                <a:avLst/>
              </a:prstGeom>
              <a:noFill/>
              <a:ln w="57150"/>
            </p:spPr>
            <p:style>
              <a:lnRef idx="2">
                <a:schemeClr val="accent3">
                  <a:shade val="50000"/>
                </a:schemeClr>
              </a:lnRef>
              <a:fillRef idx="1">
                <a:schemeClr val="accent3"/>
              </a:fillRef>
              <a:effectRef idx="0">
                <a:schemeClr val="accent3"/>
              </a:effectRef>
              <a:fontRef idx="minor">
                <a:schemeClr val="lt1"/>
              </a:fontRef>
            </p:style>
            <p:txBody>
              <a:bodyPr rtlCol="0" anchor="b"/>
              <a:lstStyle/>
              <a:p>
                <a:pPr algn="ctr"/>
                <a:r>
                  <a:rPr lang="en-GB" dirty="0">
                    <a:solidFill>
                      <a:schemeClr val="tx1"/>
                    </a:solidFill>
                  </a:rPr>
                  <a:t>Seasonally </a:t>
                </a:r>
                <a:r>
                  <a:rPr lang="en-GB" dirty="0" err="1">
                    <a:solidFill>
                      <a:schemeClr val="tx1"/>
                    </a:solidFill>
                  </a:rPr>
                  <a:t>adj</a:t>
                </a:r>
                <a:r>
                  <a:rPr lang="en-GB" dirty="0">
                    <a:solidFill>
                      <a:schemeClr val="tx1"/>
                    </a:solidFill>
                  </a:rPr>
                  <a:t> (</a:t>
                </a:r>
                <a14:m>
                  <m:oMath xmlns:m="http://schemas.openxmlformats.org/officeDocument/2006/math">
                    <m:sSub>
                      <m:sSubPr>
                        <m:ctrlPr>
                          <a:rPr lang="fr-BE" b="0" i="1" smtClean="0">
                            <a:solidFill>
                              <a:schemeClr val="tx1"/>
                            </a:solidFill>
                            <a:latin typeface="Cambria Math" panose="02040503050406030204" pitchFamily="18" charset="0"/>
                          </a:rPr>
                        </m:ctrlPr>
                      </m:sSubPr>
                      <m:e>
                        <m:r>
                          <a:rPr lang="fr-BE" b="0" i="1" smtClean="0">
                            <a:solidFill>
                              <a:schemeClr val="tx1"/>
                            </a:solidFill>
                            <a:latin typeface="Cambria Math" panose="02040503050406030204" pitchFamily="18" charset="0"/>
                          </a:rPr>
                          <m:t>𝑆𝐴</m:t>
                        </m:r>
                      </m:e>
                      <m:sub>
                        <m:r>
                          <a:rPr lang="fr-BE" b="0" i="1" smtClean="0">
                            <a:solidFill>
                              <a:schemeClr val="tx1"/>
                            </a:solidFill>
                            <a:latin typeface="Cambria Math" panose="02040503050406030204" pitchFamily="18" charset="0"/>
                          </a:rPr>
                          <m:t>𝑡</m:t>
                        </m:r>
                      </m:sub>
                    </m:sSub>
                  </m:oMath>
                </a14:m>
                <a:r>
                  <a:rPr lang="en-GB" dirty="0">
                    <a:solidFill>
                      <a:schemeClr val="tx1"/>
                    </a:solidFill>
                  </a:rPr>
                  <a:t>)</a:t>
                </a:r>
              </a:p>
            </p:txBody>
          </p:sp>
        </mc:Choice>
        <mc:Fallback xmlns="">
          <p:sp>
            <p:nvSpPr>
              <p:cNvPr id="25" name="Rectangle: Rounded Corners 24">
                <a:extLst>
                  <a:ext uri="{FF2B5EF4-FFF2-40B4-BE49-F238E27FC236}">
                    <a16:creationId xmlns:a16="http://schemas.microsoft.com/office/drawing/2014/main" id="{E2CEC76A-9F33-451A-B5A5-FCCF66CF508F}"/>
                  </a:ext>
                </a:extLst>
              </p:cNvPr>
              <p:cNvSpPr>
                <a:spLocks noRot="1" noChangeAspect="1" noMove="1" noResize="1" noEditPoints="1" noAdjustHandles="1" noChangeArrowheads="1" noChangeShapeType="1" noTextEdit="1"/>
              </p:cNvSpPr>
              <p:nvPr/>
            </p:nvSpPr>
            <p:spPr>
              <a:xfrm>
                <a:off x="5479444" y="3245894"/>
                <a:ext cx="2767615" cy="2704045"/>
              </a:xfrm>
              <a:prstGeom prst="roundRect">
                <a:avLst/>
              </a:prstGeom>
              <a:blipFill>
                <a:blip r:embed="rId7"/>
                <a:stretch>
                  <a:fillRect/>
                </a:stretch>
              </a:blipFill>
              <a:ln w="57150"/>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6" name="Rectangle: Rounded Corners 25">
                <a:extLst>
                  <a:ext uri="{FF2B5EF4-FFF2-40B4-BE49-F238E27FC236}">
                    <a16:creationId xmlns:a16="http://schemas.microsoft.com/office/drawing/2014/main" id="{FD5B45F7-D9D7-481C-A78E-F69393B8A6CD}"/>
                  </a:ext>
                </a:extLst>
              </p:cNvPr>
              <p:cNvSpPr/>
              <p:nvPr/>
            </p:nvSpPr>
            <p:spPr>
              <a:xfrm>
                <a:off x="8676072" y="1705904"/>
                <a:ext cx="2364423" cy="772357"/>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GB" dirty="0"/>
                  <a:t>Calendar effect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𝐶𝑎𝑙</m:t>
                        </m:r>
                      </m:e>
                      <m:sub>
                        <m:r>
                          <a:rPr lang="fr-BE" b="0" i="1" smtClean="0">
                            <a:latin typeface="Cambria Math" panose="02040503050406030204" pitchFamily="18" charset="0"/>
                          </a:rPr>
                          <m:t>𝑡</m:t>
                        </m:r>
                      </m:sub>
                    </m:sSub>
                  </m:oMath>
                </a14:m>
                <a:r>
                  <a:rPr lang="en-GB" dirty="0"/>
                  <a:t>)</a:t>
                </a:r>
              </a:p>
            </p:txBody>
          </p:sp>
        </mc:Choice>
        <mc:Fallback xmlns="">
          <p:sp>
            <p:nvSpPr>
              <p:cNvPr id="26" name="Rectangle: Rounded Corners 25">
                <a:extLst>
                  <a:ext uri="{FF2B5EF4-FFF2-40B4-BE49-F238E27FC236}">
                    <a16:creationId xmlns:a16="http://schemas.microsoft.com/office/drawing/2014/main" id="{FD5B45F7-D9D7-481C-A78E-F69393B8A6CD}"/>
                  </a:ext>
                </a:extLst>
              </p:cNvPr>
              <p:cNvSpPr>
                <a:spLocks noRot="1" noChangeAspect="1" noMove="1" noResize="1" noEditPoints="1" noAdjustHandles="1" noChangeArrowheads="1" noChangeShapeType="1" noTextEdit="1"/>
              </p:cNvSpPr>
              <p:nvPr/>
            </p:nvSpPr>
            <p:spPr>
              <a:xfrm>
                <a:off x="8676072" y="1705904"/>
                <a:ext cx="2364423" cy="772357"/>
              </a:xfrm>
              <a:prstGeom prst="roundRect">
                <a:avLst/>
              </a:prstGeom>
              <a:blipFill>
                <a:blip r:embed="rId8"/>
                <a:stretch>
                  <a:fillRect/>
                </a:stretch>
              </a:blipFill>
              <a:ln>
                <a:noFill/>
              </a:ln>
            </p:spPr>
            <p:txBody>
              <a:bodyPr/>
              <a:lstStyle/>
              <a:p>
                <a:r>
                  <a:rPr lang="en-GB">
                    <a:noFill/>
                  </a:rPr>
                  <a:t> </a:t>
                </a:r>
              </a:p>
            </p:txBody>
          </p:sp>
        </mc:Fallback>
      </mc:AlternateContent>
      <p:cxnSp>
        <p:nvCxnSpPr>
          <p:cNvPr id="28" name="Connector: Elbow 27">
            <a:extLst>
              <a:ext uri="{FF2B5EF4-FFF2-40B4-BE49-F238E27FC236}">
                <a16:creationId xmlns:a16="http://schemas.microsoft.com/office/drawing/2014/main" id="{B244EADF-C818-424B-AEA5-B0588A32EE10}"/>
              </a:ext>
            </a:extLst>
          </p:cNvPr>
          <p:cNvCxnSpPr>
            <a:cxnSpLocks/>
            <a:stCxn id="26" idx="2"/>
            <a:endCxn id="6" idx="3"/>
          </p:cNvCxnSpPr>
          <p:nvPr/>
        </p:nvCxnSpPr>
        <p:spPr>
          <a:xfrm rot="5400000">
            <a:off x="8755439" y="1623648"/>
            <a:ext cx="248232" cy="195745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8A9E8AD-87E4-41AC-BD52-8E6E4E061022}"/>
                  </a:ext>
                </a:extLst>
              </p:cNvPr>
              <p:cNvSpPr txBox="1"/>
              <p:nvPr/>
            </p:nvSpPr>
            <p:spPr>
              <a:xfrm>
                <a:off x="215204" y="4597917"/>
                <a:ext cx="3729739" cy="147732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14:m>
                  <m:oMathPara xmlns:m="http://schemas.openxmlformats.org/officeDocument/2006/math">
                    <m:oMathParaPr>
                      <m:jc m:val="left"/>
                    </m:oMathParaPr>
                    <m:oMath>
                      <m:r>
                        <a:rPr lang="fr-BE" b="0" i="1" smtClean="0">
                          <a:latin typeface="Cambria Math" panose="02040503050406030204" pitchFamily="18" charset="0"/>
                        </a:rPr>
                        <m:t>𝑌</m:t>
                      </m:r>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m:t>
                      </m:r>
                      <m:r>
                        <a:rPr lang="fr-BE" b="0" i="1" smtClean="0">
                          <a:latin typeface="Cambria Math" panose="02040503050406030204" pitchFamily="18" charset="0"/>
                        </a:rPr>
                        <m:t>𝑆</m:t>
                      </m:r>
                      <m:r>
                        <a:rPr lang="fr-BE" b="0" i="1" smtClean="0">
                          <a:latin typeface="Cambria Math" panose="02040503050406030204" pitchFamily="18" charset="0"/>
                        </a:rPr>
                        <m:t>+</m:t>
                      </m:r>
                      <m:r>
                        <a:rPr lang="fr-BE" b="0" i="1" smtClean="0">
                          <a:latin typeface="Cambria Math" panose="02040503050406030204" pitchFamily="18" charset="0"/>
                        </a:rPr>
                        <m:t>𝐼</m:t>
                      </m:r>
                    </m:oMath>
                  </m:oMathPara>
                </a14:m>
                <a:endParaRPr lang="en-GB" dirty="0"/>
              </a:p>
              <a:p>
                <a:pPr/>
                <a14:m>
                  <m:oMathPara xmlns:m="http://schemas.openxmlformats.org/officeDocument/2006/math">
                    <m:oMathParaPr>
                      <m:jc m:val="left"/>
                    </m:oMathParaPr>
                    <m:oMath>
                      <m:r>
                        <a:rPr lang="fr-BE" b="0" i="1" smtClean="0">
                          <a:latin typeface="Cambria Math" panose="02040503050406030204" pitchFamily="18" charset="0"/>
                        </a:rPr>
                        <m:t>𝑌</m:t>
                      </m:r>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m:t>
                      </m:r>
                      <m:r>
                        <a:rPr lang="fr-BE" b="0" i="1" smtClean="0">
                          <a:latin typeface="Cambria Math" panose="02040503050406030204" pitchFamily="18" charset="0"/>
                        </a:rPr>
                        <m:t>𝑆</m:t>
                      </m:r>
                      <m:r>
                        <a:rPr lang="fr-BE" b="0" i="1" smtClean="0">
                          <a:latin typeface="Cambria Math" panose="02040503050406030204" pitchFamily="18" charset="0"/>
                        </a:rPr>
                        <m:t>∗</m:t>
                      </m:r>
                      <m:r>
                        <a:rPr lang="fr-BE" b="0" i="1" smtClean="0">
                          <a:latin typeface="Cambria Math" panose="02040503050406030204" pitchFamily="18" charset="0"/>
                        </a:rPr>
                        <m:t>𝐼</m:t>
                      </m:r>
                    </m:oMath>
                  </m:oMathPara>
                </a14:m>
                <a:endParaRPr lang="en-GB" dirty="0"/>
              </a:p>
              <a:p>
                <a:pPr/>
                <a14:m>
                  <m:oMathPara xmlns:m="http://schemas.openxmlformats.org/officeDocument/2006/math">
                    <m:oMathParaPr>
                      <m:jc m:val="left"/>
                    </m:oMathParaPr>
                    <m:oMath>
                      <m:func>
                        <m:funcPr>
                          <m:ctrlPr>
                            <a:rPr lang="fr-BE" b="0" i="1" smtClean="0">
                              <a:latin typeface="Cambria Math" panose="02040503050406030204" pitchFamily="18" charset="0"/>
                            </a:rPr>
                          </m:ctrlPr>
                        </m:funcPr>
                        <m:fName>
                          <m:r>
                            <a:rPr lang="fr-BE" b="0" i="1" smtClean="0">
                              <a:latin typeface="Cambria Math" panose="02040503050406030204" pitchFamily="18" charset="0"/>
                            </a:rPr>
                            <m:t>𝑙𝑜𝑔</m:t>
                          </m:r>
                        </m:fName>
                        <m:e>
                          <m:d>
                            <m:dPr>
                              <m:ctrlPr>
                                <a:rPr lang="fr-BE" b="0" i="1" smtClean="0">
                                  <a:latin typeface="Cambria Math" panose="02040503050406030204" pitchFamily="18" charset="0"/>
                                </a:rPr>
                              </m:ctrlPr>
                            </m:dPr>
                            <m:e>
                              <m:r>
                                <a:rPr lang="fr-BE" b="0" i="1" smtClean="0">
                                  <a:latin typeface="Cambria Math" panose="02040503050406030204" pitchFamily="18" charset="0"/>
                                </a:rPr>
                                <m:t>𝑌</m:t>
                              </m:r>
                            </m:e>
                          </m:d>
                        </m:e>
                      </m:func>
                      <m:r>
                        <a:rPr lang="fr-BE" b="0" i="1" smtClean="0">
                          <a:latin typeface="Cambria Math" panose="02040503050406030204" pitchFamily="18" charset="0"/>
                        </a:rPr>
                        <m:t>=</m:t>
                      </m:r>
                      <m:func>
                        <m:funcPr>
                          <m:ctrlPr>
                            <a:rPr lang="fr-BE" b="0" i="1" smtClean="0">
                              <a:latin typeface="Cambria Math" panose="02040503050406030204" pitchFamily="18" charset="0"/>
                            </a:rPr>
                          </m:ctrlPr>
                        </m:funcPr>
                        <m:fName>
                          <m:r>
                            <a:rPr lang="fr-BE" b="0" i="1" smtClean="0">
                              <a:latin typeface="Cambria Math" panose="02040503050406030204" pitchFamily="18" charset="0"/>
                            </a:rPr>
                            <m:t>𝑙𝑜𝑔</m:t>
                          </m:r>
                        </m:fName>
                        <m:e>
                          <m:d>
                            <m:dPr>
                              <m:ctrlPr>
                                <a:rPr lang="fr-BE" b="0" i="1" smtClean="0">
                                  <a:latin typeface="Cambria Math" panose="02040503050406030204" pitchFamily="18" charset="0"/>
                                </a:rPr>
                              </m:ctrlPr>
                            </m:dPr>
                            <m:e>
                              <m:r>
                                <a:rPr lang="fr-BE" b="0" i="1" smtClean="0">
                                  <a:latin typeface="Cambria Math" panose="02040503050406030204" pitchFamily="18" charset="0"/>
                                </a:rPr>
                                <m:t>𝑇</m:t>
                              </m:r>
                            </m:e>
                          </m:d>
                        </m:e>
                      </m:func>
                      <m:r>
                        <a:rPr lang="fr-BE" b="0" i="1" smtClean="0">
                          <a:latin typeface="Cambria Math" panose="02040503050406030204" pitchFamily="18" charset="0"/>
                        </a:rPr>
                        <m:t>+</m:t>
                      </m:r>
                      <m:func>
                        <m:funcPr>
                          <m:ctrlPr>
                            <a:rPr lang="fr-BE" b="0" i="1" smtClean="0">
                              <a:latin typeface="Cambria Math" panose="02040503050406030204" pitchFamily="18" charset="0"/>
                            </a:rPr>
                          </m:ctrlPr>
                        </m:funcPr>
                        <m:fName>
                          <m:r>
                            <a:rPr lang="fr-BE" b="0" i="1" smtClean="0">
                              <a:latin typeface="Cambria Math" panose="02040503050406030204" pitchFamily="18" charset="0"/>
                            </a:rPr>
                            <m:t>𝑙𝑜𝑔</m:t>
                          </m:r>
                        </m:fName>
                        <m:e>
                          <m:d>
                            <m:dPr>
                              <m:ctrlPr>
                                <a:rPr lang="fr-BE" b="0" i="1" smtClean="0">
                                  <a:latin typeface="Cambria Math" panose="02040503050406030204" pitchFamily="18" charset="0"/>
                                </a:rPr>
                              </m:ctrlPr>
                            </m:dPr>
                            <m:e>
                              <m:r>
                                <a:rPr lang="fr-BE" b="0" i="1" smtClean="0">
                                  <a:latin typeface="Cambria Math" panose="02040503050406030204" pitchFamily="18" charset="0"/>
                                </a:rPr>
                                <m:t>𝑆</m:t>
                              </m:r>
                            </m:e>
                          </m:d>
                        </m:e>
                      </m:func>
                      <m:r>
                        <a:rPr lang="fr-BE" b="0" i="1" smtClean="0">
                          <a:latin typeface="Cambria Math" panose="02040503050406030204" pitchFamily="18" charset="0"/>
                        </a:rPr>
                        <m:t>+</m:t>
                      </m:r>
                      <m:r>
                        <a:rPr lang="fr-BE" b="0" i="1" smtClean="0">
                          <a:latin typeface="Cambria Math" panose="02040503050406030204" pitchFamily="18" charset="0"/>
                        </a:rPr>
                        <m:t>𝑙𝑜𝑔</m:t>
                      </m:r>
                      <m:r>
                        <a:rPr lang="fr-BE" b="0" i="1" smtClean="0">
                          <a:latin typeface="Cambria Math" panose="02040503050406030204" pitchFamily="18" charset="0"/>
                        </a:rPr>
                        <m:t>(</m:t>
                      </m:r>
                      <m:r>
                        <a:rPr lang="fr-BE" b="0" i="1" smtClean="0">
                          <a:latin typeface="Cambria Math" panose="02040503050406030204" pitchFamily="18" charset="0"/>
                        </a:rPr>
                        <m:t>𝐼</m:t>
                      </m:r>
                      <m:r>
                        <a:rPr lang="fr-BE" b="0" i="1" smtClean="0">
                          <a:latin typeface="Cambria Math" panose="02040503050406030204" pitchFamily="18" charset="0"/>
                        </a:rPr>
                        <m:t>)</m:t>
                      </m:r>
                    </m:oMath>
                  </m:oMathPara>
                </a14:m>
                <a:endParaRPr lang="en-GB" dirty="0"/>
              </a:p>
              <a:p>
                <a:pPr/>
                <a14:m>
                  <m:oMathPara xmlns:m="http://schemas.openxmlformats.org/officeDocument/2006/math">
                    <m:oMathParaPr>
                      <m:jc m:val="left"/>
                    </m:oMathParaPr>
                    <m:oMath>
                      <m:r>
                        <a:rPr lang="fr-BE" b="0" i="1" smtClean="0">
                          <a:latin typeface="Cambria Math" panose="02040503050406030204" pitchFamily="18" charset="0"/>
                        </a:rPr>
                        <m:t>𝑌</m:t>
                      </m:r>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m:t>
                      </m:r>
                      <m:d>
                        <m:dPr>
                          <m:ctrlPr>
                            <a:rPr lang="fr-BE" b="0" i="1" smtClean="0">
                              <a:latin typeface="Cambria Math" panose="02040503050406030204" pitchFamily="18" charset="0"/>
                            </a:rPr>
                          </m:ctrlPr>
                        </m:dPr>
                        <m:e>
                          <m:r>
                            <a:rPr lang="fr-BE" b="0" i="1" smtClean="0">
                              <a:latin typeface="Cambria Math" panose="02040503050406030204" pitchFamily="18" charset="0"/>
                            </a:rPr>
                            <m:t>𝑆</m:t>
                          </m:r>
                          <m:r>
                            <a:rPr lang="fr-BE" b="0" i="1" smtClean="0">
                              <a:latin typeface="Cambria Math" panose="02040503050406030204" pitchFamily="18" charset="0"/>
                            </a:rPr>
                            <m:t>+</m:t>
                          </m:r>
                          <m:r>
                            <a:rPr lang="fr-BE" b="0" i="1" smtClean="0">
                              <a:latin typeface="Cambria Math" panose="02040503050406030204" pitchFamily="18" charset="0"/>
                            </a:rPr>
                            <m:t>𝐼</m:t>
                          </m:r>
                          <m:r>
                            <a:rPr lang="fr-BE" b="0" i="1" smtClean="0">
                              <a:latin typeface="Cambria Math" panose="02040503050406030204" pitchFamily="18" charset="0"/>
                            </a:rPr>
                            <m:t>−1</m:t>
                          </m:r>
                        </m:e>
                      </m:d>
                    </m:oMath>
                  </m:oMathPara>
                </a14:m>
                <a:endParaRPr lang="en-GB" dirty="0"/>
              </a:p>
              <a:p>
                <a:r>
                  <a:rPr lang="en-GB" dirty="0"/>
                  <a:t>…</a:t>
                </a:r>
              </a:p>
            </p:txBody>
          </p:sp>
        </mc:Choice>
        <mc:Fallback xmlns="">
          <p:sp>
            <p:nvSpPr>
              <p:cNvPr id="31" name="TextBox 30">
                <a:extLst>
                  <a:ext uri="{FF2B5EF4-FFF2-40B4-BE49-F238E27FC236}">
                    <a16:creationId xmlns:a16="http://schemas.microsoft.com/office/drawing/2014/main" id="{F8A9E8AD-87E4-41AC-BD52-8E6E4E061022}"/>
                  </a:ext>
                </a:extLst>
              </p:cNvPr>
              <p:cNvSpPr txBox="1">
                <a:spLocks noRot="1" noChangeAspect="1" noMove="1" noResize="1" noEditPoints="1" noAdjustHandles="1" noChangeArrowheads="1" noChangeShapeType="1" noTextEdit="1"/>
              </p:cNvSpPr>
              <p:nvPr/>
            </p:nvSpPr>
            <p:spPr>
              <a:xfrm>
                <a:off x="215204" y="4597917"/>
                <a:ext cx="3729739" cy="1477328"/>
              </a:xfrm>
              <a:prstGeom prst="rect">
                <a:avLst/>
              </a:prstGeom>
              <a:blipFill>
                <a:blip r:embed="rId9"/>
                <a:stretch>
                  <a:fillRect l="-1140" b="-4898"/>
                </a:stretch>
              </a:blipFill>
            </p:spPr>
            <p:txBody>
              <a:bodyPr/>
              <a:lstStyle/>
              <a:p>
                <a:r>
                  <a:rPr lang="en-GB">
                    <a:noFill/>
                  </a:rPr>
                  <a:t> </a:t>
                </a:r>
              </a:p>
            </p:txBody>
          </p:sp>
        </mc:Fallback>
      </mc:AlternateContent>
      <p:sp>
        <p:nvSpPr>
          <p:cNvPr id="33" name="Footer Placeholder 32">
            <a:extLst>
              <a:ext uri="{FF2B5EF4-FFF2-40B4-BE49-F238E27FC236}">
                <a16:creationId xmlns:a16="http://schemas.microsoft.com/office/drawing/2014/main" id="{5C39D6B6-21E0-4CAC-92A2-4044C078D876}"/>
              </a:ext>
            </a:extLst>
          </p:cNvPr>
          <p:cNvSpPr>
            <a:spLocks noGrp="1"/>
          </p:cNvSpPr>
          <p:nvPr>
            <p:ph type="ftr" sz="quarter" idx="11"/>
          </p:nvPr>
        </p:nvSpPr>
        <p:spPr/>
        <p:txBody>
          <a:bodyPr/>
          <a:lstStyle/>
          <a:p>
            <a:r>
              <a:rPr lang="en-GB"/>
              <a:t>ESTP Training. Seasonal adjustment</a:t>
            </a:r>
          </a:p>
        </p:txBody>
      </p:sp>
      <mc:AlternateContent xmlns:mc="http://schemas.openxmlformats.org/markup-compatibility/2006" xmlns:a14="http://schemas.microsoft.com/office/drawing/2010/main">
        <mc:Choice Requires="a14">
          <p:sp>
            <p:nvSpPr>
              <p:cNvPr id="30" name="TextBox 30">
                <a:extLst>
                  <a:ext uri="{FF2B5EF4-FFF2-40B4-BE49-F238E27FC236}">
                    <a16:creationId xmlns:a16="http://schemas.microsoft.com/office/drawing/2014/main" id="{FB860FE4-00A4-F5AF-37E6-9970E65803FD}"/>
                  </a:ext>
                </a:extLst>
              </p:cNvPr>
              <p:cNvSpPr txBox="1"/>
              <p:nvPr/>
            </p:nvSpPr>
            <p:spPr>
              <a:xfrm>
                <a:off x="8569425" y="3791293"/>
                <a:ext cx="2662168" cy="17189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14:m>
                  <m:oMathPara xmlns:m="http://schemas.openxmlformats.org/officeDocument/2006/math">
                    <m:oMathParaPr>
                      <m:jc m:val="left"/>
                    </m:oMathParaPr>
                    <m:oMath>
                      <m:r>
                        <a:rPr lang="fr-BE" b="0" i="1" smtClean="0">
                          <a:latin typeface="Cambria Math" panose="02040503050406030204" pitchFamily="18" charset="0"/>
                        </a:rPr>
                        <m:t>𝑆𝐴</m:t>
                      </m:r>
                      <m:r>
                        <a:rPr lang="fr-BE" b="0" i="1" smtClean="0">
                          <a:latin typeface="Cambria Math" panose="02040503050406030204" pitchFamily="18" charset="0"/>
                        </a:rPr>
                        <m:t>=</m:t>
                      </m:r>
                      <m:r>
                        <a:rPr lang="fr-BE" b="0" i="1" smtClean="0">
                          <a:latin typeface="Cambria Math" panose="02040503050406030204" pitchFamily="18" charset="0"/>
                        </a:rPr>
                        <m:t>𝑌</m:t>
                      </m:r>
                      <m:r>
                        <a:rPr lang="fr-BE" b="0" i="1" smtClean="0">
                          <a:latin typeface="Cambria Math" panose="02040503050406030204" pitchFamily="18" charset="0"/>
                        </a:rPr>
                        <m:t> −</m:t>
                      </m:r>
                      <m:r>
                        <a:rPr lang="fr-BE" b="0" i="1" smtClean="0">
                          <a:latin typeface="Cambria Math" panose="02040503050406030204" pitchFamily="18" charset="0"/>
                        </a:rPr>
                        <m:t>𝑆</m:t>
                      </m:r>
                      <m:r>
                        <a:rPr lang="fr-BE" b="0" i="1" smtClean="0">
                          <a:latin typeface="Cambria Math" panose="02040503050406030204" pitchFamily="18" charset="0"/>
                        </a:rPr>
                        <m:t>= </m:t>
                      </m:r>
                      <m:r>
                        <a:rPr lang="fr-BE" b="0" i="1" smtClean="0">
                          <a:latin typeface="Cambria Math" panose="02040503050406030204" pitchFamily="18" charset="0"/>
                        </a:rPr>
                        <m:t>𝑇</m:t>
                      </m:r>
                      <m:r>
                        <a:rPr lang="fr-BE" b="0" i="1" smtClean="0">
                          <a:latin typeface="Cambria Math" panose="02040503050406030204" pitchFamily="18" charset="0"/>
                        </a:rPr>
                        <m:t>+</m:t>
                      </m:r>
                      <m:r>
                        <a:rPr lang="fr-BE" b="0" i="1" smtClean="0">
                          <a:latin typeface="Cambria Math" panose="02040503050406030204" pitchFamily="18" charset="0"/>
                        </a:rPr>
                        <m:t>𝐼</m:t>
                      </m:r>
                    </m:oMath>
                  </m:oMathPara>
                </a14:m>
                <a:endParaRPr lang="en-GB" dirty="0"/>
              </a:p>
              <a:p>
                <a:endParaRPr lang="fr-BE" b="0" i="1" dirty="0">
                  <a:latin typeface="Cambria Math" panose="02040503050406030204" pitchFamily="18" charset="0"/>
                </a:endParaRPr>
              </a:p>
              <a:p>
                <a:pPr/>
                <a14:m>
                  <m:oMathPara xmlns:m="http://schemas.openxmlformats.org/officeDocument/2006/math">
                    <m:oMathParaPr>
                      <m:jc m:val="left"/>
                    </m:oMathParaPr>
                    <m:oMath>
                      <m:r>
                        <a:rPr lang="fr-BE" b="0" i="1" smtClean="0">
                          <a:latin typeface="Cambria Math" panose="02040503050406030204" pitchFamily="18" charset="0"/>
                        </a:rPr>
                        <m:t>𝑆𝐴</m:t>
                      </m:r>
                      <m:r>
                        <a:rPr lang="fr-BE" b="0" i="1" smtClean="0">
                          <a:latin typeface="Cambria Math" panose="02040503050406030204" pitchFamily="18" charset="0"/>
                        </a:rPr>
                        <m:t>=</m:t>
                      </m:r>
                      <m:f>
                        <m:fPr>
                          <m:ctrlPr>
                            <a:rPr lang="fr-BE" b="0" i="1" smtClean="0">
                              <a:latin typeface="Cambria Math" panose="02040503050406030204" pitchFamily="18" charset="0"/>
                            </a:rPr>
                          </m:ctrlPr>
                        </m:fPr>
                        <m:num>
                          <m:r>
                            <a:rPr lang="fr-BE" b="0" i="1" smtClean="0">
                              <a:latin typeface="Cambria Math" panose="02040503050406030204" pitchFamily="18" charset="0"/>
                            </a:rPr>
                            <m:t>𝑌</m:t>
                          </m:r>
                        </m:num>
                        <m:den>
                          <m:r>
                            <a:rPr lang="fr-BE" b="0" i="1" smtClean="0">
                              <a:latin typeface="Cambria Math" panose="02040503050406030204" pitchFamily="18" charset="0"/>
                            </a:rPr>
                            <m:t>𝑆</m:t>
                          </m:r>
                        </m:den>
                      </m:f>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m:t>
                      </m:r>
                      <m:r>
                        <a:rPr lang="fr-BE" b="0" i="1" smtClean="0">
                          <a:latin typeface="Cambria Math" panose="02040503050406030204" pitchFamily="18" charset="0"/>
                        </a:rPr>
                        <m:t>𝐼</m:t>
                      </m:r>
                    </m:oMath>
                  </m:oMathPara>
                </a14:m>
                <a:endParaRPr lang="en-GB" dirty="0"/>
              </a:p>
              <a:p>
                <a:endParaRPr lang="en-GB" dirty="0"/>
              </a:p>
              <a:p>
                <a:r>
                  <a:rPr lang="en-GB" dirty="0"/>
                  <a:t>…</a:t>
                </a:r>
              </a:p>
            </p:txBody>
          </p:sp>
        </mc:Choice>
        <mc:Fallback xmlns="">
          <p:sp>
            <p:nvSpPr>
              <p:cNvPr id="30" name="TextBox 30">
                <a:extLst>
                  <a:ext uri="{FF2B5EF4-FFF2-40B4-BE49-F238E27FC236}">
                    <a16:creationId xmlns:a16="http://schemas.microsoft.com/office/drawing/2014/main" id="{FB860FE4-00A4-F5AF-37E6-9970E65803FD}"/>
                  </a:ext>
                </a:extLst>
              </p:cNvPr>
              <p:cNvSpPr txBox="1">
                <a:spLocks noRot="1" noChangeAspect="1" noMove="1" noResize="1" noEditPoints="1" noAdjustHandles="1" noChangeArrowheads="1" noChangeShapeType="1" noTextEdit="1"/>
              </p:cNvSpPr>
              <p:nvPr/>
            </p:nvSpPr>
            <p:spPr>
              <a:xfrm>
                <a:off x="8569425" y="3791293"/>
                <a:ext cx="2662168" cy="1718932"/>
              </a:xfrm>
              <a:prstGeom prst="rect">
                <a:avLst/>
              </a:prstGeom>
              <a:blipFill>
                <a:blip r:embed="rId10"/>
                <a:stretch>
                  <a:fillRect l="-1826" b="-4225"/>
                </a:stretch>
              </a:blipFill>
            </p:spPr>
            <p:txBody>
              <a:bodyPr/>
              <a:lstStyle/>
              <a:p>
                <a:r>
                  <a:rPr lang="en-GB">
                    <a:noFill/>
                  </a:rPr>
                  <a:t> </a:t>
                </a:r>
              </a:p>
            </p:txBody>
          </p:sp>
        </mc:Fallback>
      </mc:AlternateContent>
    </p:spTree>
    <p:extLst>
      <p:ext uri="{BB962C8B-B14F-4D97-AF65-F5344CB8AC3E}">
        <p14:creationId xmlns:p14="http://schemas.microsoft.com/office/powerpoint/2010/main" val="39141679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9E5C1-5C3F-4D47-8188-6D11A3DB7781}"/>
              </a:ext>
            </a:extLst>
          </p:cNvPr>
          <p:cNvSpPr>
            <a:spLocks noGrp="1"/>
          </p:cNvSpPr>
          <p:nvPr>
            <p:ph type="title"/>
          </p:nvPr>
        </p:nvSpPr>
        <p:spPr/>
        <p:txBody>
          <a:bodyPr/>
          <a:lstStyle/>
          <a:p>
            <a:r>
              <a:rPr lang="en-GB" dirty="0"/>
              <a:t>2. Series decomposition</a:t>
            </a:r>
          </a:p>
        </p:txBody>
      </p:sp>
      <p:sp>
        <p:nvSpPr>
          <p:cNvPr id="3" name="Content Placeholder 2">
            <a:extLst>
              <a:ext uri="{FF2B5EF4-FFF2-40B4-BE49-F238E27FC236}">
                <a16:creationId xmlns:a16="http://schemas.microsoft.com/office/drawing/2014/main" id="{C1EC0B8D-CB09-4E77-B0D9-01E0CE299A1A}"/>
              </a:ext>
            </a:extLst>
          </p:cNvPr>
          <p:cNvSpPr>
            <a:spLocks noGrp="1"/>
          </p:cNvSpPr>
          <p:nvPr>
            <p:ph idx="1"/>
          </p:nvPr>
        </p:nvSpPr>
        <p:spPr/>
        <p:txBody>
          <a:bodyPr>
            <a:normAutofit fontScale="70000" lnSpcReduction="20000"/>
          </a:bodyPr>
          <a:lstStyle/>
          <a:p>
            <a:r>
              <a:rPr lang="en-GB" sz="2400" dirty="0"/>
              <a:t>Trend-cycle</a:t>
            </a:r>
          </a:p>
          <a:p>
            <a:pPr lvl="1"/>
            <a:r>
              <a:rPr lang="en-GB" sz="2000" dirty="0"/>
              <a:t>Smooth (?)</a:t>
            </a:r>
          </a:p>
          <a:p>
            <a:pPr lvl="1"/>
            <a:r>
              <a:rPr lang="en-GB" sz="2000" dirty="0"/>
              <a:t>Around the series</a:t>
            </a:r>
          </a:p>
          <a:p>
            <a:r>
              <a:rPr lang="en-GB" sz="2400" dirty="0"/>
              <a:t>Seasonal</a:t>
            </a:r>
          </a:p>
          <a:p>
            <a:pPr lvl="1"/>
            <a:r>
              <a:rPr lang="en-GB" sz="2000" dirty="0"/>
              <a:t>Periodic, with slow changes (?)</a:t>
            </a:r>
          </a:p>
          <a:p>
            <a:pPr lvl="1"/>
            <a:r>
              <a:rPr lang="en-GB" sz="2000" dirty="0"/>
              <a:t>Nearly 0 or 1 in average during 1 cycle (year)</a:t>
            </a:r>
          </a:p>
          <a:p>
            <a:r>
              <a:rPr lang="en-GB" sz="2400" dirty="0"/>
              <a:t>Irregular</a:t>
            </a:r>
          </a:p>
          <a:p>
            <a:pPr lvl="1"/>
            <a:r>
              <a:rPr lang="en-GB" sz="2000" dirty="0"/>
              <a:t>Residual </a:t>
            </a:r>
          </a:p>
          <a:p>
            <a:pPr lvl="1"/>
            <a:r>
              <a:rPr lang="en-GB" sz="2000" dirty="0"/>
              <a:t>Around 0 or 1</a:t>
            </a:r>
          </a:p>
          <a:p>
            <a:pPr marL="457200" lvl="1" indent="0">
              <a:buNone/>
            </a:pPr>
            <a:endParaRPr lang="en-GB" dirty="0">
              <a:solidFill>
                <a:srgbClr val="FF0000"/>
              </a:solidFill>
              <a:latin typeface="Calibri" panose="020F0502020204030204" pitchFamily="34" charset="0"/>
              <a:ea typeface="Cambria Math" panose="02040503050406030204" pitchFamily="18" charset="0"/>
              <a:cs typeface="Calibri" panose="020F0502020204030204" pitchFamily="34" charset="0"/>
            </a:endParaRPr>
          </a:p>
          <a:p>
            <a:pPr marL="0" indent="0">
              <a:buNone/>
            </a:pPr>
            <a:r>
              <a:rPr lang="en-GB" sz="2400" dirty="0">
                <a:solidFill>
                  <a:srgbClr val="FF0000"/>
                </a:solidFill>
                <a:latin typeface="Calibri" panose="020F0502020204030204" pitchFamily="34" charset="0"/>
                <a:ea typeface="Cambria Math" panose="02040503050406030204" pitchFamily="18" charset="0"/>
                <a:cs typeface="Calibri" panose="020F0502020204030204" pitchFamily="34" charset="0"/>
              </a:rPr>
              <a:t>No actual definition of the components </a:t>
            </a:r>
            <a:r>
              <a:rPr lang="en-GB" sz="2400" dirty="0">
                <a:solidFill>
                  <a:srgbClr val="FF0000"/>
                </a:solidFill>
                <a:latin typeface="Cambria Math" panose="02040503050406030204" pitchFamily="18" charset="0"/>
                <a:ea typeface="Cambria Math" panose="02040503050406030204" pitchFamily="18" charset="0"/>
              </a:rPr>
              <a:t>⇒ </a:t>
            </a:r>
            <a:r>
              <a:rPr lang="en-GB" sz="2400" dirty="0">
                <a:solidFill>
                  <a:srgbClr val="FF0000"/>
                </a:solidFill>
                <a:latin typeface="Calibri" panose="020F0502020204030204" pitchFamily="34" charset="0"/>
                <a:ea typeface="Cambria Math" panose="02040503050406030204" pitchFamily="18" charset="0"/>
                <a:cs typeface="Calibri" panose="020F0502020204030204" pitchFamily="34" charset="0"/>
              </a:rPr>
              <a:t>Methods/software give different results </a:t>
            </a:r>
          </a:p>
          <a:p>
            <a:pPr marL="457200" lvl="1" indent="0">
              <a:buNone/>
            </a:pPr>
            <a:endParaRPr lang="en-GB" dirty="0">
              <a:latin typeface="Calibri" panose="020F0502020204030204" pitchFamily="34" charset="0"/>
              <a:cs typeface="Calibri" panose="020F0502020204030204" pitchFamily="34" charset="0"/>
            </a:endParaRPr>
          </a:p>
        </p:txBody>
      </p:sp>
      <p:sp>
        <p:nvSpPr>
          <p:cNvPr id="5" name="Footer Placeholder 4">
            <a:extLst>
              <a:ext uri="{FF2B5EF4-FFF2-40B4-BE49-F238E27FC236}">
                <a16:creationId xmlns:a16="http://schemas.microsoft.com/office/drawing/2014/main" id="{BF6E0A25-D9EB-4A4F-AAB4-CB3AC3539058}"/>
              </a:ext>
            </a:extLst>
          </p:cNvPr>
          <p:cNvSpPr>
            <a:spLocks noGrp="1"/>
          </p:cNvSpPr>
          <p:nvPr>
            <p:ph type="ftr" sz="quarter" idx="11"/>
          </p:nvPr>
        </p:nvSpPr>
        <p:spPr/>
        <p:txBody>
          <a:bodyPr/>
          <a:lstStyle/>
          <a:p>
            <a:r>
              <a:rPr lang="en-GB"/>
              <a:t>ESTP Training. Seasonal adjustment</a:t>
            </a:r>
          </a:p>
        </p:txBody>
      </p:sp>
    </p:spTree>
    <p:extLst>
      <p:ext uri="{BB962C8B-B14F-4D97-AF65-F5344CB8AC3E}">
        <p14:creationId xmlns:p14="http://schemas.microsoft.com/office/powerpoint/2010/main" val="35933511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4625D-5B79-4496-B8D9-2A4C2D8721B6}"/>
              </a:ext>
            </a:extLst>
          </p:cNvPr>
          <p:cNvSpPr>
            <a:spLocks noGrp="1"/>
          </p:cNvSpPr>
          <p:nvPr>
            <p:ph type="title"/>
          </p:nvPr>
        </p:nvSpPr>
        <p:spPr/>
        <p:txBody>
          <a:bodyPr/>
          <a:lstStyle/>
          <a:p>
            <a:r>
              <a:rPr lang="en-GB" dirty="0"/>
              <a:t>3. Rapid overview of the main SA methods</a:t>
            </a:r>
          </a:p>
        </p:txBody>
      </p:sp>
      <p:sp>
        <p:nvSpPr>
          <p:cNvPr id="5" name="Rectangle: Rounded Corners 4">
            <a:extLst>
              <a:ext uri="{FF2B5EF4-FFF2-40B4-BE49-F238E27FC236}">
                <a16:creationId xmlns:a16="http://schemas.microsoft.com/office/drawing/2014/main" id="{F520F228-CA9D-4102-A11A-AA3695585F7F}"/>
              </a:ext>
            </a:extLst>
          </p:cNvPr>
          <p:cNvSpPr/>
          <p:nvPr/>
        </p:nvSpPr>
        <p:spPr>
          <a:xfrm>
            <a:off x="1462482" y="1690688"/>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dirty="0"/>
              <a:t>Non parametric</a:t>
            </a:r>
          </a:p>
        </p:txBody>
      </p:sp>
      <p:sp>
        <p:nvSpPr>
          <p:cNvPr id="6" name="Rectangle: Rounded Corners 5">
            <a:extLst>
              <a:ext uri="{FF2B5EF4-FFF2-40B4-BE49-F238E27FC236}">
                <a16:creationId xmlns:a16="http://schemas.microsoft.com/office/drawing/2014/main" id="{D1EA9692-5CFF-470C-9874-21072D38C642}"/>
              </a:ext>
            </a:extLst>
          </p:cNvPr>
          <p:cNvSpPr/>
          <p:nvPr/>
        </p:nvSpPr>
        <p:spPr>
          <a:xfrm>
            <a:off x="7922006" y="1676004"/>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dirty="0"/>
              <a:t>Parametric</a:t>
            </a:r>
          </a:p>
        </p:txBody>
      </p:sp>
      <p:sp>
        <p:nvSpPr>
          <p:cNvPr id="7" name="Oval 6">
            <a:extLst>
              <a:ext uri="{FF2B5EF4-FFF2-40B4-BE49-F238E27FC236}">
                <a16:creationId xmlns:a16="http://schemas.microsoft.com/office/drawing/2014/main" id="{192C7396-6D2E-43A8-9E62-97C22A1623D9}"/>
              </a:ext>
            </a:extLst>
          </p:cNvPr>
          <p:cNvSpPr/>
          <p:nvPr/>
        </p:nvSpPr>
        <p:spPr>
          <a:xfrm>
            <a:off x="2129409" y="2678337"/>
            <a:ext cx="1535185"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Lo(w)ess</a:t>
            </a:r>
          </a:p>
        </p:txBody>
      </p:sp>
      <p:sp>
        <p:nvSpPr>
          <p:cNvPr id="8" name="Rectangle: Rounded Corners 7">
            <a:extLst>
              <a:ext uri="{FF2B5EF4-FFF2-40B4-BE49-F238E27FC236}">
                <a16:creationId xmlns:a16="http://schemas.microsoft.com/office/drawing/2014/main" id="{15E4EC58-CC22-4F65-91F6-4307286C245A}"/>
              </a:ext>
            </a:extLst>
          </p:cNvPr>
          <p:cNvSpPr/>
          <p:nvPr/>
        </p:nvSpPr>
        <p:spPr>
          <a:xfrm>
            <a:off x="2326549" y="3997509"/>
            <a:ext cx="1140903"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STL</a:t>
            </a:r>
          </a:p>
        </p:txBody>
      </p:sp>
      <p:sp>
        <p:nvSpPr>
          <p:cNvPr id="9" name="Oval 8">
            <a:extLst>
              <a:ext uri="{FF2B5EF4-FFF2-40B4-BE49-F238E27FC236}">
                <a16:creationId xmlns:a16="http://schemas.microsoft.com/office/drawing/2014/main" id="{0080DDFD-4F69-4BA5-B179-3AB0D11823BB}"/>
              </a:ext>
            </a:extLst>
          </p:cNvPr>
          <p:cNvSpPr/>
          <p:nvPr/>
        </p:nvSpPr>
        <p:spPr>
          <a:xfrm>
            <a:off x="4152555" y="2678337"/>
            <a:ext cx="1535185"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Moving averages</a:t>
            </a:r>
          </a:p>
        </p:txBody>
      </p:sp>
      <p:sp>
        <p:nvSpPr>
          <p:cNvPr id="10" name="Oval 9">
            <a:extLst>
              <a:ext uri="{FF2B5EF4-FFF2-40B4-BE49-F238E27FC236}">
                <a16:creationId xmlns:a16="http://schemas.microsoft.com/office/drawing/2014/main" id="{A14D15D5-0109-4DE4-A700-1DFB13F760C4}"/>
              </a:ext>
            </a:extLst>
          </p:cNvPr>
          <p:cNvSpPr/>
          <p:nvPr/>
        </p:nvSpPr>
        <p:spPr>
          <a:xfrm>
            <a:off x="106263" y="2678336"/>
            <a:ext cx="1535185"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Machine learning</a:t>
            </a:r>
          </a:p>
        </p:txBody>
      </p:sp>
      <p:sp>
        <p:nvSpPr>
          <p:cNvPr id="11" name="Rectangle: Rounded Corners 10">
            <a:extLst>
              <a:ext uri="{FF2B5EF4-FFF2-40B4-BE49-F238E27FC236}">
                <a16:creationId xmlns:a16="http://schemas.microsoft.com/office/drawing/2014/main" id="{12823B9A-35B9-4AC3-B21E-538C4FBD00E2}"/>
              </a:ext>
            </a:extLst>
          </p:cNvPr>
          <p:cNvSpPr/>
          <p:nvPr/>
        </p:nvSpPr>
        <p:spPr>
          <a:xfrm>
            <a:off x="303403" y="3997509"/>
            <a:ext cx="1140903"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Prophet</a:t>
            </a:r>
          </a:p>
        </p:txBody>
      </p:sp>
      <p:sp>
        <p:nvSpPr>
          <p:cNvPr id="12" name="Rectangle: Rounded Corners 11">
            <a:extLst>
              <a:ext uri="{FF2B5EF4-FFF2-40B4-BE49-F238E27FC236}">
                <a16:creationId xmlns:a16="http://schemas.microsoft.com/office/drawing/2014/main" id="{C5CE0A47-8EC5-4388-81A3-15127B5D938A}"/>
              </a:ext>
            </a:extLst>
          </p:cNvPr>
          <p:cNvSpPr/>
          <p:nvPr/>
        </p:nvSpPr>
        <p:spPr>
          <a:xfrm>
            <a:off x="4331517" y="3997509"/>
            <a:ext cx="1171661"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X11</a:t>
            </a:r>
          </a:p>
        </p:txBody>
      </p:sp>
      <p:cxnSp>
        <p:nvCxnSpPr>
          <p:cNvPr id="14" name="Connector: Elbow 13">
            <a:extLst>
              <a:ext uri="{FF2B5EF4-FFF2-40B4-BE49-F238E27FC236}">
                <a16:creationId xmlns:a16="http://schemas.microsoft.com/office/drawing/2014/main" id="{FF515A54-44FF-4A86-85DB-E748919121FD}"/>
              </a:ext>
            </a:extLst>
          </p:cNvPr>
          <p:cNvCxnSpPr>
            <a:stCxn id="5" idx="2"/>
            <a:endCxn id="7" idx="0"/>
          </p:cNvCxnSpPr>
          <p:nvPr/>
        </p:nvCxnSpPr>
        <p:spPr>
          <a:xfrm rot="16200000" flipH="1">
            <a:off x="2638068" y="2419403"/>
            <a:ext cx="517866" cy="2"/>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cxnSp>
        <p:nvCxnSpPr>
          <p:cNvPr id="16" name="Connector: Elbow 15">
            <a:extLst>
              <a:ext uri="{FF2B5EF4-FFF2-40B4-BE49-F238E27FC236}">
                <a16:creationId xmlns:a16="http://schemas.microsoft.com/office/drawing/2014/main" id="{894EBEE9-247F-49C2-8857-94DA35D244EA}"/>
              </a:ext>
            </a:extLst>
          </p:cNvPr>
          <p:cNvCxnSpPr>
            <a:cxnSpLocks/>
            <a:stCxn id="5" idx="2"/>
            <a:endCxn id="10" idx="0"/>
          </p:cNvCxnSpPr>
          <p:nvPr/>
        </p:nvCxnSpPr>
        <p:spPr>
          <a:xfrm rot="5400000">
            <a:off x="1626496" y="1407831"/>
            <a:ext cx="517865" cy="2023144"/>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664EE2CF-3A26-48B1-B02F-FE3AB0405DC6}"/>
              </a:ext>
            </a:extLst>
          </p:cNvPr>
          <p:cNvCxnSpPr>
            <a:cxnSpLocks/>
            <a:stCxn id="5" idx="2"/>
            <a:endCxn id="9" idx="0"/>
          </p:cNvCxnSpPr>
          <p:nvPr/>
        </p:nvCxnSpPr>
        <p:spPr>
          <a:xfrm rot="16200000" flipH="1">
            <a:off x="3649641" y="1407830"/>
            <a:ext cx="517866" cy="2023148"/>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sp>
        <p:nvSpPr>
          <p:cNvPr id="22" name="Oval 21">
            <a:extLst>
              <a:ext uri="{FF2B5EF4-FFF2-40B4-BE49-F238E27FC236}">
                <a16:creationId xmlns:a16="http://schemas.microsoft.com/office/drawing/2014/main" id="{AF98C968-98A8-4E28-BB75-16E182F41197}"/>
              </a:ext>
            </a:extLst>
          </p:cNvPr>
          <p:cNvSpPr/>
          <p:nvPr/>
        </p:nvSpPr>
        <p:spPr>
          <a:xfrm>
            <a:off x="7259274" y="2616549"/>
            <a:ext cx="168339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Stochastic</a:t>
            </a:r>
          </a:p>
        </p:txBody>
      </p:sp>
      <p:sp>
        <p:nvSpPr>
          <p:cNvPr id="23" name="Oval 22">
            <a:extLst>
              <a:ext uri="{FF2B5EF4-FFF2-40B4-BE49-F238E27FC236}">
                <a16:creationId xmlns:a16="http://schemas.microsoft.com/office/drawing/2014/main" id="{E73A1CA1-A34F-4497-A770-7B2367356DF8}"/>
              </a:ext>
            </a:extLst>
          </p:cNvPr>
          <p:cNvSpPr/>
          <p:nvPr/>
        </p:nvSpPr>
        <p:spPr>
          <a:xfrm>
            <a:off x="10384876" y="2616549"/>
            <a:ext cx="168339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400" dirty="0"/>
              <a:t>Deterministic</a:t>
            </a:r>
          </a:p>
        </p:txBody>
      </p:sp>
      <p:cxnSp>
        <p:nvCxnSpPr>
          <p:cNvPr id="24" name="Connector: Elbow 23">
            <a:extLst>
              <a:ext uri="{FF2B5EF4-FFF2-40B4-BE49-F238E27FC236}">
                <a16:creationId xmlns:a16="http://schemas.microsoft.com/office/drawing/2014/main" id="{0BA783BE-5E0F-4F7D-A700-00144B13B99D}"/>
              </a:ext>
            </a:extLst>
          </p:cNvPr>
          <p:cNvCxnSpPr>
            <a:cxnSpLocks/>
            <a:stCxn id="6" idx="2"/>
            <a:endCxn id="22" idx="0"/>
          </p:cNvCxnSpPr>
          <p:nvPr/>
        </p:nvCxnSpPr>
        <p:spPr>
          <a:xfrm rot="5400000">
            <a:off x="8493366" y="1753391"/>
            <a:ext cx="470762" cy="1255554"/>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27" name="Connector: Elbow 26">
            <a:extLst>
              <a:ext uri="{FF2B5EF4-FFF2-40B4-BE49-F238E27FC236}">
                <a16:creationId xmlns:a16="http://schemas.microsoft.com/office/drawing/2014/main" id="{6F00BD70-1FB1-4C65-9E0F-A644FFC7B1E1}"/>
              </a:ext>
            </a:extLst>
          </p:cNvPr>
          <p:cNvCxnSpPr>
            <a:cxnSpLocks/>
            <a:stCxn id="6" idx="2"/>
            <a:endCxn id="23" idx="0"/>
          </p:cNvCxnSpPr>
          <p:nvPr/>
        </p:nvCxnSpPr>
        <p:spPr>
          <a:xfrm rot="16200000" flipH="1">
            <a:off x="10056167" y="1446144"/>
            <a:ext cx="470762" cy="1870048"/>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id="{B75D44D3-7C6E-4374-B8D7-034396BAA2E9}"/>
              </a:ext>
            </a:extLst>
          </p:cNvPr>
          <p:cNvCxnSpPr>
            <a:cxnSpLocks/>
            <a:stCxn id="10" idx="4"/>
            <a:endCxn id="11" idx="0"/>
          </p:cNvCxnSpPr>
          <p:nvPr/>
        </p:nvCxnSpPr>
        <p:spPr>
          <a:xfrm rot="5400000">
            <a:off x="551927" y="3675580"/>
            <a:ext cx="643858" cy="1"/>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7" name="Connector: Elbow 36">
            <a:extLst>
              <a:ext uri="{FF2B5EF4-FFF2-40B4-BE49-F238E27FC236}">
                <a16:creationId xmlns:a16="http://schemas.microsoft.com/office/drawing/2014/main" id="{B8995EC1-8F26-4E47-BF38-99629163D881}"/>
              </a:ext>
            </a:extLst>
          </p:cNvPr>
          <p:cNvCxnSpPr>
            <a:cxnSpLocks/>
            <a:stCxn id="7" idx="4"/>
            <a:endCxn id="8" idx="0"/>
          </p:cNvCxnSpPr>
          <p:nvPr/>
        </p:nvCxnSpPr>
        <p:spPr>
          <a:xfrm rot="5400000">
            <a:off x="2575074" y="3675580"/>
            <a:ext cx="643857" cy="1"/>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8" name="Connector: Elbow 37">
            <a:extLst>
              <a:ext uri="{FF2B5EF4-FFF2-40B4-BE49-F238E27FC236}">
                <a16:creationId xmlns:a16="http://schemas.microsoft.com/office/drawing/2014/main" id="{EA57E431-FCDC-43CC-BDF8-C825774942B9}"/>
              </a:ext>
            </a:extLst>
          </p:cNvPr>
          <p:cNvCxnSpPr>
            <a:cxnSpLocks/>
            <a:stCxn id="9" idx="4"/>
            <a:endCxn id="12" idx="0"/>
          </p:cNvCxnSpPr>
          <p:nvPr/>
        </p:nvCxnSpPr>
        <p:spPr>
          <a:xfrm rot="5400000">
            <a:off x="4596820" y="3674180"/>
            <a:ext cx="643857" cy="280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43" name="Rectangle: Rounded Corners 42">
            <a:extLst>
              <a:ext uri="{FF2B5EF4-FFF2-40B4-BE49-F238E27FC236}">
                <a16:creationId xmlns:a16="http://schemas.microsoft.com/office/drawing/2014/main" id="{85FE8096-4983-4339-8A6C-A61A74C8639A}"/>
              </a:ext>
            </a:extLst>
          </p:cNvPr>
          <p:cNvSpPr/>
          <p:nvPr/>
        </p:nvSpPr>
        <p:spPr>
          <a:xfrm>
            <a:off x="6395907" y="3707769"/>
            <a:ext cx="1695965" cy="8058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dirty="0"/>
              <a:t>RegArima</a:t>
            </a:r>
          </a:p>
          <a:p>
            <a:pPr algn="ctr"/>
            <a:r>
              <a:rPr lang="en-GB" dirty="0"/>
              <a:t>models</a:t>
            </a:r>
          </a:p>
        </p:txBody>
      </p:sp>
      <p:sp>
        <p:nvSpPr>
          <p:cNvPr id="44" name="Rectangle: Rounded Corners 43">
            <a:extLst>
              <a:ext uri="{FF2B5EF4-FFF2-40B4-BE49-F238E27FC236}">
                <a16:creationId xmlns:a16="http://schemas.microsoft.com/office/drawing/2014/main" id="{A5E02DF7-83A0-464E-9CBD-6916CC74F947}"/>
              </a:ext>
            </a:extLst>
          </p:cNvPr>
          <p:cNvSpPr/>
          <p:nvPr/>
        </p:nvSpPr>
        <p:spPr>
          <a:xfrm>
            <a:off x="8330965" y="3707767"/>
            <a:ext cx="1695970" cy="1720814"/>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dirty="0"/>
              <a:t>Structural models</a:t>
            </a:r>
          </a:p>
        </p:txBody>
      </p:sp>
      <p:sp>
        <p:nvSpPr>
          <p:cNvPr id="45" name="Rectangle: Rounded Corners 44">
            <a:extLst>
              <a:ext uri="{FF2B5EF4-FFF2-40B4-BE49-F238E27FC236}">
                <a16:creationId xmlns:a16="http://schemas.microsoft.com/office/drawing/2014/main" id="{A66D95AB-2DF4-46C9-B40D-E4266D17E732}"/>
              </a:ext>
            </a:extLst>
          </p:cNvPr>
          <p:cNvSpPr/>
          <p:nvPr/>
        </p:nvSpPr>
        <p:spPr>
          <a:xfrm>
            <a:off x="6395908" y="4779096"/>
            <a:ext cx="1695970" cy="8058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GB" dirty="0"/>
              <a:t>Canonical decomposition</a:t>
            </a:r>
          </a:p>
        </p:txBody>
      </p:sp>
      <p:sp>
        <p:nvSpPr>
          <p:cNvPr id="46" name="Rectangle: Rounded Corners 45">
            <a:extLst>
              <a:ext uri="{FF2B5EF4-FFF2-40B4-BE49-F238E27FC236}">
                <a16:creationId xmlns:a16="http://schemas.microsoft.com/office/drawing/2014/main" id="{C1690188-6A10-4FB0-B7E1-A78271C89E57}"/>
              </a:ext>
            </a:extLst>
          </p:cNvPr>
          <p:cNvSpPr/>
          <p:nvPr/>
        </p:nvSpPr>
        <p:spPr>
          <a:xfrm>
            <a:off x="7976635" y="5899342"/>
            <a:ext cx="1695970" cy="8058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GB" dirty="0"/>
              <a:t>Kalman filter</a:t>
            </a:r>
          </a:p>
          <a:p>
            <a:pPr algn="ctr"/>
            <a:r>
              <a:rPr lang="en-GB" dirty="0"/>
              <a:t>WK filter</a:t>
            </a:r>
          </a:p>
        </p:txBody>
      </p:sp>
      <p:sp>
        <p:nvSpPr>
          <p:cNvPr id="48" name="Rectangle: Rounded Corners 47">
            <a:extLst>
              <a:ext uri="{FF2B5EF4-FFF2-40B4-BE49-F238E27FC236}">
                <a16:creationId xmlns:a16="http://schemas.microsoft.com/office/drawing/2014/main" id="{69DCBB9C-C99B-4D7A-AAEB-35CB20860E1E}"/>
              </a:ext>
            </a:extLst>
          </p:cNvPr>
          <p:cNvSpPr/>
          <p:nvPr/>
        </p:nvSpPr>
        <p:spPr>
          <a:xfrm>
            <a:off x="4349695" y="5416483"/>
            <a:ext cx="1140903"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X12-ARIMA</a:t>
            </a:r>
          </a:p>
        </p:txBody>
      </p:sp>
      <p:cxnSp>
        <p:nvCxnSpPr>
          <p:cNvPr id="49" name="Connector: Elbow 48">
            <a:extLst>
              <a:ext uri="{FF2B5EF4-FFF2-40B4-BE49-F238E27FC236}">
                <a16:creationId xmlns:a16="http://schemas.microsoft.com/office/drawing/2014/main" id="{76152ADA-3FA4-412A-B62E-C64F6110F1D5}"/>
              </a:ext>
            </a:extLst>
          </p:cNvPr>
          <p:cNvCxnSpPr>
            <a:cxnSpLocks/>
            <a:stCxn id="22" idx="4"/>
            <a:endCxn id="43" idx="0"/>
          </p:cNvCxnSpPr>
          <p:nvPr/>
        </p:nvCxnSpPr>
        <p:spPr>
          <a:xfrm rot="5400000">
            <a:off x="7464478" y="3071276"/>
            <a:ext cx="415905" cy="85708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59" name="Connector: Elbow 58">
            <a:extLst>
              <a:ext uri="{FF2B5EF4-FFF2-40B4-BE49-F238E27FC236}">
                <a16:creationId xmlns:a16="http://schemas.microsoft.com/office/drawing/2014/main" id="{7C0FF8E6-DF58-43AF-95C5-BCC2C97820A6}"/>
              </a:ext>
            </a:extLst>
          </p:cNvPr>
          <p:cNvCxnSpPr>
            <a:cxnSpLocks/>
            <a:stCxn id="22" idx="4"/>
            <a:endCxn id="44" idx="0"/>
          </p:cNvCxnSpPr>
          <p:nvPr/>
        </p:nvCxnSpPr>
        <p:spPr>
          <a:xfrm rot="16200000" flipH="1">
            <a:off x="8432009" y="2960825"/>
            <a:ext cx="415903" cy="107798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3" name="Connector: Elbow 62">
            <a:extLst>
              <a:ext uri="{FF2B5EF4-FFF2-40B4-BE49-F238E27FC236}">
                <a16:creationId xmlns:a16="http://schemas.microsoft.com/office/drawing/2014/main" id="{AD542FE6-2744-4CB8-BC4D-6091C7B7CC4F}"/>
              </a:ext>
            </a:extLst>
          </p:cNvPr>
          <p:cNvCxnSpPr>
            <a:cxnSpLocks/>
            <a:stCxn id="43" idx="2"/>
            <a:endCxn id="45" idx="0"/>
          </p:cNvCxnSpPr>
          <p:nvPr/>
        </p:nvCxnSpPr>
        <p:spPr>
          <a:xfrm rot="16200000" flipH="1">
            <a:off x="7111128" y="4646330"/>
            <a:ext cx="265527" cy="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id="{198A65D1-1D39-4D47-90C1-8254DE5849B9}"/>
              </a:ext>
            </a:extLst>
          </p:cNvPr>
          <p:cNvCxnSpPr>
            <a:cxnSpLocks/>
            <a:stCxn id="12" idx="2"/>
            <a:endCxn id="48" idx="0"/>
          </p:cNvCxnSpPr>
          <p:nvPr/>
        </p:nvCxnSpPr>
        <p:spPr>
          <a:xfrm rot="16200000" flipH="1">
            <a:off x="4546918" y="5043253"/>
            <a:ext cx="743659" cy="2799"/>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94" name="Straight Arrow Connector 93">
            <a:extLst>
              <a:ext uri="{FF2B5EF4-FFF2-40B4-BE49-F238E27FC236}">
                <a16:creationId xmlns:a16="http://schemas.microsoft.com/office/drawing/2014/main" id="{F33B337E-4417-4259-8A1D-AA33010C0FA8}"/>
              </a:ext>
            </a:extLst>
          </p:cNvPr>
          <p:cNvCxnSpPr>
            <a:cxnSpLocks/>
            <a:stCxn id="44" idx="2"/>
            <a:endCxn id="46" idx="0"/>
          </p:cNvCxnSpPr>
          <p:nvPr/>
        </p:nvCxnSpPr>
        <p:spPr>
          <a:xfrm flipH="1">
            <a:off x="8824620" y="5428581"/>
            <a:ext cx="354330" cy="47076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100">
            <a:extLst>
              <a:ext uri="{FF2B5EF4-FFF2-40B4-BE49-F238E27FC236}">
                <a16:creationId xmlns:a16="http://schemas.microsoft.com/office/drawing/2014/main" id="{4DA02EBA-2354-44BB-88B6-D757F781CB14}"/>
              </a:ext>
            </a:extLst>
          </p:cNvPr>
          <p:cNvCxnSpPr>
            <a:cxnSpLocks/>
            <a:stCxn id="43" idx="1"/>
            <a:endCxn id="48" idx="0"/>
          </p:cNvCxnSpPr>
          <p:nvPr/>
        </p:nvCxnSpPr>
        <p:spPr>
          <a:xfrm flipH="1">
            <a:off x="4920147" y="4110669"/>
            <a:ext cx="1475760" cy="1305814"/>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2" name="Rectangle: Rounded Corners 31">
            <a:extLst>
              <a:ext uri="{FF2B5EF4-FFF2-40B4-BE49-F238E27FC236}">
                <a16:creationId xmlns:a16="http://schemas.microsoft.com/office/drawing/2014/main" id="{970149D1-7EEE-4E70-8F08-9343A5912C4A}"/>
              </a:ext>
            </a:extLst>
          </p:cNvPr>
          <p:cNvSpPr/>
          <p:nvPr/>
        </p:nvSpPr>
        <p:spPr>
          <a:xfrm>
            <a:off x="5928584" y="6062523"/>
            <a:ext cx="1406190" cy="675315"/>
          </a:xfrm>
          <a:prstGeom prst="round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dirty="0" err="1">
                <a:solidFill>
                  <a:schemeClr val="tx1"/>
                </a:solidFill>
              </a:rPr>
              <a:t>Tramo</a:t>
            </a:r>
            <a:r>
              <a:rPr lang="en-GB" dirty="0">
                <a:solidFill>
                  <a:schemeClr val="tx1"/>
                </a:solidFill>
              </a:rPr>
              <a:t>-Seats</a:t>
            </a:r>
          </a:p>
        </p:txBody>
      </p:sp>
      <p:sp>
        <p:nvSpPr>
          <p:cNvPr id="33" name="Rectangle: Rounded Corners 32">
            <a:extLst>
              <a:ext uri="{FF2B5EF4-FFF2-40B4-BE49-F238E27FC236}">
                <a16:creationId xmlns:a16="http://schemas.microsoft.com/office/drawing/2014/main" id="{16879B8F-7FCB-40E5-9AE5-B80AB739BE64}"/>
              </a:ext>
            </a:extLst>
          </p:cNvPr>
          <p:cNvSpPr/>
          <p:nvPr/>
        </p:nvSpPr>
        <p:spPr>
          <a:xfrm>
            <a:off x="10405347" y="5188705"/>
            <a:ext cx="1556645" cy="1439114"/>
          </a:xfrm>
          <a:prstGeom prst="roundRect">
            <a:avLst/>
          </a:prstGeom>
          <a:solidFill>
            <a:schemeClr val="bg1">
              <a:lumMod val="95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GB" dirty="0"/>
              <a:t>Stamp, </a:t>
            </a:r>
          </a:p>
          <a:p>
            <a:pPr algn="ctr"/>
            <a:r>
              <a:rPr lang="en-GB" dirty="0" err="1"/>
              <a:t>RegCmp</a:t>
            </a:r>
            <a:r>
              <a:rPr lang="en-GB" dirty="0"/>
              <a:t>,</a:t>
            </a:r>
          </a:p>
          <a:p>
            <a:pPr algn="ctr"/>
            <a:r>
              <a:rPr lang="en-GB" dirty="0"/>
              <a:t>(T)Bats,</a:t>
            </a:r>
          </a:p>
          <a:p>
            <a:pPr algn="ctr"/>
            <a:r>
              <a:rPr lang="en-GB" dirty="0"/>
              <a:t>…</a:t>
            </a:r>
          </a:p>
        </p:txBody>
      </p:sp>
      <p:cxnSp>
        <p:nvCxnSpPr>
          <p:cNvPr id="35" name="Straight Arrow Connector 34">
            <a:extLst>
              <a:ext uri="{FF2B5EF4-FFF2-40B4-BE49-F238E27FC236}">
                <a16:creationId xmlns:a16="http://schemas.microsoft.com/office/drawing/2014/main" id="{ABEBB93D-73A8-4EB4-87A1-F834015F7F71}"/>
              </a:ext>
            </a:extLst>
          </p:cNvPr>
          <p:cNvCxnSpPr>
            <a:cxnSpLocks/>
            <a:stCxn id="45" idx="2"/>
            <a:endCxn id="32" idx="0"/>
          </p:cNvCxnSpPr>
          <p:nvPr/>
        </p:nvCxnSpPr>
        <p:spPr>
          <a:xfrm flipH="1">
            <a:off x="6631679" y="5584896"/>
            <a:ext cx="612214" cy="477627"/>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415B9D25-8FB9-46B8-B082-45F32801984A}"/>
              </a:ext>
            </a:extLst>
          </p:cNvPr>
          <p:cNvCxnSpPr>
            <a:cxnSpLocks/>
            <a:stCxn id="44" idx="3"/>
            <a:endCxn id="33" idx="0"/>
          </p:cNvCxnSpPr>
          <p:nvPr/>
        </p:nvCxnSpPr>
        <p:spPr>
          <a:xfrm>
            <a:off x="10026935" y="4568174"/>
            <a:ext cx="1156735" cy="62053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185064B3-279B-4E30-97C0-042FDEDE215D}"/>
              </a:ext>
            </a:extLst>
          </p:cNvPr>
          <p:cNvCxnSpPr>
            <a:cxnSpLocks/>
            <a:stCxn id="45" idx="2"/>
            <a:endCxn id="46" idx="0"/>
          </p:cNvCxnSpPr>
          <p:nvPr/>
        </p:nvCxnSpPr>
        <p:spPr>
          <a:xfrm>
            <a:off x="7243893" y="5584896"/>
            <a:ext cx="1580727" cy="31444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1942A2E5-D907-41D3-BBB4-4A09C42DAD49}"/>
              </a:ext>
            </a:extLst>
          </p:cNvPr>
          <p:cNvCxnSpPr>
            <a:cxnSpLocks/>
            <a:endCxn id="32" idx="3"/>
          </p:cNvCxnSpPr>
          <p:nvPr/>
        </p:nvCxnSpPr>
        <p:spPr>
          <a:xfrm flipH="1" flipV="1">
            <a:off x="7334774" y="6400181"/>
            <a:ext cx="996191" cy="92694"/>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2C44A01A-6AB9-450A-A7EB-994135C3EC12}"/>
              </a:ext>
            </a:extLst>
          </p:cNvPr>
          <p:cNvCxnSpPr>
            <a:cxnSpLocks/>
            <a:endCxn id="33" idx="1"/>
          </p:cNvCxnSpPr>
          <p:nvPr/>
        </p:nvCxnSpPr>
        <p:spPr>
          <a:xfrm flipV="1">
            <a:off x="9479557" y="5908262"/>
            <a:ext cx="925790" cy="266253"/>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sp>
        <p:nvSpPr>
          <p:cNvPr id="56" name="Footer Placeholder 55">
            <a:extLst>
              <a:ext uri="{FF2B5EF4-FFF2-40B4-BE49-F238E27FC236}">
                <a16:creationId xmlns:a16="http://schemas.microsoft.com/office/drawing/2014/main" id="{778DA391-685D-4813-BD30-8779CB86E498}"/>
              </a:ext>
            </a:extLst>
          </p:cNvPr>
          <p:cNvSpPr>
            <a:spLocks noGrp="1"/>
          </p:cNvSpPr>
          <p:nvPr>
            <p:ph type="ftr" sz="quarter" idx="11"/>
          </p:nvPr>
        </p:nvSpPr>
        <p:spPr/>
        <p:txBody>
          <a:bodyPr/>
          <a:lstStyle/>
          <a:p>
            <a:r>
              <a:rPr lang="en-GB"/>
              <a:t>ESTP Training. Seasonal adjustment</a:t>
            </a:r>
          </a:p>
        </p:txBody>
      </p:sp>
    </p:spTree>
    <p:extLst>
      <p:ext uri="{BB962C8B-B14F-4D97-AF65-F5344CB8AC3E}">
        <p14:creationId xmlns:p14="http://schemas.microsoft.com/office/powerpoint/2010/main" val="2216313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4625D-5B79-4496-B8D9-2A4C2D8721B6}"/>
              </a:ext>
            </a:extLst>
          </p:cNvPr>
          <p:cNvSpPr>
            <a:spLocks noGrp="1"/>
          </p:cNvSpPr>
          <p:nvPr>
            <p:ph type="title"/>
          </p:nvPr>
        </p:nvSpPr>
        <p:spPr/>
        <p:txBody>
          <a:bodyPr/>
          <a:lstStyle/>
          <a:p>
            <a:r>
              <a:rPr lang="en-GB" dirty="0"/>
              <a:t>3. Rapid overview of the main SA methods</a:t>
            </a:r>
          </a:p>
        </p:txBody>
      </p:sp>
      <p:sp>
        <p:nvSpPr>
          <p:cNvPr id="5" name="Rectangle: Rounded Corners 4">
            <a:extLst>
              <a:ext uri="{FF2B5EF4-FFF2-40B4-BE49-F238E27FC236}">
                <a16:creationId xmlns:a16="http://schemas.microsoft.com/office/drawing/2014/main" id="{F520F228-CA9D-4102-A11A-AA3695585F7F}"/>
              </a:ext>
            </a:extLst>
          </p:cNvPr>
          <p:cNvSpPr/>
          <p:nvPr/>
        </p:nvSpPr>
        <p:spPr>
          <a:xfrm>
            <a:off x="1462482" y="1690688"/>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dirty="0"/>
              <a:t>Non parametric</a:t>
            </a:r>
          </a:p>
        </p:txBody>
      </p:sp>
      <p:sp>
        <p:nvSpPr>
          <p:cNvPr id="6" name="Rectangle: Rounded Corners 5">
            <a:extLst>
              <a:ext uri="{FF2B5EF4-FFF2-40B4-BE49-F238E27FC236}">
                <a16:creationId xmlns:a16="http://schemas.microsoft.com/office/drawing/2014/main" id="{D1EA9692-5CFF-470C-9874-21072D38C642}"/>
              </a:ext>
            </a:extLst>
          </p:cNvPr>
          <p:cNvSpPr/>
          <p:nvPr/>
        </p:nvSpPr>
        <p:spPr>
          <a:xfrm>
            <a:off x="7922006" y="1676004"/>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dirty="0"/>
              <a:t>Parametric</a:t>
            </a:r>
          </a:p>
        </p:txBody>
      </p:sp>
      <p:sp>
        <p:nvSpPr>
          <p:cNvPr id="7" name="Oval 6">
            <a:extLst>
              <a:ext uri="{FF2B5EF4-FFF2-40B4-BE49-F238E27FC236}">
                <a16:creationId xmlns:a16="http://schemas.microsoft.com/office/drawing/2014/main" id="{192C7396-6D2E-43A8-9E62-97C22A1623D9}"/>
              </a:ext>
            </a:extLst>
          </p:cNvPr>
          <p:cNvSpPr/>
          <p:nvPr/>
        </p:nvSpPr>
        <p:spPr>
          <a:xfrm>
            <a:off x="2129409" y="2678337"/>
            <a:ext cx="1535185"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Lo(w)ess</a:t>
            </a:r>
          </a:p>
        </p:txBody>
      </p:sp>
      <p:sp>
        <p:nvSpPr>
          <p:cNvPr id="8" name="Rectangle: Rounded Corners 7">
            <a:extLst>
              <a:ext uri="{FF2B5EF4-FFF2-40B4-BE49-F238E27FC236}">
                <a16:creationId xmlns:a16="http://schemas.microsoft.com/office/drawing/2014/main" id="{15E4EC58-CC22-4F65-91F6-4307286C245A}"/>
              </a:ext>
            </a:extLst>
          </p:cNvPr>
          <p:cNvSpPr/>
          <p:nvPr/>
        </p:nvSpPr>
        <p:spPr>
          <a:xfrm>
            <a:off x="2326549" y="3997509"/>
            <a:ext cx="1140903"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STL</a:t>
            </a:r>
          </a:p>
        </p:txBody>
      </p:sp>
      <p:sp>
        <p:nvSpPr>
          <p:cNvPr id="9" name="Oval 8">
            <a:extLst>
              <a:ext uri="{FF2B5EF4-FFF2-40B4-BE49-F238E27FC236}">
                <a16:creationId xmlns:a16="http://schemas.microsoft.com/office/drawing/2014/main" id="{0080DDFD-4F69-4BA5-B179-3AB0D11823BB}"/>
              </a:ext>
            </a:extLst>
          </p:cNvPr>
          <p:cNvSpPr/>
          <p:nvPr/>
        </p:nvSpPr>
        <p:spPr>
          <a:xfrm>
            <a:off x="4152555" y="2678337"/>
            <a:ext cx="1535185"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Moving averages</a:t>
            </a:r>
          </a:p>
        </p:txBody>
      </p:sp>
      <p:sp>
        <p:nvSpPr>
          <p:cNvPr id="10" name="Oval 9">
            <a:extLst>
              <a:ext uri="{FF2B5EF4-FFF2-40B4-BE49-F238E27FC236}">
                <a16:creationId xmlns:a16="http://schemas.microsoft.com/office/drawing/2014/main" id="{A14D15D5-0109-4DE4-A700-1DFB13F760C4}"/>
              </a:ext>
            </a:extLst>
          </p:cNvPr>
          <p:cNvSpPr/>
          <p:nvPr/>
        </p:nvSpPr>
        <p:spPr>
          <a:xfrm>
            <a:off x="106263" y="2678336"/>
            <a:ext cx="1535185"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Machine learning</a:t>
            </a:r>
          </a:p>
        </p:txBody>
      </p:sp>
      <p:sp>
        <p:nvSpPr>
          <p:cNvPr id="11" name="Rectangle: Rounded Corners 10">
            <a:extLst>
              <a:ext uri="{FF2B5EF4-FFF2-40B4-BE49-F238E27FC236}">
                <a16:creationId xmlns:a16="http://schemas.microsoft.com/office/drawing/2014/main" id="{12823B9A-35B9-4AC3-B21E-538C4FBD00E2}"/>
              </a:ext>
            </a:extLst>
          </p:cNvPr>
          <p:cNvSpPr/>
          <p:nvPr/>
        </p:nvSpPr>
        <p:spPr>
          <a:xfrm>
            <a:off x="303403" y="3997509"/>
            <a:ext cx="1140903"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Prophet</a:t>
            </a:r>
          </a:p>
        </p:txBody>
      </p:sp>
      <p:sp>
        <p:nvSpPr>
          <p:cNvPr id="12" name="Rectangle: Rounded Corners 11">
            <a:extLst>
              <a:ext uri="{FF2B5EF4-FFF2-40B4-BE49-F238E27FC236}">
                <a16:creationId xmlns:a16="http://schemas.microsoft.com/office/drawing/2014/main" id="{C5CE0A47-8EC5-4388-81A3-15127B5D938A}"/>
              </a:ext>
            </a:extLst>
          </p:cNvPr>
          <p:cNvSpPr/>
          <p:nvPr/>
        </p:nvSpPr>
        <p:spPr>
          <a:xfrm>
            <a:off x="4331517" y="3997509"/>
            <a:ext cx="1171661"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X11</a:t>
            </a:r>
          </a:p>
        </p:txBody>
      </p:sp>
      <p:cxnSp>
        <p:nvCxnSpPr>
          <p:cNvPr id="14" name="Connector: Elbow 13">
            <a:extLst>
              <a:ext uri="{FF2B5EF4-FFF2-40B4-BE49-F238E27FC236}">
                <a16:creationId xmlns:a16="http://schemas.microsoft.com/office/drawing/2014/main" id="{FF515A54-44FF-4A86-85DB-E748919121FD}"/>
              </a:ext>
            </a:extLst>
          </p:cNvPr>
          <p:cNvCxnSpPr>
            <a:stCxn id="5" idx="2"/>
            <a:endCxn id="7" idx="0"/>
          </p:cNvCxnSpPr>
          <p:nvPr/>
        </p:nvCxnSpPr>
        <p:spPr>
          <a:xfrm rot="16200000" flipH="1">
            <a:off x="2638068" y="2419403"/>
            <a:ext cx="517866" cy="2"/>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cxnSp>
        <p:nvCxnSpPr>
          <p:cNvPr id="16" name="Connector: Elbow 15">
            <a:extLst>
              <a:ext uri="{FF2B5EF4-FFF2-40B4-BE49-F238E27FC236}">
                <a16:creationId xmlns:a16="http://schemas.microsoft.com/office/drawing/2014/main" id="{894EBEE9-247F-49C2-8857-94DA35D244EA}"/>
              </a:ext>
            </a:extLst>
          </p:cNvPr>
          <p:cNvCxnSpPr>
            <a:cxnSpLocks/>
            <a:stCxn id="5" idx="2"/>
            <a:endCxn id="10" idx="0"/>
          </p:cNvCxnSpPr>
          <p:nvPr/>
        </p:nvCxnSpPr>
        <p:spPr>
          <a:xfrm rot="5400000">
            <a:off x="1626496" y="1407831"/>
            <a:ext cx="517865" cy="2023144"/>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664EE2CF-3A26-48B1-B02F-FE3AB0405DC6}"/>
              </a:ext>
            </a:extLst>
          </p:cNvPr>
          <p:cNvCxnSpPr>
            <a:cxnSpLocks/>
            <a:stCxn id="5" idx="2"/>
            <a:endCxn id="9" idx="0"/>
          </p:cNvCxnSpPr>
          <p:nvPr/>
        </p:nvCxnSpPr>
        <p:spPr>
          <a:xfrm rot="16200000" flipH="1">
            <a:off x="3649641" y="1407830"/>
            <a:ext cx="517866" cy="2023148"/>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sp>
        <p:nvSpPr>
          <p:cNvPr id="22" name="Oval 21">
            <a:extLst>
              <a:ext uri="{FF2B5EF4-FFF2-40B4-BE49-F238E27FC236}">
                <a16:creationId xmlns:a16="http://schemas.microsoft.com/office/drawing/2014/main" id="{AF98C968-98A8-4E28-BB75-16E182F41197}"/>
              </a:ext>
            </a:extLst>
          </p:cNvPr>
          <p:cNvSpPr/>
          <p:nvPr/>
        </p:nvSpPr>
        <p:spPr>
          <a:xfrm>
            <a:off x="7259274" y="2616549"/>
            <a:ext cx="168339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Stochastic</a:t>
            </a:r>
          </a:p>
        </p:txBody>
      </p:sp>
      <p:sp>
        <p:nvSpPr>
          <p:cNvPr id="23" name="Oval 22">
            <a:extLst>
              <a:ext uri="{FF2B5EF4-FFF2-40B4-BE49-F238E27FC236}">
                <a16:creationId xmlns:a16="http://schemas.microsoft.com/office/drawing/2014/main" id="{E73A1CA1-A34F-4497-A770-7B2367356DF8}"/>
              </a:ext>
            </a:extLst>
          </p:cNvPr>
          <p:cNvSpPr/>
          <p:nvPr/>
        </p:nvSpPr>
        <p:spPr>
          <a:xfrm>
            <a:off x="10384876" y="2616549"/>
            <a:ext cx="168339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400" dirty="0"/>
              <a:t>Deterministic</a:t>
            </a:r>
          </a:p>
        </p:txBody>
      </p:sp>
      <p:cxnSp>
        <p:nvCxnSpPr>
          <p:cNvPr id="24" name="Connector: Elbow 23">
            <a:extLst>
              <a:ext uri="{FF2B5EF4-FFF2-40B4-BE49-F238E27FC236}">
                <a16:creationId xmlns:a16="http://schemas.microsoft.com/office/drawing/2014/main" id="{0BA783BE-5E0F-4F7D-A700-00144B13B99D}"/>
              </a:ext>
            </a:extLst>
          </p:cNvPr>
          <p:cNvCxnSpPr>
            <a:cxnSpLocks/>
            <a:stCxn id="6" idx="2"/>
            <a:endCxn id="22" idx="0"/>
          </p:cNvCxnSpPr>
          <p:nvPr/>
        </p:nvCxnSpPr>
        <p:spPr>
          <a:xfrm rot="5400000">
            <a:off x="8493366" y="1753391"/>
            <a:ext cx="470762" cy="1255554"/>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27" name="Connector: Elbow 26">
            <a:extLst>
              <a:ext uri="{FF2B5EF4-FFF2-40B4-BE49-F238E27FC236}">
                <a16:creationId xmlns:a16="http://schemas.microsoft.com/office/drawing/2014/main" id="{6F00BD70-1FB1-4C65-9E0F-A644FFC7B1E1}"/>
              </a:ext>
            </a:extLst>
          </p:cNvPr>
          <p:cNvCxnSpPr>
            <a:cxnSpLocks/>
            <a:stCxn id="6" idx="2"/>
            <a:endCxn id="23" idx="0"/>
          </p:cNvCxnSpPr>
          <p:nvPr/>
        </p:nvCxnSpPr>
        <p:spPr>
          <a:xfrm rot="16200000" flipH="1">
            <a:off x="10056167" y="1446144"/>
            <a:ext cx="470762" cy="1870048"/>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id="{B75D44D3-7C6E-4374-B8D7-034396BAA2E9}"/>
              </a:ext>
            </a:extLst>
          </p:cNvPr>
          <p:cNvCxnSpPr>
            <a:cxnSpLocks/>
            <a:stCxn id="10" idx="4"/>
            <a:endCxn id="11" idx="0"/>
          </p:cNvCxnSpPr>
          <p:nvPr/>
        </p:nvCxnSpPr>
        <p:spPr>
          <a:xfrm rot="5400000">
            <a:off x="551927" y="3675580"/>
            <a:ext cx="643858" cy="1"/>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7" name="Connector: Elbow 36">
            <a:extLst>
              <a:ext uri="{FF2B5EF4-FFF2-40B4-BE49-F238E27FC236}">
                <a16:creationId xmlns:a16="http://schemas.microsoft.com/office/drawing/2014/main" id="{B8995EC1-8F26-4E47-BF38-99629163D881}"/>
              </a:ext>
            </a:extLst>
          </p:cNvPr>
          <p:cNvCxnSpPr>
            <a:cxnSpLocks/>
            <a:stCxn id="7" idx="4"/>
            <a:endCxn id="8" idx="0"/>
          </p:cNvCxnSpPr>
          <p:nvPr/>
        </p:nvCxnSpPr>
        <p:spPr>
          <a:xfrm rot="5400000">
            <a:off x="2575074" y="3675580"/>
            <a:ext cx="643857" cy="1"/>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8" name="Connector: Elbow 37">
            <a:extLst>
              <a:ext uri="{FF2B5EF4-FFF2-40B4-BE49-F238E27FC236}">
                <a16:creationId xmlns:a16="http://schemas.microsoft.com/office/drawing/2014/main" id="{EA57E431-FCDC-43CC-BDF8-C825774942B9}"/>
              </a:ext>
            </a:extLst>
          </p:cNvPr>
          <p:cNvCxnSpPr>
            <a:cxnSpLocks/>
            <a:stCxn id="9" idx="4"/>
            <a:endCxn id="12" idx="0"/>
          </p:cNvCxnSpPr>
          <p:nvPr/>
        </p:nvCxnSpPr>
        <p:spPr>
          <a:xfrm rot="5400000">
            <a:off x="4596820" y="3674180"/>
            <a:ext cx="643857" cy="280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43" name="Rectangle: Rounded Corners 42">
            <a:extLst>
              <a:ext uri="{FF2B5EF4-FFF2-40B4-BE49-F238E27FC236}">
                <a16:creationId xmlns:a16="http://schemas.microsoft.com/office/drawing/2014/main" id="{85FE8096-4983-4339-8A6C-A61A74C8639A}"/>
              </a:ext>
            </a:extLst>
          </p:cNvPr>
          <p:cNvSpPr/>
          <p:nvPr/>
        </p:nvSpPr>
        <p:spPr>
          <a:xfrm>
            <a:off x="6395907" y="3707769"/>
            <a:ext cx="1695965" cy="8058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dirty="0"/>
              <a:t>RegArima</a:t>
            </a:r>
          </a:p>
          <a:p>
            <a:pPr algn="ctr"/>
            <a:r>
              <a:rPr lang="en-GB" dirty="0"/>
              <a:t>models</a:t>
            </a:r>
          </a:p>
        </p:txBody>
      </p:sp>
      <p:sp>
        <p:nvSpPr>
          <p:cNvPr id="44" name="Rectangle: Rounded Corners 43">
            <a:extLst>
              <a:ext uri="{FF2B5EF4-FFF2-40B4-BE49-F238E27FC236}">
                <a16:creationId xmlns:a16="http://schemas.microsoft.com/office/drawing/2014/main" id="{A5E02DF7-83A0-464E-9CBD-6916CC74F947}"/>
              </a:ext>
            </a:extLst>
          </p:cNvPr>
          <p:cNvSpPr/>
          <p:nvPr/>
        </p:nvSpPr>
        <p:spPr>
          <a:xfrm>
            <a:off x="8330965" y="3707766"/>
            <a:ext cx="1695970" cy="1571579"/>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dirty="0"/>
              <a:t>Structural models</a:t>
            </a:r>
          </a:p>
        </p:txBody>
      </p:sp>
      <p:sp>
        <p:nvSpPr>
          <p:cNvPr id="45" name="Rectangle: Rounded Corners 44">
            <a:extLst>
              <a:ext uri="{FF2B5EF4-FFF2-40B4-BE49-F238E27FC236}">
                <a16:creationId xmlns:a16="http://schemas.microsoft.com/office/drawing/2014/main" id="{A66D95AB-2DF4-46C9-B40D-E4266D17E732}"/>
              </a:ext>
            </a:extLst>
          </p:cNvPr>
          <p:cNvSpPr/>
          <p:nvPr/>
        </p:nvSpPr>
        <p:spPr>
          <a:xfrm>
            <a:off x="6395908" y="4779096"/>
            <a:ext cx="1695970" cy="8058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GB" dirty="0"/>
              <a:t>Canonical decomposition</a:t>
            </a:r>
          </a:p>
        </p:txBody>
      </p:sp>
      <p:sp>
        <p:nvSpPr>
          <p:cNvPr id="46" name="Rectangle: Rounded Corners 45">
            <a:extLst>
              <a:ext uri="{FF2B5EF4-FFF2-40B4-BE49-F238E27FC236}">
                <a16:creationId xmlns:a16="http://schemas.microsoft.com/office/drawing/2014/main" id="{C1690188-6A10-4FB0-B7E1-A78271C89E57}"/>
              </a:ext>
            </a:extLst>
          </p:cNvPr>
          <p:cNvSpPr/>
          <p:nvPr/>
        </p:nvSpPr>
        <p:spPr>
          <a:xfrm>
            <a:off x="8330965" y="5754141"/>
            <a:ext cx="1695970" cy="8058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GB" dirty="0"/>
              <a:t>Kalman filter</a:t>
            </a:r>
          </a:p>
          <a:p>
            <a:pPr algn="ctr"/>
            <a:r>
              <a:rPr lang="en-GB" dirty="0"/>
              <a:t>WK filter</a:t>
            </a:r>
          </a:p>
        </p:txBody>
      </p:sp>
      <p:sp>
        <p:nvSpPr>
          <p:cNvPr id="48" name="Rectangle: Rounded Corners 47">
            <a:extLst>
              <a:ext uri="{FF2B5EF4-FFF2-40B4-BE49-F238E27FC236}">
                <a16:creationId xmlns:a16="http://schemas.microsoft.com/office/drawing/2014/main" id="{69DCBB9C-C99B-4D7A-AAEB-35CB20860E1E}"/>
              </a:ext>
            </a:extLst>
          </p:cNvPr>
          <p:cNvSpPr/>
          <p:nvPr/>
        </p:nvSpPr>
        <p:spPr>
          <a:xfrm>
            <a:off x="4349695" y="5416483"/>
            <a:ext cx="1140903"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X12-ARIMA</a:t>
            </a:r>
          </a:p>
        </p:txBody>
      </p:sp>
      <p:cxnSp>
        <p:nvCxnSpPr>
          <p:cNvPr id="49" name="Connector: Elbow 48">
            <a:extLst>
              <a:ext uri="{FF2B5EF4-FFF2-40B4-BE49-F238E27FC236}">
                <a16:creationId xmlns:a16="http://schemas.microsoft.com/office/drawing/2014/main" id="{76152ADA-3FA4-412A-B62E-C64F6110F1D5}"/>
              </a:ext>
            </a:extLst>
          </p:cNvPr>
          <p:cNvCxnSpPr>
            <a:cxnSpLocks/>
            <a:stCxn id="22" idx="4"/>
            <a:endCxn id="43" idx="0"/>
          </p:cNvCxnSpPr>
          <p:nvPr/>
        </p:nvCxnSpPr>
        <p:spPr>
          <a:xfrm rot="5400000">
            <a:off x="7464478" y="3071276"/>
            <a:ext cx="415905" cy="85708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59" name="Connector: Elbow 58">
            <a:extLst>
              <a:ext uri="{FF2B5EF4-FFF2-40B4-BE49-F238E27FC236}">
                <a16:creationId xmlns:a16="http://schemas.microsoft.com/office/drawing/2014/main" id="{7C0FF8E6-DF58-43AF-95C5-BCC2C97820A6}"/>
              </a:ext>
            </a:extLst>
          </p:cNvPr>
          <p:cNvCxnSpPr>
            <a:cxnSpLocks/>
            <a:stCxn id="22" idx="4"/>
            <a:endCxn id="44" idx="0"/>
          </p:cNvCxnSpPr>
          <p:nvPr/>
        </p:nvCxnSpPr>
        <p:spPr>
          <a:xfrm rot="16200000" flipH="1">
            <a:off x="8432009" y="2960825"/>
            <a:ext cx="415902" cy="107798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3" name="Connector: Elbow 62">
            <a:extLst>
              <a:ext uri="{FF2B5EF4-FFF2-40B4-BE49-F238E27FC236}">
                <a16:creationId xmlns:a16="http://schemas.microsoft.com/office/drawing/2014/main" id="{AD542FE6-2744-4CB8-BC4D-6091C7B7CC4F}"/>
              </a:ext>
            </a:extLst>
          </p:cNvPr>
          <p:cNvCxnSpPr>
            <a:cxnSpLocks/>
            <a:stCxn id="43" idx="2"/>
            <a:endCxn id="45" idx="0"/>
          </p:cNvCxnSpPr>
          <p:nvPr/>
        </p:nvCxnSpPr>
        <p:spPr>
          <a:xfrm rot="16200000" flipH="1">
            <a:off x="7111128" y="4646330"/>
            <a:ext cx="265527" cy="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id="{198A65D1-1D39-4D47-90C1-8254DE5849B9}"/>
              </a:ext>
            </a:extLst>
          </p:cNvPr>
          <p:cNvCxnSpPr>
            <a:cxnSpLocks/>
            <a:stCxn id="12" idx="2"/>
            <a:endCxn id="48" idx="0"/>
          </p:cNvCxnSpPr>
          <p:nvPr/>
        </p:nvCxnSpPr>
        <p:spPr>
          <a:xfrm rot="16200000" flipH="1">
            <a:off x="4546918" y="5043253"/>
            <a:ext cx="743659" cy="2799"/>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94" name="Straight Arrow Connector 93">
            <a:extLst>
              <a:ext uri="{FF2B5EF4-FFF2-40B4-BE49-F238E27FC236}">
                <a16:creationId xmlns:a16="http://schemas.microsoft.com/office/drawing/2014/main" id="{F33B337E-4417-4259-8A1D-AA33010C0FA8}"/>
              </a:ext>
            </a:extLst>
          </p:cNvPr>
          <p:cNvCxnSpPr>
            <a:cxnSpLocks/>
            <a:stCxn id="44" idx="2"/>
            <a:endCxn id="46" idx="0"/>
          </p:cNvCxnSpPr>
          <p:nvPr/>
        </p:nvCxnSpPr>
        <p:spPr>
          <a:xfrm>
            <a:off x="9178950" y="5279345"/>
            <a:ext cx="0" cy="47479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100">
            <a:extLst>
              <a:ext uri="{FF2B5EF4-FFF2-40B4-BE49-F238E27FC236}">
                <a16:creationId xmlns:a16="http://schemas.microsoft.com/office/drawing/2014/main" id="{4DA02EBA-2354-44BB-88B6-D757F781CB14}"/>
              </a:ext>
            </a:extLst>
          </p:cNvPr>
          <p:cNvCxnSpPr>
            <a:cxnSpLocks/>
            <a:stCxn id="43" idx="1"/>
            <a:endCxn id="48" idx="0"/>
          </p:cNvCxnSpPr>
          <p:nvPr/>
        </p:nvCxnSpPr>
        <p:spPr>
          <a:xfrm flipH="1">
            <a:off x="4920147" y="4110669"/>
            <a:ext cx="1475760" cy="1305814"/>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 name="Rectangle: Rounded Corners 2">
            <a:extLst>
              <a:ext uri="{FF2B5EF4-FFF2-40B4-BE49-F238E27FC236}">
                <a16:creationId xmlns:a16="http://schemas.microsoft.com/office/drawing/2014/main" id="{F50C0F87-6909-41F0-A815-1A523EABDD9F}"/>
              </a:ext>
            </a:extLst>
          </p:cNvPr>
          <p:cNvSpPr/>
          <p:nvPr/>
        </p:nvSpPr>
        <p:spPr>
          <a:xfrm>
            <a:off x="3879542" y="3429000"/>
            <a:ext cx="4314545" cy="2945167"/>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r"/>
            <a:r>
              <a:rPr lang="en-GB" sz="2800" dirty="0">
                <a:solidFill>
                  <a:srgbClr val="FF0000"/>
                </a:solidFill>
              </a:rPr>
              <a:t>JD+ 2.x</a:t>
            </a:r>
          </a:p>
        </p:txBody>
      </p:sp>
      <p:sp>
        <p:nvSpPr>
          <p:cNvPr id="33" name="Rectangle: Rounded Corners 32">
            <a:extLst>
              <a:ext uri="{FF2B5EF4-FFF2-40B4-BE49-F238E27FC236}">
                <a16:creationId xmlns:a16="http://schemas.microsoft.com/office/drawing/2014/main" id="{B6D17088-9DC4-4181-9AF6-D5E441A41B6E}"/>
              </a:ext>
            </a:extLst>
          </p:cNvPr>
          <p:cNvSpPr/>
          <p:nvPr/>
        </p:nvSpPr>
        <p:spPr>
          <a:xfrm>
            <a:off x="8194087" y="5416482"/>
            <a:ext cx="2190789" cy="1441518"/>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Footer Placeholder 17">
            <a:extLst>
              <a:ext uri="{FF2B5EF4-FFF2-40B4-BE49-F238E27FC236}">
                <a16:creationId xmlns:a16="http://schemas.microsoft.com/office/drawing/2014/main" id="{E1ACCD74-716C-40C5-AF10-8A44E73319C0}"/>
              </a:ext>
            </a:extLst>
          </p:cNvPr>
          <p:cNvSpPr>
            <a:spLocks noGrp="1"/>
          </p:cNvSpPr>
          <p:nvPr>
            <p:ph type="ftr" sz="quarter" idx="11"/>
          </p:nvPr>
        </p:nvSpPr>
        <p:spPr/>
        <p:txBody>
          <a:bodyPr/>
          <a:lstStyle/>
          <a:p>
            <a:r>
              <a:rPr lang="en-GB"/>
              <a:t>ESTP Training. Seasonal adjustment</a:t>
            </a:r>
          </a:p>
        </p:txBody>
      </p:sp>
    </p:spTree>
    <p:extLst>
      <p:ext uri="{BB962C8B-B14F-4D97-AF65-F5344CB8AC3E}">
        <p14:creationId xmlns:p14="http://schemas.microsoft.com/office/powerpoint/2010/main" val="12682748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4625D-5B79-4496-B8D9-2A4C2D8721B6}"/>
              </a:ext>
            </a:extLst>
          </p:cNvPr>
          <p:cNvSpPr>
            <a:spLocks noGrp="1"/>
          </p:cNvSpPr>
          <p:nvPr>
            <p:ph type="title"/>
          </p:nvPr>
        </p:nvSpPr>
        <p:spPr/>
        <p:txBody>
          <a:bodyPr/>
          <a:lstStyle/>
          <a:p>
            <a:r>
              <a:rPr lang="en-GB" dirty="0"/>
              <a:t>3. Rapid overview of the main SA methods</a:t>
            </a:r>
          </a:p>
        </p:txBody>
      </p:sp>
      <p:sp>
        <p:nvSpPr>
          <p:cNvPr id="5" name="Rectangle: Rounded Corners 4">
            <a:extLst>
              <a:ext uri="{FF2B5EF4-FFF2-40B4-BE49-F238E27FC236}">
                <a16:creationId xmlns:a16="http://schemas.microsoft.com/office/drawing/2014/main" id="{F520F228-CA9D-4102-A11A-AA3695585F7F}"/>
              </a:ext>
            </a:extLst>
          </p:cNvPr>
          <p:cNvSpPr/>
          <p:nvPr/>
        </p:nvSpPr>
        <p:spPr>
          <a:xfrm>
            <a:off x="1462482" y="1690688"/>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dirty="0"/>
              <a:t>Non parametric</a:t>
            </a:r>
          </a:p>
        </p:txBody>
      </p:sp>
      <p:sp>
        <p:nvSpPr>
          <p:cNvPr id="6" name="Rectangle: Rounded Corners 5">
            <a:extLst>
              <a:ext uri="{FF2B5EF4-FFF2-40B4-BE49-F238E27FC236}">
                <a16:creationId xmlns:a16="http://schemas.microsoft.com/office/drawing/2014/main" id="{D1EA9692-5CFF-470C-9874-21072D38C642}"/>
              </a:ext>
            </a:extLst>
          </p:cNvPr>
          <p:cNvSpPr/>
          <p:nvPr/>
        </p:nvSpPr>
        <p:spPr>
          <a:xfrm>
            <a:off x="7922006" y="1676004"/>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dirty="0"/>
              <a:t>Parametric</a:t>
            </a:r>
          </a:p>
        </p:txBody>
      </p:sp>
      <p:sp>
        <p:nvSpPr>
          <p:cNvPr id="7" name="Oval 6">
            <a:extLst>
              <a:ext uri="{FF2B5EF4-FFF2-40B4-BE49-F238E27FC236}">
                <a16:creationId xmlns:a16="http://schemas.microsoft.com/office/drawing/2014/main" id="{192C7396-6D2E-43A8-9E62-97C22A1623D9}"/>
              </a:ext>
            </a:extLst>
          </p:cNvPr>
          <p:cNvSpPr/>
          <p:nvPr/>
        </p:nvSpPr>
        <p:spPr>
          <a:xfrm>
            <a:off x="2129409" y="2678337"/>
            <a:ext cx="1535185"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Lo(w)ess</a:t>
            </a:r>
          </a:p>
        </p:txBody>
      </p:sp>
      <p:sp>
        <p:nvSpPr>
          <p:cNvPr id="8" name="Rectangle: Rounded Corners 7">
            <a:extLst>
              <a:ext uri="{FF2B5EF4-FFF2-40B4-BE49-F238E27FC236}">
                <a16:creationId xmlns:a16="http://schemas.microsoft.com/office/drawing/2014/main" id="{15E4EC58-CC22-4F65-91F6-4307286C245A}"/>
              </a:ext>
            </a:extLst>
          </p:cNvPr>
          <p:cNvSpPr/>
          <p:nvPr/>
        </p:nvSpPr>
        <p:spPr>
          <a:xfrm>
            <a:off x="2326549" y="3997509"/>
            <a:ext cx="1140903"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STL</a:t>
            </a:r>
          </a:p>
        </p:txBody>
      </p:sp>
      <p:sp>
        <p:nvSpPr>
          <p:cNvPr id="9" name="Oval 8">
            <a:extLst>
              <a:ext uri="{FF2B5EF4-FFF2-40B4-BE49-F238E27FC236}">
                <a16:creationId xmlns:a16="http://schemas.microsoft.com/office/drawing/2014/main" id="{0080DDFD-4F69-4BA5-B179-3AB0D11823BB}"/>
              </a:ext>
            </a:extLst>
          </p:cNvPr>
          <p:cNvSpPr/>
          <p:nvPr/>
        </p:nvSpPr>
        <p:spPr>
          <a:xfrm>
            <a:off x="4152555" y="2678337"/>
            <a:ext cx="1535185"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Moving averages</a:t>
            </a:r>
          </a:p>
        </p:txBody>
      </p:sp>
      <p:sp>
        <p:nvSpPr>
          <p:cNvPr id="10" name="Oval 9">
            <a:extLst>
              <a:ext uri="{FF2B5EF4-FFF2-40B4-BE49-F238E27FC236}">
                <a16:creationId xmlns:a16="http://schemas.microsoft.com/office/drawing/2014/main" id="{A14D15D5-0109-4DE4-A700-1DFB13F760C4}"/>
              </a:ext>
            </a:extLst>
          </p:cNvPr>
          <p:cNvSpPr/>
          <p:nvPr/>
        </p:nvSpPr>
        <p:spPr>
          <a:xfrm>
            <a:off x="106263" y="2678336"/>
            <a:ext cx="1535185"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Machine learning</a:t>
            </a:r>
          </a:p>
        </p:txBody>
      </p:sp>
      <p:sp>
        <p:nvSpPr>
          <p:cNvPr id="11" name="Rectangle: Rounded Corners 10">
            <a:extLst>
              <a:ext uri="{FF2B5EF4-FFF2-40B4-BE49-F238E27FC236}">
                <a16:creationId xmlns:a16="http://schemas.microsoft.com/office/drawing/2014/main" id="{12823B9A-35B9-4AC3-B21E-538C4FBD00E2}"/>
              </a:ext>
            </a:extLst>
          </p:cNvPr>
          <p:cNvSpPr/>
          <p:nvPr/>
        </p:nvSpPr>
        <p:spPr>
          <a:xfrm>
            <a:off x="303403" y="3997509"/>
            <a:ext cx="1140903"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Prophet</a:t>
            </a:r>
          </a:p>
        </p:txBody>
      </p:sp>
      <p:sp>
        <p:nvSpPr>
          <p:cNvPr id="12" name="Rectangle: Rounded Corners 11">
            <a:extLst>
              <a:ext uri="{FF2B5EF4-FFF2-40B4-BE49-F238E27FC236}">
                <a16:creationId xmlns:a16="http://schemas.microsoft.com/office/drawing/2014/main" id="{C5CE0A47-8EC5-4388-81A3-15127B5D938A}"/>
              </a:ext>
            </a:extLst>
          </p:cNvPr>
          <p:cNvSpPr/>
          <p:nvPr/>
        </p:nvSpPr>
        <p:spPr>
          <a:xfrm>
            <a:off x="4331517" y="3997509"/>
            <a:ext cx="1171661"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X11</a:t>
            </a:r>
          </a:p>
        </p:txBody>
      </p:sp>
      <p:cxnSp>
        <p:nvCxnSpPr>
          <p:cNvPr id="14" name="Connector: Elbow 13">
            <a:extLst>
              <a:ext uri="{FF2B5EF4-FFF2-40B4-BE49-F238E27FC236}">
                <a16:creationId xmlns:a16="http://schemas.microsoft.com/office/drawing/2014/main" id="{FF515A54-44FF-4A86-85DB-E748919121FD}"/>
              </a:ext>
            </a:extLst>
          </p:cNvPr>
          <p:cNvCxnSpPr>
            <a:stCxn id="5" idx="2"/>
            <a:endCxn id="7" idx="0"/>
          </p:cNvCxnSpPr>
          <p:nvPr/>
        </p:nvCxnSpPr>
        <p:spPr>
          <a:xfrm rot="16200000" flipH="1">
            <a:off x="2638068" y="2419403"/>
            <a:ext cx="517866" cy="2"/>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cxnSp>
        <p:nvCxnSpPr>
          <p:cNvPr id="16" name="Connector: Elbow 15">
            <a:extLst>
              <a:ext uri="{FF2B5EF4-FFF2-40B4-BE49-F238E27FC236}">
                <a16:creationId xmlns:a16="http://schemas.microsoft.com/office/drawing/2014/main" id="{894EBEE9-247F-49C2-8857-94DA35D244EA}"/>
              </a:ext>
            </a:extLst>
          </p:cNvPr>
          <p:cNvCxnSpPr>
            <a:cxnSpLocks/>
            <a:stCxn id="5" idx="2"/>
            <a:endCxn id="10" idx="0"/>
          </p:cNvCxnSpPr>
          <p:nvPr/>
        </p:nvCxnSpPr>
        <p:spPr>
          <a:xfrm rot="5400000">
            <a:off x="1626496" y="1407831"/>
            <a:ext cx="517865" cy="2023144"/>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664EE2CF-3A26-48B1-B02F-FE3AB0405DC6}"/>
              </a:ext>
            </a:extLst>
          </p:cNvPr>
          <p:cNvCxnSpPr>
            <a:cxnSpLocks/>
            <a:stCxn id="5" idx="2"/>
            <a:endCxn id="9" idx="0"/>
          </p:cNvCxnSpPr>
          <p:nvPr/>
        </p:nvCxnSpPr>
        <p:spPr>
          <a:xfrm rot="16200000" flipH="1">
            <a:off x="3649641" y="1407830"/>
            <a:ext cx="517866" cy="2023148"/>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sp>
        <p:nvSpPr>
          <p:cNvPr id="22" name="Oval 21">
            <a:extLst>
              <a:ext uri="{FF2B5EF4-FFF2-40B4-BE49-F238E27FC236}">
                <a16:creationId xmlns:a16="http://schemas.microsoft.com/office/drawing/2014/main" id="{AF98C968-98A8-4E28-BB75-16E182F41197}"/>
              </a:ext>
            </a:extLst>
          </p:cNvPr>
          <p:cNvSpPr/>
          <p:nvPr/>
        </p:nvSpPr>
        <p:spPr>
          <a:xfrm>
            <a:off x="7259274" y="2616549"/>
            <a:ext cx="168339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Stochastic</a:t>
            </a:r>
          </a:p>
        </p:txBody>
      </p:sp>
      <p:sp>
        <p:nvSpPr>
          <p:cNvPr id="23" name="Oval 22">
            <a:extLst>
              <a:ext uri="{FF2B5EF4-FFF2-40B4-BE49-F238E27FC236}">
                <a16:creationId xmlns:a16="http://schemas.microsoft.com/office/drawing/2014/main" id="{E73A1CA1-A34F-4497-A770-7B2367356DF8}"/>
              </a:ext>
            </a:extLst>
          </p:cNvPr>
          <p:cNvSpPr/>
          <p:nvPr/>
        </p:nvSpPr>
        <p:spPr>
          <a:xfrm>
            <a:off x="10384876" y="2616549"/>
            <a:ext cx="168339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400" dirty="0"/>
              <a:t>Deterministic</a:t>
            </a:r>
          </a:p>
        </p:txBody>
      </p:sp>
      <p:cxnSp>
        <p:nvCxnSpPr>
          <p:cNvPr id="24" name="Connector: Elbow 23">
            <a:extLst>
              <a:ext uri="{FF2B5EF4-FFF2-40B4-BE49-F238E27FC236}">
                <a16:creationId xmlns:a16="http://schemas.microsoft.com/office/drawing/2014/main" id="{0BA783BE-5E0F-4F7D-A700-00144B13B99D}"/>
              </a:ext>
            </a:extLst>
          </p:cNvPr>
          <p:cNvCxnSpPr>
            <a:cxnSpLocks/>
            <a:stCxn id="6" idx="2"/>
            <a:endCxn id="22" idx="0"/>
          </p:cNvCxnSpPr>
          <p:nvPr/>
        </p:nvCxnSpPr>
        <p:spPr>
          <a:xfrm rot="5400000">
            <a:off x="8493366" y="1753391"/>
            <a:ext cx="470762" cy="1255554"/>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27" name="Connector: Elbow 26">
            <a:extLst>
              <a:ext uri="{FF2B5EF4-FFF2-40B4-BE49-F238E27FC236}">
                <a16:creationId xmlns:a16="http://schemas.microsoft.com/office/drawing/2014/main" id="{6F00BD70-1FB1-4C65-9E0F-A644FFC7B1E1}"/>
              </a:ext>
            </a:extLst>
          </p:cNvPr>
          <p:cNvCxnSpPr>
            <a:cxnSpLocks/>
            <a:stCxn id="6" idx="2"/>
            <a:endCxn id="23" idx="0"/>
          </p:cNvCxnSpPr>
          <p:nvPr/>
        </p:nvCxnSpPr>
        <p:spPr>
          <a:xfrm rot="16200000" flipH="1">
            <a:off x="10056167" y="1446144"/>
            <a:ext cx="470762" cy="1870048"/>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id="{B75D44D3-7C6E-4374-B8D7-034396BAA2E9}"/>
              </a:ext>
            </a:extLst>
          </p:cNvPr>
          <p:cNvCxnSpPr>
            <a:cxnSpLocks/>
            <a:stCxn id="10" idx="4"/>
            <a:endCxn id="11" idx="0"/>
          </p:cNvCxnSpPr>
          <p:nvPr/>
        </p:nvCxnSpPr>
        <p:spPr>
          <a:xfrm rot="5400000">
            <a:off x="551927" y="3675580"/>
            <a:ext cx="643858" cy="1"/>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7" name="Connector: Elbow 36">
            <a:extLst>
              <a:ext uri="{FF2B5EF4-FFF2-40B4-BE49-F238E27FC236}">
                <a16:creationId xmlns:a16="http://schemas.microsoft.com/office/drawing/2014/main" id="{B8995EC1-8F26-4E47-BF38-99629163D881}"/>
              </a:ext>
            </a:extLst>
          </p:cNvPr>
          <p:cNvCxnSpPr>
            <a:cxnSpLocks/>
            <a:stCxn id="7" idx="4"/>
            <a:endCxn id="8" idx="0"/>
          </p:cNvCxnSpPr>
          <p:nvPr/>
        </p:nvCxnSpPr>
        <p:spPr>
          <a:xfrm rot="5400000">
            <a:off x="2575074" y="3675580"/>
            <a:ext cx="643857" cy="1"/>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8" name="Connector: Elbow 37">
            <a:extLst>
              <a:ext uri="{FF2B5EF4-FFF2-40B4-BE49-F238E27FC236}">
                <a16:creationId xmlns:a16="http://schemas.microsoft.com/office/drawing/2014/main" id="{EA57E431-FCDC-43CC-BDF8-C825774942B9}"/>
              </a:ext>
            </a:extLst>
          </p:cNvPr>
          <p:cNvCxnSpPr>
            <a:cxnSpLocks/>
            <a:stCxn id="9" idx="4"/>
            <a:endCxn id="12" idx="0"/>
          </p:cNvCxnSpPr>
          <p:nvPr/>
        </p:nvCxnSpPr>
        <p:spPr>
          <a:xfrm rot="5400000">
            <a:off x="4596820" y="3674180"/>
            <a:ext cx="643857" cy="280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43" name="Rectangle: Rounded Corners 42">
            <a:extLst>
              <a:ext uri="{FF2B5EF4-FFF2-40B4-BE49-F238E27FC236}">
                <a16:creationId xmlns:a16="http://schemas.microsoft.com/office/drawing/2014/main" id="{85FE8096-4983-4339-8A6C-A61A74C8639A}"/>
              </a:ext>
            </a:extLst>
          </p:cNvPr>
          <p:cNvSpPr/>
          <p:nvPr/>
        </p:nvSpPr>
        <p:spPr>
          <a:xfrm>
            <a:off x="6395907" y="3707769"/>
            <a:ext cx="1695965" cy="8058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dirty="0"/>
              <a:t>RegArima</a:t>
            </a:r>
          </a:p>
          <a:p>
            <a:pPr algn="ctr"/>
            <a:r>
              <a:rPr lang="en-GB" dirty="0"/>
              <a:t>models</a:t>
            </a:r>
          </a:p>
        </p:txBody>
      </p:sp>
      <p:sp>
        <p:nvSpPr>
          <p:cNvPr id="44" name="Rectangle: Rounded Corners 43">
            <a:extLst>
              <a:ext uri="{FF2B5EF4-FFF2-40B4-BE49-F238E27FC236}">
                <a16:creationId xmlns:a16="http://schemas.microsoft.com/office/drawing/2014/main" id="{A5E02DF7-83A0-464E-9CBD-6916CC74F947}"/>
              </a:ext>
            </a:extLst>
          </p:cNvPr>
          <p:cNvSpPr/>
          <p:nvPr/>
        </p:nvSpPr>
        <p:spPr>
          <a:xfrm>
            <a:off x="8330965" y="3707766"/>
            <a:ext cx="1695970" cy="1708715"/>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dirty="0"/>
              <a:t>Structural models</a:t>
            </a:r>
          </a:p>
        </p:txBody>
      </p:sp>
      <p:sp>
        <p:nvSpPr>
          <p:cNvPr id="45" name="Rectangle: Rounded Corners 44">
            <a:extLst>
              <a:ext uri="{FF2B5EF4-FFF2-40B4-BE49-F238E27FC236}">
                <a16:creationId xmlns:a16="http://schemas.microsoft.com/office/drawing/2014/main" id="{A66D95AB-2DF4-46C9-B40D-E4266D17E732}"/>
              </a:ext>
            </a:extLst>
          </p:cNvPr>
          <p:cNvSpPr/>
          <p:nvPr/>
        </p:nvSpPr>
        <p:spPr>
          <a:xfrm>
            <a:off x="6395908" y="4779096"/>
            <a:ext cx="1695970" cy="8058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GB" dirty="0"/>
              <a:t>Canonical decomposition</a:t>
            </a:r>
          </a:p>
        </p:txBody>
      </p:sp>
      <p:sp>
        <p:nvSpPr>
          <p:cNvPr id="46" name="Rectangle: Rounded Corners 45">
            <a:extLst>
              <a:ext uri="{FF2B5EF4-FFF2-40B4-BE49-F238E27FC236}">
                <a16:creationId xmlns:a16="http://schemas.microsoft.com/office/drawing/2014/main" id="{C1690188-6A10-4FB0-B7E1-A78271C89E57}"/>
              </a:ext>
            </a:extLst>
          </p:cNvPr>
          <p:cNvSpPr/>
          <p:nvPr/>
        </p:nvSpPr>
        <p:spPr>
          <a:xfrm>
            <a:off x="8330965" y="5754141"/>
            <a:ext cx="1695970" cy="8058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GB" dirty="0"/>
              <a:t>Kalman filter</a:t>
            </a:r>
          </a:p>
          <a:p>
            <a:pPr algn="ctr"/>
            <a:r>
              <a:rPr lang="en-GB" dirty="0"/>
              <a:t>WK filter</a:t>
            </a:r>
          </a:p>
        </p:txBody>
      </p:sp>
      <p:sp>
        <p:nvSpPr>
          <p:cNvPr id="48" name="Rectangle: Rounded Corners 47">
            <a:extLst>
              <a:ext uri="{FF2B5EF4-FFF2-40B4-BE49-F238E27FC236}">
                <a16:creationId xmlns:a16="http://schemas.microsoft.com/office/drawing/2014/main" id="{69DCBB9C-C99B-4D7A-AAEB-35CB20860E1E}"/>
              </a:ext>
            </a:extLst>
          </p:cNvPr>
          <p:cNvSpPr/>
          <p:nvPr/>
        </p:nvSpPr>
        <p:spPr>
          <a:xfrm>
            <a:off x="4349695" y="5416483"/>
            <a:ext cx="1140903"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X12-ARIMA</a:t>
            </a:r>
          </a:p>
        </p:txBody>
      </p:sp>
      <p:cxnSp>
        <p:nvCxnSpPr>
          <p:cNvPr id="49" name="Connector: Elbow 48">
            <a:extLst>
              <a:ext uri="{FF2B5EF4-FFF2-40B4-BE49-F238E27FC236}">
                <a16:creationId xmlns:a16="http://schemas.microsoft.com/office/drawing/2014/main" id="{76152ADA-3FA4-412A-B62E-C64F6110F1D5}"/>
              </a:ext>
            </a:extLst>
          </p:cNvPr>
          <p:cNvCxnSpPr>
            <a:cxnSpLocks/>
            <a:stCxn id="22" idx="4"/>
            <a:endCxn id="43" idx="0"/>
          </p:cNvCxnSpPr>
          <p:nvPr/>
        </p:nvCxnSpPr>
        <p:spPr>
          <a:xfrm rot="5400000">
            <a:off x="7464478" y="3071276"/>
            <a:ext cx="415905" cy="85708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59" name="Connector: Elbow 58">
            <a:extLst>
              <a:ext uri="{FF2B5EF4-FFF2-40B4-BE49-F238E27FC236}">
                <a16:creationId xmlns:a16="http://schemas.microsoft.com/office/drawing/2014/main" id="{7C0FF8E6-DF58-43AF-95C5-BCC2C97820A6}"/>
              </a:ext>
            </a:extLst>
          </p:cNvPr>
          <p:cNvCxnSpPr>
            <a:cxnSpLocks/>
            <a:stCxn id="22" idx="4"/>
            <a:endCxn id="44" idx="0"/>
          </p:cNvCxnSpPr>
          <p:nvPr/>
        </p:nvCxnSpPr>
        <p:spPr>
          <a:xfrm rot="16200000" flipH="1">
            <a:off x="8432009" y="2960825"/>
            <a:ext cx="415902" cy="107798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3" name="Connector: Elbow 62">
            <a:extLst>
              <a:ext uri="{FF2B5EF4-FFF2-40B4-BE49-F238E27FC236}">
                <a16:creationId xmlns:a16="http://schemas.microsoft.com/office/drawing/2014/main" id="{AD542FE6-2744-4CB8-BC4D-6091C7B7CC4F}"/>
              </a:ext>
            </a:extLst>
          </p:cNvPr>
          <p:cNvCxnSpPr>
            <a:cxnSpLocks/>
            <a:stCxn id="43" idx="2"/>
            <a:endCxn id="45" idx="0"/>
          </p:cNvCxnSpPr>
          <p:nvPr/>
        </p:nvCxnSpPr>
        <p:spPr>
          <a:xfrm rot="16200000" flipH="1">
            <a:off x="7111128" y="4646330"/>
            <a:ext cx="265527" cy="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id="{198A65D1-1D39-4D47-90C1-8254DE5849B9}"/>
              </a:ext>
            </a:extLst>
          </p:cNvPr>
          <p:cNvCxnSpPr>
            <a:cxnSpLocks/>
            <a:stCxn id="12" idx="2"/>
            <a:endCxn id="48" idx="0"/>
          </p:cNvCxnSpPr>
          <p:nvPr/>
        </p:nvCxnSpPr>
        <p:spPr>
          <a:xfrm rot="16200000" flipH="1">
            <a:off x="4546918" y="5043253"/>
            <a:ext cx="743659" cy="2799"/>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94" name="Straight Arrow Connector 93">
            <a:extLst>
              <a:ext uri="{FF2B5EF4-FFF2-40B4-BE49-F238E27FC236}">
                <a16:creationId xmlns:a16="http://schemas.microsoft.com/office/drawing/2014/main" id="{F33B337E-4417-4259-8A1D-AA33010C0FA8}"/>
              </a:ext>
            </a:extLst>
          </p:cNvPr>
          <p:cNvCxnSpPr>
            <a:cxnSpLocks/>
            <a:stCxn id="44" idx="2"/>
            <a:endCxn id="46" idx="0"/>
          </p:cNvCxnSpPr>
          <p:nvPr/>
        </p:nvCxnSpPr>
        <p:spPr>
          <a:xfrm>
            <a:off x="9178950" y="5416481"/>
            <a:ext cx="0" cy="33766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100">
            <a:extLst>
              <a:ext uri="{FF2B5EF4-FFF2-40B4-BE49-F238E27FC236}">
                <a16:creationId xmlns:a16="http://schemas.microsoft.com/office/drawing/2014/main" id="{4DA02EBA-2354-44BB-88B6-D757F781CB14}"/>
              </a:ext>
            </a:extLst>
          </p:cNvPr>
          <p:cNvCxnSpPr>
            <a:cxnSpLocks/>
            <a:stCxn id="43" idx="1"/>
            <a:endCxn id="48" idx="0"/>
          </p:cNvCxnSpPr>
          <p:nvPr/>
        </p:nvCxnSpPr>
        <p:spPr>
          <a:xfrm flipH="1">
            <a:off x="4920147" y="4110669"/>
            <a:ext cx="1475760" cy="1305814"/>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2" name="Rectangle: Rounded Corners 31">
            <a:extLst>
              <a:ext uri="{FF2B5EF4-FFF2-40B4-BE49-F238E27FC236}">
                <a16:creationId xmlns:a16="http://schemas.microsoft.com/office/drawing/2014/main" id="{D3270982-E1B3-4012-AA98-41027B12BE19}"/>
              </a:ext>
            </a:extLst>
          </p:cNvPr>
          <p:cNvSpPr/>
          <p:nvPr/>
        </p:nvSpPr>
        <p:spPr>
          <a:xfrm>
            <a:off x="1721843" y="3428999"/>
            <a:ext cx="9197690" cy="323831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r>
              <a:rPr lang="en-GB" sz="2800" dirty="0">
                <a:solidFill>
                  <a:srgbClr val="FF0000"/>
                </a:solidFill>
              </a:rPr>
              <a:t>JD+ 3.0</a:t>
            </a:r>
          </a:p>
        </p:txBody>
      </p:sp>
      <p:sp>
        <p:nvSpPr>
          <p:cNvPr id="15" name="Footer Placeholder 14">
            <a:extLst>
              <a:ext uri="{FF2B5EF4-FFF2-40B4-BE49-F238E27FC236}">
                <a16:creationId xmlns:a16="http://schemas.microsoft.com/office/drawing/2014/main" id="{29F53E7A-076E-43B9-90F0-11876AFF448B}"/>
              </a:ext>
            </a:extLst>
          </p:cNvPr>
          <p:cNvSpPr>
            <a:spLocks noGrp="1"/>
          </p:cNvSpPr>
          <p:nvPr>
            <p:ph type="ftr" sz="quarter" idx="11"/>
          </p:nvPr>
        </p:nvSpPr>
        <p:spPr/>
        <p:txBody>
          <a:bodyPr/>
          <a:lstStyle/>
          <a:p>
            <a:r>
              <a:rPr lang="en-GB"/>
              <a:t>ESTP Training. Seasonal adjustment</a:t>
            </a:r>
          </a:p>
        </p:txBody>
      </p:sp>
    </p:spTree>
    <p:extLst>
      <p:ext uri="{BB962C8B-B14F-4D97-AF65-F5344CB8AC3E}">
        <p14:creationId xmlns:p14="http://schemas.microsoft.com/office/powerpoint/2010/main" val="40593268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BAFE908-D85F-AB21-5D3E-EC1E6FB64EBB}"/>
              </a:ext>
            </a:extLst>
          </p:cNvPr>
          <p:cNvSpPr>
            <a:spLocks noGrp="1"/>
          </p:cNvSpPr>
          <p:nvPr>
            <p:ph type="title"/>
          </p:nvPr>
        </p:nvSpPr>
        <p:spPr/>
        <p:txBody>
          <a:bodyPr/>
          <a:lstStyle/>
          <a:p>
            <a:r>
              <a:rPr lang="fr-BE" dirty="0"/>
              <a:t>4. </a:t>
            </a:r>
            <a:r>
              <a:rPr lang="fr-BE" dirty="0" err="1"/>
              <a:t>Outline</a:t>
            </a:r>
            <a:r>
              <a:rPr lang="fr-BE" dirty="0"/>
              <a:t> of the training (</a:t>
            </a:r>
            <a:r>
              <a:rPr lang="fr-BE" dirty="0" err="1"/>
              <a:t>see</a:t>
            </a:r>
            <a:r>
              <a:rPr lang="fr-BE" dirty="0"/>
              <a:t> guidelines)</a:t>
            </a:r>
            <a:endParaRPr lang="en-GB" dirty="0"/>
          </a:p>
        </p:txBody>
      </p:sp>
      <p:sp>
        <p:nvSpPr>
          <p:cNvPr id="3" name="Espace réservé du contenu 2">
            <a:extLst>
              <a:ext uri="{FF2B5EF4-FFF2-40B4-BE49-F238E27FC236}">
                <a16:creationId xmlns:a16="http://schemas.microsoft.com/office/drawing/2014/main" id="{55607ED8-51CF-E611-BC19-F8114E9535AC}"/>
              </a:ext>
            </a:extLst>
          </p:cNvPr>
          <p:cNvSpPr>
            <a:spLocks noGrp="1"/>
          </p:cNvSpPr>
          <p:nvPr>
            <p:ph idx="1"/>
          </p:nvPr>
        </p:nvSpPr>
        <p:spPr/>
        <p:txBody>
          <a:bodyPr>
            <a:normAutofit fontScale="70000" lnSpcReduction="20000"/>
          </a:bodyPr>
          <a:lstStyle/>
          <a:p>
            <a:r>
              <a:rPr lang="fr-BE" dirty="0" err="1"/>
              <a:t>Overview</a:t>
            </a:r>
            <a:r>
              <a:rPr lang="fr-BE" dirty="0"/>
              <a:t> of (R)</a:t>
            </a:r>
            <a:r>
              <a:rPr lang="fr-BE" dirty="0" err="1"/>
              <a:t>JDemetra</a:t>
            </a:r>
            <a:r>
              <a:rPr lang="fr-BE" dirty="0"/>
              <a:t>+</a:t>
            </a:r>
          </a:p>
          <a:p>
            <a:pPr lvl="1"/>
            <a:r>
              <a:rPr lang="fr-BE" dirty="0"/>
              <a:t>JD+ 3.0, </a:t>
            </a:r>
            <a:r>
              <a:rPr lang="fr-BE" dirty="0" err="1"/>
              <a:t>rjdverse</a:t>
            </a:r>
            <a:r>
              <a:rPr lang="fr-BE" dirty="0"/>
              <a:t>, </a:t>
            </a:r>
            <a:r>
              <a:rPr lang="fr-BE" dirty="0" err="1"/>
              <a:t>github</a:t>
            </a:r>
            <a:r>
              <a:rPr lang="fr-BE" dirty="0"/>
              <a:t>, documentation…</a:t>
            </a:r>
          </a:p>
          <a:p>
            <a:r>
              <a:rPr lang="fr-BE" dirty="0"/>
              <a:t>Short tutorial on time </a:t>
            </a:r>
            <a:r>
              <a:rPr lang="fr-BE" dirty="0" err="1"/>
              <a:t>series</a:t>
            </a:r>
            <a:endParaRPr lang="fr-BE" dirty="0"/>
          </a:p>
          <a:p>
            <a:r>
              <a:rPr lang="fr-BE" dirty="0"/>
              <a:t>Pre-</a:t>
            </a:r>
            <a:r>
              <a:rPr lang="fr-BE" dirty="0" err="1"/>
              <a:t>treatment</a:t>
            </a:r>
            <a:endParaRPr lang="fr-BE" dirty="0"/>
          </a:p>
          <a:p>
            <a:pPr lvl="1"/>
            <a:r>
              <a:rPr lang="fr-BE" dirty="0" err="1"/>
              <a:t>Decomposition</a:t>
            </a:r>
            <a:r>
              <a:rPr lang="fr-BE" dirty="0"/>
              <a:t> </a:t>
            </a:r>
            <a:r>
              <a:rPr lang="fr-BE" dirty="0" err="1"/>
              <a:t>scheme</a:t>
            </a:r>
            <a:r>
              <a:rPr lang="fr-BE" dirty="0"/>
              <a:t>, </a:t>
            </a:r>
            <a:r>
              <a:rPr lang="fr-BE" dirty="0" err="1"/>
              <a:t>outliers</a:t>
            </a:r>
            <a:r>
              <a:rPr lang="fr-BE" dirty="0"/>
              <a:t>, </a:t>
            </a:r>
            <a:r>
              <a:rPr lang="fr-BE" dirty="0" err="1"/>
              <a:t>calendar</a:t>
            </a:r>
            <a:r>
              <a:rPr lang="fr-BE" dirty="0"/>
              <a:t> </a:t>
            </a:r>
            <a:r>
              <a:rPr lang="fr-BE" dirty="0" err="1"/>
              <a:t>effects</a:t>
            </a:r>
            <a:r>
              <a:rPr lang="fr-BE" dirty="0"/>
              <a:t>, (</a:t>
            </a:r>
            <a:r>
              <a:rPr lang="fr-BE" dirty="0" err="1"/>
              <a:t>automatic</a:t>
            </a:r>
            <a:r>
              <a:rPr lang="fr-BE" dirty="0"/>
              <a:t>) model </a:t>
            </a:r>
            <a:r>
              <a:rPr lang="fr-BE" dirty="0" err="1"/>
              <a:t>selection</a:t>
            </a:r>
            <a:endParaRPr lang="fr-BE" dirty="0"/>
          </a:p>
          <a:p>
            <a:r>
              <a:rPr lang="fr-BE" dirty="0" err="1"/>
              <a:t>Decomposition</a:t>
            </a:r>
            <a:r>
              <a:rPr lang="fr-BE" dirty="0"/>
              <a:t> (</a:t>
            </a:r>
            <a:r>
              <a:rPr lang="fr-BE" dirty="0" err="1"/>
              <a:t>seasonal</a:t>
            </a:r>
            <a:r>
              <a:rPr lang="fr-BE" dirty="0"/>
              <a:t> </a:t>
            </a:r>
            <a:r>
              <a:rPr lang="fr-BE" dirty="0" err="1"/>
              <a:t>adjustment</a:t>
            </a:r>
            <a:r>
              <a:rPr lang="fr-BE" dirty="0"/>
              <a:t>)</a:t>
            </a:r>
          </a:p>
          <a:p>
            <a:pPr lvl="1"/>
            <a:r>
              <a:rPr lang="fr-BE" dirty="0" err="1"/>
              <a:t>Seats</a:t>
            </a:r>
            <a:r>
              <a:rPr lang="fr-BE" dirty="0"/>
              <a:t>, X11, STL, STS…</a:t>
            </a:r>
          </a:p>
          <a:p>
            <a:r>
              <a:rPr lang="fr-BE" dirty="0" err="1"/>
              <a:t>Revisions</a:t>
            </a:r>
            <a:endParaRPr lang="fr-BE" dirty="0"/>
          </a:p>
          <a:p>
            <a:r>
              <a:rPr lang="fr-BE" dirty="0" err="1"/>
              <a:t>Quality</a:t>
            </a:r>
            <a:r>
              <a:rPr lang="fr-BE" dirty="0"/>
              <a:t> control</a:t>
            </a:r>
          </a:p>
          <a:p>
            <a:r>
              <a:rPr lang="fr-BE" dirty="0"/>
              <a:t>Routine SA </a:t>
            </a:r>
            <a:r>
              <a:rPr lang="fr-BE" dirty="0" err="1"/>
              <a:t>processing</a:t>
            </a:r>
            <a:endParaRPr lang="fr-BE" dirty="0"/>
          </a:p>
          <a:p>
            <a:r>
              <a:rPr lang="fr-BE" dirty="0" err="1"/>
              <a:t>Specific</a:t>
            </a:r>
            <a:r>
              <a:rPr lang="fr-BE" dirty="0"/>
              <a:t> issues</a:t>
            </a:r>
          </a:p>
          <a:p>
            <a:pPr lvl="1"/>
            <a:r>
              <a:rPr lang="fr-BE" dirty="0"/>
              <a:t>Pre-</a:t>
            </a:r>
            <a:r>
              <a:rPr lang="fr-BE" dirty="0" err="1"/>
              <a:t>treatment</a:t>
            </a:r>
            <a:r>
              <a:rPr lang="fr-BE" dirty="0"/>
              <a:t>, </a:t>
            </a:r>
            <a:r>
              <a:rPr lang="fr-BE" dirty="0" err="1"/>
              <a:t>decomposition</a:t>
            </a:r>
            <a:endParaRPr lang="fr-BE" dirty="0"/>
          </a:p>
          <a:p>
            <a:pPr lvl="1"/>
            <a:r>
              <a:rPr lang="fr-BE" dirty="0"/>
              <a:t>High-</a:t>
            </a:r>
            <a:r>
              <a:rPr lang="fr-BE" dirty="0" err="1"/>
              <a:t>frequency</a:t>
            </a:r>
            <a:endParaRPr lang="en-GB" dirty="0"/>
          </a:p>
        </p:txBody>
      </p:sp>
      <p:sp>
        <p:nvSpPr>
          <p:cNvPr id="5" name="Espace réservé du pied de page 4">
            <a:extLst>
              <a:ext uri="{FF2B5EF4-FFF2-40B4-BE49-F238E27FC236}">
                <a16:creationId xmlns:a16="http://schemas.microsoft.com/office/drawing/2014/main" id="{1A7D0D52-74D0-9ED3-87A5-591DA632A17E}"/>
              </a:ext>
            </a:extLst>
          </p:cNvPr>
          <p:cNvSpPr>
            <a:spLocks noGrp="1"/>
          </p:cNvSpPr>
          <p:nvPr>
            <p:ph type="ftr" sz="quarter" idx="11"/>
          </p:nvPr>
        </p:nvSpPr>
        <p:spPr/>
        <p:txBody>
          <a:bodyPr/>
          <a:lstStyle/>
          <a:p>
            <a:r>
              <a:rPr lang="en-GB"/>
              <a:t>ESTP Training. Seasonal adjustment</a:t>
            </a:r>
          </a:p>
        </p:txBody>
      </p:sp>
    </p:spTree>
    <p:extLst>
      <p:ext uri="{BB962C8B-B14F-4D97-AF65-F5344CB8AC3E}">
        <p14:creationId xmlns:p14="http://schemas.microsoft.com/office/powerpoint/2010/main" val="24696309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619D74-80F8-4B32-8575-1B2DD139F2C2}"/>
              </a:ext>
            </a:extLst>
          </p:cNvPr>
          <p:cNvSpPr>
            <a:spLocks noGrp="1"/>
          </p:cNvSpPr>
          <p:nvPr>
            <p:ph type="title"/>
          </p:nvPr>
        </p:nvSpPr>
        <p:spPr/>
        <p:txBody>
          <a:bodyPr/>
          <a:lstStyle/>
          <a:p>
            <a:r>
              <a:rPr lang="en-GB" dirty="0"/>
              <a:t>5. Final remarks</a:t>
            </a:r>
          </a:p>
        </p:txBody>
      </p:sp>
      <p:sp>
        <p:nvSpPr>
          <p:cNvPr id="3" name="Content Placeholder 2">
            <a:extLst>
              <a:ext uri="{FF2B5EF4-FFF2-40B4-BE49-F238E27FC236}">
                <a16:creationId xmlns:a16="http://schemas.microsoft.com/office/drawing/2014/main" id="{035D4CE9-0A1D-4AF7-ABF4-C9361D2E5AFD}"/>
              </a:ext>
            </a:extLst>
          </p:cNvPr>
          <p:cNvSpPr>
            <a:spLocks noGrp="1"/>
          </p:cNvSpPr>
          <p:nvPr>
            <p:ph idx="1"/>
          </p:nvPr>
        </p:nvSpPr>
        <p:spPr/>
        <p:txBody>
          <a:bodyPr/>
          <a:lstStyle/>
          <a:p>
            <a:r>
              <a:rPr lang="en-GB" dirty="0"/>
              <a:t>Need to understand the principles of the main algorithms (not all the technical details)</a:t>
            </a:r>
          </a:p>
          <a:p>
            <a:pPr lvl="1"/>
            <a:r>
              <a:rPr lang="en-GB" dirty="0"/>
              <a:t>Software automates many details</a:t>
            </a:r>
          </a:p>
          <a:p>
            <a:r>
              <a:rPr lang="en-GB" dirty="0"/>
              <a:t>Need for good quality reports</a:t>
            </a:r>
          </a:p>
          <a:p>
            <a:pPr lvl="1"/>
            <a:r>
              <a:rPr lang="en-GB" dirty="0"/>
              <a:t>Recall: </a:t>
            </a:r>
            <a:r>
              <a:rPr lang="en-GB" i="1" dirty="0"/>
              <a:t>“</a:t>
            </a:r>
            <a:r>
              <a:rPr lang="en-US" sz="2400" i="1" dirty="0"/>
              <a:t>seasonally adjusted series should have neither residual seasonality nor residual calendar effects”</a:t>
            </a:r>
            <a:endParaRPr lang="en-GB" i="1" dirty="0"/>
          </a:p>
          <a:p>
            <a:r>
              <a:rPr lang="en-GB" dirty="0"/>
              <a:t>Need to “industrialize” the seasonal adjustment processing</a:t>
            </a:r>
          </a:p>
          <a:p>
            <a:pPr lvl="1"/>
            <a:r>
              <a:rPr lang="en-GB" dirty="0"/>
              <a:t>Additional request: </a:t>
            </a:r>
            <a:r>
              <a:rPr lang="en-GB" i="1" dirty="0"/>
              <a:t>“Seasonal adjustment procedures should generate consistent and robust results”</a:t>
            </a:r>
          </a:p>
          <a:p>
            <a:endParaRPr lang="en-GB" dirty="0"/>
          </a:p>
          <a:p>
            <a:endParaRPr lang="en-GB" dirty="0"/>
          </a:p>
        </p:txBody>
      </p:sp>
      <p:sp>
        <p:nvSpPr>
          <p:cNvPr id="5" name="Footer Placeholder 4">
            <a:extLst>
              <a:ext uri="{FF2B5EF4-FFF2-40B4-BE49-F238E27FC236}">
                <a16:creationId xmlns:a16="http://schemas.microsoft.com/office/drawing/2014/main" id="{47C33019-719F-45C7-910A-FF3E5A3AC703}"/>
              </a:ext>
            </a:extLst>
          </p:cNvPr>
          <p:cNvSpPr>
            <a:spLocks noGrp="1"/>
          </p:cNvSpPr>
          <p:nvPr>
            <p:ph type="ftr" sz="quarter" idx="11"/>
          </p:nvPr>
        </p:nvSpPr>
        <p:spPr/>
        <p:txBody>
          <a:bodyPr/>
          <a:lstStyle/>
          <a:p>
            <a:r>
              <a:rPr lang="en-GB"/>
              <a:t>ESTP Training. Seasonal adjustment</a:t>
            </a:r>
          </a:p>
        </p:txBody>
      </p:sp>
    </p:spTree>
    <p:extLst>
      <p:ext uri="{BB962C8B-B14F-4D97-AF65-F5344CB8AC3E}">
        <p14:creationId xmlns:p14="http://schemas.microsoft.com/office/powerpoint/2010/main" val="34302595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897FB-45CD-057E-2EDB-6F9D8E31C99E}"/>
              </a:ext>
            </a:extLst>
          </p:cNvPr>
          <p:cNvSpPr>
            <a:spLocks noGrp="1"/>
          </p:cNvSpPr>
          <p:nvPr>
            <p:ph type="title"/>
          </p:nvPr>
        </p:nvSpPr>
        <p:spPr/>
        <p:txBody>
          <a:bodyPr/>
          <a:lstStyle/>
          <a:p>
            <a:endParaRPr lang="en-IE"/>
          </a:p>
        </p:txBody>
      </p:sp>
      <p:sp>
        <p:nvSpPr>
          <p:cNvPr id="4" name="Content Placeholder 3">
            <a:extLst>
              <a:ext uri="{FF2B5EF4-FFF2-40B4-BE49-F238E27FC236}">
                <a16:creationId xmlns:a16="http://schemas.microsoft.com/office/drawing/2014/main" id="{919DEEF4-033B-E297-F15C-362AF3AE8560}"/>
              </a:ext>
            </a:extLst>
          </p:cNvPr>
          <p:cNvSpPr>
            <a:spLocks noGrp="1"/>
          </p:cNvSpPr>
          <p:nvPr>
            <p:ph sz="half" idx="2"/>
          </p:nvPr>
        </p:nvSpPr>
        <p:spPr/>
        <p:txBody>
          <a:bodyPr/>
          <a:lstStyle/>
          <a:p>
            <a:endParaRPr lang="en-IE"/>
          </a:p>
        </p:txBody>
      </p:sp>
      <p:sp>
        <p:nvSpPr>
          <p:cNvPr id="5" name="Content Placeholder 4">
            <a:extLst>
              <a:ext uri="{FF2B5EF4-FFF2-40B4-BE49-F238E27FC236}">
                <a16:creationId xmlns:a16="http://schemas.microsoft.com/office/drawing/2014/main" id="{14D3930D-BD5C-C44F-3F19-976BCF920421}"/>
              </a:ext>
            </a:extLst>
          </p:cNvPr>
          <p:cNvSpPr>
            <a:spLocks noGrp="1"/>
          </p:cNvSpPr>
          <p:nvPr>
            <p:ph sz="half" idx="16"/>
          </p:nvPr>
        </p:nvSpPr>
        <p:spPr/>
        <p:txBody>
          <a:bodyPr/>
          <a:lstStyle/>
          <a:p>
            <a:endParaRPr lang="en-IE"/>
          </a:p>
        </p:txBody>
      </p:sp>
    </p:spTree>
    <p:extLst>
      <p:ext uri="{BB962C8B-B14F-4D97-AF65-F5344CB8AC3E}">
        <p14:creationId xmlns:p14="http://schemas.microsoft.com/office/powerpoint/2010/main" val="27620241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39CC45C-6ECF-1414-149F-897E6C17440A}"/>
              </a:ext>
            </a:extLst>
          </p:cNvPr>
          <p:cNvSpPr>
            <a:spLocks noGrp="1"/>
          </p:cNvSpPr>
          <p:nvPr>
            <p:ph type="body" idx="1"/>
          </p:nvPr>
        </p:nvSpPr>
        <p:spPr/>
        <p:txBody>
          <a:bodyPr/>
          <a:lstStyle/>
          <a:p>
            <a:endParaRPr lang="en-IE"/>
          </a:p>
        </p:txBody>
      </p:sp>
      <p:sp>
        <p:nvSpPr>
          <p:cNvPr id="3" name="Title 2">
            <a:extLst>
              <a:ext uri="{FF2B5EF4-FFF2-40B4-BE49-F238E27FC236}">
                <a16:creationId xmlns:a16="http://schemas.microsoft.com/office/drawing/2014/main" id="{B0CA729C-10AD-F90E-DB78-5A4E0B79E3B8}"/>
              </a:ext>
            </a:extLst>
          </p:cNvPr>
          <p:cNvSpPr>
            <a:spLocks noGrp="1"/>
          </p:cNvSpPr>
          <p:nvPr>
            <p:ph type="title"/>
          </p:nvPr>
        </p:nvSpPr>
        <p:spPr/>
        <p:txBody>
          <a:bodyPr/>
          <a:lstStyle/>
          <a:p>
            <a:endParaRPr lang="en-IE"/>
          </a:p>
        </p:txBody>
      </p:sp>
    </p:spTree>
    <p:extLst>
      <p:ext uri="{BB962C8B-B14F-4D97-AF65-F5344CB8AC3E}">
        <p14:creationId xmlns:p14="http://schemas.microsoft.com/office/powerpoint/2010/main" val="11788438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3.3511"/>
  <p:tag name="SLIDO_PRESENTATION_ID" val="00000000-0000-0000-0000-000000000000"/>
  <p:tag name="SLIDO_EVENT_UUID" val="d5f05ec8-edda-47a7-a42e-90bbfcebfc5f"/>
  <p:tag name="SLIDO_EVENT_SECTION_UUID" val="71a6711e-5d0b-4e9f-9223-093e31161b77"/>
</p:tagLst>
</file>

<file path=ppt/theme/theme1.xml><?xml version="1.0" encoding="utf-8"?>
<a:theme xmlns:a="http://schemas.openxmlformats.org/drawingml/2006/main" name="ESTAT Theme">
  <a:themeElements>
    <a:clrScheme name="EC colour scheme">
      <a:dk1>
        <a:srgbClr val="4D4D4D"/>
      </a:dk1>
      <a:lt1>
        <a:srgbClr val="FFFFFF"/>
      </a:lt1>
      <a:dk2>
        <a:srgbClr val="034EA2"/>
      </a:dk2>
      <a:lt2>
        <a:srgbClr val="D3E8F9"/>
      </a:lt2>
      <a:accent1>
        <a:srgbClr val="1E858B"/>
      </a:accent1>
      <a:accent2>
        <a:srgbClr val="4BC5DE"/>
      </a:accent2>
      <a:accent3>
        <a:srgbClr val="1EC08A"/>
      </a:accent3>
      <a:accent4>
        <a:srgbClr val="ED8D2F"/>
      </a:accent4>
      <a:accent5>
        <a:srgbClr val="FFC000"/>
      </a:accent5>
      <a:accent6>
        <a:srgbClr val="E76C53"/>
      </a:accent6>
      <a:hlink>
        <a:srgbClr val="0563C1"/>
      </a:hlink>
      <a:folHlink>
        <a:srgbClr val="24337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ESTAT PPT Template.potx" id="{44100892-7769-4A20-A750-3553371E0F2E}" vid="{905E760A-09FE-4DBA-89B6-DF3A5D6D0959}"/>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6AA5C57F8EADE4E9CD6BB064C0C3195" ma:contentTypeVersion="16" ma:contentTypeDescription="Create a new document." ma:contentTypeScope="" ma:versionID="bb51c19a58f458ddcddd050a07659236">
  <xsd:schema xmlns:xsd="http://www.w3.org/2001/XMLSchema" xmlns:xs="http://www.w3.org/2001/XMLSchema" xmlns:p="http://schemas.microsoft.com/office/2006/metadata/properties" xmlns:ns2="0e422b70-e85d-4377-8ee0-b6227433d381" xmlns:ns3="199f642e-5af9-486c-ac06-f366742ef41a" targetNamespace="http://schemas.microsoft.com/office/2006/metadata/properties" ma:root="true" ma:fieldsID="0ee7a3bac0352a48a43420936abd968a" ns2:_="" ns3:_="">
    <xsd:import namespace="0e422b70-e85d-4377-8ee0-b6227433d381"/>
    <xsd:import namespace="199f642e-5af9-486c-ac06-f366742ef41a"/>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422b70-e85d-4377-8ee0-b6227433d381"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22b2fad6-9d2c-441c-a321-3f5f1e9bd928"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99f642e-5af9-486c-ac06-f366742ef41a"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2defd33-e0ca-4991-a4bb-5bf1ac0b491c}" ma:internalName="TaxCatchAll" ma:showField="CatchAllData" ma:web="199f642e-5af9-486c-ac06-f366742ef41a">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0e422b70-e85d-4377-8ee0-b6227433d381">
      <Terms xmlns="http://schemas.microsoft.com/office/infopath/2007/PartnerControls"/>
    </lcf76f155ced4ddcb4097134ff3c332f>
    <TaxCatchAll xmlns="199f642e-5af9-486c-ac06-f366742ef41a"/>
  </documentManagement>
</p:properties>
</file>

<file path=customXml/itemProps1.xml><?xml version="1.0" encoding="utf-8"?>
<ds:datastoreItem xmlns:ds="http://schemas.openxmlformats.org/officeDocument/2006/customXml" ds:itemID="{04B464EA-1576-49DD-9675-1E3399D4D1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422b70-e85d-4377-8ee0-b6227433d381"/>
    <ds:schemaRef ds:uri="199f642e-5af9-486c-ac06-f366742ef4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7DD9E9F-9EEB-4105-B29B-819486C2855A}">
  <ds:schemaRefs>
    <ds:schemaRef ds:uri="http://schemas.microsoft.com/sharepoint/v3/contenttype/forms"/>
  </ds:schemaRefs>
</ds:datastoreItem>
</file>

<file path=customXml/itemProps3.xml><?xml version="1.0" encoding="utf-8"?>
<ds:datastoreItem xmlns:ds="http://schemas.openxmlformats.org/officeDocument/2006/customXml" ds:itemID="{2D6C293B-B8B4-4284-A17E-9F9E4C32B25A}">
  <ds:schemaRefs>
    <ds:schemaRef ds:uri="http://schemas.microsoft.com/office/2006/documentManagement/types"/>
    <ds:schemaRef ds:uri="http://purl.org/dc/elements/1.1/"/>
    <ds:schemaRef ds:uri="http://purl.org/dc/terms/"/>
    <ds:schemaRef ds:uri="http://purl.org/dc/dcmitype/"/>
    <ds:schemaRef ds:uri="0e422b70-e85d-4377-8ee0-b6227433d381"/>
    <ds:schemaRef ds:uri="http://schemas.microsoft.com/office/infopath/2007/PartnerControls"/>
    <ds:schemaRef ds:uri="199f642e-5af9-486c-ac06-f366742ef41a"/>
    <ds:schemaRef ds:uri="http://schemas.openxmlformats.org/package/2006/metadata/core-properties"/>
    <ds:schemaRef ds:uri="http://schemas.microsoft.com/office/2006/metadata/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ESTAT PPT Template</Template>
  <TotalTime>7</TotalTime>
  <Words>826</Words>
  <Application>Microsoft Office PowerPoint</Application>
  <PresentationFormat>Grand écran</PresentationFormat>
  <Paragraphs>147</Paragraphs>
  <Slides>13</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13</vt:i4>
      </vt:variant>
    </vt:vector>
  </HeadingPairs>
  <TitlesOfParts>
    <vt:vector size="18" baseType="lpstr">
      <vt:lpstr>Arial</vt:lpstr>
      <vt:lpstr>Calibri</vt:lpstr>
      <vt:lpstr>Cambria Math</vt:lpstr>
      <vt:lpstr>Myriad Pro Light SemiCond</vt:lpstr>
      <vt:lpstr>ESTAT Theme</vt:lpstr>
      <vt:lpstr>Seasonal adjustment</vt:lpstr>
      <vt:lpstr>0. Outline</vt:lpstr>
      <vt:lpstr>1. ESS Guidelines (2024)</vt:lpstr>
      <vt:lpstr>Présentation PowerPoint</vt:lpstr>
      <vt:lpstr>2. Series decomposition</vt:lpstr>
      <vt:lpstr>2. Series decomposition</vt:lpstr>
      <vt:lpstr>3. Rapid overview of the main SA methods</vt:lpstr>
      <vt:lpstr>3. Rapid overview of the main SA methods</vt:lpstr>
      <vt:lpstr>3. Rapid overview of the main SA methods</vt:lpstr>
      <vt:lpstr>4. Outline of the training (see guidelines)</vt:lpstr>
      <vt:lpstr>5. Final remarks</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title title title title title title title title title title title title</dc:title>
  <dc:creator>HANZEVACKI Andrej (ESTAT)</dc:creator>
  <cp:lastModifiedBy>Jean Palate</cp:lastModifiedBy>
  <cp:revision>62</cp:revision>
  <dcterms:created xsi:type="dcterms:W3CDTF">2024-11-22T11:11:00Z</dcterms:created>
  <dcterms:modified xsi:type="dcterms:W3CDTF">2026-08-27T06:37:41Z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0x010100E6AA5C57F8EADE4E9CD6BB064C0C3195</vt:lpwstr>
  </property>
  <property fmtid="{D5CDD505-2E9C-101B-9397-08002B2CF9AE}" pid="3" name="MSIP_Label_6bd9ddd1-4d20-43f6-abfa-fc3c07406f94_Enabled">
    <vt:lpwstr>true</vt:lpwstr>
  </property>
  <property fmtid="{D5CDD505-2E9C-101B-9397-08002B2CF9AE}" pid="4" name="MSIP_Label_6bd9ddd1-4d20-43f6-abfa-fc3c07406f94_SetDate">
    <vt:lpwstr>2023-09-26T10:27:54Z</vt:lpwstr>
  </property>
  <property fmtid="{D5CDD505-2E9C-101B-9397-08002B2CF9AE}" pid="5" name="MSIP_Label_6bd9ddd1-4d20-43f6-abfa-fc3c07406f94_Method">
    <vt:lpwstr>Standard</vt:lpwstr>
  </property>
  <property fmtid="{D5CDD505-2E9C-101B-9397-08002B2CF9AE}" pid="6" name="MSIP_Label_6bd9ddd1-4d20-43f6-abfa-fc3c07406f94_Name">
    <vt:lpwstr>Commission Use</vt:lpwstr>
  </property>
  <property fmtid="{D5CDD505-2E9C-101B-9397-08002B2CF9AE}" pid="7" name="MSIP_Label_6bd9ddd1-4d20-43f6-abfa-fc3c07406f94_SiteId">
    <vt:lpwstr>b24c8b06-522c-46fe-9080-70926f8dddb1</vt:lpwstr>
  </property>
  <property fmtid="{D5CDD505-2E9C-101B-9397-08002B2CF9AE}" pid="8" name="MSIP_Label_6bd9ddd1-4d20-43f6-abfa-fc3c07406f94_ActionId">
    <vt:lpwstr>5f9041e0-26c3-439f-9557-91c751557f9e</vt:lpwstr>
  </property>
  <property fmtid="{D5CDD505-2E9C-101B-9397-08002B2CF9AE}" pid="9" name="MSIP_Label_6bd9ddd1-4d20-43f6-abfa-fc3c07406f94_ContentBits">
    <vt:lpwstr>0</vt:lpwstr>
  </property>
  <property fmtid="{D5CDD505-2E9C-101B-9397-08002B2CF9AE}" pid="10" name="SlidoAppVersion">
    <vt:lpwstr>1.5.3.3511</vt:lpwstr>
  </property>
  <property fmtid="{D5CDD505-2E9C-101B-9397-08002B2CF9AE}" pid="11" name="MediaServiceImageTags">
    <vt:lpwstr/>
  </property>
</Properties>
</file>