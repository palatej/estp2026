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saveSubsetFonts="1" autoCompressPictures="0">
  <p:sldMasterIdLst>
    <p:sldMasterId id="2147483648" r:id="rId4"/>
  </p:sldMasterIdLst>
  <p:notesMasterIdLst>
    <p:notesMasterId r:id="rId38"/>
  </p:notesMasterIdLst>
  <p:handoutMasterIdLst>
    <p:handoutMasterId r:id="rId39"/>
  </p:handoutMasterIdLst>
  <p:sldIdLst>
    <p:sldId id="256" r:id="rId5"/>
    <p:sldId id="280" r:id="rId6"/>
    <p:sldId id="301" r:id="rId7"/>
    <p:sldId id="294" r:id="rId8"/>
    <p:sldId id="295" r:id="rId9"/>
    <p:sldId id="293" r:id="rId10"/>
    <p:sldId id="270" r:id="rId11"/>
    <p:sldId id="277" r:id="rId12"/>
    <p:sldId id="269" r:id="rId13"/>
    <p:sldId id="302" r:id="rId14"/>
    <p:sldId id="259" r:id="rId15"/>
    <p:sldId id="303" r:id="rId16"/>
    <p:sldId id="278" r:id="rId17"/>
    <p:sldId id="279" r:id="rId18"/>
    <p:sldId id="281" r:id="rId19"/>
    <p:sldId id="271" r:id="rId20"/>
    <p:sldId id="283" r:id="rId21"/>
    <p:sldId id="291" r:id="rId22"/>
    <p:sldId id="267" r:id="rId23"/>
    <p:sldId id="285" r:id="rId24"/>
    <p:sldId id="286" r:id="rId25"/>
    <p:sldId id="292" r:id="rId26"/>
    <p:sldId id="296" r:id="rId27"/>
    <p:sldId id="297" r:id="rId28"/>
    <p:sldId id="298" r:id="rId29"/>
    <p:sldId id="299" r:id="rId30"/>
    <p:sldId id="264" r:id="rId31"/>
    <p:sldId id="260" r:id="rId32"/>
    <p:sldId id="274" r:id="rId33"/>
    <p:sldId id="273" r:id="rId34"/>
    <p:sldId id="275" r:id="rId35"/>
    <p:sldId id="300" r:id="rId36"/>
    <p:sldId id="261" r:id="rId37"/>
  </p:sldIdLst>
  <p:sldSz cx="12192000" cy="6858000"/>
  <p:notesSz cx="6858000" cy="9144000"/>
  <p:custDataLst>
    <p:tags r:id="rId40"/>
  </p:custData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092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  <p:ext uri="http://customooxmlschemas.google.com/">
      <go:slidesCustomData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xmlns="" r:id="rId59" roundtripDataSignature="AMtx7mh3YP3xexYcFoahXa2ehi0H5V4Za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4F4F4"/>
    <a:srgbClr val="2644A7"/>
    <a:srgbClr val="101010"/>
    <a:srgbClr val="104F99"/>
    <a:srgbClr val="0E47CB"/>
    <a:srgbClr val="003180"/>
    <a:srgbClr val="0A2744"/>
    <a:srgbClr val="FFCC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0AA4A9A-08D4-41EC-A222-5D5926BFFED6}" v="2" dt="2025-07-04T13:46:36.315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645" autoAdjust="0"/>
    <p:restoredTop sz="81100" autoAdjust="0"/>
  </p:normalViewPr>
  <p:slideViewPr>
    <p:cSldViewPr snapToGrid="0">
      <p:cViewPr varScale="1">
        <p:scale>
          <a:sx n="71" d="100"/>
          <a:sy n="71" d="100"/>
        </p:scale>
        <p:origin x="693" y="51"/>
      </p:cViewPr>
      <p:guideLst>
        <p:guide orient="horz" pos="2092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75" d="100"/>
          <a:sy n="75" d="100"/>
        </p:scale>
        <p:origin x="2938" y="4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9" Type="http://schemas.openxmlformats.org/officeDocument/2006/relationships/handoutMaster" Target="handoutMasters/handoutMaster1.xml"/><Relationship Id="rId21" Type="http://schemas.openxmlformats.org/officeDocument/2006/relationships/slide" Target="slides/slide17.xml"/><Relationship Id="rId34" Type="http://schemas.openxmlformats.org/officeDocument/2006/relationships/slide" Target="slides/slide30.xml"/><Relationship Id="rId63" Type="http://schemas.openxmlformats.org/officeDocument/2006/relationships/tableStyles" Target="tableStyles.xml"/><Relationship Id="rId7" Type="http://schemas.openxmlformats.org/officeDocument/2006/relationships/slide" Target="slides/slide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9" Type="http://schemas.openxmlformats.org/officeDocument/2006/relationships/slide" Target="slides/slide25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slide" Target="slides/slide33.xml"/><Relationship Id="rId40" Type="http://schemas.openxmlformats.org/officeDocument/2006/relationships/tags" Target="tags/tag1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slide" Target="slides/slide32.xml"/><Relationship Id="rId61" Type="http://schemas.openxmlformats.org/officeDocument/2006/relationships/viewProps" Target="viewProp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slide" Target="slides/slide27.xml"/><Relationship Id="rId60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64" Type="http://schemas.microsoft.com/office/2015/10/relationships/revisionInfo" Target="revisionInfo.xml"/><Relationship Id="rId8" Type="http://schemas.openxmlformats.org/officeDocument/2006/relationships/slide" Target="slides/slide4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notesMaster" Target="notesMasters/notesMaster1.xml"/><Relationship Id="rId59" Type="http://customschemas.google.com/relationships/presentationmetadata" Target="metadata"/><Relationship Id="rId20" Type="http://schemas.openxmlformats.org/officeDocument/2006/relationships/slide" Target="slides/slide16.xml"/><Relationship Id="rId62" Type="http://schemas.openxmlformats.org/officeDocument/2006/relationships/theme" Target="theme/theme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F66D6800-DB9C-EBAC-83AC-5F9D7E2C8B1A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DED1430-DB1F-C50E-E2CC-369D36DF2761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CBFB8CE-488C-4A7E-87F2-3AF6127C51C1}" type="datetimeFigureOut">
              <a:rPr lang="en-IE" smtClean="0"/>
              <a:t>28/09/2026</a:t>
            </a:fld>
            <a:endParaRPr lang="en-I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41B46C1-E31F-1BE5-CF29-FC2D8EA3E24A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4A38F49-91A1-E3F0-770A-4578CF8E586A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B9F2F4C-E206-483F-A4B8-E82471BA527C}" type="slidenum">
              <a:rPr lang="en-IE" smtClean="0"/>
              <a:t>‹N°›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619827756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‹N°›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 b="0" i="0" u="none" strike="noStrike" cap="none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21</a:t>
            </a:fld>
            <a:endParaRPr lang="en-GB"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57318020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preserve="1" userDrawn="1">
  <p:cSld name=" Title Slide">
    <p:spTree>
      <p:nvGrpSpPr>
        <p:cNvPr id="1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D898605-EE7A-6AAE-447A-080B2C6D2258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r:embed="rId2"/>
          <a:srcRect t="3042" b="3042"/>
          <a:stretch/>
        </p:blipFill>
        <p:spPr>
          <a:xfrm>
            <a:off x="-918" y="0"/>
            <a:ext cx="12192001" cy="6866879"/>
          </a:xfrm>
          <a:prstGeom prst="rect">
            <a:avLst/>
          </a:prstGeom>
        </p:spPr>
      </p:pic>
      <p:sp>
        <p:nvSpPr>
          <p:cNvPr id="19" name="Google Shape;19;p22"/>
          <p:cNvSpPr txBox="1">
            <a:spLocks noGrp="1"/>
          </p:cNvSpPr>
          <p:nvPr>
            <p:ph type="subTitle" idx="1"/>
          </p:nvPr>
        </p:nvSpPr>
        <p:spPr>
          <a:xfrm>
            <a:off x="1112521" y="3277775"/>
            <a:ext cx="3957106" cy="17454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 i="0">
                <a:solidFill>
                  <a:schemeClr val="bg1"/>
                </a:solidFill>
              </a:defRPr>
            </a:lvl1pPr>
            <a:lvl2pPr lvl="1" algn="ctr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SzPts val="2000"/>
              <a:buNone/>
              <a:defRPr sz="2000"/>
            </a:lvl2pPr>
            <a:lvl3pPr lvl="2" algn="ctr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SzPts val="1600"/>
              <a:buNone/>
              <a:defRPr sz="1600"/>
            </a:lvl4pPr>
            <a:lvl5pPr lvl="4" algn="ctr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18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  <a:endParaRPr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D09F257-77BC-80DD-CDE4-F5B22D79517B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7381876" y="3596720"/>
            <a:ext cx="4224858" cy="1374485"/>
          </a:xfrm>
          <a:prstGeom prst="rect">
            <a:avLst/>
          </a:prstGeom>
        </p:spPr>
      </p:pic>
      <p:sp>
        <p:nvSpPr>
          <p:cNvPr id="16" name="Title 15">
            <a:extLst>
              <a:ext uri="{FF2B5EF4-FFF2-40B4-BE49-F238E27FC236}">
                <a16:creationId xmlns:a16="http://schemas.microsoft.com/office/drawing/2014/main" id="{784A076C-4C5D-810C-C205-F06C491692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2521" y="885018"/>
            <a:ext cx="9448800" cy="2037783"/>
          </a:xfrm>
        </p:spPr>
        <p:txBody>
          <a:bodyPr anchor="ctr"/>
          <a:lstStyle>
            <a:lvl1pPr>
              <a:defRPr sz="48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  <a:endParaRPr lang="en-IE" dirty="0"/>
          </a:p>
        </p:txBody>
      </p:sp>
      <p:sp>
        <p:nvSpPr>
          <p:cNvPr id="24" name="Text Placeholder 23">
            <a:extLst>
              <a:ext uri="{FF2B5EF4-FFF2-40B4-BE49-F238E27FC236}">
                <a16:creationId xmlns:a16="http://schemas.microsoft.com/office/drawing/2014/main" id="{E5F2B0E4-A35A-CFA1-4E98-55EAD82CE82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307994" y="5771588"/>
            <a:ext cx="2509626" cy="777875"/>
          </a:xfrm>
        </p:spPr>
        <p:txBody>
          <a:bodyPr/>
          <a:lstStyle>
            <a:lvl1pPr marL="0" indent="0">
              <a:buNone/>
              <a:defRPr sz="20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15940731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and Object" preserve="1" userDrawn="1">
  <p:cSld name="Content and Object">
    <p:spTree>
      <p:nvGrpSpPr>
        <p:cNvPr id="1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41"/>
          <p:cNvSpPr txBox="1">
            <a:spLocks noGrp="1"/>
          </p:cNvSpPr>
          <p:nvPr>
            <p:ph type="title"/>
          </p:nvPr>
        </p:nvSpPr>
        <p:spPr>
          <a:xfrm>
            <a:off x="970722" y="413590"/>
            <a:ext cx="10515600" cy="7823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0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>
                <a:solidFill>
                  <a:srgbClr val="2644A7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 dirty="0"/>
              <a:t>Click to edit Master title style</a:t>
            </a:r>
            <a:endParaRPr dirty="0"/>
          </a:p>
        </p:txBody>
      </p:sp>
      <p:cxnSp>
        <p:nvCxnSpPr>
          <p:cNvPr id="177" name="Google Shape;177;p41"/>
          <p:cNvCxnSpPr>
            <a:cxnSpLocks/>
          </p:cNvCxnSpPr>
          <p:nvPr/>
        </p:nvCxnSpPr>
        <p:spPr>
          <a:xfrm>
            <a:off x="0" y="1552418"/>
            <a:ext cx="970722" cy="0"/>
          </a:xfrm>
          <a:prstGeom prst="straightConnector1">
            <a:avLst/>
          </a:prstGeom>
          <a:noFill/>
          <a:ln w="76200" cap="flat" cmpd="sng">
            <a:solidFill>
              <a:schemeClr val="accent5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3" name="Google Shape;10;p21">
            <a:extLst>
              <a:ext uri="{FF2B5EF4-FFF2-40B4-BE49-F238E27FC236}">
                <a16:creationId xmlns:a16="http://schemas.microsoft.com/office/drawing/2014/main" id="{C87DACA3-4A62-7EF9-9155-5CC0EBE6EC54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4724400" y="643733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ctr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GB" smtClean="0"/>
              <a:pPr/>
              <a:t>‹N°›</a:t>
            </a:fld>
            <a:endParaRPr lang="en-GB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F3BA733-25B6-C4BB-1150-48850654F2C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424731" y="6499013"/>
            <a:ext cx="1332000" cy="181429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3BD3E27D-21BB-B8BD-0101-611C3D7A991F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10326539" y="5728720"/>
            <a:ext cx="1865461" cy="1130560"/>
          </a:xfrm>
          <a:prstGeom prst="rect">
            <a:avLst/>
          </a:prstGeom>
        </p:spPr>
      </p:pic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938CD64-6B9A-81A2-BDB2-55DA96C9E7A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970722" y="1423358"/>
            <a:ext cx="10515597" cy="4672769"/>
          </a:xfrm>
        </p:spPr>
        <p:txBody>
          <a:bodyPr wrap="square">
            <a:noAutofit/>
          </a:bodyPr>
          <a:lstStyle>
            <a:lvl1pPr marL="342000" indent="-342000">
              <a:lnSpc>
                <a:spcPct val="90000"/>
              </a:lnSpc>
              <a:spcAft>
                <a:spcPts val="1000"/>
              </a:spcAft>
              <a:defRPr sz="2000">
                <a:solidFill>
                  <a:srgbClr val="101010"/>
                </a:solidFill>
              </a:defRPr>
            </a:lvl1pPr>
            <a:lvl2pPr marL="684000" indent="-342000">
              <a:spcBef>
                <a:spcPts val="0"/>
              </a:spcBef>
              <a:spcAft>
                <a:spcPts val="800"/>
              </a:spcAft>
              <a:defRPr sz="1800">
                <a:solidFill>
                  <a:srgbClr val="101010"/>
                </a:solidFill>
              </a:defRPr>
            </a:lvl2pPr>
            <a:lvl3pPr marL="972000">
              <a:lnSpc>
                <a:spcPct val="90000"/>
              </a:lnSpc>
              <a:spcBef>
                <a:spcPts val="0"/>
              </a:spcBef>
              <a:spcAft>
                <a:spcPts val="1000"/>
              </a:spcAft>
              <a:defRPr sz="1600">
                <a:solidFill>
                  <a:srgbClr val="101010"/>
                </a:solidFill>
              </a:defRPr>
            </a:lvl3pPr>
            <a:lvl4pPr marL="1296000" indent="-342000">
              <a:lnSpc>
                <a:spcPct val="90000"/>
              </a:lnSpc>
              <a:spcBef>
                <a:spcPts val="0"/>
              </a:spcBef>
              <a:spcAft>
                <a:spcPts val="1000"/>
              </a:spcAft>
              <a:defRPr sz="1400">
                <a:solidFill>
                  <a:srgbClr val="101010"/>
                </a:solidFill>
              </a:defRPr>
            </a:lvl4pPr>
            <a:lvl5pPr marL="1620000" indent="-342000">
              <a:lnSpc>
                <a:spcPct val="90000"/>
              </a:lnSpc>
              <a:spcBef>
                <a:spcPts val="0"/>
              </a:spcBef>
              <a:spcAft>
                <a:spcPts val="1000"/>
              </a:spcAft>
              <a:defRPr sz="1200">
                <a:solidFill>
                  <a:srgbClr val="101010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33350374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and Object" preserve="1" userDrawn="1">
  <p:cSld name="Content and Object 2">
    <p:spTree>
      <p:nvGrpSpPr>
        <p:cNvPr id="1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41"/>
          <p:cNvSpPr txBox="1">
            <a:spLocks noGrp="1"/>
          </p:cNvSpPr>
          <p:nvPr>
            <p:ph type="title"/>
          </p:nvPr>
        </p:nvSpPr>
        <p:spPr>
          <a:xfrm>
            <a:off x="970722" y="413590"/>
            <a:ext cx="10515600" cy="7823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0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>
                <a:solidFill>
                  <a:srgbClr val="2644A7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 dirty="0"/>
              <a:t>Click to edit Master title style</a:t>
            </a:r>
            <a:endParaRPr dirty="0"/>
          </a:p>
        </p:txBody>
      </p:sp>
      <p:cxnSp>
        <p:nvCxnSpPr>
          <p:cNvPr id="177" name="Google Shape;177;p41"/>
          <p:cNvCxnSpPr>
            <a:cxnSpLocks/>
          </p:cNvCxnSpPr>
          <p:nvPr/>
        </p:nvCxnSpPr>
        <p:spPr>
          <a:xfrm>
            <a:off x="0" y="1552418"/>
            <a:ext cx="970722" cy="0"/>
          </a:xfrm>
          <a:prstGeom prst="straightConnector1">
            <a:avLst/>
          </a:prstGeom>
          <a:noFill/>
          <a:ln w="76200" cap="flat" cmpd="sng">
            <a:solidFill>
              <a:schemeClr val="accent5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3" name="Google Shape;10;p21">
            <a:extLst>
              <a:ext uri="{FF2B5EF4-FFF2-40B4-BE49-F238E27FC236}">
                <a16:creationId xmlns:a16="http://schemas.microsoft.com/office/drawing/2014/main" id="{C87DACA3-4A62-7EF9-9155-5CC0EBE6EC54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4724400" y="643733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ctr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GB" smtClean="0"/>
              <a:pPr/>
              <a:t>‹N°›</a:t>
            </a:fld>
            <a:endParaRPr lang="en-GB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0491114-E7C3-4716-7109-6FDE72E853D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424731" y="6499013"/>
            <a:ext cx="1332000" cy="18142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95C1ABAA-9559-8C24-1A56-0668CC664359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10326539" y="5728720"/>
            <a:ext cx="1865461" cy="1130560"/>
          </a:xfrm>
          <a:prstGeom prst="rect">
            <a:avLst/>
          </a:prstGeom>
        </p:spPr>
      </p:pic>
      <p:sp>
        <p:nvSpPr>
          <p:cNvPr id="8" name="Content Placeholder 3">
            <a:extLst>
              <a:ext uri="{FF2B5EF4-FFF2-40B4-BE49-F238E27FC236}">
                <a16:creationId xmlns:a16="http://schemas.microsoft.com/office/drawing/2014/main" id="{EBC1E451-4262-316A-7418-6EF16E04908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970723" y="1910188"/>
            <a:ext cx="5327092" cy="4240591"/>
          </a:xfrm>
        </p:spPr>
        <p:txBody>
          <a:bodyPr wrap="square">
            <a:noAutofit/>
          </a:bodyPr>
          <a:lstStyle>
            <a:lvl1pPr marL="342000" indent="-342000">
              <a:lnSpc>
                <a:spcPct val="90000"/>
              </a:lnSpc>
              <a:spcAft>
                <a:spcPts val="1000"/>
              </a:spcAft>
              <a:defRPr sz="2000">
                <a:solidFill>
                  <a:srgbClr val="101010"/>
                </a:solidFill>
              </a:defRPr>
            </a:lvl1pPr>
            <a:lvl2pPr marL="684000" indent="-342000">
              <a:spcBef>
                <a:spcPts val="0"/>
              </a:spcBef>
              <a:spcAft>
                <a:spcPts val="800"/>
              </a:spcAft>
              <a:defRPr sz="1800">
                <a:solidFill>
                  <a:srgbClr val="101010"/>
                </a:solidFill>
              </a:defRPr>
            </a:lvl2pPr>
            <a:lvl3pPr marL="972000">
              <a:lnSpc>
                <a:spcPct val="90000"/>
              </a:lnSpc>
              <a:spcBef>
                <a:spcPts val="0"/>
              </a:spcBef>
              <a:spcAft>
                <a:spcPts val="1000"/>
              </a:spcAft>
              <a:defRPr sz="1600">
                <a:solidFill>
                  <a:srgbClr val="101010"/>
                </a:solidFill>
              </a:defRPr>
            </a:lvl3pPr>
            <a:lvl4pPr marL="1296000" indent="-342000">
              <a:lnSpc>
                <a:spcPct val="90000"/>
              </a:lnSpc>
              <a:spcBef>
                <a:spcPts val="0"/>
              </a:spcBef>
              <a:spcAft>
                <a:spcPts val="1000"/>
              </a:spcAft>
              <a:defRPr sz="1400">
                <a:solidFill>
                  <a:srgbClr val="101010"/>
                </a:solidFill>
              </a:defRPr>
            </a:lvl4pPr>
            <a:lvl5pPr marL="1620000" indent="-342000">
              <a:lnSpc>
                <a:spcPct val="90000"/>
              </a:lnSpc>
              <a:spcBef>
                <a:spcPts val="0"/>
              </a:spcBef>
              <a:spcAft>
                <a:spcPts val="1000"/>
              </a:spcAft>
              <a:defRPr sz="1200">
                <a:solidFill>
                  <a:srgbClr val="101010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A0B9F341-14FC-51F5-105A-E4BFB54BFEDD}"/>
              </a:ext>
            </a:extLst>
          </p:cNvPr>
          <p:cNvSpPr>
            <a:spLocks noGrp="1"/>
          </p:cNvSpPr>
          <p:nvPr>
            <p:ph sz="half" idx="16"/>
          </p:nvPr>
        </p:nvSpPr>
        <p:spPr>
          <a:xfrm>
            <a:off x="6533867" y="1910188"/>
            <a:ext cx="5327092" cy="4240591"/>
          </a:xfrm>
        </p:spPr>
        <p:txBody>
          <a:bodyPr wrap="square">
            <a:noAutofit/>
          </a:bodyPr>
          <a:lstStyle>
            <a:lvl1pPr marL="342000" indent="-342000">
              <a:lnSpc>
                <a:spcPct val="90000"/>
              </a:lnSpc>
              <a:spcAft>
                <a:spcPts val="1000"/>
              </a:spcAft>
              <a:defRPr sz="2000">
                <a:solidFill>
                  <a:srgbClr val="101010"/>
                </a:solidFill>
              </a:defRPr>
            </a:lvl1pPr>
            <a:lvl2pPr marL="684000" indent="-342000">
              <a:spcBef>
                <a:spcPts val="0"/>
              </a:spcBef>
              <a:spcAft>
                <a:spcPts val="800"/>
              </a:spcAft>
              <a:defRPr sz="1800">
                <a:solidFill>
                  <a:srgbClr val="101010"/>
                </a:solidFill>
              </a:defRPr>
            </a:lvl2pPr>
            <a:lvl3pPr marL="972000">
              <a:lnSpc>
                <a:spcPct val="90000"/>
              </a:lnSpc>
              <a:spcBef>
                <a:spcPts val="0"/>
              </a:spcBef>
              <a:spcAft>
                <a:spcPts val="1000"/>
              </a:spcAft>
              <a:defRPr sz="1600">
                <a:solidFill>
                  <a:srgbClr val="101010"/>
                </a:solidFill>
              </a:defRPr>
            </a:lvl3pPr>
            <a:lvl4pPr marL="1296000" indent="-342000">
              <a:lnSpc>
                <a:spcPct val="90000"/>
              </a:lnSpc>
              <a:spcBef>
                <a:spcPts val="0"/>
              </a:spcBef>
              <a:spcAft>
                <a:spcPts val="1000"/>
              </a:spcAft>
              <a:defRPr sz="1400">
                <a:solidFill>
                  <a:srgbClr val="101010"/>
                </a:solidFill>
              </a:defRPr>
            </a:lvl4pPr>
            <a:lvl5pPr marL="1620000" indent="-342000">
              <a:lnSpc>
                <a:spcPct val="90000"/>
              </a:lnSpc>
              <a:spcBef>
                <a:spcPts val="0"/>
              </a:spcBef>
              <a:spcAft>
                <a:spcPts val="1000"/>
              </a:spcAft>
              <a:defRPr sz="1200">
                <a:solidFill>
                  <a:srgbClr val="101010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92824885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and Object" preserve="1" userDrawn="1">
  <p:cSld name="Content and Object 3">
    <p:spTree>
      <p:nvGrpSpPr>
        <p:cNvPr id="1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41"/>
          <p:cNvSpPr txBox="1">
            <a:spLocks noGrp="1"/>
          </p:cNvSpPr>
          <p:nvPr>
            <p:ph type="title"/>
          </p:nvPr>
        </p:nvSpPr>
        <p:spPr>
          <a:xfrm>
            <a:off x="970722" y="413590"/>
            <a:ext cx="10515600" cy="7823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0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>
                <a:solidFill>
                  <a:srgbClr val="2644A7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 dirty="0"/>
              <a:t>Click to edit Master title style</a:t>
            </a:r>
            <a:endParaRPr dirty="0"/>
          </a:p>
        </p:txBody>
      </p:sp>
      <p:cxnSp>
        <p:nvCxnSpPr>
          <p:cNvPr id="177" name="Google Shape;177;p41"/>
          <p:cNvCxnSpPr>
            <a:cxnSpLocks/>
          </p:cNvCxnSpPr>
          <p:nvPr/>
        </p:nvCxnSpPr>
        <p:spPr>
          <a:xfrm>
            <a:off x="0" y="1552418"/>
            <a:ext cx="970722" cy="0"/>
          </a:xfrm>
          <a:prstGeom prst="straightConnector1">
            <a:avLst/>
          </a:prstGeom>
          <a:noFill/>
          <a:ln w="76200" cap="flat" cmpd="sng">
            <a:solidFill>
              <a:schemeClr val="accent5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3" name="Google Shape;10;p21">
            <a:extLst>
              <a:ext uri="{FF2B5EF4-FFF2-40B4-BE49-F238E27FC236}">
                <a16:creationId xmlns:a16="http://schemas.microsoft.com/office/drawing/2014/main" id="{C87DACA3-4A62-7EF9-9155-5CC0EBE6EC54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4724400" y="643733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ctr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GB" smtClean="0"/>
              <a:pPr/>
              <a:t>‹N°›</a:t>
            </a:fld>
            <a:endParaRPr lang="en-GB"/>
          </a:p>
        </p:txBody>
      </p:sp>
      <p:sp>
        <p:nvSpPr>
          <p:cNvPr id="4" name="Text Placeholder 2">
            <a:extLst>
              <a:ext uri="{FF2B5EF4-FFF2-40B4-BE49-F238E27FC236}">
                <a16:creationId xmlns:a16="http://schemas.microsoft.com/office/drawing/2014/main" id="{949220B6-B4CB-BA59-8F58-4304C8D422B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70723" y="1894895"/>
            <a:ext cx="5157787" cy="823912"/>
          </a:xfrm>
        </p:spPr>
        <p:txBody>
          <a:bodyPr wrap="square" anchor="t">
            <a:noAutofit/>
          </a:bodyPr>
          <a:lstStyle>
            <a:lvl1pPr marL="0" indent="0">
              <a:buNone/>
              <a:defRPr sz="2400" b="0" baseline="0">
                <a:solidFill>
                  <a:srgbClr val="2644A7"/>
                </a:solidFill>
              </a:defRPr>
            </a:lvl1pPr>
            <a:lvl2pPr marL="338383" indent="0">
              <a:buNone/>
              <a:defRPr sz="1480" b="1"/>
            </a:lvl2pPr>
            <a:lvl3pPr marL="676765" indent="0">
              <a:buNone/>
              <a:defRPr sz="1332" b="1"/>
            </a:lvl3pPr>
            <a:lvl4pPr marL="1015148" indent="0">
              <a:buNone/>
              <a:defRPr sz="1184" b="1"/>
            </a:lvl4pPr>
            <a:lvl5pPr marL="1353530" indent="0">
              <a:buNone/>
              <a:defRPr sz="1184" b="1"/>
            </a:lvl5pPr>
            <a:lvl6pPr marL="1691913" indent="0">
              <a:buNone/>
              <a:defRPr sz="1184" b="1"/>
            </a:lvl6pPr>
            <a:lvl7pPr marL="2030295" indent="0">
              <a:buNone/>
              <a:defRPr sz="1184" b="1"/>
            </a:lvl7pPr>
            <a:lvl8pPr marL="2368678" indent="0">
              <a:buNone/>
              <a:defRPr sz="1184" b="1"/>
            </a:lvl8pPr>
            <a:lvl9pPr marL="2707061" indent="0">
              <a:buNone/>
              <a:defRPr sz="1184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3">
            <a:extLst>
              <a:ext uri="{FF2B5EF4-FFF2-40B4-BE49-F238E27FC236}">
                <a16:creationId xmlns:a16="http://schemas.microsoft.com/office/drawing/2014/main" id="{BDB0ABC1-873A-F2DD-170F-E80FE4830D2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970723" y="2725735"/>
            <a:ext cx="5157787" cy="3384119"/>
          </a:xfrm>
        </p:spPr>
        <p:txBody>
          <a:bodyPr wrap="square">
            <a:noAutofit/>
          </a:bodyPr>
          <a:lstStyle>
            <a:lvl1pPr marL="342000" indent="-342000">
              <a:lnSpc>
                <a:spcPct val="90000"/>
              </a:lnSpc>
              <a:spcAft>
                <a:spcPts val="1000"/>
              </a:spcAft>
              <a:defRPr sz="2000">
                <a:solidFill>
                  <a:srgbClr val="101010"/>
                </a:solidFill>
              </a:defRPr>
            </a:lvl1pPr>
            <a:lvl2pPr marL="684000" indent="-342000">
              <a:spcBef>
                <a:spcPts val="0"/>
              </a:spcBef>
              <a:spcAft>
                <a:spcPts val="800"/>
              </a:spcAft>
              <a:defRPr sz="1800">
                <a:solidFill>
                  <a:srgbClr val="101010"/>
                </a:solidFill>
              </a:defRPr>
            </a:lvl2pPr>
            <a:lvl3pPr marL="972000">
              <a:lnSpc>
                <a:spcPct val="90000"/>
              </a:lnSpc>
              <a:spcBef>
                <a:spcPts val="0"/>
              </a:spcBef>
              <a:spcAft>
                <a:spcPts val="1000"/>
              </a:spcAft>
              <a:defRPr sz="1600">
                <a:solidFill>
                  <a:srgbClr val="101010"/>
                </a:solidFill>
              </a:defRPr>
            </a:lvl3pPr>
            <a:lvl4pPr marL="1296000" indent="-342000">
              <a:lnSpc>
                <a:spcPct val="90000"/>
              </a:lnSpc>
              <a:spcBef>
                <a:spcPts val="0"/>
              </a:spcBef>
              <a:spcAft>
                <a:spcPts val="1000"/>
              </a:spcAft>
              <a:defRPr sz="1400">
                <a:solidFill>
                  <a:srgbClr val="101010"/>
                </a:solidFill>
              </a:defRPr>
            </a:lvl4pPr>
            <a:lvl5pPr marL="1620000" indent="-342000">
              <a:lnSpc>
                <a:spcPct val="90000"/>
              </a:lnSpc>
              <a:spcBef>
                <a:spcPts val="0"/>
              </a:spcBef>
              <a:spcAft>
                <a:spcPts val="1000"/>
              </a:spcAft>
              <a:defRPr sz="1200">
                <a:solidFill>
                  <a:srgbClr val="101010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7" name="Text Placeholder 4">
            <a:extLst>
              <a:ext uri="{FF2B5EF4-FFF2-40B4-BE49-F238E27FC236}">
                <a16:creationId xmlns:a16="http://schemas.microsoft.com/office/drawing/2014/main" id="{0057B6DC-82B6-DC47-2B36-FBA16BFA54D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303134" y="1894895"/>
            <a:ext cx="5183188" cy="823912"/>
          </a:xfrm>
          <a:noFill/>
        </p:spPr>
        <p:txBody>
          <a:bodyPr wrap="square" anchor="t">
            <a:noAutofit/>
          </a:bodyPr>
          <a:lstStyle>
            <a:lvl1pPr marL="0" indent="0">
              <a:buNone/>
              <a:defRPr sz="2400" b="0">
                <a:solidFill>
                  <a:srgbClr val="2644A7"/>
                </a:solidFill>
              </a:defRPr>
            </a:lvl1pPr>
            <a:lvl2pPr marL="338383" indent="0">
              <a:buNone/>
              <a:defRPr sz="1480" b="1"/>
            </a:lvl2pPr>
            <a:lvl3pPr marL="676765" indent="0">
              <a:buNone/>
              <a:defRPr sz="1332" b="1"/>
            </a:lvl3pPr>
            <a:lvl4pPr marL="1015148" indent="0">
              <a:buNone/>
              <a:defRPr sz="1184" b="1"/>
            </a:lvl4pPr>
            <a:lvl5pPr marL="1353530" indent="0">
              <a:buNone/>
              <a:defRPr sz="1184" b="1"/>
            </a:lvl5pPr>
            <a:lvl6pPr marL="1691913" indent="0">
              <a:buNone/>
              <a:defRPr sz="1184" b="1"/>
            </a:lvl6pPr>
            <a:lvl7pPr marL="2030295" indent="0">
              <a:buNone/>
              <a:defRPr sz="1184" b="1"/>
            </a:lvl7pPr>
            <a:lvl8pPr marL="2368678" indent="0">
              <a:buNone/>
              <a:defRPr sz="1184" b="1"/>
            </a:lvl8pPr>
            <a:lvl9pPr marL="2707061" indent="0">
              <a:buNone/>
              <a:defRPr sz="1184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6495916A-C750-070D-C528-9F655246DF5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424731" y="6499013"/>
            <a:ext cx="1332000" cy="181429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457D36BD-C483-ED07-0866-A0A591A01707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10326539" y="5728720"/>
            <a:ext cx="1865461" cy="1130560"/>
          </a:xfrm>
          <a:prstGeom prst="rect">
            <a:avLst/>
          </a:prstGeom>
        </p:spPr>
      </p:pic>
      <p:sp>
        <p:nvSpPr>
          <p:cNvPr id="2" name="Content Placeholder 3">
            <a:extLst>
              <a:ext uri="{FF2B5EF4-FFF2-40B4-BE49-F238E27FC236}">
                <a16:creationId xmlns:a16="http://schemas.microsoft.com/office/drawing/2014/main" id="{A623D267-A36F-1DAC-4912-F35877117825}"/>
              </a:ext>
            </a:extLst>
          </p:cNvPr>
          <p:cNvSpPr>
            <a:spLocks noGrp="1"/>
          </p:cNvSpPr>
          <p:nvPr>
            <p:ph sz="half" idx="13"/>
          </p:nvPr>
        </p:nvSpPr>
        <p:spPr>
          <a:xfrm>
            <a:off x="6309559" y="2725735"/>
            <a:ext cx="5183188" cy="3384119"/>
          </a:xfrm>
        </p:spPr>
        <p:txBody>
          <a:bodyPr wrap="square">
            <a:noAutofit/>
          </a:bodyPr>
          <a:lstStyle>
            <a:lvl1pPr marL="342000" indent="-342000">
              <a:lnSpc>
                <a:spcPct val="90000"/>
              </a:lnSpc>
              <a:spcAft>
                <a:spcPts val="1000"/>
              </a:spcAft>
              <a:defRPr sz="2000">
                <a:solidFill>
                  <a:srgbClr val="101010"/>
                </a:solidFill>
              </a:defRPr>
            </a:lvl1pPr>
            <a:lvl2pPr marL="684000" indent="-342000">
              <a:spcBef>
                <a:spcPts val="0"/>
              </a:spcBef>
              <a:spcAft>
                <a:spcPts val="800"/>
              </a:spcAft>
              <a:defRPr sz="1800">
                <a:solidFill>
                  <a:srgbClr val="101010"/>
                </a:solidFill>
              </a:defRPr>
            </a:lvl2pPr>
            <a:lvl3pPr marL="972000">
              <a:lnSpc>
                <a:spcPct val="90000"/>
              </a:lnSpc>
              <a:spcBef>
                <a:spcPts val="0"/>
              </a:spcBef>
              <a:spcAft>
                <a:spcPts val="1000"/>
              </a:spcAft>
              <a:defRPr sz="1600">
                <a:solidFill>
                  <a:srgbClr val="101010"/>
                </a:solidFill>
              </a:defRPr>
            </a:lvl3pPr>
            <a:lvl4pPr marL="1296000" indent="-342000">
              <a:lnSpc>
                <a:spcPct val="90000"/>
              </a:lnSpc>
              <a:spcBef>
                <a:spcPts val="0"/>
              </a:spcBef>
              <a:spcAft>
                <a:spcPts val="1000"/>
              </a:spcAft>
              <a:defRPr sz="1400">
                <a:solidFill>
                  <a:srgbClr val="101010"/>
                </a:solidFill>
              </a:defRPr>
            </a:lvl4pPr>
            <a:lvl5pPr marL="1620000" indent="-342000">
              <a:lnSpc>
                <a:spcPct val="90000"/>
              </a:lnSpc>
              <a:spcBef>
                <a:spcPts val="0"/>
              </a:spcBef>
              <a:spcAft>
                <a:spcPts val="1000"/>
              </a:spcAft>
              <a:defRPr sz="1200">
                <a:solidFill>
                  <a:srgbClr val="101010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1473445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Last slide (option 1)" preserve="1" userDrawn="1">
  <p:cSld name="Last slide (option 1)">
    <p:spTree>
      <p:nvGrpSpPr>
        <p:cNvPr id="1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141;p37">
            <a:extLst>
              <a:ext uri="{FF2B5EF4-FFF2-40B4-BE49-F238E27FC236}">
                <a16:creationId xmlns:a16="http://schemas.microsoft.com/office/drawing/2014/main" id="{ACED6512-1BD5-58D6-D635-D62C0A34BF8C}"/>
              </a:ext>
            </a:extLst>
          </p:cNvPr>
          <p:cNvSpPr>
            <a:spLocks/>
          </p:cNvSpPr>
          <p:nvPr userDrawn="1"/>
        </p:nvSpPr>
        <p:spPr>
          <a:xfrm>
            <a:off x="0" y="3328560"/>
            <a:ext cx="12192000" cy="2913720"/>
          </a:xfrm>
          <a:prstGeom prst="rect">
            <a:avLst/>
          </a:prstGeom>
          <a:solidFill>
            <a:srgbClr val="2644A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4" name="Google Shape;144;p37"/>
          <p:cNvSpPr txBox="1">
            <a:spLocks noGrp="1"/>
          </p:cNvSpPr>
          <p:nvPr>
            <p:ph type="body" idx="1"/>
          </p:nvPr>
        </p:nvSpPr>
        <p:spPr>
          <a:xfrm>
            <a:off x="970723" y="3777422"/>
            <a:ext cx="6865686" cy="2174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None/>
              <a:defRPr sz="2400">
                <a:solidFill>
                  <a:srgbClr val="F4F4F4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SzPts val="2000"/>
              <a:buNone/>
              <a:defRPr/>
            </a:lvl2pPr>
            <a:lvl3pPr marL="1371600" lvl="2" indent="-342900" algn="l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18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488A19F-A201-3EB2-A71E-1E51EF3E1B23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8107569" y="3538903"/>
            <a:ext cx="2931525" cy="2412704"/>
          </a:xfrm>
          <a:prstGeom prst="rect">
            <a:avLst/>
          </a:prstGeom>
        </p:spPr>
      </p:pic>
      <p:sp>
        <p:nvSpPr>
          <p:cNvPr id="7" name="Title Placeholder 1">
            <a:extLst>
              <a:ext uri="{FF2B5EF4-FFF2-40B4-BE49-F238E27FC236}">
                <a16:creationId xmlns:a16="http://schemas.microsoft.com/office/drawing/2014/main" id="{9CD49B01-566F-CA34-C636-83E50BFD40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70722" y="414281"/>
            <a:ext cx="10515600" cy="2937139"/>
          </a:xfrm>
          <a:prstGeom prst="rect">
            <a:avLst/>
          </a:prstGeom>
        </p:spPr>
        <p:txBody>
          <a:bodyPr vert="horz" lIns="91440" tIns="45720" rIns="91440" bIns="0" rtlCol="0" anchor="ctr" anchorCtr="0">
            <a:noAutofit/>
          </a:bodyPr>
          <a:lstStyle>
            <a:lvl1pPr algn="ctr">
              <a:defRPr sz="4800">
                <a:solidFill>
                  <a:srgbClr val="101010"/>
                </a:solidFill>
              </a:defRPr>
            </a:lvl1pPr>
          </a:lstStyle>
          <a:p>
            <a:r>
              <a:rPr lang="en-US" dirty="0"/>
              <a:t>Click to edit Master title style</a:t>
            </a:r>
            <a:endParaRPr lang="en-GB" dirty="0"/>
          </a:p>
        </p:txBody>
      </p:sp>
      <p:sp>
        <p:nvSpPr>
          <p:cNvPr id="8" name="Google Shape;10;p21">
            <a:extLst>
              <a:ext uri="{FF2B5EF4-FFF2-40B4-BE49-F238E27FC236}">
                <a16:creationId xmlns:a16="http://schemas.microsoft.com/office/drawing/2014/main" id="{C209E83E-F338-C8C6-D016-6C5FE194EA8B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4724400" y="643733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ctr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GB" smtClean="0"/>
              <a:pPr/>
              <a:t>‹N°›</a:t>
            </a:fld>
            <a:endParaRPr lang="en-GB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736B8EBF-8A1C-818A-CBBC-1DC51D94C547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10326539" y="5728720"/>
            <a:ext cx="1865461" cy="113056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A8541C9F-06FD-4BC7-C438-D852985D159B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rcRect/>
          <a:stretch/>
        </p:blipFill>
        <p:spPr>
          <a:xfrm>
            <a:off x="424731" y="6499013"/>
            <a:ext cx="1332000" cy="1814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714988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BE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BE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Model-based decomposition</a:t>
            </a:r>
            <a:endParaRPr lang="fr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2E9969-9346-4095-A7C3-836AAB82C09A}" type="slidenum">
              <a:rPr lang="fr-BE" smtClean="0"/>
              <a:t>‹N°›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398494657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Google Shape;11;p21"/>
          <p:cNvSpPr txBox="1">
            <a:spLocks noGrp="1"/>
          </p:cNvSpPr>
          <p:nvPr>
            <p:ph type="title"/>
          </p:nvPr>
        </p:nvSpPr>
        <p:spPr>
          <a:xfrm>
            <a:off x="838200" y="763064"/>
            <a:ext cx="10515600" cy="7823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0" anchor="b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Font typeface="Arial"/>
              <a:buNone/>
              <a:defRPr sz="4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 dirty="0"/>
          </a:p>
        </p:txBody>
      </p:sp>
      <p:sp>
        <p:nvSpPr>
          <p:cNvPr id="12" name="Google Shape;12;p21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38819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381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55600" algn="l" rtl="0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42900" algn="l" rtl="0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30200" algn="l" rtl="0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30200" algn="l" rtl="0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18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 dirty="0"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727" r:id="rId1"/>
    <p:sldLayoutId id="2147483717" r:id="rId2"/>
    <p:sldLayoutId id="2147483724" r:id="rId3"/>
    <p:sldLayoutId id="2147483725" r:id="rId4"/>
    <p:sldLayoutId id="2147483723" r:id="rId5"/>
    <p:sldLayoutId id="2147483728" r:id="rId6"/>
  </p:sldLayoutIdLst>
  <p:hf hd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2644A7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png"/><Relationship Id="rId3" Type="http://schemas.openxmlformats.org/officeDocument/2006/relationships/image" Target="../media/image21.png"/><Relationship Id="rId7" Type="http://schemas.openxmlformats.org/officeDocument/2006/relationships/image" Target="../media/image25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4.png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7.png"/><Relationship Id="rId4" Type="http://schemas.openxmlformats.org/officeDocument/2006/relationships/image" Target="../media/image36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0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6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>
            <a:extLst>
              <a:ext uri="{FF2B5EF4-FFF2-40B4-BE49-F238E27FC236}">
                <a16:creationId xmlns:a16="http://schemas.microsoft.com/office/drawing/2014/main" id="{7D86E511-2A8E-CD8D-FA1D-6DDA5388CE10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GB" noProof="0" dirty="0"/>
              <a:t>ESTP Training</a:t>
            </a:r>
          </a:p>
          <a:p>
            <a:r>
              <a:rPr lang="en-GB" noProof="0" dirty="0"/>
              <a:t>05-07 October 2026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E2518E6D-618C-DDB2-DF84-26EB66F0C2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Model-based decomposition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3FA50BB-3958-DA6F-CD7B-74B9FFF5C40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348115352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05B4D6-BD49-28BA-B570-742D03DE7C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0. Outline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A56090C-9C88-CB17-62D5-03FB12FC3E0E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F12E9969-9346-4095-A7C3-836AAB82C09A}" type="slidenum">
              <a:rPr lang="en-GB" noProof="0" smtClean="0"/>
              <a:t>2</a:t>
            </a:fld>
            <a:endParaRPr lang="en-GB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FF2A1C7-B8A7-F246-DD55-FBE3919FBA14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r>
              <a:rPr lang="en-GB" sz="2800" noProof="0" dirty="0"/>
              <a:t>Unobserved component models</a:t>
            </a:r>
          </a:p>
          <a:p>
            <a:pPr lvl="1"/>
            <a:r>
              <a:rPr lang="en-GB" sz="2400" noProof="0" dirty="0"/>
              <a:t>STS, AMB</a:t>
            </a:r>
          </a:p>
          <a:p>
            <a:r>
              <a:rPr lang="en-GB" sz="2800" noProof="0" dirty="0"/>
              <a:t>SEATS algorithm</a:t>
            </a:r>
          </a:p>
          <a:p>
            <a:r>
              <a:rPr lang="en-GB" sz="2800" noProof="0" dirty="0"/>
              <a:t>Estimation</a:t>
            </a:r>
          </a:p>
          <a:p>
            <a:pPr lvl="1"/>
            <a:r>
              <a:rPr lang="en-GB" sz="2400" noProof="0" dirty="0"/>
              <a:t>MMSE estimators, algorithms</a:t>
            </a:r>
          </a:p>
          <a:p>
            <a:r>
              <a:rPr lang="en-GB" sz="2800" noProof="0" dirty="0"/>
              <a:t>Analysis</a:t>
            </a:r>
          </a:p>
          <a:p>
            <a:pPr lvl="1"/>
            <a:r>
              <a:rPr lang="en-GB" sz="2400" noProof="0" dirty="0"/>
              <a:t>Finite / infinite approaches</a:t>
            </a:r>
          </a:p>
          <a:p>
            <a:r>
              <a:rPr lang="en-GB" sz="2800" noProof="0" dirty="0"/>
              <a:t>SEATS in JD+</a:t>
            </a:r>
          </a:p>
          <a:p>
            <a:pPr lvl="1"/>
            <a:r>
              <a:rPr lang="en-GB" sz="2400" noProof="0" dirty="0"/>
              <a:t>Parameters, non decomposable models, estimation</a:t>
            </a:r>
          </a:p>
          <a:p>
            <a:endParaRPr lang="en-GB" noProof="0" dirty="0"/>
          </a:p>
          <a:p>
            <a:endParaRPr lang="en-GB" noProof="0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36C03FE-6836-C279-9389-A9532A31DB45}"/>
              </a:ext>
            </a:extLst>
          </p:cNvPr>
          <p:cNvSpPr>
            <a:spLocks noGrp="1"/>
          </p:cNvSpPr>
          <p:nvPr>
            <p:ph type="ftr" sz="quarter" idx="4294967295"/>
          </p:nvPr>
        </p:nvSpPr>
        <p:spPr>
          <a:xfrm>
            <a:off x="0" y="0"/>
            <a:ext cx="0" cy="0"/>
          </a:xfrm>
        </p:spPr>
        <p:txBody>
          <a:bodyPr/>
          <a:lstStyle/>
          <a:p>
            <a:r>
              <a:rPr lang="en-GB" noProof="0" dirty="0"/>
              <a:t>Model-based decomposition</a:t>
            </a:r>
          </a:p>
        </p:txBody>
      </p:sp>
    </p:spTree>
    <p:extLst>
      <p:ext uri="{BB962C8B-B14F-4D97-AF65-F5344CB8AC3E}">
        <p14:creationId xmlns:p14="http://schemas.microsoft.com/office/powerpoint/2010/main" val="230340391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2E236B-9B13-249F-1DE2-18A26DA624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GB" noProof="0" dirty="0"/>
              <a:t>Always keep in mind…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F008DB6-3CC7-2B7B-6E0D-4D494AFCD42C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F12E9969-9346-4095-A7C3-836AAB82C09A}" type="slidenum">
              <a:rPr lang="en-GB" noProof="0" smtClean="0"/>
              <a:t>3</a:t>
            </a:fld>
            <a:endParaRPr lang="en-GB" noProof="0" dirty="0"/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0E4F6847-6455-88FF-3DB1-01D8AE52438F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2179638" y="1854994"/>
            <a:ext cx="8096250" cy="3810000"/>
          </a:xfrm>
          <a:prstGeom prst="rect">
            <a:avLst/>
          </a:prstGeom>
        </p:spPr>
      </p:pic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2CE0615-59F6-C6EE-84E2-3ADFD4859225}"/>
              </a:ext>
            </a:extLst>
          </p:cNvPr>
          <p:cNvSpPr>
            <a:spLocks noGrp="1"/>
          </p:cNvSpPr>
          <p:nvPr>
            <p:ph type="ftr" sz="quarter" idx="4294967295"/>
          </p:nvPr>
        </p:nvSpPr>
        <p:spPr>
          <a:xfrm>
            <a:off x="0" y="0"/>
            <a:ext cx="0" cy="0"/>
          </a:xfrm>
        </p:spPr>
        <p:txBody>
          <a:bodyPr/>
          <a:lstStyle/>
          <a:p>
            <a:r>
              <a:rPr lang="en-GB" noProof="0" dirty="0"/>
              <a:t>Model-based decomposition</a:t>
            </a:r>
          </a:p>
        </p:txBody>
      </p:sp>
    </p:spTree>
    <p:extLst>
      <p:ext uri="{BB962C8B-B14F-4D97-AF65-F5344CB8AC3E}">
        <p14:creationId xmlns:p14="http://schemas.microsoft.com/office/powerpoint/2010/main" val="412978117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2EDA4C-C5A2-ACE0-5030-7597827AB7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GB" noProof="0" dirty="0"/>
              <a:t>0.1 Some notations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2AC218E-5C59-4E6A-2A40-F6837AD72AFD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F12E9969-9346-4095-A7C3-836AAB82C09A}" type="slidenum">
              <a:rPr lang="en-GB" noProof="0" smtClean="0"/>
              <a:t>4</a:t>
            </a:fld>
            <a:endParaRPr lang="en-GB" noProof="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51D28D0-8CD2-E539-618D-40155CD75265}"/>
                  </a:ext>
                </a:extLst>
              </p:cNvPr>
              <p:cNvSpPr>
                <a:spLocks noGrp="1"/>
              </p:cNvSpPr>
              <p:nvPr>
                <p:ph sz="half" idx="2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GB" sz="2800" noProof="0" dirty="0"/>
                  <a:t>Operators</a:t>
                </a:r>
              </a:p>
              <a:p>
                <a:pPr lvl="1"/>
                <a:r>
                  <a:rPr lang="en-GB" sz="2400" noProof="0" dirty="0"/>
                  <a:t>Backward operator: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GB" sz="2400" i="1" noProof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GB" sz="2400" i="1" noProof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  <m:sup>
                        <m:r>
                          <a:rPr lang="en-GB" sz="2400" i="1" noProof="0">
                            <a:latin typeface="Cambria Math" panose="02040503050406030204" pitchFamily="18" charset="0"/>
                          </a:rPr>
                          <m:t>𝑎</m:t>
                        </m:r>
                      </m:sup>
                    </m:sSup>
                    <m:sSub>
                      <m:sSubPr>
                        <m:ctrlPr>
                          <a:rPr lang="en-GB" sz="2400" i="1" noProof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2400" i="1" noProof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GB" sz="2400" i="1" noProof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GB" sz="2400" i="1" noProof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GB" sz="2400" i="1" noProof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2400" i="1" noProof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GB" sz="2400" i="1" noProof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GB" sz="2400" i="1" noProof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GB" sz="2400" i="1" noProof="0">
                            <a:latin typeface="Cambria Math" panose="02040503050406030204" pitchFamily="18" charset="0"/>
                          </a:rPr>
                          <m:t>𝑎</m:t>
                        </m:r>
                      </m:sub>
                    </m:sSub>
                  </m:oMath>
                </a14:m>
                <a:endParaRPr lang="en-GB" sz="2400" noProof="0" dirty="0"/>
              </a:p>
              <a:p>
                <a:pPr lvl="1"/>
                <a:r>
                  <a:rPr lang="en-GB" sz="2400" noProof="0" dirty="0"/>
                  <a:t>Forward operator: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GB" sz="2400" i="1" noProof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GB" sz="2400" i="1" noProof="0" smtClean="0"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  <m:sup>
                        <m:r>
                          <a:rPr lang="en-GB" sz="2400" i="1" noProof="0">
                            <a:latin typeface="Cambria Math" panose="02040503050406030204" pitchFamily="18" charset="0"/>
                          </a:rPr>
                          <m:t>𝑎</m:t>
                        </m:r>
                      </m:sup>
                    </m:sSup>
                    <m:sSub>
                      <m:sSubPr>
                        <m:ctrlPr>
                          <a:rPr lang="en-GB" sz="2400" i="1" noProof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2400" i="1" noProof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GB" sz="2400" i="1" noProof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GB" sz="2400" i="1" noProof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GB" sz="2400" i="1" noProof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2400" i="1" noProof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GB" sz="2400" i="1" noProof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GB" sz="2400" i="1" noProof="0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GB" sz="2400" i="1" noProof="0">
                            <a:latin typeface="Cambria Math" panose="02040503050406030204" pitchFamily="18" charset="0"/>
                          </a:rPr>
                          <m:t>𝑎</m:t>
                        </m:r>
                      </m:sub>
                    </m:sSub>
                  </m:oMath>
                </a14:m>
                <a:endParaRPr lang="en-GB" sz="2400" noProof="0" dirty="0"/>
              </a:p>
              <a:p>
                <a:pPr lvl="1"/>
                <a:r>
                  <a:rPr lang="en-GB" sz="2400" noProof="0" dirty="0"/>
                  <a:t>Differencing: </a:t>
                </a:r>
                <a14:m>
                  <m:oMath xmlns:m="http://schemas.openxmlformats.org/officeDocument/2006/math">
                    <m:r>
                      <a:rPr lang="en-GB" sz="2400" i="1" noProof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∆</m:t>
                    </m:r>
                    <m:sSub>
                      <m:sSubPr>
                        <m:ctrlPr>
                          <a:rPr lang="en-GB" sz="2400" i="1" noProof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2400" i="1" noProof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GB" sz="2400" i="1" noProof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GB" sz="2400" i="1" noProof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GB" sz="2400" i="1" noProof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2400" i="1" noProof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GB" sz="2400" i="1" noProof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GB" sz="2400" i="1" noProof="0" smtClean="0"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en-GB" sz="2400" i="1" noProof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2400" i="1" noProof="0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GB" sz="2400" i="1" noProof="0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GB" sz="2400" i="1" noProof="0" smtClean="0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  <m:r>
                      <a:rPr lang="en-GB" sz="2400" i="1" noProof="0" smtClean="0">
                        <a:latin typeface="Cambria Math" panose="02040503050406030204" pitchFamily="18" charset="0"/>
                      </a:rPr>
                      <m:t>=(1−</m:t>
                    </m:r>
                    <m:r>
                      <a:rPr lang="en-GB" sz="2400" i="1" noProof="0" smtClean="0">
                        <a:latin typeface="Cambria Math" panose="02040503050406030204" pitchFamily="18" charset="0"/>
                      </a:rPr>
                      <m:t>𝐵</m:t>
                    </m:r>
                    <m:r>
                      <a:rPr lang="en-GB" sz="2400" i="1" noProof="0" smtClean="0">
                        <a:latin typeface="Cambria Math" panose="02040503050406030204" pitchFamily="18" charset="0"/>
                      </a:rPr>
                      <m:t>)</m:t>
                    </m:r>
                    <m:sSub>
                      <m:sSubPr>
                        <m:ctrlPr>
                          <a:rPr lang="en-GB" sz="2400" i="1" noProof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2400" i="1" noProof="0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GB" sz="2400" i="1" noProof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endParaRPr lang="en-GB" sz="2400" noProof="0" dirty="0"/>
              </a:p>
              <a:p>
                <a:pPr lvl="1"/>
                <a:r>
                  <a:rPr lang="en-GB" sz="2400" noProof="0" dirty="0"/>
                  <a:t>Seasonal differencing: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sz="2400" i="1" noProof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2400" i="1" noProof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∆</m:t>
                        </m:r>
                      </m:e>
                      <m:sub>
                        <m:r>
                          <a:rPr lang="en-GB" sz="240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𝑓</m:t>
                        </m:r>
                      </m:sub>
                    </m:sSub>
                    <m:sSub>
                      <m:sSubPr>
                        <m:ctrlPr>
                          <a:rPr lang="en-GB" sz="2400" i="1" noProof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2400" i="1" noProof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GB" sz="2400" i="1" noProof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GB" sz="2400" i="1" noProof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GB" sz="2400" i="1" noProof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2400" i="1" noProof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GB" sz="2400" i="1" noProof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GB" sz="2400" i="1" noProof="0" smtClean="0"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en-GB" sz="2400" i="1" noProof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2400" i="1" noProof="0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GB" sz="2400" i="1" noProof="0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GB" sz="2400" i="1" noProof="0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GB" sz="2400" i="1" noProof="0" smtClean="0">
                            <a:latin typeface="Cambria Math" panose="02040503050406030204" pitchFamily="18" charset="0"/>
                          </a:rPr>
                          <m:t>𝑓</m:t>
                        </m:r>
                      </m:sub>
                    </m:sSub>
                    <m:r>
                      <a:rPr lang="en-GB" sz="2400" i="1" noProof="0" smtClean="0">
                        <a:latin typeface="Cambria Math" panose="02040503050406030204" pitchFamily="18" charset="0"/>
                      </a:rPr>
                      <m:t>=(1−</m:t>
                    </m:r>
                    <m:sSup>
                      <m:sSupPr>
                        <m:ctrlPr>
                          <a:rPr lang="en-GB" sz="2400" i="1" noProof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GB" sz="2400" i="1" noProof="0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  <m:sup>
                        <m:r>
                          <a:rPr lang="en-GB" sz="2400" i="1" noProof="0" smtClean="0">
                            <a:latin typeface="Cambria Math" panose="02040503050406030204" pitchFamily="18" charset="0"/>
                          </a:rPr>
                          <m:t>𝑓</m:t>
                        </m:r>
                      </m:sup>
                    </m:sSup>
                    <m:r>
                      <a:rPr lang="en-GB" sz="2400" i="1" noProof="0" smtClean="0">
                        <a:latin typeface="Cambria Math" panose="02040503050406030204" pitchFamily="18" charset="0"/>
                      </a:rPr>
                      <m:t>)</m:t>
                    </m:r>
                    <m:sSub>
                      <m:sSubPr>
                        <m:ctrlPr>
                          <a:rPr lang="en-GB" sz="2400" i="1" noProof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2400" i="1" noProof="0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GB" sz="2400" i="1" noProof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endParaRPr lang="en-GB" sz="2400" noProof="0" dirty="0"/>
              </a:p>
              <a:p>
                <a:pPr lvl="1"/>
                <a:r>
                  <a:rPr lang="en-GB" sz="2400" noProof="0" dirty="0"/>
                  <a:t>Annual sum: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sz="240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240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GB" sz="240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𝑓</m:t>
                        </m:r>
                      </m:sub>
                    </m:sSub>
                    <m:sSub>
                      <m:sSubPr>
                        <m:ctrlPr>
                          <a:rPr lang="en-GB" sz="2400" i="1" noProof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2400" i="1" noProof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GB" sz="2400" i="1" noProof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GB" sz="2400" i="1" noProof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GB" sz="2400" i="1" noProof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2400" i="1" noProof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GB" sz="2400" i="1" noProof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GB" sz="2400" i="1" noProof="0" smtClean="0">
                        <a:latin typeface="Cambria Math" panose="02040503050406030204" pitchFamily="18" charset="0"/>
                      </a:rPr>
                      <m:t>+⋯+</m:t>
                    </m:r>
                    <m:sSub>
                      <m:sSubPr>
                        <m:ctrlPr>
                          <a:rPr lang="en-GB" sz="2400" i="1" noProof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2400" i="1" noProof="0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GB" sz="2400" i="1" noProof="0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GB" sz="2400" i="1" noProof="0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GB" sz="2400" i="1" noProof="0" smtClean="0">
                            <a:latin typeface="Cambria Math" panose="02040503050406030204" pitchFamily="18" charset="0"/>
                          </a:rPr>
                          <m:t>𝑓</m:t>
                        </m:r>
                        <m:r>
                          <a:rPr lang="en-GB" sz="2400" i="1" noProof="0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</m:oMath>
                </a14:m>
                <a:endParaRPr lang="en-GB" sz="2400" noProof="0" dirty="0"/>
              </a:p>
              <a:p>
                <a:r>
                  <a:rPr lang="en-GB" sz="2800" noProof="0" dirty="0"/>
                  <a:t>ARIMA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GB" sz="240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en-GB" sz="240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GB" sz="240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𝐵</m:t>
                        </m:r>
                      </m:e>
                    </m:d>
                    <m:sSub>
                      <m:sSubPr>
                        <m:ctrlPr>
                          <a:rPr lang="en-GB" sz="240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240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GB" sz="240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GB" sz="240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GB" sz="240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240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GB" sz="240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GB" sz="240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GB" sz="240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240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GB" sz="240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b>
                    </m:sSub>
                    <m:sSub>
                      <m:sSubPr>
                        <m:ctrlPr>
                          <a:rPr lang="en-GB" sz="240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240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GB" sz="240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  <m:r>
                          <a:rPr lang="en-GB" sz="240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−1</m:t>
                        </m:r>
                      </m:sub>
                    </m:sSub>
                    <m:r>
                      <a:rPr lang="en-GB" sz="240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+⋯+</m:t>
                    </m:r>
                    <m:sSub>
                      <m:sSubPr>
                        <m:ctrlPr>
                          <a:rPr lang="en-GB" sz="240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240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GB" sz="240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</m:sub>
                    </m:sSub>
                    <m:sSub>
                      <m:sSubPr>
                        <m:ctrlPr>
                          <a:rPr lang="en-GB" sz="240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240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GB" sz="240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  <m:r>
                          <a:rPr lang="en-GB" sz="240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r>
                          <a:rPr lang="en-GB" sz="240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endParaRPr lang="en-GB" sz="2400" i="1" noProof="0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lvl="1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GB" sz="240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∇</m:t>
                    </m:r>
                    <m:r>
                      <a:rPr lang="en-GB" sz="240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en-GB" sz="240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𝐵</m:t>
                    </m:r>
                    <m:r>
                      <a:rPr lang="en-GB" sz="240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  <m:r>
                      <m:rPr>
                        <m:sty m:val="p"/>
                      </m:rPr>
                      <a:rPr lang="en-GB" sz="240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Φ</m:t>
                    </m:r>
                    <m:r>
                      <a:rPr lang="en-GB" sz="240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en-GB" sz="240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𝐵</m:t>
                    </m:r>
                    <m:r>
                      <a:rPr lang="en-GB" sz="240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  <m:sSub>
                      <m:sSubPr>
                        <m:ctrlPr>
                          <a:rPr lang="en-GB" sz="2400" i="1" noProof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2400" i="1" noProof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GB" sz="2400" i="1" noProof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GB" sz="2400" i="1" noProof="0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GB" sz="240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Θ</m:t>
                    </m:r>
                    <m:r>
                      <a:rPr lang="en-GB" sz="240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en-GB" sz="240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𝐵</m:t>
                    </m:r>
                    <m:r>
                      <a:rPr lang="en-GB" sz="240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  <m:sSub>
                      <m:sSubPr>
                        <m:ctrlPr>
                          <a:rPr lang="en-GB" sz="2400" i="1" noProof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2400" i="1" noProof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𝜀</m:t>
                        </m:r>
                      </m:e>
                      <m:sub>
                        <m:r>
                          <a:rPr lang="en-GB" sz="2400" i="1" noProof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endParaRPr lang="en-GB" sz="2400" noProof="0" dirty="0"/>
              </a:p>
              <a:p>
                <a:pPr lvl="1"/>
                <a:endParaRPr lang="en-GB" noProof="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51D28D0-8CD2-E539-618D-40155CD7526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2"/>
              </p:nvPr>
            </p:nvSpPr>
            <p:spPr>
              <a:blipFill>
                <a:blip r:embed="rId2"/>
                <a:stretch>
                  <a:fillRect l="-754" t="-2216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EECEB32-8EC5-80C4-3D7B-ECFC84AFF8F0}"/>
              </a:ext>
            </a:extLst>
          </p:cNvPr>
          <p:cNvSpPr>
            <a:spLocks noGrp="1"/>
          </p:cNvSpPr>
          <p:nvPr>
            <p:ph type="ftr" sz="quarter" idx="4294967295"/>
          </p:nvPr>
        </p:nvSpPr>
        <p:spPr>
          <a:xfrm>
            <a:off x="0" y="0"/>
            <a:ext cx="0" cy="0"/>
          </a:xfrm>
        </p:spPr>
        <p:txBody>
          <a:bodyPr/>
          <a:lstStyle/>
          <a:p>
            <a:r>
              <a:rPr lang="en-GB" noProof="0" dirty="0"/>
              <a:t>Model-based decomposition</a:t>
            </a:r>
          </a:p>
        </p:txBody>
      </p:sp>
    </p:spTree>
    <p:extLst>
      <p:ext uri="{BB962C8B-B14F-4D97-AF65-F5344CB8AC3E}">
        <p14:creationId xmlns:p14="http://schemas.microsoft.com/office/powerpoint/2010/main" val="416220326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A5DDA1-2249-77A4-B3E8-8315032FD6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GB" noProof="0" dirty="0"/>
              <a:t>0.2 Useful tools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D732747-A052-71E4-FBF8-B7E23C1E4DA0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F12E9969-9346-4095-A7C3-836AAB82C09A}" type="slidenum">
              <a:rPr lang="en-GB" noProof="0" smtClean="0"/>
              <a:t>5</a:t>
            </a:fld>
            <a:endParaRPr lang="en-GB" noProof="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F6D33AE-12F6-A11E-5128-C85E34F10B7A}"/>
                  </a:ext>
                </a:extLst>
              </p:cNvPr>
              <p:cNvSpPr>
                <a:spLocks noGrp="1"/>
              </p:cNvSpPr>
              <p:nvPr>
                <p:ph sz="half" idx="2"/>
              </p:nvPr>
            </p:nvSpPr>
            <p:spPr/>
            <p:txBody>
              <a:bodyPr/>
              <a:lstStyle/>
              <a:p>
                <a:r>
                  <a:rPr lang="en-GB" sz="2800" noProof="0" dirty="0" err="1"/>
                  <a:t>Wold</a:t>
                </a:r>
                <a:r>
                  <a:rPr lang="en-GB" sz="2800" noProof="0" dirty="0"/>
                  <a:t> representation of an ARMA model</a:t>
                </a:r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m:rPr>
                          <m:sty m:val="p"/>
                        </m:rPr>
                        <a:rPr lang="en-GB" sz="2400" i="1" noProof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Φ</m:t>
                      </m:r>
                      <m:d>
                        <m:dPr>
                          <m:ctrlPr>
                            <a:rPr lang="en-GB" sz="2400" i="1" noProof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2400" i="1" noProof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𝐵</m:t>
                          </m:r>
                        </m:e>
                      </m:d>
                      <m:sSub>
                        <m:sSubPr>
                          <m:ctrlPr>
                            <a:rPr lang="en-GB" sz="2400" i="1" noProof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400" i="1" noProof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GB" sz="2400" i="1" noProof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GB" sz="2400" i="1" noProof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GB" sz="2400" i="1" noProof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Θ</m:t>
                      </m:r>
                      <m:d>
                        <m:dPr>
                          <m:ctrlPr>
                            <a:rPr lang="en-GB" sz="2400" i="1" noProof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2400" i="1" noProof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𝐵</m:t>
                          </m:r>
                        </m:e>
                      </m:d>
                      <m:sSub>
                        <m:sSubPr>
                          <m:ctrlPr>
                            <a:rPr lang="en-GB" sz="2400" i="1" noProof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400" i="1" noProof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𝜀</m:t>
                          </m:r>
                        </m:e>
                        <m:sub>
                          <m:r>
                            <a:rPr lang="en-GB" sz="2400" i="1" noProof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GB" sz="2400" i="1" noProof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⇔</m:t>
                      </m:r>
                      <m:sSub>
                        <m:sSubPr>
                          <m:ctrlPr>
                            <a:rPr lang="en-GB" sz="2400" i="1" noProof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400" i="1" noProof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GB" sz="2400" i="1" noProof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GB" sz="2400" i="1" noProof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GB" sz="2400" i="1" noProof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Ψ</m:t>
                      </m:r>
                      <m:d>
                        <m:dPr>
                          <m:ctrlPr>
                            <a:rPr lang="en-GB" sz="2400" i="1" noProof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2400" i="1" noProof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𝐵</m:t>
                          </m:r>
                        </m:e>
                      </m:d>
                      <m:sSub>
                        <m:sSubPr>
                          <m:ctrlPr>
                            <a:rPr lang="en-GB" sz="2400" i="1" noProof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400" i="1" noProof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𝜀</m:t>
                          </m:r>
                        </m:e>
                        <m:sub>
                          <m:r>
                            <a:rPr lang="en-GB" sz="2400" i="1" noProof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GB" sz="2400" i="1" noProof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</m:t>
                      </m:r>
                      <m:r>
                        <m:rPr>
                          <m:sty m:val="p"/>
                        </m:rPr>
                        <a:rPr lang="en-GB" sz="2400" i="1" noProof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Ψ</m:t>
                      </m:r>
                      <m:d>
                        <m:dPr>
                          <m:ctrlPr>
                            <a:rPr lang="en-GB" sz="2400" i="1" noProof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2400" i="1" noProof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𝐵</m:t>
                          </m:r>
                        </m:e>
                      </m:d>
                      <m:r>
                        <a:rPr lang="en-GB" sz="2400" i="1" noProof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GB" sz="2400" i="1" noProof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en-GB" sz="2400" i="1" noProof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Θ</m:t>
                          </m:r>
                          <m:d>
                            <m:dPr>
                              <m:ctrlPr>
                                <a:rPr lang="en-GB" sz="2400" i="1" noProof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GB" sz="2400" i="1" noProof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e>
                          </m:d>
                        </m:num>
                        <m:den>
                          <m:r>
                            <m:rPr>
                              <m:sty m:val="p"/>
                            </m:rPr>
                            <a:rPr lang="en-GB" sz="2400" i="1" noProof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Φ</m:t>
                          </m:r>
                          <m:d>
                            <m:dPr>
                              <m:ctrlPr>
                                <a:rPr lang="en-GB" sz="2400" i="1" noProof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GB" sz="2400" i="1" noProof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e>
                          </m:d>
                        </m:den>
                      </m:f>
                    </m:oMath>
                  </m:oMathPara>
                </a14:m>
                <a:endParaRPr lang="en-GB" noProof="0" dirty="0"/>
              </a:p>
              <a:p>
                <a:r>
                  <a:rPr lang="en-GB" sz="2800" noProof="0" dirty="0"/>
                  <a:t>Auto-covariance generating function (</a:t>
                </a:r>
                <a:r>
                  <a:rPr lang="en-GB" sz="2800" noProof="0" dirty="0" err="1"/>
                  <a:t>acgf</a:t>
                </a:r>
                <a:r>
                  <a:rPr lang="en-GB" sz="2800" noProof="0" dirty="0"/>
                  <a:t>)</a:t>
                </a:r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a:rPr lang="en-GB" sz="2400" i="1" noProof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𝑎𝑐𝑔𝑓</m:t>
                      </m:r>
                      <m:d>
                        <m:dPr>
                          <m:ctrlPr>
                            <a:rPr lang="en-GB" sz="2400" i="1" noProof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GB" sz="2400" i="1" noProof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2400" i="1" noProof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GB" sz="2400" i="1" noProof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d>
                      <m:r>
                        <a:rPr lang="en-GB" sz="2400" i="1" noProof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GB" sz="2400" i="1" noProof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sz="2400" i="1" noProof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𝜎</m:t>
                          </m:r>
                        </m:e>
                        <m:sup>
                          <m:r>
                            <a:rPr lang="en-GB" sz="2400" i="1" noProof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a:rPr lang="en-GB" sz="2400" i="1" noProof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Ψ</m:t>
                      </m:r>
                      <m:d>
                        <m:dPr>
                          <m:ctrlPr>
                            <a:rPr lang="en-GB" sz="2400" i="1" noProof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2400" i="1" noProof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𝑧</m:t>
                          </m:r>
                        </m:e>
                      </m:d>
                      <m:r>
                        <m:rPr>
                          <m:sty m:val="p"/>
                        </m:rPr>
                        <a:rPr lang="en-GB" sz="2400" i="1" noProof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Ψ</m:t>
                      </m:r>
                      <m:d>
                        <m:dPr>
                          <m:ctrlPr>
                            <a:rPr lang="en-GB" sz="2400" i="1" noProof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GB" sz="2400" i="1" noProof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GB" sz="2400" i="1" noProof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p>
                              <m:r>
                                <a:rPr lang="en-GB" sz="2400" i="1" noProof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−1</m:t>
                              </m:r>
                            </m:sup>
                          </m:sSup>
                        </m:e>
                      </m:d>
                      <m:r>
                        <a:rPr lang="en-GB" sz="2400" i="1" noProof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GB" sz="2400" i="1" noProof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sz="2400" i="1" noProof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𝜎</m:t>
                          </m:r>
                        </m:e>
                        <m:sup>
                          <m:r>
                            <a:rPr lang="en-GB" sz="2400" i="1" noProof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f>
                        <m:fPr>
                          <m:ctrlPr>
                            <a:rPr lang="en-GB" sz="2400" i="1" noProof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en-GB" sz="2400" i="1" noProof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Θ</m:t>
                          </m:r>
                          <m:d>
                            <m:dPr>
                              <m:ctrlPr>
                                <a:rPr lang="en-GB" sz="2400" i="1" noProof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GB" sz="2400" i="1" noProof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𝑧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a:rPr lang="en-GB" sz="2400" i="1" noProof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Θ</m:t>
                          </m:r>
                          <m:d>
                            <m:dPr>
                              <m:ctrlPr>
                                <a:rPr lang="en-GB" sz="2400" i="1" noProof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GB" sz="2400" i="1" noProof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GB" sz="2400" i="1" noProof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𝑧</m:t>
                                  </m:r>
                                </m:e>
                                <m:sup>
                                  <m:r>
                                    <a:rPr lang="en-GB" sz="2400" i="1" noProof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−1</m:t>
                                  </m:r>
                                </m:sup>
                              </m:sSup>
                            </m:e>
                          </m:d>
                        </m:num>
                        <m:den>
                          <m:r>
                            <m:rPr>
                              <m:sty m:val="p"/>
                            </m:rPr>
                            <a:rPr lang="en-GB" sz="2400" i="1" noProof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Φ</m:t>
                          </m:r>
                          <m:d>
                            <m:dPr>
                              <m:ctrlPr>
                                <a:rPr lang="en-GB" sz="2400" i="1" noProof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GB" sz="2400" i="1" noProof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𝑧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a:rPr lang="en-GB" sz="2400" i="1" noProof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Φ</m:t>
                          </m:r>
                          <m:d>
                            <m:dPr>
                              <m:ctrlPr>
                                <a:rPr lang="en-GB" sz="2400" i="1" noProof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GB" sz="2400" i="1" noProof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GB" sz="2400" i="1" noProof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𝑧</m:t>
                                  </m:r>
                                </m:e>
                                <m:sup>
                                  <m:r>
                                    <a:rPr lang="en-GB" sz="2400" i="1" noProof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−1</m:t>
                                  </m:r>
                                </m:sup>
                              </m:sSup>
                            </m:e>
                          </m:d>
                        </m:den>
                      </m:f>
                    </m:oMath>
                  </m:oMathPara>
                </a14:m>
                <a:endParaRPr lang="en-GB" sz="2400" noProof="0" dirty="0"/>
              </a:p>
              <a:p>
                <a:r>
                  <a:rPr lang="en-GB" sz="2800" noProof="0" dirty="0"/>
                  <a:t>Spectrum ≡ Fourier transform of the </a:t>
                </a:r>
                <a:r>
                  <a:rPr lang="en-GB" sz="2800" noProof="0" dirty="0" err="1"/>
                  <a:t>acgf</a:t>
                </a:r>
                <a:endParaRPr lang="en-GB" sz="2800" noProof="0" dirty="0"/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sSub>
                        <m:sSubPr>
                          <m:ctrlPr>
                            <a:rPr lang="en-GB" sz="2400" i="1" noProof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400" i="1" noProof="0">
                              <a:latin typeface="Cambria Math" panose="02040503050406030204" pitchFamily="18" charset="0"/>
                            </a:rPr>
                            <m:t>𝑔</m:t>
                          </m:r>
                        </m:e>
                        <m:sub>
                          <m:r>
                            <a:rPr lang="en-GB" sz="2400" i="1" noProof="0">
                              <a:latin typeface="Cambria Math" panose="02040503050406030204" pitchFamily="18" charset="0"/>
                            </a:rPr>
                            <m:t>𝑦</m:t>
                          </m:r>
                        </m:sub>
                      </m:sSub>
                      <m:d>
                        <m:dPr>
                          <m:ctrlPr>
                            <a:rPr lang="en-GB" sz="2400" i="1" noProof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2400" i="1" noProof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𝜆</m:t>
                          </m:r>
                        </m:e>
                      </m:d>
                      <m:r>
                        <a:rPr lang="en-GB" sz="2400" i="1" noProof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GB" sz="2400" i="1" noProof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GB" sz="2400" i="1" noProof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GB" sz="2400" i="1" noProof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p>
                              <m:r>
                                <a:rPr lang="en-GB" sz="2400" i="1" noProof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a:rPr lang="en-GB" sz="2400" i="1" noProof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  <m:r>
                            <a:rPr lang="en-GB" sz="2400" i="1" noProof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</m:den>
                      </m:f>
                      <m:f>
                        <m:fPr>
                          <m:ctrlPr>
                            <a:rPr lang="en-GB" sz="2400" i="1" noProof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GB" sz="2400" i="1" noProof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GB" sz="2400" i="1" noProof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|</m:t>
                              </m:r>
                              <m:r>
                                <m:rPr>
                                  <m:sty m:val="p"/>
                                </m:rPr>
                                <a:rPr lang="en-GB" sz="2400" i="1" noProof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Θ</m:t>
                              </m:r>
                              <m:d>
                                <m:dPr>
                                  <m:ctrlPr>
                                    <a:rPr lang="en-GB" sz="2400" i="1" noProof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p>
                                    <m:sSupPr>
                                      <m:ctrlPr>
                                        <a:rPr lang="en-GB" sz="2400" i="1" noProof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GB" sz="2400" i="1" noProof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𝑒</m:t>
                                      </m:r>
                                    </m:e>
                                    <m:sup>
                                      <m:r>
                                        <a:rPr lang="en-GB" sz="2400" i="1" noProof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−</m:t>
                                      </m:r>
                                      <m:r>
                                        <a:rPr lang="en-GB" sz="2400" i="1" noProof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𝑖</m:t>
                                      </m:r>
                                      <m:r>
                                        <a:rPr lang="en-GB" sz="2400" i="1" noProof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𝜆</m:t>
                                      </m:r>
                                    </m:sup>
                                  </m:sSup>
                                </m:e>
                              </m:d>
                              <m:r>
                                <a:rPr lang="en-GB" sz="2400" i="1" noProof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|</m:t>
                              </m:r>
                            </m:e>
                            <m:sup>
                              <m:r>
                                <a:rPr lang="en-GB" sz="2400" i="1" noProof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sSup>
                            <m:sSupPr>
                              <m:ctrlPr>
                                <a:rPr lang="en-GB" sz="2400" i="1" noProof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GB" sz="2400" i="1" noProof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|</m:t>
                              </m:r>
                              <m:r>
                                <m:rPr>
                                  <m:sty m:val="p"/>
                                </m:rPr>
                                <a:rPr lang="en-GB" sz="2400" i="1" noProof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Φ</m:t>
                              </m:r>
                              <m:d>
                                <m:dPr>
                                  <m:ctrlPr>
                                    <a:rPr lang="en-GB" sz="2400" i="1" noProof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p>
                                    <m:sSupPr>
                                      <m:ctrlPr>
                                        <a:rPr lang="en-GB" sz="2400" i="1" noProof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GB" sz="2400" i="1" noProof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𝑒</m:t>
                                      </m:r>
                                    </m:e>
                                    <m:sup>
                                      <m:r>
                                        <a:rPr lang="en-GB" sz="2400" i="1" noProof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−</m:t>
                                      </m:r>
                                      <m:r>
                                        <a:rPr lang="en-GB" sz="2400" i="1" noProof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𝑖</m:t>
                                      </m:r>
                                      <m:r>
                                        <a:rPr lang="en-GB" sz="2400" i="1" noProof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𝜆</m:t>
                                      </m:r>
                                    </m:sup>
                                  </m:sSup>
                                </m:e>
                              </m:d>
                              <m:r>
                                <a:rPr lang="en-GB" sz="2400" i="1" noProof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|</m:t>
                              </m:r>
                            </m:e>
                            <m:sup>
                              <m:r>
                                <a:rPr lang="en-GB" sz="2400" i="1" noProof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  <a:endParaRPr lang="en-GB" sz="2400" noProof="0" dirty="0"/>
              </a:p>
              <a:p>
                <a:r>
                  <a:rPr lang="en-GB" sz="2800" noProof="0" dirty="0"/>
                  <a:t>Formal extension to the non-stationary cases</a:t>
                </a:r>
              </a:p>
              <a:p>
                <a:pPr marL="400050" lvl="1" indent="0">
                  <a:buNone/>
                </a:pPr>
                <a:endParaRPr lang="en-GB" sz="2400" noProof="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F6D33AE-12F6-A11E-5128-C85E34F10B7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2"/>
              </p:nvPr>
            </p:nvSpPr>
            <p:spPr>
              <a:blipFill>
                <a:blip r:embed="rId2"/>
                <a:stretch>
                  <a:fillRect l="-754" t="-2216" b="-3781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9FCABBA-2328-ABD9-3553-4266F70387BF}"/>
              </a:ext>
            </a:extLst>
          </p:cNvPr>
          <p:cNvSpPr>
            <a:spLocks noGrp="1"/>
          </p:cNvSpPr>
          <p:nvPr>
            <p:ph type="ftr" sz="quarter" idx="4294967295"/>
          </p:nvPr>
        </p:nvSpPr>
        <p:spPr>
          <a:xfrm>
            <a:off x="0" y="0"/>
            <a:ext cx="0" cy="0"/>
          </a:xfrm>
        </p:spPr>
        <p:txBody>
          <a:bodyPr/>
          <a:lstStyle/>
          <a:p>
            <a:r>
              <a:rPr lang="en-GB" noProof="0" dirty="0"/>
              <a:t>Model-based decomposition</a:t>
            </a:r>
          </a:p>
        </p:txBody>
      </p:sp>
    </p:spTree>
    <p:extLst>
      <p:ext uri="{BB962C8B-B14F-4D97-AF65-F5344CB8AC3E}">
        <p14:creationId xmlns:p14="http://schemas.microsoft.com/office/powerpoint/2010/main" val="359911684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4B90C5-9CDC-143D-F7F1-24620CE504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GB" noProof="0" dirty="0"/>
              <a:t>1. Unobserved components model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558D88C-CAA1-CCF8-0D1A-40139658342B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F12E9969-9346-4095-A7C3-836AAB82C09A}" type="slidenum">
              <a:rPr lang="en-GB" noProof="0" smtClean="0"/>
              <a:t>6</a:t>
            </a:fld>
            <a:endParaRPr lang="en-GB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CBCA052-2B41-8FD2-F520-D0E240556DE1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GB" sz="2800" noProof="0" dirty="0"/>
              <a:t>Principle</a:t>
            </a:r>
          </a:p>
          <a:p>
            <a:pPr lvl="1"/>
            <a:r>
              <a:rPr lang="en-GB" sz="2400" noProof="0" dirty="0"/>
              <a:t>The different components of the series are “defined” by [ARIMA] models</a:t>
            </a:r>
          </a:p>
          <a:p>
            <a:pPr lvl="1"/>
            <a:r>
              <a:rPr lang="en-GB" sz="2400" noProof="0" dirty="0"/>
              <a:t>The components are independent</a:t>
            </a:r>
          </a:p>
          <a:p>
            <a:pPr lvl="1"/>
            <a:r>
              <a:rPr lang="en-GB" sz="2400" noProof="0" dirty="0"/>
              <a:t>The sum of the model of the components is the model of the series</a:t>
            </a:r>
            <a:endParaRPr lang="en-GB" noProof="0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C22AA30-0D7F-CA3D-ABCF-BAD76D1A50F4}"/>
              </a:ext>
            </a:extLst>
          </p:cNvPr>
          <p:cNvSpPr>
            <a:spLocks noGrp="1"/>
          </p:cNvSpPr>
          <p:nvPr>
            <p:ph type="ftr" sz="quarter" idx="4294967295"/>
          </p:nvPr>
        </p:nvSpPr>
        <p:spPr>
          <a:xfrm>
            <a:off x="0" y="0"/>
            <a:ext cx="0" cy="0"/>
          </a:xfrm>
        </p:spPr>
        <p:txBody>
          <a:bodyPr/>
          <a:lstStyle/>
          <a:p>
            <a:r>
              <a:rPr lang="en-GB" noProof="0" dirty="0"/>
              <a:t>Model-based decomposition</a:t>
            </a:r>
          </a:p>
        </p:txBody>
      </p:sp>
    </p:spTree>
    <p:extLst>
      <p:ext uri="{BB962C8B-B14F-4D97-AF65-F5344CB8AC3E}">
        <p14:creationId xmlns:p14="http://schemas.microsoft.com/office/powerpoint/2010/main" val="196487803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noProof="0" dirty="0"/>
              <a:t>1.1 Unobserved components model (STS)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F12E9969-9346-4095-A7C3-836AAB82C09A}" type="slidenum">
              <a:rPr lang="en-GB" noProof="0" smtClean="0"/>
              <a:t>7</a:t>
            </a:fld>
            <a:endParaRPr lang="en-GB" noProof="0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4294967295"/>
          </p:nvPr>
        </p:nvSpPr>
        <p:spPr>
          <a:xfrm>
            <a:off x="0" y="0"/>
            <a:ext cx="0" cy="0"/>
          </a:xfrm>
        </p:spPr>
        <p:txBody>
          <a:bodyPr/>
          <a:lstStyle/>
          <a:p>
            <a:r>
              <a:rPr lang="en-GB" noProof="0" dirty="0"/>
              <a:t>Model-based decomposition</a:t>
            </a:r>
          </a:p>
        </p:txBody>
      </p:sp>
      <p:sp>
        <p:nvSpPr>
          <p:cNvPr id="7" name="Round Diagonal Corner Rectangle 6"/>
          <p:cNvSpPr/>
          <p:nvPr/>
        </p:nvSpPr>
        <p:spPr>
          <a:xfrm>
            <a:off x="2135560" y="1484784"/>
            <a:ext cx="8064896" cy="2088232"/>
          </a:xfrm>
          <a:prstGeom prst="round2Diag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sz="2400" noProof="0" dirty="0"/>
              <a:t>Theoretical model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Rounded Rectangle 8"/>
              <p:cNvSpPr/>
              <p:nvPr/>
            </p:nvSpPr>
            <p:spPr>
              <a:xfrm>
                <a:off x="2423592" y="2141240"/>
                <a:ext cx="1584176" cy="1080120"/>
              </a:xfrm>
              <a:prstGeom prst="roundRect">
                <a:avLst/>
              </a:prstGeom>
              <a:solidFill>
                <a:schemeClr val="tx2"/>
              </a:solidFill>
              <a:ln>
                <a:solidFill>
                  <a:schemeClr val="tx2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noProof="0" dirty="0">
                    <a:solidFill>
                      <a:srgbClr val="002060"/>
                    </a:solidFill>
                  </a:rPr>
                  <a:t>Series(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i="1" noProof="0" smtClean="0">
                            <a:solidFill>
                              <a:srgbClr val="002060"/>
                            </a:solidFill>
                            <a:latin typeface="Cambria Math"/>
                            <a:ea typeface="Cambria Math"/>
                          </a:rPr>
                        </m:ctrlPr>
                      </m:sSubPr>
                      <m:e>
                        <m:r>
                          <a:rPr lang="en-GB" i="1" noProof="0" smtClean="0">
                            <a:solidFill>
                              <a:srgbClr val="002060"/>
                            </a:solidFill>
                            <a:latin typeface="Cambria Math"/>
                            <a:ea typeface="Cambria Math"/>
                          </a:rPr>
                          <m:t>𝜃</m:t>
                        </m:r>
                      </m:e>
                      <m:sub>
                        <m:r>
                          <a:rPr lang="en-GB" i="1" noProof="0" smtClean="0">
                            <a:solidFill>
                              <a:srgbClr val="002060"/>
                            </a:solidFill>
                            <a:latin typeface="Cambria Math"/>
                            <a:ea typeface="Cambria Math"/>
                          </a:rPr>
                          <m:t>𝑇</m:t>
                        </m:r>
                        <m:r>
                          <a:rPr lang="en-GB" i="1" noProof="0" smtClean="0">
                            <a:solidFill>
                              <a:srgbClr val="002060"/>
                            </a:solidFill>
                            <a:latin typeface="Cambria Math"/>
                            <a:ea typeface="Cambria Math"/>
                          </a:rPr>
                          <m:t>,</m:t>
                        </m:r>
                        <m:r>
                          <a:rPr lang="en-GB" i="1" noProof="0" smtClean="0">
                            <a:solidFill>
                              <a:srgbClr val="002060"/>
                            </a:solidFill>
                            <a:latin typeface="Cambria Math"/>
                            <a:ea typeface="Cambria Math"/>
                          </a:rPr>
                          <m:t>𝑆</m:t>
                        </m:r>
                        <m:r>
                          <a:rPr lang="en-GB" i="1" noProof="0" smtClean="0">
                            <a:solidFill>
                              <a:srgbClr val="002060"/>
                            </a:solidFill>
                            <a:latin typeface="Cambria Math"/>
                            <a:ea typeface="Cambria Math"/>
                          </a:rPr>
                          <m:t>,</m:t>
                        </m:r>
                        <m:r>
                          <a:rPr lang="en-GB" i="1" noProof="0" smtClean="0">
                            <a:solidFill>
                              <a:srgbClr val="002060"/>
                            </a:solidFill>
                            <a:latin typeface="Cambria Math"/>
                            <a:ea typeface="Cambria Math"/>
                          </a:rPr>
                          <m:t>𝐼</m:t>
                        </m:r>
                      </m:sub>
                    </m:sSub>
                    <m:r>
                      <a:rPr lang="en-GB" i="1" noProof="0" smtClean="0">
                        <a:solidFill>
                          <a:srgbClr val="002060"/>
                        </a:solidFill>
                        <a:latin typeface="Cambria Math"/>
                        <a:ea typeface="Cambria Math"/>
                      </a:rPr>
                      <m:t>)</m:t>
                    </m:r>
                  </m:oMath>
                </a14:m>
                <a:endParaRPr lang="en-GB" noProof="0" dirty="0">
                  <a:solidFill>
                    <a:srgbClr val="002060"/>
                  </a:solidFill>
                </a:endParaRPr>
              </a:p>
            </p:txBody>
          </p:sp>
        </mc:Choice>
        <mc:Fallback xmlns="">
          <p:sp>
            <p:nvSpPr>
              <p:cNvPr id="9" name="Rounded Rectangle 8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23592" y="2141240"/>
                <a:ext cx="1584176" cy="1080120"/>
              </a:xfrm>
              <a:prstGeom prst="roundRect">
                <a:avLst/>
              </a:prstGeom>
              <a:blipFill>
                <a:blip r:embed="rId2"/>
                <a:stretch>
                  <a:fillRect/>
                </a:stretch>
              </a:blipFill>
              <a:ln>
                <a:solidFill>
                  <a:schemeClr val="tx2"/>
                </a:solidFill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Rounded Rectangle 9"/>
              <p:cNvSpPr/>
              <p:nvPr/>
            </p:nvSpPr>
            <p:spPr>
              <a:xfrm>
                <a:off x="4655841" y="2141240"/>
                <a:ext cx="1566702" cy="1080120"/>
              </a:xfrm>
              <a:prstGeom prst="roundRect">
                <a:avLst/>
              </a:prstGeom>
              <a:solidFill>
                <a:schemeClr val="bg1">
                  <a:lumMod val="95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noProof="0" dirty="0">
                    <a:solidFill>
                      <a:srgbClr val="002060"/>
                    </a:solidFill>
                  </a:rPr>
                  <a:t>Trend(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i="1" noProof="0" smtClean="0">
                            <a:solidFill>
                              <a:srgbClr val="002060"/>
                            </a:solidFill>
                            <a:latin typeface="Cambria Math"/>
                            <a:ea typeface="Cambria Math"/>
                          </a:rPr>
                        </m:ctrlPr>
                      </m:sSubPr>
                      <m:e>
                        <m:r>
                          <a:rPr lang="en-GB" i="1" noProof="0" smtClean="0">
                            <a:solidFill>
                              <a:srgbClr val="002060"/>
                            </a:solidFill>
                            <a:latin typeface="Cambria Math"/>
                            <a:ea typeface="Cambria Math"/>
                          </a:rPr>
                          <m:t>𝜃</m:t>
                        </m:r>
                      </m:e>
                      <m:sub>
                        <m:r>
                          <a:rPr lang="en-GB" i="1" noProof="0" smtClean="0">
                            <a:solidFill>
                              <a:srgbClr val="002060"/>
                            </a:solidFill>
                            <a:latin typeface="Cambria Math"/>
                            <a:ea typeface="Cambria Math"/>
                          </a:rPr>
                          <m:t>𝑇</m:t>
                        </m:r>
                      </m:sub>
                    </m:sSub>
                    <m:r>
                      <a:rPr lang="en-GB" i="1" noProof="0" smtClean="0">
                        <a:solidFill>
                          <a:srgbClr val="002060"/>
                        </a:solidFill>
                        <a:latin typeface="Cambria Math"/>
                        <a:ea typeface="Cambria Math"/>
                      </a:rPr>
                      <m:t>)</m:t>
                    </m:r>
                  </m:oMath>
                </a14:m>
                <a:endParaRPr lang="en-GB" noProof="0" dirty="0">
                  <a:solidFill>
                    <a:srgbClr val="002060"/>
                  </a:solidFill>
                </a:endParaRPr>
              </a:p>
            </p:txBody>
          </p:sp>
        </mc:Choice>
        <mc:Fallback xmlns="">
          <p:sp>
            <p:nvSpPr>
              <p:cNvPr id="10" name="Rounded Rectangle 9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55841" y="2141240"/>
                <a:ext cx="1566702" cy="1080120"/>
              </a:xfrm>
              <a:prstGeom prst="round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Rounded Rectangle 12"/>
              <p:cNvSpPr/>
              <p:nvPr/>
            </p:nvSpPr>
            <p:spPr>
              <a:xfrm>
                <a:off x="6612394" y="2141240"/>
                <a:ext cx="1571839" cy="1080120"/>
              </a:xfrm>
              <a:prstGeom prst="roundRect">
                <a:avLst/>
              </a:prstGeom>
              <a:solidFill>
                <a:schemeClr val="bg1">
                  <a:lumMod val="95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noProof="0" dirty="0">
                    <a:solidFill>
                      <a:srgbClr val="002060"/>
                    </a:solidFill>
                  </a:rPr>
                  <a:t>Seasonal(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i="1" noProof="0" smtClean="0">
                            <a:solidFill>
                              <a:srgbClr val="002060"/>
                            </a:solidFill>
                            <a:latin typeface="Cambria Math"/>
                            <a:ea typeface="Cambria Math"/>
                          </a:rPr>
                        </m:ctrlPr>
                      </m:sSubPr>
                      <m:e>
                        <m:r>
                          <a:rPr lang="en-GB" i="1" noProof="0" smtClean="0">
                            <a:solidFill>
                              <a:srgbClr val="002060"/>
                            </a:solidFill>
                            <a:latin typeface="Cambria Math"/>
                            <a:ea typeface="Cambria Math"/>
                          </a:rPr>
                          <m:t>𝜃</m:t>
                        </m:r>
                      </m:e>
                      <m:sub>
                        <m:r>
                          <a:rPr lang="en-GB" i="1" noProof="0" smtClean="0">
                            <a:solidFill>
                              <a:srgbClr val="002060"/>
                            </a:solidFill>
                            <a:latin typeface="Cambria Math"/>
                            <a:ea typeface="Cambria Math"/>
                          </a:rPr>
                          <m:t>𝑆</m:t>
                        </m:r>
                      </m:sub>
                    </m:sSub>
                    <m:r>
                      <a:rPr lang="en-GB" i="1" noProof="0" smtClean="0">
                        <a:solidFill>
                          <a:srgbClr val="002060"/>
                        </a:solidFill>
                        <a:latin typeface="Cambria Math"/>
                        <a:ea typeface="Cambria Math"/>
                      </a:rPr>
                      <m:t>)</m:t>
                    </m:r>
                  </m:oMath>
                </a14:m>
                <a:endParaRPr lang="en-GB" noProof="0" dirty="0">
                  <a:solidFill>
                    <a:srgbClr val="002060"/>
                  </a:solidFill>
                </a:endParaRPr>
              </a:p>
            </p:txBody>
          </p:sp>
        </mc:Choice>
        <mc:Fallback xmlns="">
          <p:sp>
            <p:nvSpPr>
              <p:cNvPr id="13" name="Rounded Rectangle 12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12394" y="2141240"/>
                <a:ext cx="1571839" cy="1080120"/>
              </a:xfrm>
              <a:prstGeom prst="round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Rounded Rectangle 13"/>
              <p:cNvSpPr/>
              <p:nvPr/>
            </p:nvSpPr>
            <p:spPr>
              <a:xfrm>
                <a:off x="8574082" y="2141240"/>
                <a:ext cx="1554366" cy="1080120"/>
              </a:xfrm>
              <a:prstGeom prst="roundRect">
                <a:avLst/>
              </a:prstGeom>
              <a:solidFill>
                <a:schemeClr val="bg1">
                  <a:lumMod val="95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noProof="0" dirty="0">
                    <a:solidFill>
                      <a:srgbClr val="002060"/>
                    </a:solidFill>
                  </a:rPr>
                  <a:t>Irregular(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i="1" noProof="0" smtClean="0">
                            <a:solidFill>
                              <a:srgbClr val="002060"/>
                            </a:solidFill>
                            <a:latin typeface="Cambria Math"/>
                            <a:ea typeface="Cambria Math"/>
                          </a:rPr>
                        </m:ctrlPr>
                      </m:sSubPr>
                      <m:e>
                        <m:r>
                          <a:rPr lang="en-GB" i="1" noProof="0" smtClean="0">
                            <a:solidFill>
                              <a:srgbClr val="002060"/>
                            </a:solidFill>
                            <a:latin typeface="Cambria Math"/>
                            <a:ea typeface="Cambria Math"/>
                          </a:rPr>
                          <m:t>𝜃</m:t>
                        </m:r>
                      </m:e>
                      <m:sub>
                        <m:r>
                          <a:rPr lang="en-GB" i="1" noProof="0" smtClean="0">
                            <a:solidFill>
                              <a:srgbClr val="002060"/>
                            </a:solidFill>
                            <a:latin typeface="Cambria Math"/>
                            <a:ea typeface="Cambria Math"/>
                          </a:rPr>
                          <m:t>𝐼</m:t>
                        </m:r>
                      </m:sub>
                    </m:sSub>
                    <m:r>
                      <a:rPr lang="en-GB" i="1" noProof="0" smtClean="0">
                        <a:solidFill>
                          <a:srgbClr val="002060"/>
                        </a:solidFill>
                        <a:latin typeface="Cambria Math"/>
                        <a:ea typeface="Cambria Math"/>
                      </a:rPr>
                      <m:t>)</m:t>
                    </m:r>
                  </m:oMath>
                </a14:m>
                <a:endParaRPr lang="en-GB" noProof="0" dirty="0">
                  <a:solidFill>
                    <a:srgbClr val="002060"/>
                  </a:solidFill>
                </a:endParaRPr>
              </a:p>
            </p:txBody>
          </p:sp>
        </mc:Choice>
        <mc:Fallback xmlns="">
          <p:sp>
            <p:nvSpPr>
              <p:cNvPr id="14" name="Rounded Rectangle 13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74082" y="2141240"/>
                <a:ext cx="1554366" cy="1080120"/>
              </a:xfrm>
              <a:prstGeom prst="round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" name="TextBox 14"/>
          <p:cNvSpPr txBox="1"/>
          <p:nvPr/>
        </p:nvSpPr>
        <p:spPr>
          <a:xfrm>
            <a:off x="4033291" y="2401324"/>
            <a:ext cx="66556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noProof="0" dirty="0">
                <a:solidFill>
                  <a:srgbClr val="FF0000"/>
                </a:solidFill>
              </a:rPr>
              <a:t>&lt;</a:t>
            </a:r>
            <a:r>
              <a:rPr lang="en-GB" sz="3200" noProof="0" dirty="0">
                <a:solidFill>
                  <a:schemeClr val="bg1"/>
                </a:solidFill>
              </a:rPr>
              <a:t>=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04910" y="2401325"/>
            <a:ext cx="42511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noProof="0" dirty="0">
                <a:solidFill>
                  <a:schemeClr val="bg1"/>
                </a:solidFill>
              </a:rPr>
              <a:t>+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66599" y="2401325"/>
            <a:ext cx="42511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noProof="0" dirty="0">
                <a:solidFill>
                  <a:schemeClr val="bg1"/>
                </a:solidFill>
              </a:rPr>
              <a:t>+</a:t>
            </a:r>
          </a:p>
        </p:txBody>
      </p:sp>
      <p:sp>
        <p:nvSpPr>
          <p:cNvPr id="18" name="Oval 17"/>
          <p:cNvSpPr/>
          <p:nvPr/>
        </p:nvSpPr>
        <p:spPr>
          <a:xfrm>
            <a:off x="6413842" y="3926129"/>
            <a:ext cx="2160240" cy="936104"/>
          </a:xfrm>
          <a:prstGeom prst="ellipse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noProof="0" dirty="0"/>
              <a:t>Independent</a:t>
            </a:r>
          </a:p>
        </p:txBody>
      </p:sp>
      <p:cxnSp>
        <p:nvCxnSpPr>
          <p:cNvPr id="20" name="Straight Arrow Connector 19"/>
          <p:cNvCxnSpPr>
            <a:stCxn id="18" idx="1"/>
            <a:endCxn id="10" idx="2"/>
          </p:cNvCxnSpPr>
          <p:nvPr/>
        </p:nvCxnSpPr>
        <p:spPr>
          <a:xfrm flipH="1" flipV="1">
            <a:off x="5439192" y="3221360"/>
            <a:ext cx="1291010" cy="841858"/>
          </a:xfrm>
          <a:prstGeom prst="straightConnector1">
            <a:avLst/>
          </a:prstGeom>
          <a:ln>
            <a:tailEnd type="arrow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21" name="Straight Arrow Connector 20"/>
          <p:cNvCxnSpPr>
            <a:stCxn id="18" idx="0"/>
            <a:endCxn id="13" idx="2"/>
          </p:cNvCxnSpPr>
          <p:nvPr/>
        </p:nvCxnSpPr>
        <p:spPr>
          <a:xfrm flipH="1" flipV="1">
            <a:off x="7398314" y="3221361"/>
            <a:ext cx="95649" cy="704769"/>
          </a:xfrm>
          <a:prstGeom prst="straightConnector1">
            <a:avLst/>
          </a:prstGeom>
          <a:ln>
            <a:tailEnd type="arrow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22" name="Straight Arrow Connector 21"/>
          <p:cNvCxnSpPr>
            <a:stCxn id="18" idx="7"/>
            <a:endCxn id="14" idx="2"/>
          </p:cNvCxnSpPr>
          <p:nvPr/>
        </p:nvCxnSpPr>
        <p:spPr>
          <a:xfrm flipV="1">
            <a:off x="8257723" y="3221360"/>
            <a:ext cx="1093543" cy="841858"/>
          </a:xfrm>
          <a:prstGeom prst="straightConnector1">
            <a:avLst/>
          </a:prstGeom>
          <a:ln>
            <a:tailEnd type="arrow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36" name="Rounded Rectangle 35"/>
          <p:cNvSpPr/>
          <p:nvPr/>
        </p:nvSpPr>
        <p:spPr>
          <a:xfrm>
            <a:off x="2423592" y="4862233"/>
            <a:ext cx="1584176" cy="1080120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GB" noProof="0" dirty="0">
                <a:solidFill>
                  <a:srgbClr val="002060"/>
                </a:solidFill>
              </a:rPr>
              <a:t>Observed time series</a:t>
            </a:r>
          </a:p>
        </p:txBody>
      </p:sp>
      <p:cxnSp>
        <p:nvCxnSpPr>
          <p:cNvPr id="38" name="Straight Arrow Connector 37"/>
          <p:cNvCxnSpPr>
            <a:stCxn id="36" idx="0"/>
            <a:endCxn id="9" idx="2"/>
          </p:cNvCxnSpPr>
          <p:nvPr/>
        </p:nvCxnSpPr>
        <p:spPr>
          <a:xfrm flipV="1">
            <a:off x="3215680" y="3221361"/>
            <a:ext cx="0" cy="1640873"/>
          </a:xfrm>
          <a:prstGeom prst="straightConnector1">
            <a:avLst/>
          </a:prstGeom>
          <a:ln>
            <a:tailEnd type="arrow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9" name="TextBox 38"/>
              <p:cNvSpPr txBox="1"/>
              <p:nvPr/>
            </p:nvSpPr>
            <p:spPr>
              <a:xfrm>
                <a:off x="3287688" y="4203649"/>
                <a:ext cx="611706" cy="33124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GB" i="1" noProof="0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Cambria Math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en-GB" i="1" noProof="0" smtClean="0">
                                  <a:solidFill>
                                    <a:srgbClr val="002060"/>
                                  </a:solidFill>
                                  <a:latin typeface="Cambria Math"/>
                                  <a:ea typeface="Cambria Math"/>
                                </a:rPr>
                              </m:ctrlPr>
                            </m:accPr>
                            <m:e>
                              <m:r>
                                <a:rPr lang="en-GB" i="1" noProof="0" smtClean="0">
                                  <a:solidFill>
                                    <a:srgbClr val="002060"/>
                                  </a:solidFill>
                                  <a:latin typeface="Cambria Math"/>
                                  <a:ea typeface="Cambria Math"/>
                                </a:rPr>
                                <m:t>𝜃</m:t>
                              </m:r>
                            </m:e>
                          </m:acc>
                        </m:e>
                        <m:sub>
                          <m:r>
                            <a:rPr lang="en-GB" i="1" noProof="0" smtClean="0">
                              <a:solidFill>
                                <a:srgbClr val="002060"/>
                              </a:solidFill>
                              <a:latin typeface="Cambria Math"/>
                              <a:ea typeface="Cambria Math"/>
                            </a:rPr>
                            <m:t>𝑇</m:t>
                          </m:r>
                          <m:r>
                            <a:rPr lang="en-GB" i="1" noProof="0" smtClean="0">
                              <a:solidFill>
                                <a:srgbClr val="002060"/>
                              </a:solidFill>
                              <a:latin typeface="Cambria Math"/>
                              <a:ea typeface="Cambria Math"/>
                            </a:rPr>
                            <m:t>,</m:t>
                          </m:r>
                          <m:r>
                            <a:rPr lang="en-GB" i="1" noProof="0" smtClean="0">
                              <a:solidFill>
                                <a:srgbClr val="002060"/>
                              </a:solidFill>
                              <a:latin typeface="Cambria Math"/>
                              <a:ea typeface="Cambria Math"/>
                            </a:rPr>
                            <m:t>𝑆</m:t>
                          </m:r>
                          <m:r>
                            <a:rPr lang="en-GB" i="1" noProof="0" smtClean="0">
                              <a:solidFill>
                                <a:srgbClr val="002060"/>
                              </a:solidFill>
                              <a:latin typeface="Cambria Math"/>
                              <a:ea typeface="Cambria Math"/>
                            </a:rPr>
                            <m:t>,</m:t>
                          </m:r>
                          <m:r>
                            <a:rPr lang="en-GB" i="1" noProof="0" smtClean="0">
                              <a:solidFill>
                                <a:srgbClr val="002060"/>
                              </a:solidFill>
                              <a:latin typeface="Cambria Math"/>
                              <a:ea typeface="Cambria Math"/>
                            </a:rPr>
                            <m:t>𝐼</m:t>
                          </m:r>
                        </m:sub>
                      </m:sSub>
                    </m:oMath>
                  </m:oMathPara>
                </a14:m>
                <a:endParaRPr lang="en-GB" noProof="0" dirty="0"/>
              </a:p>
            </p:txBody>
          </p:sp>
        </mc:Choice>
        <mc:Fallback xmlns="">
          <p:sp>
            <p:nvSpPr>
              <p:cNvPr id="39" name="TextBox 3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87688" y="4203649"/>
                <a:ext cx="611706" cy="331245"/>
              </a:xfrm>
              <a:prstGeom prst="rect">
                <a:avLst/>
              </a:prstGeom>
              <a:blipFill>
                <a:blip r:embed="rId6"/>
                <a:stretch>
                  <a:fillRect t="-1852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08175015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507380-8B82-F603-4B42-22E76D7276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1.1.1 Basic structural model (STS)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617FDA8-BE14-84F4-5E9B-402CE3A43F05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F12E9969-9346-4095-A7C3-836AAB82C09A}" type="slidenum">
              <a:rPr lang="en-GB" noProof="0" smtClean="0"/>
              <a:t>8</a:t>
            </a:fld>
            <a:endParaRPr lang="en-GB" noProof="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CBB3A84-F102-062D-4C00-3FAA34DD0167}"/>
                  </a:ext>
                </a:extLst>
              </p:cNvPr>
              <p:cNvSpPr>
                <a:spLocks noGrp="1"/>
              </p:cNvSpPr>
              <p:nvPr>
                <p:ph sz="half" idx="2"/>
              </p:nvPr>
            </p:nvSpPr>
            <p:spPr>
              <a:xfrm>
                <a:off x="970722" y="1350336"/>
                <a:ext cx="10515597" cy="4745792"/>
              </a:xfrm>
            </p:spPr>
            <p:txBody>
              <a:bodyPr/>
              <a:lstStyle/>
              <a:p>
                <a:r>
                  <a:rPr lang="en-GB" sz="2400" noProof="0" dirty="0"/>
                  <a:t>Local linear trend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sz="3600" i="1" noProof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3600" i="1" noProof="0" smtClean="0">
                            <a:latin typeface="Cambria Math" panose="02040503050406030204" pitchFamily="18" charset="0"/>
                          </a:rPr>
                          <m:t>𝑙</m:t>
                        </m:r>
                      </m:e>
                      <m:sub>
                        <m:r>
                          <a:rPr lang="en-GB" sz="3600" i="1" noProof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GB" sz="2400" noProof="0" dirty="0"/>
                  <a:t>)</a:t>
                </a:r>
              </a:p>
              <a:p>
                <a:pPr marL="800100" lvl="2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a:rPr lang="en-GB" sz="3200" i="1" noProof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∆</m:t>
                      </m:r>
                      <m:sSub>
                        <m:sSubPr>
                          <m:ctrlPr>
                            <a:rPr lang="en-GB" sz="3200" i="1" noProof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3200" i="1" noProof="0" smtClean="0">
                              <a:latin typeface="Cambria Math" panose="02040503050406030204" pitchFamily="18" charset="0"/>
                            </a:rPr>
                            <m:t>𝑙</m:t>
                          </m:r>
                        </m:e>
                        <m:sub>
                          <m:r>
                            <a:rPr lang="en-GB" sz="3200" i="1" noProof="0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GB" sz="3200" i="1" noProof="0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GB" sz="3200" i="1" noProof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3200" i="1" noProof="0" smtClean="0"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en-GB" sz="3200" i="1" noProof="0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GB" sz="3200" i="1" noProof="0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GB" sz="3200" i="1" noProof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3200" i="1" noProof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𝜇</m:t>
                          </m:r>
                        </m:e>
                        <m:sub>
                          <m:r>
                            <a:rPr lang="en-GB" sz="3200" i="1" noProof="0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GB" sz="3200" i="1" noProof="0" smtClean="0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GB" sz="3200" i="1" noProof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3200" i="1" noProof="0" smtClean="0">
                              <a:latin typeface="Cambria Math" panose="02040503050406030204" pitchFamily="18" charset="0"/>
                            </a:rPr>
                            <m:t>    </m:t>
                          </m:r>
                          <m:r>
                            <a:rPr lang="en-GB" sz="3200" i="1" noProof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𝜇</m:t>
                          </m:r>
                        </m:e>
                        <m:sub>
                          <m:r>
                            <a:rPr lang="en-GB" sz="3200" i="1" noProof="0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GB" sz="3200" i="1" noProof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~</m:t>
                      </m:r>
                      <m:r>
                        <a:rPr lang="en-GB" sz="3200" i="1" noProof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𝑁</m:t>
                      </m:r>
                      <m:r>
                        <a:rPr lang="en-GB" sz="3200" i="1" noProof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(0, </m:t>
                      </m:r>
                      <m:sSubSup>
                        <m:sSubSupPr>
                          <m:ctrlPr>
                            <a:rPr lang="en-GB" sz="3200" b="1" i="1" noProof="0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GB" sz="3200" b="1" i="1" noProof="0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𝝈</m:t>
                          </m:r>
                        </m:e>
                        <m:sub>
                          <m:r>
                            <a:rPr lang="en-GB" sz="3200" b="1" i="1" noProof="0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𝝁</m:t>
                          </m:r>
                        </m:sub>
                        <m:sup>
                          <m:r>
                            <a:rPr lang="en-GB" sz="3200" b="1" i="1" noProof="0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𝟐</m:t>
                          </m:r>
                        </m:sup>
                      </m:sSubSup>
                      <m:r>
                        <a:rPr lang="en-GB" sz="3200" i="1" noProof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GB" sz="3200" noProof="0" dirty="0"/>
              </a:p>
              <a:p>
                <a:pPr marL="800100" lvl="2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a:rPr lang="en-GB" sz="3200" i="1" noProof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∆</m:t>
                      </m:r>
                      <m:sSub>
                        <m:sSubPr>
                          <m:ctrlPr>
                            <a:rPr lang="en-GB" sz="3200" i="1" noProof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3200" i="1" noProof="0" smtClean="0"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en-GB" sz="3200" i="1" noProof="0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GB" sz="3200" i="1" noProof="0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GB" sz="3200" i="1" noProof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3200" i="1" noProof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𝜈</m:t>
                          </m:r>
                        </m:e>
                        <m:sub>
                          <m:r>
                            <a:rPr lang="en-GB" sz="3200" i="1" noProof="0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GB" sz="3200" i="1" noProof="0" smtClean="0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GB" sz="3200" i="1" noProof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3200" i="1" noProof="0" smtClean="0">
                              <a:latin typeface="Cambria Math" panose="02040503050406030204" pitchFamily="18" charset="0"/>
                            </a:rPr>
                            <m:t>    </m:t>
                          </m:r>
                          <m:r>
                            <a:rPr lang="en-GB" sz="3200" i="1" noProof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𝜈</m:t>
                          </m:r>
                        </m:e>
                        <m:sub>
                          <m:r>
                            <a:rPr lang="en-GB" sz="3200" i="1" noProof="0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GB" sz="3200" i="1" noProof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~</m:t>
                      </m:r>
                      <m:r>
                        <a:rPr lang="en-GB" sz="3200" i="1" noProof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𝑁</m:t>
                      </m:r>
                      <m:r>
                        <a:rPr lang="en-GB" sz="3200" i="1" noProof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(0, </m:t>
                      </m:r>
                      <m:sSubSup>
                        <m:sSubSupPr>
                          <m:ctrlPr>
                            <a:rPr lang="en-GB" sz="3200" b="1" i="1" noProof="0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GB" sz="3200" b="1" i="1" noProof="0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𝝈</m:t>
                          </m:r>
                        </m:e>
                        <m:sub>
                          <m:r>
                            <a:rPr lang="en-GB" sz="3200" b="1" i="1" noProof="0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𝝂</m:t>
                          </m:r>
                        </m:sub>
                        <m:sup>
                          <m:r>
                            <a:rPr lang="en-GB" sz="3200" b="1" i="1" noProof="0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𝟐</m:t>
                          </m:r>
                        </m:sup>
                      </m:sSubSup>
                      <m:r>
                        <a:rPr lang="en-GB" sz="3200" i="1" noProof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GB" sz="3200" noProof="0" dirty="0"/>
              </a:p>
              <a:p>
                <a:r>
                  <a:rPr lang="en-GB" sz="2400" noProof="0" dirty="0"/>
                  <a:t>Seasonal component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sz="2400" i="1" noProof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2400" i="1" noProof="0" smtClean="0"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  <m:sub>
                        <m:r>
                          <a:rPr lang="en-GB" sz="2400" i="1" noProof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GB" sz="2400" noProof="0" dirty="0"/>
                  <a:t>)</a:t>
                </a:r>
                <a:r>
                  <a:rPr lang="en-GB" sz="2400" i="1" noProof="0" dirty="0"/>
                  <a:t>(dummy model)</a:t>
                </a:r>
              </a:p>
              <a:p>
                <a:pPr marL="800100" lvl="2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sSub>
                        <m:sSubPr>
                          <m:ctrlPr>
                            <a:rPr lang="en-GB" sz="3200" i="1" noProof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3200" i="1" noProof="0" smtClean="0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GB" sz="3200" i="1" noProof="0" smtClean="0">
                              <a:latin typeface="Cambria Math" panose="02040503050406030204" pitchFamily="18" charset="0"/>
                            </a:rPr>
                            <m:t>𝑓</m:t>
                          </m:r>
                        </m:sub>
                      </m:sSub>
                      <m:sSub>
                        <m:sSubPr>
                          <m:ctrlPr>
                            <a:rPr lang="en-GB" sz="3200" i="1" noProof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3200" i="1" noProof="0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GB" sz="3200" i="1" noProof="0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GB" sz="3200" i="1" noProof="0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GB" sz="3200" i="1" noProof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3200" i="1" noProof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𝛾</m:t>
                          </m:r>
                        </m:e>
                        <m:sub>
                          <m:r>
                            <a:rPr lang="en-GB" sz="3200" i="1" noProof="0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GB" sz="3200" i="1" noProof="0" smtClean="0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GB" sz="3200" i="1" noProof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3200" i="1" noProof="0" smtClean="0">
                              <a:latin typeface="Cambria Math" panose="02040503050406030204" pitchFamily="18" charset="0"/>
                            </a:rPr>
                            <m:t>    </m:t>
                          </m:r>
                          <m:r>
                            <a:rPr lang="en-GB" sz="3200" i="1" noProof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𝛾</m:t>
                          </m:r>
                        </m:e>
                        <m:sub>
                          <m:r>
                            <a:rPr lang="en-GB" sz="3200" i="1" noProof="0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GB" sz="3200" i="1" noProof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~</m:t>
                      </m:r>
                      <m:r>
                        <a:rPr lang="en-GB" sz="3200" i="1" noProof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𝑁</m:t>
                      </m:r>
                      <m:r>
                        <a:rPr lang="en-GB" sz="3200" i="1" noProof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(0, </m:t>
                      </m:r>
                      <m:sSubSup>
                        <m:sSubSupPr>
                          <m:ctrlPr>
                            <a:rPr lang="en-GB" sz="3200" b="1" i="1" noProof="0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GB" sz="3200" b="1" i="1" noProof="0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𝝈</m:t>
                          </m:r>
                        </m:e>
                        <m:sub>
                          <m:r>
                            <a:rPr lang="en-GB" sz="3200" b="1" i="1" noProof="0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𝜸</m:t>
                          </m:r>
                        </m:sub>
                        <m:sup>
                          <m:r>
                            <a:rPr lang="en-GB" sz="3200" b="1" i="1" noProof="0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𝟐</m:t>
                          </m:r>
                        </m:sup>
                      </m:sSubSup>
                      <m:r>
                        <a:rPr lang="en-GB" sz="3200" i="1" noProof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GB" sz="3200" noProof="0" dirty="0"/>
              </a:p>
              <a:p>
                <a:r>
                  <a:rPr lang="en-GB" sz="2400" noProof="0" dirty="0"/>
                  <a:t>Noise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sz="3600" i="1" noProof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3600" i="1" noProof="0" smtClean="0"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  <m:sub>
                        <m:r>
                          <a:rPr lang="en-GB" sz="3600" i="1" noProof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GB" sz="2400" noProof="0" dirty="0"/>
                  <a:t>)</a:t>
                </a:r>
              </a:p>
              <a:p>
                <a:pPr marL="800100" lvl="2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sSub>
                        <m:sSubPr>
                          <m:ctrlPr>
                            <a:rPr lang="en-GB" sz="3200" i="1" noProof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3200" i="1" noProof="0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en-GB" sz="3200" i="1" noProof="0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GB" sz="3200" i="1" noProof="0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GB" sz="3200" i="1" noProof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3200" i="1" noProof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𝜀</m:t>
                          </m:r>
                        </m:e>
                        <m:sub>
                          <m:r>
                            <a:rPr lang="en-GB" sz="3200" i="1" noProof="0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GB" sz="3200" i="1" noProof="0" smtClean="0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GB" sz="3200" i="1" noProof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3200" i="1" noProof="0" smtClean="0">
                              <a:latin typeface="Cambria Math" panose="02040503050406030204" pitchFamily="18" charset="0"/>
                            </a:rPr>
                            <m:t>    </m:t>
                          </m:r>
                          <m:r>
                            <a:rPr lang="en-GB" sz="3200" i="1" noProof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𝜀</m:t>
                          </m:r>
                        </m:e>
                        <m:sub>
                          <m:r>
                            <a:rPr lang="en-GB" sz="3200" i="1" noProof="0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GB" sz="3200" i="1" noProof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~</m:t>
                      </m:r>
                      <m:r>
                        <a:rPr lang="en-GB" sz="3200" i="1" noProof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𝑁</m:t>
                      </m:r>
                      <m:r>
                        <a:rPr lang="en-GB" sz="3200" i="1" noProof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(0, </m:t>
                      </m:r>
                      <m:sSubSup>
                        <m:sSubSupPr>
                          <m:ctrlPr>
                            <a:rPr lang="en-GB" sz="3200" b="1" i="1" noProof="0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GB" sz="3200" b="1" i="1" noProof="0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𝝈</m:t>
                          </m:r>
                        </m:e>
                        <m:sub>
                          <m:r>
                            <a:rPr lang="en-GB" sz="3200" b="1" i="1" noProof="0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𝜺</m:t>
                          </m:r>
                        </m:sub>
                        <m:sup>
                          <m:r>
                            <a:rPr lang="en-GB" sz="3200" b="1" i="1" noProof="0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𝟐</m:t>
                          </m:r>
                        </m:sup>
                      </m:sSubSup>
                      <m:r>
                        <a:rPr lang="en-GB" sz="3200" i="1" noProof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GB" sz="1800" noProof="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CBB3A84-F102-062D-4C00-3FAA34DD016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2"/>
              </p:nvPr>
            </p:nvSpPr>
            <p:spPr>
              <a:xfrm>
                <a:off x="970722" y="1350336"/>
                <a:ext cx="10515597" cy="4745792"/>
              </a:xfrm>
              <a:blipFill>
                <a:blip r:embed="rId2"/>
                <a:stretch>
                  <a:fillRect l="-754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ED6DB1B-DBD8-BAAF-AD9D-977B0D3C6D21}"/>
              </a:ext>
            </a:extLst>
          </p:cNvPr>
          <p:cNvSpPr>
            <a:spLocks noGrp="1"/>
          </p:cNvSpPr>
          <p:nvPr>
            <p:ph type="ftr" sz="quarter" idx="4294967295"/>
          </p:nvPr>
        </p:nvSpPr>
        <p:spPr>
          <a:xfrm>
            <a:off x="0" y="0"/>
            <a:ext cx="0" cy="0"/>
          </a:xfrm>
        </p:spPr>
        <p:txBody>
          <a:bodyPr/>
          <a:lstStyle/>
          <a:p>
            <a:r>
              <a:rPr lang="en-GB" noProof="0" dirty="0"/>
              <a:t>Model-based decomposition</a:t>
            </a:r>
          </a:p>
        </p:txBody>
      </p:sp>
    </p:spTree>
    <p:extLst>
      <p:ext uri="{BB962C8B-B14F-4D97-AF65-F5344CB8AC3E}">
        <p14:creationId xmlns:p14="http://schemas.microsoft.com/office/powerpoint/2010/main" val="79204587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noProof="0" dirty="0"/>
              <a:t>1.2 Unobserved components model (AMB)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F12E9969-9346-4095-A7C3-836AAB82C09A}" type="slidenum">
              <a:rPr lang="en-GB" noProof="0" smtClean="0"/>
              <a:t>9</a:t>
            </a:fld>
            <a:endParaRPr lang="en-GB" noProof="0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4294967295"/>
          </p:nvPr>
        </p:nvSpPr>
        <p:spPr>
          <a:xfrm>
            <a:off x="0" y="0"/>
            <a:ext cx="0" cy="0"/>
          </a:xfrm>
        </p:spPr>
        <p:txBody>
          <a:bodyPr/>
          <a:lstStyle/>
          <a:p>
            <a:r>
              <a:rPr lang="en-GB" noProof="0" dirty="0"/>
              <a:t>Model-based decomposition</a:t>
            </a:r>
          </a:p>
        </p:txBody>
      </p:sp>
      <p:sp>
        <p:nvSpPr>
          <p:cNvPr id="7" name="Round Diagonal Corner Rectangle 6"/>
          <p:cNvSpPr/>
          <p:nvPr/>
        </p:nvSpPr>
        <p:spPr>
          <a:xfrm>
            <a:off x="2135560" y="1484784"/>
            <a:ext cx="8064896" cy="2088232"/>
          </a:xfrm>
          <a:prstGeom prst="round2Diag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sz="2400" noProof="0" dirty="0"/>
              <a:t>Theoretical model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Rounded Rectangle 8"/>
              <p:cNvSpPr/>
              <p:nvPr/>
            </p:nvSpPr>
            <p:spPr>
              <a:xfrm>
                <a:off x="2423592" y="2141240"/>
                <a:ext cx="1584176" cy="1080120"/>
              </a:xfrm>
              <a:prstGeom prst="roundRect">
                <a:avLst/>
              </a:prstGeom>
              <a:solidFill>
                <a:schemeClr val="tx2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noProof="0" dirty="0">
                    <a:solidFill>
                      <a:srgbClr val="002060"/>
                    </a:solidFill>
                  </a:rPr>
                  <a:t>Series(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i="1" noProof="0" smtClean="0">
                            <a:solidFill>
                              <a:srgbClr val="002060"/>
                            </a:solidFill>
                            <a:latin typeface="Cambria Math"/>
                            <a:ea typeface="Cambria Math"/>
                          </a:rPr>
                        </m:ctrlPr>
                      </m:sSubPr>
                      <m:e>
                        <m:r>
                          <a:rPr lang="en-GB" i="1" noProof="0" smtClean="0">
                            <a:solidFill>
                              <a:srgbClr val="002060"/>
                            </a:solidFill>
                            <a:latin typeface="Cambria Math"/>
                            <a:ea typeface="Cambria Math"/>
                          </a:rPr>
                          <m:t>𝜃</m:t>
                        </m:r>
                      </m:e>
                      <m:sub>
                        <m:r>
                          <a:rPr lang="en-GB" i="1" noProof="0" smtClean="0">
                            <a:solidFill>
                              <a:srgbClr val="002060"/>
                            </a:solidFill>
                            <a:latin typeface="Cambria Math"/>
                            <a:ea typeface="Cambria Math"/>
                          </a:rPr>
                          <m:t>𝑌</m:t>
                        </m:r>
                      </m:sub>
                    </m:sSub>
                    <m:r>
                      <a:rPr lang="en-GB" i="1" noProof="0" smtClean="0">
                        <a:solidFill>
                          <a:srgbClr val="002060"/>
                        </a:solidFill>
                        <a:latin typeface="Cambria Math"/>
                        <a:ea typeface="Cambria Math"/>
                      </a:rPr>
                      <m:t>)</m:t>
                    </m:r>
                  </m:oMath>
                </a14:m>
                <a:endParaRPr lang="en-GB" noProof="0" dirty="0">
                  <a:solidFill>
                    <a:srgbClr val="002060"/>
                  </a:solidFill>
                </a:endParaRPr>
              </a:p>
            </p:txBody>
          </p:sp>
        </mc:Choice>
        <mc:Fallback xmlns="">
          <p:sp>
            <p:nvSpPr>
              <p:cNvPr id="9" name="Rounded Rectangle 8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23592" y="2141240"/>
                <a:ext cx="1584176" cy="1080120"/>
              </a:xfrm>
              <a:prstGeom prst="round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Rounded Rectangle 9"/>
              <p:cNvSpPr/>
              <p:nvPr/>
            </p:nvSpPr>
            <p:spPr>
              <a:xfrm>
                <a:off x="4655841" y="2141240"/>
                <a:ext cx="1566702" cy="1080120"/>
              </a:xfrm>
              <a:prstGeom prst="roundRect">
                <a:avLst/>
              </a:prstGeom>
              <a:solidFill>
                <a:schemeClr val="bg1">
                  <a:lumMod val="95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noProof="0" dirty="0">
                    <a:solidFill>
                      <a:srgbClr val="002060"/>
                    </a:solidFill>
                  </a:rPr>
                  <a:t>Trend(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i="1" noProof="0" smtClean="0">
                            <a:solidFill>
                              <a:srgbClr val="002060"/>
                            </a:solidFill>
                            <a:latin typeface="Cambria Math"/>
                            <a:ea typeface="Cambria Math"/>
                          </a:rPr>
                        </m:ctrlPr>
                      </m:sSubPr>
                      <m:e>
                        <m:r>
                          <a:rPr lang="en-GB" i="1" noProof="0" smtClean="0">
                            <a:solidFill>
                              <a:srgbClr val="002060"/>
                            </a:solidFill>
                            <a:latin typeface="Cambria Math"/>
                            <a:ea typeface="Cambria Math"/>
                          </a:rPr>
                          <m:t>𝜃</m:t>
                        </m:r>
                      </m:e>
                      <m:sub>
                        <m:r>
                          <a:rPr lang="en-GB" i="1" noProof="0" smtClean="0">
                            <a:solidFill>
                              <a:srgbClr val="002060"/>
                            </a:solidFill>
                            <a:latin typeface="Cambria Math"/>
                            <a:ea typeface="Cambria Math"/>
                          </a:rPr>
                          <m:t>𝑌</m:t>
                        </m:r>
                      </m:sub>
                    </m:sSub>
                    <m:r>
                      <a:rPr lang="en-GB" i="1" noProof="0" smtClean="0">
                        <a:solidFill>
                          <a:srgbClr val="002060"/>
                        </a:solidFill>
                        <a:latin typeface="Cambria Math"/>
                        <a:ea typeface="Cambria Math"/>
                      </a:rPr>
                      <m:t>)</m:t>
                    </m:r>
                  </m:oMath>
                </a14:m>
                <a:endParaRPr lang="en-GB" noProof="0" dirty="0">
                  <a:solidFill>
                    <a:srgbClr val="002060"/>
                  </a:solidFill>
                </a:endParaRPr>
              </a:p>
            </p:txBody>
          </p:sp>
        </mc:Choice>
        <mc:Fallback xmlns="">
          <p:sp>
            <p:nvSpPr>
              <p:cNvPr id="10" name="Rounded Rectangle 9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55841" y="2141240"/>
                <a:ext cx="1566702" cy="1080120"/>
              </a:xfrm>
              <a:prstGeom prst="round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Rounded Rectangle 12"/>
              <p:cNvSpPr/>
              <p:nvPr/>
            </p:nvSpPr>
            <p:spPr>
              <a:xfrm>
                <a:off x="6612394" y="2141240"/>
                <a:ext cx="1571839" cy="1080120"/>
              </a:xfrm>
              <a:prstGeom prst="roundRect">
                <a:avLst/>
              </a:prstGeom>
              <a:solidFill>
                <a:schemeClr val="bg1">
                  <a:lumMod val="95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noProof="0" dirty="0">
                    <a:solidFill>
                      <a:srgbClr val="002060"/>
                    </a:solidFill>
                  </a:rPr>
                  <a:t>Seasonal(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i="1" noProof="0" smtClean="0">
                            <a:solidFill>
                              <a:srgbClr val="002060"/>
                            </a:solidFill>
                            <a:latin typeface="Cambria Math"/>
                            <a:ea typeface="Cambria Math"/>
                          </a:rPr>
                        </m:ctrlPr>
                      </m:sSubPr>
                      <m:e>
                        <m:r>
                          <a:rPr lang="en-GB" i="1" noProof="0" smtClean="0">
                            <a:solidFill>
                              <a:srgbClr val="002060"/>
                            </a:solidFill>
                            <a:latin typeface="Cambria Math"/>
                            <a:ea typeface="Cambria Math"/>
                          </a:rPr>
                          <m:t>𝜃</m:t>
                        </m:r>
                      </m:e>
                      <m:sub>
                        <m:r>
                          <a:rPr lang="en-GB" i="1" noProof="0" smtClean="0">
                            <a:solidFill>
                              <a:srgbClr val="002060"/>
                            </a:solidFill>
                            <a:latin typeface="Cambria Math"/>
                            <a:ea typeface="Cambria Math"/>
                          </a:rPr>
                          <m:t>𝑌</m:t>
                        </m:r>
                      </m:sub>
                    </m:sSub>
                    <m:r>
                      <a:rPr lang="en-GB" i="1" noProof="0" smtClean="0">
                        <a:solidFill>
                          <a:srgbClr val="002060"/>
                        </a:solidFill>
                        <a:latin typeface="Cambria Math"/>
                        <a:ea typeface="Cambria Math"/>
                      </a:rPr>
                      <m:t>)</m:t>
                    </m:r>
                  </m:oMath>
                </a14:m>
                <a:endParaRPr lang="en-GB" noProof="0" dirty="0">
                  <a:solidFill>
                    <a:srgbClr val="002060"/>
                  </a:solidFill>
                </a:endParaRPr>
              </a:p>
            </p:txBody>
          </p:sp>
        </mc:Choice>
        <mc:Fallback xmlns="">
          <p:sp>
            <p:nvSpPr>
              <p:cNvPr id="13" name="Rounded Rectangle 12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12394" y="2141240"/>
                <a:ext cx="1571839" cy="1080120"/>
              </a:xfrm>
              <a:prstGeom prst="round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Rounded Rectangle 13"/>
              <p:cNvSpPr/>
              <p:nvPr/>
            </p:nvSpPr>
            <p:spPr>
              <a:xfrm>
                <a:off x="8574082" y="2141240"/>
                <a:ext cx="1554366" cy="1080120"/>
              </a:xfrm>
              <a:prstGeom prst="roundRect">
                <a:avLst/>
              </a:prstGeom>
              <a:solidFill>
                <a:schemeClr val="bg1">
                  <a:lumMod val="95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noProof="0" dirty="0">
                    <a:solidFill>
                      <a:srgbClr val="002060"/>
                    </a:solidFill>
                  </a:rPr>
                  <a:t>Irregular(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i="1" noProof="0" smtClean="0">
                            <a:solidFill>
                              <a:srgbClr val="002060"/>
                            </a:solidFill>
                            <a:latin typeface="Cambria Math"/>
                            <a:ea typeface="Cambria Math"/>
                          </a:rPr>
                        </m:ctrlPr>
                      </m:sSubPr>
                      <m:e>
                        <m:r>
                          <a:rPr lang="en-GB" i="1" noProof="0" smtClean="0">
                            <a:solidFill>
                              <a:srgbClr val="002060"/>
                            </a:solidFill>
                            <a:latin typeface="Cambria Math"/>
                            <a:ea typeface="Cambria Math"/>
                          </a:rPr>
                          <m:t>𝜃</m:t>
                        </m:r>
                      </m:e>
                      <m:sub>
                        <m:r>
                          <a:rPr lang="en-GB" i="1" noProof="0" smtClean="0">
                            <a:solidFill>
                              <a:srgbClr val="002060"/>
                            </a:solidFill>
                            <a:latin typeface="Cambria Math"/>
                            <a:ea typeface="Cambria Math"/>
                          </a:rPr>
                          <m:t>𝑌</m:t>
                        </m:r>
                      </m:sub>
                    </m:sSub>
                    <m:r>
                      <a:rPr lang="en-GB" i="1" noProof="0" smtClean="0">
                        <a:solidFill>
                          <a:srgbClr val="002060"/>
                        </a:solidFill>
                        <a:latin typeface="Cambria Math"/>
                        <a:ea typeface="Cambria Math"/>
                      </a:rPr>
                      <m:t>)</m:t>
                    </m:r>
                  </m:oMath>
                </a14:m>
                <a:endParaRPr lang="en-GB" noProof="0" dirty="0">
                  <a:solidFill>
                    <a:srgbClr val="002060"/>
                  </a:solidFill>
                </a:endParaRPr>
              </a:p>
            </p:txBody>
          </p:sp>
        </mc:Choice>
        <mc:Fallback xmlns="">
          <p:sp>
            <p:nvSpPr>
              <p:cNvPr id="14" name="Rounded Rectangle 13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74082" y="2141240"/>
                <a:ext cx="1554366" cy="1080120"/>
              </a:xfrm>
              <a:prstGeom prst="round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" name="TextBox 14"/>
          <p:cNvSpPr txBox="1"/>
          <p:nvPr/>
        </p:nvSpPr>
        <p:spPr>
          <a:xfrm>
            <a:off x="4033291" y="2401324"/>
            <a:ext cx="66556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noProof="0" dirty="0">
                <a:solidFill>
                  <a:schemeClr val="bg1"/>
                </a:solidFill>
              </a:rPr>
              <a:t>=</a:t>
            </a:r>
            <a:r>
              <a:rPr lang="en-GB" sz="3200" noProof="0" dirty="0">
                <a:solidFill>
                  <a:srgbClr val="FF0000"/>
                </a:solidFill>
              </a:rPr>
              <a:t>&gt;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04910" y="2401325"/>
            <a:ext cx="42511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noProof="0" dirty="0">
                <a:solidFill>
                  <a:schemeClr val="bg1"/>
                </a:solidFill>
              </a:rPr>
              <a:t>+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66599" y="2401325"/>
            <a:ext cx="42511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noProof="0" dirty="0">
                <a:solidFill>
                  <a:schemeClr val="bg1"/>
                </a:solidFill>
              </a:rPr>
              <a:t>+</a:t>
            </a:r>
          </a:p>
        </p:txBody>
      </p:sp>
      <p:sp>
        <p:nvSpPr>
          <p:cNvPr id="18" name="Oval 17"/>
          <p:cNvSpPr/>
          <p:nvPr/>
        </p:nvSpPr>
        <p:spPr>
          <a:xfrm>
            <a:off x="6413842" y="3926129"/>
            <a:ext cx="2160240" cy="936104"/>
          </a:xfrm>
          <a:prstGeom prst="ellipse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noProof="0" dirty="0"/>
              <a:t>Independent</a:t>
            </a:r>
          </a:p>
        </p:txBody>
      </p:sp>
      <p:cxnSp>
        <p:nvCxnSpPr>
          <p:cNvPr id="20" name="Straight Arrow Connector 19"/>
          <p:cNvCxnSpPr>
            <a:stCxn id="18" idx="1"/>
            <a:endCxn id="10" idx="2"/>
          </p:cNvCxnSpPr>
          <p:nvPr/>
        </p:nvCxnSpPr>
        <p:spPr>
          <a:xfrm flipH="1" flipV="1">
            <a:off x="5439192" y="3221360"/>
            <a:ext cx="1291010" cy="841858"/>
          </a:xfrm>
          <a:prstGeom prst="straightConnector1">
            <a:avLst/>
          </a:prstGeom>
          <a:ln>
            <a:tailEnd type="arrow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21" name="Straight Arrow Connector 20"/>
          <p:cNvCxnSpPr>
            <a:stCxn id="18" idx="0"/>
            <a:endCxn id="13" idx="2"/>
          </p:cNvCxnSpPr>
          <p:nvPr/>
        </p:nvCxnSpPr>
        <p:spPr>
          <a:xfrm flipH="1" flipV="1">
            <a:off x="7398314" y="3221361"/>
            <a:ext cx="95649" cy="704769"/>
          </a:xfrm>
          <a:prstGeom prst="straightConnector1">
            <a:avLst/>
          </a:prstGeom>
          <a:ln>
            <a:tailEnd type="arrow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22" name="Straight Arrow Connector 21"/>
          <p:cNvCxnSpPr>
            <a:stCxn id="18" idx="7"/>
            <a:endCxn id="14" idx="2"/>
          </p:cNvCxnSpPr>
          <p:nvPr/>
        </p:nvCxnSpPr>
        <p:spPr>
          <a:xfrm flipV="1">
            <a:off x="8257723" y="3221360"/>
            <a:ext cx="1093543" cy="841858"/>
          </a:xfrm>
          <a:prstGeom prst="straightConnector1">
            <a:avLst/>
          </a:prstGeom>
          <a:ln>
            <a:tailEnd type="arrow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36" name="Rounded Rectangle 35"/>
          <p:cNvSpPr/>
          <p:nvPr/>
        </p:nvSpPr>
        <p:spPr>
          <a:xfrm>
            <a:off x="2423592" y="4862233"/>
            <a:ext cx="1584176" cy="1080120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GB" noProof="0" dirty="0">
                <a:solidFill>
                  <a:srgbClr val="002060"/>
                </a:solidFill>
              </a:rPr>
              <a:t>Observed time series</a:t>
            </a:r>
          </a:p>
        </p:txBody>
      </p:sp>
      <p:cxnSp>
        <p:nvCxnSpPr>
          <p:cNvPr id="38" name="Straight Arrow Connector 37"/>
          <p:cNvCxnSpPr>
            <a:stCxn id="36" idx="0"/>
            <a:endCxn id="9" idx="2"/>
          </p:cNvCxnSpPr>
          <p:nvPr/>
        </p:nvCxnSpPr>
        <p:spPr>
          <a:xfrm flipV="1">
            <a:off x="3215680" y="3221361"/>
            <a:ext cx="0" cy="1640873"/>
          </a:xfrm>
          <a:prstGeom prst="straightConnector1">
            <a:avLst/>
          </a:prstGeom>
          <a:ln>
            <a:tailEnd type="arrow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9" name="TextBox 38"/>
              <p:cNvSpPr txBox="1"/>
              <p:nvPr/>
            </p:nvSpPr>
            <p:spPr>
              <a:xfrm>
                <a:off x="3287689" y="4203648"/>
                <a:ext cx="421141" cy="31688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GB" i="1" noProof="0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Cambria Math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en-GB" i="1" noProof="0" smtClean="0">
                                  <a:solidFill>
                                    <a:srgbClr val="002060"/>
                                  </a:solidFill>
                                  <a:latin typeface="Cambria Math"/>
                                  <a:ea typeface="Cambria Math"/>
                                </a:rPr>
                              </m:ctrlPr>
                            </m:accPr>
                            <m:e>
                              <m:r>
                                <a:rPr lang="en-GB" i="1" noProof="0" smtClean="0">
                                  <a:solidFill>
                                    <a:srgbClr val="002060"/>
                                  </a:solidFill>
                                  <a:latin typeface="Cambria Math"/>
                                  <a:ea typeface="Cambria Math"/>
                                </a:rPr>
                                <m:t>𝜃</m:t>
                              </m:r>
                            </m:e>
                          </m:acc>
                        </m:e>
                        <m:sub>
                          <m:r>
                            <a:rPr lang="en-GB" i="1" noProof="0" smtClean="0">
                              <a:solidFill>
                                <a:srgbClr val="002060"/>
                              </a:solidFill>
                              <a:latin typeface="Cambria Math"/>
                              <a:ea typeface="Cambria Math"/>
                            </a:rPr>
                            <m:t>𝑌</m:t>
                          </m:r>
                        </m:sub>
                      </m:sSub>
                    </m:oMath>
                  </m:oMathPara>
                </a14:m>
                <a:endParaRPr lang="en-GB" noProof="0" dirty="0"/>
              </a:p>
            </p:txBody>
          </p:sp>
        </mc:Choice>
        <mc:Fallback xmlns="">
          <p:sp>
            <p:nvSpPr>
              <p:cNvPr id="39" name="TextBox 3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87689" y="4203648"/>
                <a:ext cx="421141" cy="316882"/>
              </a:xfrm>
              <a:prstGeom prst="rect">
                <a:avLst/>
              </a:prstGeom>
              <a:blipFill>
                <a:blip r:embed="rId6"/>
                <a:stretch>
                  <a:fillRect t="-1923" r="-5797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55510414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2.1 SEATS algorithm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F12E9969-9346-4095-A7C3-836AAB82C09A}" type="slidenum">
              <a:rPr lang="en-GB" noProof="0" smtClean="0"/>
              <a:t>10</a:t>
            </a:fld>
            <a:endParaRPr lang="en-GB" noProof="0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4294967295"/>
          </p:nvPr>
        </p:nvSpPr>
        <p:spPr>
          <a:xfrm>
            <a:off x="0" y="0"/>
            <a:ext cx="0" cy="0"/>
          </a:xfrm>
        </p:spPr>
        <p:txBody>
          <a:bodyPr/>
          <a:lstStyle/>
          <a:p>
            <a:r>
              <a:rPr lang="en-GB" noProof="0" dirty="0"/>
              <a:t>Model-based decomposition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573912" y="1736296"/>
            <a:ext cx="1800200" cy="706969"/>
          </a:xfrm>
          <a:prstGeom prst="roundRect">
            <a:avLst/>
          </a:prstGeom>
          <a:solidFill>
            <a:schemeClr val="bg2">
              <a:lumMod val="20000"/>
              <a:lumOff val="80000"/>
            </a:schemeClr>
          </a:solidFill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GB" noProof="0" dirty="0">
                <a:solidFill>
                  <a:sysClr val="windowText" lastClr="000000"/>
                </a:solidFill>
              </a:rPr>
              <a:t>ARIMA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Rounded Rectangle 7"/>
              <p:cNvSpPr/>
              <p:nvPr/>
            </p:nvSpPr>
            <p:spPr>
              <a:xfrm>
                <a:off x="5125593" y="3097890"/>
                <a:ext cx="1003212" cy="706969"/>
              </a:xfrm>
              <a:prstGeom prst="roundRect">
                <a:avLst/>
              </a:prstGeom>
              <a:solidFill>
                <a:schemeClr val="bg1">
                  <a:lumMod val="95000"/>
                </a:schemeClr>
              </a:solidFill>
            </p:spPr>
            <p:style>
              <a:lnRef idx="1">
                <a:schemeClr val="dk1"/>
              </a:lnRef>
              <a:fillRef idx="2">
                <a:schemeClr val="dk1"/>
              </a:fillRef>
              <a:effectRef idx="1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GB" i="1" noProof="0" smtClean="0">
                          <a:solidFill>
                            <a:sysClr val="windowText" lastClr="000000"/>
                          </a:solidFill>
                          <a:latin typeface="Cambria Math"/>
                        </a:rPr>
                        <m:t>𝑇</m:t>
                      </m:r>
                    </m:oMath>
                  </m:oMathPara>
                </a14:m>
                <a:endParaRPr lang="en-GB" noProof="0" dirty="0">
                  <a:solidFill>
                    <a:sysClr val="windowText" lastClr="000000"/>
                  </a:solidFill>
                </a:endParaRPr>
              </a:p>
            </p:txBody>
          </p:sp>
        </mc:Choice>
        <mc:Fallback xmlns="">
          <p:sp>
            <p:nvSpPr>
              <p:cNvPr id="8" name="Rounded Rectangle 7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25593" y="3097890"/>
                <a:ext cx="1003212" cy="706969"/>
              </a:xfrm>
              <a:prstGeom prst="round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Rounded Rectangle 8"/>
              <p:cNvSpPr/>
              <p:nvPr/>
            </p:nvSpPr>
            <p:spPr>
              <a:xfrm>
                <a:off x="6622772" y="3097891"/>
                <a:ext cx="1137165" cy="706969"/>
              </a:xfrm>
              <a:prstGeom prst="roundRect">
                <a:avLst/>
              </a:prstGeom>
              <a:solidFill>
                <a:schemeClr val="bg1">
                  <a:lumMod val="95000"/>
                </a:schemeClr>
              </a:solidFill>
            </p:spPr>
            <p:style>
              <a:lnRef idx="1">
                <a:schemeClr val="dk1"/>
              </a:lnRef>
              <a:fillRef idx="2">
                <a:schemeClr val="dk1"/>
              </a:fillRef>
              <a:effectRef idx="1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GB" i="1" noProof="0" smtClean="0">
                          <a:solidFill>
                            <a:sysClr val="windowText" lastClr="000000"/>
                          </a:solidFill>
                          <a:latin typeface="Cambria Math"/>
                        </a:rPr>
                        <m:t>𝑆</m:t>
                      </m:r>
                    </m:oMath>
                  </m:oMathPara>
                </a14:m>
                <a:endParaRPr lang="en-GB" noProof="0" dirty="0">
                  <a:solidFill>
                    <a:sysClr val="windowText" lastClr="000000"/>
                  </a:solidFill>
                </a:endParaRPr>
              </a:p>
            </p:txBody>
          </p:sp>
        </mc:Choice>
        <mc:Fallback xmlns="">
          <p:sp>
            <p:nvSpPr>
              <p:cNvPr id="9" name="Rounded Rectangle 8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22772" y="3097891"/>
                <a:ext cx="1137165" cy="706969"/>
              </a:xfrm>
              <a:prstGeom prst="round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Oval 9"/>
          <p:cNvSpPr/>
          <p:nvPr/>
        </p:nvSpPr>
        <p:spPr>
          <a:xfrm>
            <a:off x="5517479" y="1482401"/>
            <a:ext cx="3341915" cy="1214761"/>
          </a:xfrm>
          <a:prstGeom prst="ellipse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noProof="0" dirty="0"/>
              <a:t>Factorization based on the auto-regressive part (AR and I) </a:t>
            </a:r>
          </a:p>
        </p:txBody>
      </p:sp>
      <p:cxnSp>
        <p:nvCxnSpPr>
          <p:cNvPr id="11" name="Elbow Connector 10"/>
          <p:cNvCxnSpPr>
            <a:stCxn id="7" idx="3"/>
            <a:endCxn id="10" idx="2"/>
          </p:cNvCxnSpPr>
          <p:nvPr/>
        </p:nvCxnSpPr>
        <p:spPr>
          <a:xfrm>
            <a:off x="4374112" y="2089781"/>
            <a:ext cx="1143366" cy="1"/>
          </a:xfrm>
          <a:prstGeom prst="bentConnector3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Elbow Connector 11"/>
          <p:cNvCxnSpPr>
            <a:stCxn id="10" idx="4"/>
            <a:endCxn id="8" idx="0"/>
          </p:cNvCxnSpPr>
          <p:nvPr/>
        </p:nvCxnSpPr>
        <p:spPr>
          <a:xfrm rot="5400000">
            <a:off x="6207454" y="2116908"/>
            <a:ext cx="400728" cy="1561237"/>
          </a:xfrm>
          <a:prstGeom prst="bentConnector3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Elbow Connector 12"/>
          <p:cNvCxnSpPr>
            <a:stCxn id="10" idx="4"/>
            <a:endCxn id="9" idx="0"/>
          </p:cNvCxnSpPr>
          <p:nvPr/>
        </p:nvCxnSpPr>
        <p:spPr>
          <a:xfrm rot="16200000" flipH="1">
            <a:off x="6989532" y="2896066"/>
            <a:ext cx="400729" cy="2918"/>
          </a:xfrm>
          <a:prstGeom prst="bentConnector3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Oval 13"/>
          <p:cNvSpPr/>
          <p:nvPr/>
        </p:nvSpPr>
        <p:spPr>
          <a:xfrm>
            <a:off x="5679185" y="4218705"/>
            <a:ext cx="3024336" cy="936104"/>
          </a:xfrm>
          <a:prstGeom prst="ellipse">
            <a:avLst/>
          </a:prstGeom>
          <a:solidFill>
            <a:schemeClr val="accent2"/>
          </a:solidFill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noProof="0" dirty="0"/>
              <a:t>Canonical decomposition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Rounded Rectangle 14"/>
              <p:cNvSpPr/>
              <p:nvPr/>
            </p:nvSpPr>
            <p:spPr>
              <a:xfrm>
                <a:off x="5952072" y="5736771"/>
                <a:ext cx="955949" cy="706969"/>
              </a:xfrm>
              <a:prstGeom prst="round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rgbClr val="FF0000"/>
                </a:solidFill>
              </a:ln>
            </p:spPr>
            <p:style>
              <a:lnRef idx="1">
                <a:schemeClr val="accent5"/>
              </a:lnRef>
              <a:fillRef idx="2">
                <a:schemeClr val="accent5"/>
              </a:fillRef>
              <a:effectRef idx="1">
                <a:schemeClr val="accent5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GB" i="1" noProof="0" smtClean="0">
                          <a:solidFill>
                            <a:sysClr val="windowText" lastClr="000000"/>
                          </a:solidFill>
                          <a:latin typeface="Cambria Math"/>
                        </a:rPr>
                        <m:t>𝑆</m:t>
                      </m:r>
                      <m:r>
                        <a:rPr lang="en-GB" i="1" noProof="0" smtClean="0">
                          <a:solidFill>
                            <a:sysClr val="windowText" lastClr="000000"/>
                          </a:solidFill>
                          <a:latin typeface="Cambria Math"/>
                        </a:rPr>
                        <m:t>−</m:t>
                      </m:r>
                      <m:sSub>
                        <m:sSubPr>
                          <m:ctrlPr>
                            <a:rPr lang="en-GB" i="1" noProof="0" smtClean="0">
                              <a:solidFill>
                                <a:sysClr val="windowText" lastClr="000000"/>
                              </a:solidFill>
                              <a:latin typeface="Cambria Math"/>
                              <a:ea typeface="Cambria Math"/>
                            </a:rPr>
                          </m:ctrlPr>
                        </m:sSubPr>
                        <m:e>
                          <m:r>
                            <a:rPr lang="en-GB" i="1" noProof="0" smtClean="0">
                              <a:solidFill>
                                <a:sysClr val="windowText" lastClr="000000"/>
                              </a:solidFill>
                              <a:latin typeface="Cambria Math"/>
                              <a:ea typeface="Cambria Math"/>
                            </a:rPr>
                            <m:t>𝜀</m:t>
                          </m:r>
                          <m:r>
                            <m:rPr>
                              <m:nor/>
                            </m:rPr>
                            <a:rPr lang="en-GB" i="0" noProof="0" smtClean="0">
                              <a:solidFill>
                                <a:sysClr val="windowText" lastClr="000000"/>
                              </a:solidFill>
                            </a:rPr>
                            <m:t> </m:t>
                          </m:r>
                        </m:e>
                        <m:sub>
                          <m:r>
                            <a:rPr lang="en-GB" i="1" noProof="0" smtClean="0">
                              <a:solidFill>
                                <a:sysClr val="windowText" lastClr="000000"/>
                              </a:solidFill>
                              <a:latin typeface="Cambria Math"/>
                            </a:rPr>
                            <m:t>𝑆</m:t>
                          </m:r>
                        </m:sub>
                      </m:sSub>
                    </m:oMath>
                  </m:oMathPara>
                </a14:m>
                <a:endParaRPr lang="en-GB" noProof="0" dirty="0">
                  <a:solidFill>
                    <a:sysClr val="windowText" lastClr="000000"/>
                  </a:solidFill>
                </a:endParaRPr>
              </a:p>
            </p:txBody>
          </p:sp>
        </mc:Choice>
        <mc:Fallback xmlns="">
          <p:sp>
            <p:nvSpPr>
              <p:cNvPr id="15" name="Rounded Rectangle 14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52072" y="5736771"/>
                <a:ext cx="955949" cy="706969"/>
              </a:xfrm>
              <a:prstGeom prst="roundRect">
                <a:avLst/>
              </a:prstGeom>
              <a:blipFill>
                <a:blip r:embed="rId4"/>
                <a:stretch>
                  <a:fillRect/>
                </a:stretch>
              </a:blipFill>
              <a:ln>
                <a:solidFill>
                  <a:srgbClr val="FF0000"/>
                </a:solidFill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6" name="Elbow Connector 15"/>
          <p:cNvCxnSpPr>
            <a:stCxn id="8" idx="2"/>
            <a:endCxn id="14" idx="0"/>
          </p:cNvCxnSpPr>
          <p:nvPr/>
        </p:nvCxnSpPr>
        <p:spPr>
          <a:xfrm rot="16200000" flipH="1">
            <a:off x="6202354" y="3229704"/>
            <a:ext cx="413847" cy="1564154"/>
          </a:xfrm>
          <a:prstGeom prst="bentConnector3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Elbow Connector 16"/>
          <p:cNvCxnSpPr>
            <a:stCxn id="9" idx="2"/>
            <a:endCxn id="14" idx="0"/>
          </p:cNvCxnSpPr>
          <p:nvPr/>
        </p:nvCxnSpPr>
        <p:spPr>
          <a:xfrm rot="5400000">
            <a:off x="6984431" y="4011783"/>
            <a:ext cx="413846" cy="1"/>
          </a:xfrm>
          <a:prstGeom prst="bentConnector3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Elbow Connector 17"/>
          <p:cNvCxnSpPr>
            <a:stCxn id="14" idx="4"/>
            <a:endCxn id="23" idx="0"/>
          </p:cNvCxnSpPr>
          <p:nvPr/>
        </p:nvCxnSpPr>
        <p:spPr>
          <a:xfrm rot="5400000">
            <a:off x="5862489" y="4406546"/>
            <a:ext cx="580600" cy="2077129"/>
          </a:xfrm>
          <a:prstGeom prst="bentConnector3">
            <a:avLst>
              <a:gd name="adj1" fmla="val 50000"/>
            </a:avLst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Elbow Connector 18"/>
          <p:cNvCxnSpPr>
            <a:stCxn id="14" idx="4"/>
            <a:endCxn id="15" idx="0"/>
          </p:cNvCxnSpPr>
          <p:nvPr/>
        </p:nvCxnSpPr>
        <p:spPr>
          <a:xfrm rot="5400000">
            <a:off x="6519721" y="5065137"/>
            <a:ext cx="581961" cy="761307"/>
          </a:xfrm>
          <a:prstGeom prst="bentConnector3">
            <a:avLst>
              <a:gd name="adj1" fmla="val 50000"/>
            </a:avLst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Rounded Rectangle 19"/>
              <p:cNvSpPr/>
              <p:nvPr/>
            </p:nvSpPr>
            <p:spPr>
              <a:xfrm>
                <a:off x="8328904" y="3097892"/>
                <a:ext cx="998575" cy="706969"/>
              </a:xfrm>
              <a:prstGeom prst="roundRect">
                <a:avLst/>
              </a:prstGeom>
              <a:pattFill prst="wdDnDiag">
                <a:fgClr>
                  <a:schemeClr val="bg1">
                    <a:lumMod val="95000"/>
                  </a:schemeClr>
                </a:fgClr>
                <a:bgClr>
                  <a:schemeClr val="bg1"/>
                </a:bgClr>
              </a:pattFill>
            </p:spPr>
            <p:style>
              <a:lnRef idx="1">
                <a:schemeClr val="dk1"/>
              </a:lnRef>
              <a:fillRef idx="2">
                <a:schemeClr val="dk1"/>
              </a:fillRef>
              <a:effectRef idx="1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en-GB" i="1" noProof="0" smtClean="0">
                            <a:solidFill>
                              <a:sysClr val="windowText" lastClr="000000"/>
                            </a:solidFill>
                            <a:latin typeface="Cambria Math"/>
                          </a:rPr>
                        </m:ctrlPr>
                      </m:dPr>
                      <m:e>
                        <m:r>
                          <a:rPr lang="en-GB" i="1" noProof="0" smtClean="0">
                            <a:solidFill>
                              <a:sysClr val="windowText" lastClr="000000"/>
                            </a:solidFill>
                            <a:latin typeface="Cambria Math"/>
                          </a:rPr>
                          <m:t>𝑇𝑟</m:t>
                        </m:r>
                      </m:e>
                    </m:d>
                  </m:oMath>
                </a14:m>
                <a:r>
                  <a:rPr lang="en-GB" noProof="0" dirty="0">
                    <a:solidFill>
                      <a:sysClr val="windowText" lastClr="000000"/>
                    </a:solidFill>
                  </a:rPr>
                  <a:t> </a:t>
                </a:r>
              </a:p>
            </p:txBody>
          </p:sp>
        </mc:Choice>
        <mc:Fallback xmlns="">
          <p:sp>
            <p:nvSpPr>
              <p:cNvPr id="20" name="Rounded Rectangle 19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28904" y="3097892"/>
                <a:ext cx="998575" cy="706969"/>
              </a:xfrm>
              <a:prstGeom prst="round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1" name="Elbow Connector 20"/>
          <p:cNvCxnSpPr>
            <a:stCxn id="20" idx="2"/>
            <a:endCxn id="14" idx="0"/>
          </p:cNvCxnSpPr>
          <p:nvPr/>
        </p:nvCxnSpPr>
        <p:spPr>
          <a:xfrm rot="5400000">
            <a:off x="7802851" y="3193363"/>
            <a:ext cx="413845" cy="1636838"/>
          </a:xfrm>
          <a:prstGeom prst="bentConnector3">
            <a:avLst>
              <a:gd name="adj1" fmla="val 50000"/>
            </a:avLst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Elbow Connector 21"/>
          <p:cNvCxnSpPr>
            <a:stCxn id="10" idx="4"/>
            <a:endCxn id="20" idx="0"/>
          </p:cNvCxnSpPr>
          <p:nvPr/>
        </p:nvCxnSpPr>
        <p:spPr>
          <a:xfrm rot="16200000" flipH="1">
            <a:off x="7807948" y="2077649"/>
            <a:ext cx="400730" cy="1639755"/>
          </a:xfrm>
          <a:prstGeom prst="bentConnector3">
            <a:avLst>
              <a:gd name="adj1" fmla="val 50000"/>
            </a:avLst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3" name="Rounded Rectangle 22"/>
              <p:cNvSpPr/>
              <p:nvPr/>
            </p:nvSpPr>
            <p:spPr>
              <a:xfrm>
                <a:off x="4612618" y="5735410"/>
                <a:ext cx="1003212" cy="706969"/>
              </a:xfrm>
              <a:prstGeom prst="roundRect">
                <a:avLst/>
              </a:prstGeom>
              <a:solidFill>
                <a:srgbClr val="F4F4F4"/>
              </a:solidFill>
              <a:ln>
                <a:solidFill>
                  <a:srgbClr val="FF0000"/>
                </a:solidFill>
              </a:ln>
            </p:spPr>
            <p:style>
              <a:lnRef idx="1">
                <a:schemeClr val="accent5"/>
              </a:lnRef>
              <a:fillRef idx="2">
                <a:schemeClr val="accent5"/>
              </a:fillRef>
              <a:effectRef idx="1">
                <a:schemeClr val="accent5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GB" i="1" noProof="0" smtClean="0">
                          <a:solidFill>
                            <a:sysClr val="windowText" lastClr="000000"/>
                          </a:solidFill>
                          <a:latin typeface="Cambria Math"/>
                        </a:rPr>
                        <m:t>𝑇</m:t>
                      </m:r>
                      <m:r>
                        <a:rPr lang="en-GB" i="1" noProof="0" smtClean="0">
                          <a:solidFill>
                            <a:sysClr val="windowText" lastClr="000000"/>
                          </a:solidFill>
                          <a:latin typeface="Cambria Math"/>
                        </a:rPr>
                        <m:t>−</m:t>
                      </m:r>
                      <m:sSub>
                        <m:sSubPr>
                          <m:ctrlPr>
                            <a:rPr lang="en-GB" i="1" noProof="0" smtClean="0">
                              <a:solidFill>
                                <a:sysClr val="windowText" lastClr="000000"/>
                              </a:solidFill>
                              <a:latin typeface="Cambria Math"/>
                              <a:ea typeface="Cambria Math"/>
                            </a:rPr>
                          </m:ctrlPr>
                        </m:sSubPr>
                        <m:e>
                          <m:r>
                            <a:rPr lang="en-GB" i="1" noProof="0" smtClean="0">
                              <a:solidFill>
                                <a:sysClr val="windowText" lastClr="000000"/>
                              </a:solidFill>
                              <a:latin typeface="Cambria Math"/>
                              <a:ea typeface="Cambria Math"/>
                            </a:rPr>
                            <m:t>𝜀</m:t>
                          </m:r>
                          <m:r>
                            <m:rPr>
                              <m:nor/>
                            </m:rPr>
                            <a:rPr lang="en-GB" i="0" noProof="0" smtClean="0">
                              <a:solidFill>
                                <a:sysClr val="windowText" lastClr="000000"/>
                              </a:solidFill>
                            </a:rPr>
                            <m:t> </m:t>
                          </m:r>
                        </m:e>
                        <m:sub>
                          <m:r>
                            <a:rPr lang="en-GB" i="1" noProof="0" smtClean="0">
                              <a:solidFill>
                                <a:sysClr val="windowText" lastClr="000000"/>
                              </a:solidFill>
                              <a:latin typeface="Cambria Math"/>
                            </a:rPr>
                            <m:t>𝑇</m:t>
                          </m:r>
                        </m:sub>
                      </m:sSub>
                    </m:oMath>
                  </m:oMathPara>
                </a14:m>
                <a:endParaRPr lang="en-GB" noProof="0" dirty="0">
                  <a:solidFill>
                    <a:sysClr val="windowText" lastClr="000000"/>
                  </a:solidFill>
                </a:endParaRPr>
              </a:p>
            </p:txBody>
          </p:sp>
        </mc:Choice>
        <mc:Fallback xmlns="">
          <p:sp>
            <p:nvSpPr>
              <p:cNvPr id="23" name="Rounded Rectangle 22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12618" y="5735410"/>
                <a:ext cx="1003212" cy="706969"/>
              </a:xfrm>
              <a:prstGeom prst="roundRect">
                <a:avLst/>
              </a:prstGeom>
              <a:blipFill>
                <a:blip r:embed="rId6"/>
                <a:stretch>
                  <a:fillRect/>
                </a:stretch>
              </a:blipFill>
              <a:ln>
                <a:solidFill>
                  <a:srgbClr val="FF0000"/>
                </a:solidFill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Rounded Rectangle 23"/>
              <p:cNvSpPr/>
              <p:nvPr/>
            </p:nvSpPr>
            <p:spPr>
              <a:xfrm>
                <a:off x="7113744" y="5735410"/>
                <a:ext cx="1313867" cy="706969"/>
              </a:xfrm>
              <a:prstGeom prst="roundRect">
                <a:avLst/>
              </a:prstGeom>
              <a:pattFill prst="wdDnDiag">
                <a:fgClr>
                  <a:srgbClr val="F4F4F4"/>
                </a:fgClr>
                <a:bgClr>
                  <a:schemeClr val="bg1"/>
                </a:bgClr>
              </a:pattFill>
              <a:ln>
                <a:solidFill>
                  <a:srgbClr val="FF0000"/>
                </a:solidFill>
              </a:ln>
            </p:spPr>
            <p:style>
              <a:lnRef idx="1">
                <a:schemeClr val="accent5"/>
              </a:lnRef>
              <a:fillRef idx="2">
                <a:schemeClr val="accent5"/>
              </a:fillRef>
              <a:effectRef idx="1">
                <a:schemeClr val="accent5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d>
                        <m:dPr>
                          <m:begChr m:val="["/>
                          <m:endChr m:val="]"/>
                          <m:ctrlPr>
                            <a:rPr lang="en-GB" i="1" noProof="0" smtClean="0">
                              <a:solidFill>
                                <a:sysClr val="windowText" lastClr="000000"/>
                              </a:solidFill>
                              <a:latin typeface="Cambria Math"/>
                            </a:rPr>
                          </m:ctrlPr>
                        </m:dPr>
                        <m:e>
                          <m:r>
                            <a:rPr lang="en-GB" i="1" noProof="0" smtClean="0">
                              <a:solidFill>
                                <a:sysClr val="windowText" lastClr="000000"/>
                              </a:solidFill>
                              <a:latin typeface="Cambria Math"/>
                            </a:rPr>
                            <m:t>𝑇𝑟</m:t>
                          </m:r>
                          <m:r>
                            <a:rPr lang="en-GB" i="1" noProof="0" smtClean="0">
                              <a:solidFill>
                                <a:sysClr val="windowText" lastClr="000000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GB" i="1" noProof="0" smtClean="0">
                                  <a:solidFill>
                                    <a:sysClr val="windowText" lastClr="000000"/>
                                  </a:solidFill>
                                  <a:latin typeface="Cambria Math"/>
                                  <a:ea typeface="Cambria Math"/>
                                </a:rPr>
                              </m:ctrlPr>
                            </m:sSubPr>
                            <m:e>
                              <m:r>
                                <a:rPr lang="en-GB" i="1" noProof="0" smtClean="0">
                                  <a:solidFill>
                                    <a:sysClr val="windowText" lastClr="000000"/>
                                  </a:solidFill>
                                  <a:latin typeface="Cambria Math"/>
                                  <a:ea typeface="Cambria Math"/>
                                </a:rPr>
                                <m:t>𝜀</m:t>
                              </m:r>
                              <m:r>
                                <m:rPr>
                                  <m:nor/>
                                </m:rPr>
                                <a:rPr lang="en-GB" i="0" noProof="0" smtClean="0">
                                  <a:solidFill>
                                    <a:sysClr val="windowText" lastClr="000000"/>
                                  </a:solidFill>
                                </a:rPr>
                                <m:t> </m:t>
                              </m:r>
                            </m:e>
                            <m:sub>
                              <m:r>
                                <a:rPr lang="en-GB" i="1" noProof="0" smtClean="0">
                                  <a:solidFill>
                                    <a:sysClr val="windowText" lastClr="000000"/>
                                  </a:solidFill>
                                  <a:latin typeface="Cambria Math" panose="02040503050406030204" pitchFamily="18" charset="0"/>
                                </a:rPr>
                                <m:t>𝑇𝑟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GB" noProof="0" dirty="0">
                  <a:solidFill>
                    <a:sysClr val="windowText" lastClr="000000"/>
                  </a:solidFill>
                </a:endParaRPr>
              </a:p>
            </p:txBody>
          </p:sp>
        </mc:Choice>
        <mc:Fallback xmlns="">
          <p:sp>
            <p:nvSpPr>
              <p:cNvPr id="24" name="Rounded Rectangle 23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13744" y="5735410"/>
                <a:ext cx="1313867" cy="706969"/>
              </a:xfrm>
              <a:prstGeom prst="roundRect">
                <a:avLst/>
              </a:prstGeom>
              <a:blipFill>
                <a:blip r:embed="rId7"/>
                <a:stretch>
                  <a:fillRect/>
                </a:stretch>
              </a:blipFill>
              <a:ln>
                <a:solidFill>
                  <a:srgbClr val="FF0000"/>
                </a:solidFill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5" name="Elbow Connector 24"/>
          <p:cNvCxnSpPr>
            <a:cxnSpLocks/>
            <a:stCxn id="14" idx="4"/>
            <a:endCxn id="24" idx="0"/>
          </p:cNvCxnSpPr>
          <p:nvPr/>
        </p:nvCxnSpPr>
        <p:spPr>
          <a:xfrm rot="16200000" flipH="1">
            <a:off x="7190715" y="5155447"/>
            <a:ext cx="580600" cy="579324"/>
          </a:xfrm>
          <a:prstGeom prst="bentConnector3">
            <a:avLst>
              <a:gd name="adj1" fmla="val 50000"/>
            </a:avLst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1919537" y="4011782"/>
            <a:ext cx="1902691" cy="738664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GB" noProof="0" dirty="0"/>
              <a:t>See:</a:t>
            </a:r>
          </a:p>
          <a:p>
            <a:r>
              <a:rPr lang="en-GB" noProof="0" dirty="0"/>
              <a:t>Gomez and </a:t>
            </a:r>
            <a:r>
              <a:rPr lang="en-GB" noProof="0" dirty="0" err="1"/>
              <a:t>Maravall</a:t>
            </a:r>
            <a:r>
              <a:rPr lang="en-GB" noProof="0" dirty="0"/>
              <a:t>…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0" name="Rounded Rectangle 23">
                <a:extLst>
                  <a:ext uri="{FF2B5EF4-FFF2-40B4-BE49-F238E27FC236}">
                    <a16:creationId xmlns:a16="http://schemas.microsoft.com/office/drawing/2014/main" id="{96714EBC-D2F2-4525-A2C5-955950BF6A6A}"/>
                  </a:ext>
                </a:extLst>
              </p:cNvPr>
              <p:cNvSpPr/>
              <p:nvPr/>
            </p:nvSpPr>
            <p:spPr>
              <a:xfrm>
                <a:off x="8633333" y="5735410"/>
                <a:ext cx="1763486" cy="706969"/>
              </a:xfrm>
              <a:prstGeom prst="roundRect">
                <a:avLst/>
              </a:prstGeom>
              <a:solidFill>
                <a:srgbClr val="F4F4F4"/>
              </a:solidFill>
              <a:ln>
                <a:solidFill>
                  <a:srgbClr val="FF0000"/>
                </a:solidFill>
              </a:ln>
            </p:spPr>
            <p:style>
              <a:lnRef idx="1">
                <a:schemeClr val="accent5"/>
              </a:lnRef>
              <a:fillRef idx="2">
                <a:schemeClr val="accent5"/>
              </a:fillRef>
              <a:effectRef idx="1">
                <a:schemeClr val="accent5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GB" i="1" noProof="0" smtClean="0">
                              <a:solidFill>
                                <a:sysClr val="windowText" lastClr="000000"/>
                              </a:solidFill>
                              <a:latin typeface="Cambria Math"/>
                              <a:ea typeface="Cambria Math"/>
                            </a:rPr>
                          </m:ctrlPr>
                        </m:sSubPr>
                        <m:e>
                          <m:r>
                            <a:rPr lang="en-GB" i="1" noProof="0" smtClean="0">
                              <a:solidFill>
                                <a:sysClr val="windowText" lastClr="000000"/>
                              </a:solidFill>
                              <a:latin typeface="Cambria Math"/>
                              <a:ea typeface="Cambria Math"/>
                            </a:rPr>
                            <m:t>𝜀</m:t>
                          </m:r>
                          <m:r>
                            <m:rPr>
                              <m:nor/>
                            </m:rPr>
                            <a:rPr lang="en-GB" i="0" noProof="0" smtClean="0">
                              <a:solidFill>
                                <a:sysClr val="windowText" lastClr="000000"/>
                              </a:solidFill>
                            </a:rPr>
                            <m:t> </m:t>
                          </m:r>
                        </m:e>
                        <m:sub>
                          <m:r>
                            <a:rPr lang="en-GB" i="1" noProof="0" smtClean="0">
                              <a:solidFill>
                                <a:sysClr val="windowText" lastClr="000000"/>
                              </a:solidFill>
                              <a:latin typeface="Cambria Math"/>
                            </a:rPr>
                            <m:t>𝑇</m:t>
                          </m:r>
                        </m:sub>
                      </m:sSub>
                      <m:r>
                        <a:rPr lang="en-GB" i="1" noProof="0" smtClean="0">
                          <a:solidFill>
                            <a:sysClr val="windowText" lastClr="000000"/>
                          </a:solidFill>
                          <a:latin typeface="Cambria Math"/>
                        </a:rPr>
                        <m:t>+</m:t>
                      </m:r>
                      <m:sSub>
                        <m:sSubPr>
                          <m:ctrlPr>
                            <a:rPr lang="en-GB" i="1" noProof="0" smtClean="0">
                              <a:solidFill>
                                <a:sysClr val="windowText" lastClr="000000"/>
                              </a:solidFill>
                              <a:latin typeface="Cambria Math"/>
                              <a:ea typeface="Cambria Math"/>
                            </a:rPr>
                          </m:ctrlPr>
                        </m:sSubPr>
                        <m:e>
                          <m:r>
                            <a:rPr lang="en-GB" i="1" noProof="0" smtClean="0">
                              <a:solidFill>
                                <a:sysClr val="windowText" lastClr="000000"/>
                              </a:solidFill>
                              <a:latin typeface="Cambria Math"/>
                              <a:ea typeface="Cambria Math"/>
                            </a:rPr>
                            <m:t>𝜀</m:t>
                          </m:r>
                          <m:r>
                            <m:rPr>
                              <m:nor/>
                            </m:rPr>
                            <a:rPr lang="en-GB" i="0" noProof="0" smtClean="0">
                              <a:solidFill>
                                <a:sysClr val="windowText" lastClr="000000"/>
                              </a:solidFill>
                            </a:rPr>
                            <m:t> </m:t>
                          </m:r>
                        </m:e>
                        <m:sub>
                          <m:r>
                            <a:rPr lang="en-GB" i="1" noProof="0" smtClean="0">
                              <a:solidFill>
                                <a:sysClr val="windowText" lastClr="000000"/>
                              </a:solidFill>
                              <a:latin typeface="Cambria Math"/>
                            </a:rPr>
                            <m:t>𝑆</m:t>
                          </m:r>
                        </m:sub>
                      </m:sSub>
                      <m:r>
                        <a:rPr lang="en-GB" i="1" noProof="0" smtClean="0">
                          <a:solidFill>
                            <a:sysClr val="windowText" lastClr="000000"/>
                          </a:solidFill>
                          <a:latin typeface="Cambria Math" panose="02040503050406030204" pitchFamily="18" charset="0"/>
                        </a:rPr>
                        <m:t>[+</m:t>
                      </m:r>
                      <m:sSub>
                        <m:sSubPr>
                          <m:ctrlPr>
                            <a:rPr lang="en-GB" i="1" noProof="0" smtClean="0">
                              <a:solidFill>
                                <a:sysClr val="windowText" lastClr="0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 noProof="0" smtClean="0">
                              <a:solidFill>
                                <a:sysClr val="windowText" lastClr="0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𝜀</m:t>
                          </m:r>
                        </m:e>
                        <m:sub>
                          <m:r>
                            <a:rPr lang="en-GB" i="1" noProof="0" smtClean="0">
                              <a:solidFill>
                                <a:sysClr val="windowText" lastClr="000000"/>
                              </a:solidFill>
                              <a:latin typeface="Cambria Math" panose="02040503050406030204" pitchFamily="18" charset="0"/>
                            </a:rPr>
                            <m:t>𝑇𝑟</m:t>
                          </m:r>
                        </m:sub>
                      </m:sSub>
                      <m:r>
                        <a:rPr lang="en-GB" i="1" noProof="0" smtClean="0">
                          <a:solidFill>
                            <a:sysClr val="windowText" lastClr="000000"/>
                          </a:solidFill>
                          <a:latin typeface="Cambria Math" panose="02040503050406030204" pitchFamily="18" charset="0"/>
                        </a:rPr>
                        <m:t>]</m:t>
                      </m:r>
                    </m:oMath>
                  </m:oMathPara>
                </a14:m>
                <a:endParaRPr lang="en-GB" noProof="0" dirty="0">
                  <a:solidFill>
                    <a:sysClr val="windowText" lastClr="000000"/>
                  </a:solidFill>
                </a:endParaRPr>
              </a:p>
            </p:txBody>
          </p:sp>
        </mc:Choice>
        <mc:Fallback xmlns="">
          <p:sp>
            <p:nvSpPr>
              <p:cNvPr id="30" name="Rounded Rectangle 23">
                <a:extLst>
                  <a:ext uri="{FF2B5EF4-FFF2-40B4-BE49-F238E27FC236}">
                    <a16:creationId xmlns:a16="http://schemas.microsoft.com/office/drawing/2014/main" id="{96714EBC-D2F2-4525-A2C5-955950BF6A6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33333" y="5735410"/>
                <a:ext cx="1763486" cy="706969"/>
              </a:xfrm>
              <a:prstGeom prst="roundRect">
                <a:avLst/>
              </a:prstGeom>
              <a:blipFill>
                <a:blip r:embed="rId8"/>
                <a:stretch>
                  <a:fillRect/>
                </a:stretch>
              </a:blipFill>
              <a:ln>
                <a:solidFill>
                  <a:srgbClr val="FF0000"/>
                </a:solidFill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7" name="Elbow Connector 17">
            <a:extLst>
              <a:ext uri="{FF2B5EF4-FFF2-40B4-BE49-F238E27FC236}">
                <a16:creationId xmlns:a16="http://schemas.microsoft.com/office/drawing/2014/main" id="{5626D959-E86C-438E-9479-025D7C579B09}"/>
              </a:ext>
            </a:extLst>
          </p:cNvPr>
          <p:cNvCxnSpPr>
            <a:cxnSpLocks/>
            <a:stCxn id="14" idx="4"/>
            <a:endCxn id="30" idx="0"/>
          </p:cNvCxnSpPr>
          <p:nvPr/>
        </p:nvCxnSpPr>
        <p:spPr>
          <a:xfrm rot="16200000" flipH="1">
            <a:off x="8062914" y="4283248"/>
            <a:ext cx="580600" cy="2323723"/>
          </a:xfrm>
          <a:prstGeom prst="bentConnector3">
            <a:avLst>
              <a:gd name="adj1" fmla="val 50000"/>
            </a:avLst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632412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2.2 SEATS Algorithm. Details (I)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F12E9969-9346-4095-A7C3-836AAB82C09A}" type="slidenum">
              <a:rPr lang="en-GB" noProof="0" smtClean="0"/>
              <a:t>11</a:t>
            </a:fld>
            <a:endParaRPr lang="en-GB" noProof="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sz="half" idx="2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GB" noProof="0" dirty="0"/>
                  <a:t>ARIMA: </a:t>
                </a:r>
                <a14:m>
                  <m:oMath xmlns:m="http://schemas.openxmlformats.org/officeDocument/2006/math">
                    <m:r>
                      <a:rPr lang="en-GB" b="0" i="0" noProof="0" smtClean="0">
                        <a:latin typeface="Cambria Math" panose="02040503050406030204" pitchFamily="18" charset="0"/>
                        <a:ea typeface="Cambria Math"/>
                      </a:rPr>
                      <m:t> </m:t>
                    </m:r>
                  </m:oMath>
                </a14:m>
                <a:endParaRPr lang="en-GB" b="0" i="0" noProof="0" dirty="0">
                  <a:latin typeface="Cambria Math" panose="02040503050406030204" pitchFamily="18" charset="0"/>
                  <a:ea typeface="Cambria Math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m:rPr>
                          <m:sty m:val="p"/>
                        </m:rPr>
                        <a:rPr lang="en-GB" i="1" noProof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Φ</m:t>
                      </m:r>
                      <m:d>
                        <m:dPr>
                          <m:ctrlPr>
                            <a:rPr lang="en-GB" i="1" noProof="0" smtClean="0">
                              <a:latin typeface="Cambria Math"/>
                              <a:ea typeface="Cambria Math"/>
                            </a:rPr>
                          </m:ctrlPr>
                        </m:dPr>
                        <m:e>
                          <m:r>
                            <a:rPr lang="en-GB" i="1" noProof="0" smtClean="0">
                              <a:latin typeface="Cambria Math"/>
                              <a:ea typeface="Cambria Math"/>
                            </a:rPr>
                            <m:t>𝐵</m:t>
                          </m:r>
                        </m:e>
                      </m:d>
                      <m:r>
                        <m:rPr>
                          <m:sty m:val="p"/>
                        </m:rPr>
                        <a:rPr lang="en-GB" i="1" noProof="0" smtClean="0">
                          <a:latin typeface="Cambria Math"/>
                          <a:ea typeface="Cambria Math"/>
                        </a:rPr>
                        <m:t>Δ</m:t>
                      </m:r>
                      <m:d>
                        <m:dPr>
                          <m:ctrlPr>
                            <a:rPr lang="en-GB" i="1" noProof="0" smtClean="0">
                              <a:latin typeface="Cambria Math"/>
                              <a:ea typeface="Cambria Math"/>
                            </a:rPr>
                          </m:ctrlPr>
                        </m:dPr>
                        <m:e>
                          <m:r>
                            <a:rPr lang="en-GB" i="1" noProof="0" smtClean="0">
                              <a:latin typeface="Cambria Math"/>
                              <a:ea typeface="Cambria Math"/>
                            </a:rPr>
                            <m:t>𝐵</m:t>
                          </m:r>
                        </m:e>
                      </m:d>
                      <m:sSub>
                        <m:sSubPr>
                          <m:ctrlPr>
                            <a:rPr lang="en-GB" i="1" noProof="0" smtClean="0">
                              <a:latin typeface="Cambria Math" panose="02040503050406030204" pitchFamily="18" charset="0"/>
                              <a:ea typeface="Cambria Math"/>
                            </a:rPr>
                          </m:ctrlPr>
                        </m:sSubPr>
                        <m:e>
                          <m:r>
                            <a:rPr lang="en-GB" i="1" noProof="0" smtClean="0">
                              <a:latin typeface="Cambria Math" panose="02040503050406030204" pitchFamily="18" charset="0"/>
                              <a:ea typeface="Cambria Math"/>
                            </a:rPr>
                            <m:t>𝑦</m:t>
                          </m:r>
                        </m:e>
                        <m:sub>
                          <m:r>
                            <a:rPr lang="en-GB" i="1" noProof="0" smtClean="0">
                              <a:latin typeface="Cambria Math" panose="02040503050406030204" pitchFamily="18" charset="0"/>
                              <a:ea typeface="Cambria Math"/>
                            </a:rPr>
                            <m:t>𝑡</m:t>
                          </m:r>
                        </m:sub>
                      </m:sSub>
                      <m:r>
                        <a:rPr lang="en-GB" i="1" noProof="0" smtClean="0">
                          <a:latin typeface="Cambria Math" panose="02040503050406030204" pitchFamily="18" charset="0"/>
                          <a:ea typeface="Cambria Math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GB" i="1" noProof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Θ</m:t>
                      </m:r>
                      <m:r>
                        <a:rPr lang="en-GB" i="1" noProof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r>
                        <a:rPr lang="en-GB" i="1" noProof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𝐵</m:t>
                      </m:r>
                      <m:r>
                        <a:rPr lang="en-GB" i="1" noProof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  <m:sSub>
                        <m:sSubPr>
                          <m:ctrlPr>
                            <a:rPr lang="en-GB" i="1" noProof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 noProof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𝜀</m:t>
                          </m:r>
                        </m:e>
                        <m:sub>
                          <m:r>
                            <a:rPr lang="en-GB" i="1" noProof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m:oMathPara>
                </a14:m>
                <a:endParaRPr lang="en-GB" noProof="0" dirty="0"/>
              </a:p>
              <a:p>
                <a:r>
                  <a:rPr lang="en-GB" noProof="0" dirty="0"/>
                  <a:t>Factorization of the AR polynomial:</a:t>
                </a:r>
              </a:p>
              <a:p>
                <a:pPr marL="914400" lvl="2" indent="0">
                  <a:buNone/>
                </a:pPr>
                <a14:m>
                  <m:oMathPara xmlns:m="http://schemas.openxmlformats.org/officeDocument/2006/math">
                    <m:oMath>
                      <m:r>
                        <m:rPr>
                          <m:sty m:val="p"/>
                        </m:rPr>
                        <a:rPr lang="en-GB" i="1" noProof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Φ</m:t>
                      </m:r>
                      <m:d>
                        <m:dPr>
                          <m:ctrlPr>
                            <a:rPr lang="en-GB" b="0" i="1" noProof="0" smtClean="0">
                              <a:latin typeface="Cambria Math"/>
                              <a:ea typeface="Cambria Math"/>
                            </a:rPr>
                          </m:ctrlPr>
                        </m:dPr>
                        <m:e>
                          <m:r>
                            <a:rPr lang="en-GB" b="0" i="1" noProof="0" smtClean="0">
                              <a:latin typeface="Cambria Math"/>
                              <a:ea typeface="Cambria Math"/>
                            </a:rPr>
                            <m:t>𝐵</m:t>
                          </m:r>
                        </m:e>
                      </m:d>
                      <m:r>
                        <m:rPr>
                          <m:sty m:val="p"/>
                        </m:rPr>
                        <a:rPr lang="en-GB" i="1" noProof="0" smtClean="0">
                          <a:latin typeface="Cambria Math"/>
                          <a:ea typeface="Cambria Math"/>
                        </a:rPr>
                        <m:t>Δ</m:t>
                      </m:r>
                      <m:d>
                        <m:dPr>
                          <m:ctrlPr>
                            <a:rPr lang="en-GB" b="0" i="1" noProof="0" smtClean="0">
                              <a:latin typeface="Cambria Math"/>
                              <a:ea typeface="Cambria Math"/>
                            </a:rPr>
                          </m:ctrlPr>
                        </m:dPr>
                        <m:e>
                          <m:r>
                            <a:rPr lang="en-GB" b="0" i="1" noProof="0" smtClean="0">
                              <a:latin typeface="Cambria Math"/>
                              <a:ea typeface="Cambria Math"/>
                            </a:rPr>
                            <m:t>𝐵</m:t>
                          </m:r>
                        </m:e>
                      </m:d>
                      <m:r>
                        <a:rPr lang="en-GB" b="0" i="1" noProof="0" smtClean="0">
                          <a:latin typeface="Cambria Math"/>
                          <a:ea typeface="Cambria Math"/>
                        </a:rPr>
                        <m:t>=</m:t>
                      </m:r>
                      <m:nary>
                        <m:naryPr>
                          <m:chr m:val="∏"/>
                          <m:subHide m:val="on"/>
                          <m:supHide m:val="on"/>
                          <m:ctrlPr>
                            <a:rPr lang="en-GB" b="0" i="1" noProof="0" smtClean="0">
                              <a:latin typeface="Cambria Math" panose="02040503050406030204" pitchFamily="18" charset="0"/>
                              <a:ea typeface="Cambria Math"/>
                            </a:rPr>
                          </m:ctrlPr>
                        </m:naryPr>
                        <m:sub/>
                        <m:sup/>
                        <m:e>
                          <m:r>
                            <a:rPr lang="en-GB" b="0" i="1" noProof="0" smtClean="0">
                              <a:latin typeface="Cambria Math"/>
                              <a:ea typeface="Cambria Math"/>
                            </a:rPr>
                            <m:t>(1−</m:t>
                          </m:r>
                          <m:sSub>
                            <m:sSubPr>
                              <m:ctrlPr>
                                <a:rPr lang="en-GB" i="1" noProof="0" smtClean="0">
                                  <a:latin typeface="Cambria Math"/>
                                  <a:ea typeface="Cambria Math"/>
                                </a:rPr>
                              </m:ctrlPr>
                            </m:sSubPr>
                            <m:e>
                              <m:r>
                                <a:rPr lang="en-GB" i="1" noProof="0" smtClean="0">
                                  <a:latin typeface="Cambria Math"/>
                                  <a:ea typeface="Cambria Math"/>
                                </a:rPr>
                                <m:t>𝛼</m:t>
                              </m:r>
                            </m:e>
                            <m:sub>
                              <m:r>
                                <a:rPr lang="en-GB" b="0" i="1" noProof="0" smtClean="0">
                                  <a:latin typeface="Cambria Math"/>
                                  <a:ea typeface="Cambria Math"/>
                                </a:rPr>
                                <m:t>𝑖</m:t>
                              </m:r>
                            </m:sub>
                          </m:sSub>
                          <m:r>
                            <a:rPr lang="en-GB" b="0" i="1" noProof="0" smtClean="0">
                              <a:latin typeface="Cambria Math"/>
                              <a:ea typeface="Cambria Math"/>
                            </a:rPr>
                            <m:t>𝐵</m:t>
                          </m:r>
                          <m:r>
                            <a:rPr lang="en-GB" b="0" i="1" noProof="0" smtClean="0">
                              <a:latin typeface="Cambria Math"/>
                              <a:ea typeface="Cambria Math"/>
                            </a:rPr>
                            <m:t>)</m:t>
                          </m:r>
                        </m:e>
                      </m:nary>
                    </m:oMath>
                  </m:oMathPara>
                </a14:m>
                <a:endParaRPr lang="en-GB" b="0" noProof="0" dirty="0">
                  <a:ea typeface="Cambria Math"/>
                </a:endParaRPr>
              </a:p>
              <a:p>
                <a:pPr lvl="1"/>
                <a:r>
                  <a:rPr lang="en-GB" noProof="0" dirty="0"/>
                  <a:t>Trend-cycle</a:t>
                </a:r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en-GB" i="1" noProof="0" smtClean="0">
                            <a:latin typeface="Cambria Math"/>
                            <a:ea typeface="Cambria Math"/>
                          </a:rPr>
                        </m:ctrlPr>
                      </m:sSubPr>
                      <m:e>
                        <m:r>
                          <a:rPr lang="en-GB" i="1" noProof="0" smtClean="0">
                            <a:latin typeface="Cambria Math"/>
                            <a:ea typeface="Cambria Math"/>
                          </a:rPr>
                          <m:t>𝛼</m:t>
                        </m:r>
                      </m:e>
                      <m:sub>
                        <m:r>
                          <a:rPr lang="en-GB" i="1" noProof="0" smtClean="0">
                            <a:latin typeface="Cambria Math"/>
                            <a:ea typeface="Cambria Math"/>
                          </a:rPr>
                          <m:t>𝑖</m:t>
                        </m:r>
                      </m:sub>
                    </m:sSub>
                    <m:r>
                      <a:rPr lang="en-GB" b="0" i="0" noProof="0" smtClean="0">
                        <a:latin typeface="Cambria Math"/>
                        <a:ea typeface="Cambria Math"/>
                      </a:rPr>
                      <m:t> </m:t>
                    </m:r>
                    <m:r>
                      <m:rPr>
                        <m:sty m:val="p"/>
                      </m:rPr>
                      <a:rPr lang="en-GB" b="0" i="0" noProof="0" smtClean="0">
                        <a:latin typeface="Cambria Math"/>
                        <a:ea typeface="Cambria Math"/>
                      </a:rPr>
                      <m:t>real</m:t>
                    </m:r>
                    <m:r>
                      <a:rPr lang="en-GB" b="0" i="0" noProof="0" smtClean="0">
                        <a:latin typeface="Cambria Math"/>
                        <a:ea typeface="Cambria Math"/>
                      </a:rPr>
                      <m:t>, </m:t>
                    </m:r>
                  </m:oMath>
                </a14:m>
                <a:endParaRPr lang="en-GB" b="0" i="0" noProof="0" dirty="0">
                  <a:latin typeface="Cambria Math"/>
                  <a:ea typeface="Cambria Math"/>
                </a:endParaRPr>
              </a:p>
              <a:p>
                <a:pPr lvl="3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GB" i="1" noProof="0" smtClean="0">
                            <a:latin typeface="Cambria Math"/>
                            <a:ea typeface="Cambria Math"/>
                          </a:rPr>
                        </m:ctrlPr>
                      </m:sSubPr>
                      <m:e>
                        <m:r>
                          <a:rPr lang="en-GB" i="1" noProof="0" smtClean="0">
                            <a:latin typeface="Cambria Math"/>
                            <a:ea typeface="Cambria Math"/>
                          </a:rPr>
                          <m:t>𝛼</m:t>
                        </m:r>
                      </m:e>
                      <m:sub>
                        <m:r>
                          <a:rPr lang="en-GB" i="1" noProof="0" smtClean="0">
                            <a:latin typeface="Cambria Math"/>
                            <a:ea typeface="Cambria Math"/>
                          </a:rPr>
                          <m:t>𝑖</m:t>
                        </m:r>
                      </m:sub>
                    </m:sSub>
                    <m:r>
                      <a:rPr lang="en-GB" b="0" i="1" noProof="0" smtClean="0">
                        <a:latin typeface="Cambria Math"/>
                        <a:ea typeface="Cambria Math"/>
                      </a:rPr>
                      <m:t>≥</m:t>
                    </m:r>
                    <m:r>
                      <a:rPr lang="en-GB" b="0" i="1" noProof="0" smtClean="0">
                        <a:latin typeface="Cambria Math"/>
                        <a:ea typeface="Cambria Math"/>
                      </a:rPr>
                      <m:t>𝑘</m:t>
                    </m:r>
                  </m:oMath>
                </a14:m>
                <a:endParaRPr lang="en-GB" noProof="0" dirty="0"/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en-GB" i="1" noProof="0" smtClean="0">
                            <a:latin typeface="Cambria Math"/>
                            <a:ea typeface="Cambria Math"/>
                          </a:rPr>
                        </m:ctrlPr>
                      </m:sSubPr>
                      <m:e>
                        <m:r>
                          <a:rPr lang="en-GB" i="1" noProof="0" smtClean="0">
                            <a:latin typeface="Cambria Math"/>
                            <a:ea typeface="Cambria Math"/>
                          </a:rPr>
                          <m:t>𝛼</m:t>
                        </m:r>
                      </m:e>
                      <m:sub>
                        <m:r>
                          <a:rPr lang="en-GB" i="1" noProof="0" smtClean="0">
                            <a:latin typeface="Cambria Math"/>
                            <a:ea typeface="Cambria Math"/>
                          </a:rPr>
                          <m:t>𝑖</m:t>
                        </m:r>
                      </m:sub>
                    </m:sSub>
                    <m:r>
                      <a:rPr lang="en-GB" noProof="0" smtClean="0">
                        <a:latin typeface="Cambria Math"/>
                        <a:ea typeface="Cambria Math"/>
                      </a:rPr>
                      <m:t> </m:t>
                    </m:r>
                    <m:r>
                      <m:rPr>
                        <m:sty m:val="p"/>
                      </m:rPr>
                      <a:rPr lang="en-GB" b="0" i="0" noProof="0" smtClean="0">
                        <a:latin typeface="Cambria Math"/>
                        <a:ea typeface="Cambria Math"/>
                      </a:rPr>
                      <m:t>complex</m:t>
                    </m:r>
                    <m:r>
                      <a:rPr lang="en-GB" noProof="0" smtClean="0">
                        <a:latin typeface="Cambria Math"/>
                        <a:ea typeface="Cambria Math"/>
                      </a:rPr>
                      <m:t>, </m:t>
                    </m:r>
                  </m:oMath>
                </a14:m>
                <a:endParaRPr lang="en-GB" noProof="0" dirty="0">
                  <a:latin typeface="Cambria Math"/>
                  <a:ea typeface="Cambria Math"/>
                </a:endParaRPr>
              </a:p>
              <a:p>
                <a:pPr lvl="3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GB" i="1" noProof="0" smtClean="0">
                            <a:latin typeface="Cambria Math" panose="02040503050406030204" pitchFamily="18" charset="0"/>
                            <a:ea typeface="Cambria Math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GB" i="1" noProof="0" smtClean="0">
                                <a:latin typeface="Cambria Math"/>
                                <a:ea typeface="Cambria Math"/>
                              </a:rPr>
                            </m:ctrlPr>
                          </m:sSubPr>
                          <m:e>
                            <m:r>
                              <a:rPr lang="en-GB" i="1" noProof="0" smtClean="0">
                                <a:latin typeface="Cambria Math"/>
                                <a:ea typeface="Cambria Math"/>
                              </a:rPr>
                              <m:t>𝛼</m:t>
                            </m:r>
                          </m:e>
                          <m:sub>
                            <m:r>
                              <a:rPr lang="en-GB" i="1" noProof="0" smtClean="0">
                                <a:latin typeface="Cambria Math"/>
                                <a:ea typeface="Cambria Math"/>
                              </a:rPr>
                              <m:t>𝑖</m:t>
                            </m:r>
                          </m:sub>
                        </m:sSub>
                      </m:e>
                    </m:d>
                    <m:r>
                      <a:rPr lang="en-GB" i="1" noProof="0" smtClean="0">
                        <a:latin typeface="Cambria Math"/>
                        <a:ea typeface="Cambria Math"/>
                      </a:rPr>
                      <m:t>≥</m:t>
                    </m:r>
                    <m:r>
                      <a:rPr lang="en-GB" i="1" noProof="0" smtClean="0">
                        <a:latin typeface="Cambria Math"/>
                        <a:ea typeface="Cambria Math"/>
                      </a:rPr>
                      <m:t>𝑘</m:t>
                    </m:r>
                    <m:r>
                      <a:rPr lang="en-GB" b="0" i="1" noProof="0" smtClean="0">
                        <a:latin typeface="Cambria Math"/>
                        <a:ea typeface="Cambria Math"/>
                      </a:rPr>
                      <m:t>, </m:t>
                    </m:r>
                    <m:r>
                      <m:rPr>
                        <m:sty m:val="p"/>
                      </m:rPr>
                      <a:rPr lang="en-GB" b="0" i="0" noProof="0" smtClean="0">
                        <a:latin typeface="Cambria Math"/>
                        <a:ea typeface="Cambria Math"/>
                      </a:rPr>
                      <m:t>arg</m:t>
                    </m:r>
                    <m:r>
                      <a:rPr lang="en-GB" b="0" i="0" noProof="0" smtClean="0">
                        <a:latin typeface="Cambria Math"/>
                        <a:ea typeface="Cambria Math"/>
                      </a:rPr>
                      <m:t>(</m:t>
                    </m:r>
                    <m:sSub>
                      <m:sSubPr>
                        <m:ctrlPr>
                          <a:rPr lang="en-GB" i="1" noProof="0" smtClean="0">
                            <a:latin typeface="Cambria Math"/>
                            <a:ea typeface="Cambria Math"/>
                          </a:rPr>
                        </m:ctrlPr>
                      </m:sSubPr>
                      <m:e>
                        <m:r>
                          <a:rPr lang="en-GB" i="1" noProof="0" smtClean="0">
                            <a:latin typeface="Cambria Math"/>
                            <a:ea typeface="Cambria Math"/>
                          </a:rPr>
                          <m:t>𝛼</m:t>
                        </m:r>
                      </m:e>
                      <m:sub>
                        <m:r>
                          <a:rPr lang="en-GB" i="1" noProof="0" smtClean="0">
                            <a:latin typeface="Cambria Math"/>
                            <a:ea typeface="Cambria Math"/>
                          </a:rPr>
                          <m:t>𝑖</m:t>
                        </m:r>
                      </m:sub>
                    </m:sSub>
                    <m:r>
                      <a:rPr lang="en-GB" b="0" i="1" noProof="0" smtClean="0">
                        <a:latin typeface="Cambria Math"/>
                        <a:ea typeface="Cambria Math"/>
                      </a:rPr>
                      <m:t>)</m:t>
                    </m:r>
                    <m:r>
                      <a:rPr lang="en-GB" i="1" noProof="0" smtClean="0">
                        <a:latin typeface="Cambria Math"/>
                        <a:ea typeface="Cambria Math"/>
                      </a:rPr>
                      <m:t>≤</m:t>
                    </m:r>
                    <m:r>
                      <a:rPr lang="en-GB" b="0" i="1" noProof="0" smtClean="0">
                        <a:latin typeface="Cambria Math"/>
                        <a:ea typeface="Cambria Math"/>
                      </a:rPr>
                      <m:t>𝑐</m:t>
                    </m:r>
                  </m:oMath>
                </a14:m>
                <a:r>
                  <a:rPr lang="en-GB" noProof="0" dirty="0"/>
                  <a:t> </a:t>
                </a:r>
              </a:p>
              <a:p>
                <a:pPr lvl="3">
                  <a:buFont typeface="Arial" panose="020B0604020202020204" pitchFamily="34" charset="0"/>
                  <a:buChar char="•"/>
                </a:pPr>
                <a:endParaRPr lang="en-GB" noProof="0" dirty="0"/>
              </a:p>
              <a:p>
                <a:pPr marL="914400" lvl="2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d>
                        <m:dPr>
                          <m:ctrlPr>
                            <a:rPr lang="en-GB" sz="1400" i="1" noProof="0" smtClean="0">
                              <a:latin typeface="Cambria Math"/>
                            </a:rPr>
                          </m:ctrlPr>
                        </m:dPr>
                        <m:e>
                          <m:r>
                            <a:rPr lang="en-GB" sz="1400" i="1" noProof="0" smtClean="0">
                              <a:latin typeface="Cambria Math"/>
                            </a:rPr>
                            <m:t>𝑐</m:t>
                          </m:r>
                          <m:r>
                            <a:rPr lang="en-GB" sz="1400" i="1" noProof="0" smtClean="0">
                              <a:latin typeface="Cambria Math"/>
                            </a:rPr>
                            <m:t>=</m:t>
                          </m:r>
                          <m:f>
                            <m:fPr>
                              <m:ctrlPr>
                                <a:rPr lang="en-GB" sz="1400" i="1" noProof="0" smtClean="0">
                                  <a:latin typeface="Cambria Math"/>
                                  <a:ea typeface="Cambria Math"/>
                                </a:rPr>
                              </m:ctrlPr>
                            </m:fPr>
                            <m:num>
                              <m:r>
                                <a:rPr lang="en-GB" sz="1400" i="1" noProof="0" smtClean="0">
                                  <a:latin typeface="Cambria Math"/>
                                  <a:ea typeface="Cambria Math"/>
                                </a:rPr>
                                <m:t>𝜋</m:t>
                              </m:r>
                            </m:num>
                            <m:den>
                              <m:r>
                                <a:rPr lang="en-GB" sz="1400" i="1" noProof="0" smtClean="0">
                                  <a:latin typeface="Cambria Math"/>
                                  <a:ea typeface="Cambria Math"/>
                                </a:rPr>
                                <m:t>𝑠</m:t>
                              </m:r>
                            </m:den>
                          </m:f>
                        </m:e>
                      </m:d>
                      <m:r>
                        <a:rPr lang="en-GB" sz="1400" i="1" noProof="0" smtClean="0">
                          <a:latin typeface="Cambria Math"/>
                          <a:ea typeface="Cambria Math"/>
                        </a:rPr>
                        <m:t>~</m:t>
                      </m:r>
                      <m:r>
                        <a:rPr lang="en-GB" sz="1400" i="1" noProof="0" smtClean="0">
                          <a:latin typeface="Cambria Math"/>
                          <a:ea typeface="Cambria Math"/>
                        </a:rPr>
                        <m:t>𝑐𝑦𝑐𝑙𝑒</m:t>
                      </m:r>
                      <m:r>
                        <a:rPr lang="en-GB" sz="1400" i="1" noProof="0" smtClean="0">
                          <a:latin typeface="Cambria Math"/>
                          <a:ea typeface="Cambria Math"/>
                        </a:rPr>
                        <m:t> </m:t>
                      </m:r>
                      <m:r>
                        <a:rPr lang="en-GB" sz="1400" i="1" noProof="0" smtClean="0">
                          <a:latin typeface="Cambria Math"/>
                          <a:ea typeface="Cambria Math"/>
                        </a:rPr>
                        <m:t>𝑙𝑒𝑛𝑔𝑡ℎ</m:t>
                      </m:r>
                      <m:r>
                        <a:rPr lang="en-GB" sz="1400" i="1" noProof="0" smtClean="0">
                          <a:latin typeface="Cambria Math"/>
                          <a:ea typeface="Cambria Math"/>
                        </a:rPr>
                        <m:t>≥</m:t>
                      </m:r>
                      <m:r>
                        <a:rPr lang="en-GB" sz="1400" i="1" noProof="0" smtClean="0">
                          <a:latin typeface="Cambria Math"/>
                          <a:ea typeface="Cambria Math"/>
                        </a:rPr>
                        <m:t>𝑡𝑤𝑜</m:t>
                      </m:r>
                      <m:r>
                        <a:rPr lang="en-GB" sz="1400" i="1" noProof="0" smtClean="0">
                          <a:latin typeface="Cambria Math"/>
                          <a:ea typeface="Cambria Math"/>
                        </a:rPr>
                        <m:t> </m:t>
                      </m:r>
                      <m:r>
                        <a:rPr lang="en-GB" sz="1400" i="1" noProof="0" smtClean="0">
                          <a:latin typeface="Cambria Math"/>
                          <a:ea typeface="Cambria Math"/>
                        </a:rPr>
                        <m:t>𝑦𝑒𝑎𝑟𝑠</m:t>
                      </m:r>
                    </m:oMath>
                  </m:oMathPara>
                </a14:m>
                <a:endParaRPr lang="en-GB" sz="1400" noProof="0" dirty="0"/>
              </a:p>
              <a:p>
                <a:pPr lvl="2"/>
                <a:endParaRPr lang="en-GB" noProof="0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2"/>
              </p:nvPr>
            </p:nvSpPr>
            <p:spPr>
              <a:blipFill>
                <a:blip r:embed="rId2"/>
                <a:stretch>
                  <a:fillRect l="-754" t="-2086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Footer Placeholder 4"/>
          <p:cNvSpPr>
            <a:spLocks noGrp="1"/>
          </p:cNvSpPr>
          <p:nvPr>
            <p:ph type="ftr" sz="quarter" idx="4294967295"/>
          </p:nvPr>
        </p:nvSpPr>
        <p:spPr>
          <a:xfrm>
            <a:off x="0" y="0"/>
            <a:ext cx="0" cy="0"/>
          </a:xfrm>
        </p:spPr>
        <p:txBody>
          <a:bodyPr/>
          <a:lstStyle/>
          <a:p>
            <a:r>
              <a:rPr lang="en-GB" noProof="0" dirty="0"/>
              <a:t>Model-based decomposition</a:t>
            </a:r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00057" y="3573017"/>
            <a:ext cx="3705225" cy="2352675"/>
          </a:xfrm>
          <a:prstGeom prst="rect">
            <a:avLst/>
          </a:prstGeom>
          <a:noFill/>
          <a:ln w="1270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</p:pic>
      <p:sp>
        <p:nvSpPr>
          <p:cNvPr id="9" name="TextBox 8"/>
          <p:cNvSpPr txBox="1"/>
          <p:nvPr/>
        </p:nvSpPr>
        <p:spPr>
          <a:xfrm>
            <a:off x="7461473" y="3068961"/>
            <a:ext cx="2843808" cy="307777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GB" noProof="0" dirty="0"/>
              <a:t>TrendCycleSelector.java</a:t>
            </a:r>
          </a:p>
        </p:txBody>
      </p:sp>
    </p:spTree>
    <p:extLst>
      <p:ext uri="{BB962C8B-B14F-4D97-AF65-F5344CB8AC3E}">
        <p14:creationId xmlns:p14="http://schemas.microsoft.com/office/powerpoint/2010/main" val="334383912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1981200" y="548681"/>
                <a:ext cx="8229600" cy="5577483"/>
              </a:xfrm>
            </p:spPr>
            <p:txBody>
              <a:bodyPr/>
              <a:lstStyle/>
              <a:p>
                <a:pPr lvl="1"/>
                <a:r>
                  <a:rPr lang="en-GB" noProof="0" dirty="0"/>
                  <a:t>Seasonal</a:t>
                </a:r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en-GB" i="1" noProof="0" smtClean="0">
                            <a:latin typeface="Cambria Math"/>
                            <a:ea typeface="Cambria Math"/>
                          </a:rPr>
                        </m:ctrlPr>
                      </m:sSubPr>
                      <m:e>
                        <m:r>
                          <a:rPr lang="en-GB" i="1" noProof="0" smtClean="0">
                            <a:latin typeface="Cambria Math"/>
                            <a:ea typeface="Cambria Math"/>
                          </a:rPr>
                          <m:t>𝛼</m:t>
                        </m:r>
                      </m:e>
                      <m:sub>
                        <m:r>
                          <a:rPr lang="en-GB" i="1" noProof="0" smtClean="0">
                            <a:latin typeface="Cambria Math"/>
                            <a:ea typeface="Cambria Math"/>
                          </a:rPr>
                          <m:t>𝑖</m:t>
                        </m:r>
                      </m:sub>
                    </m:sSub>
                    <m:r>
                      <a:rPr lang="en-GB" noProof="0" smtClean="0">
                        <a:latin typeface="Cambria Math"/>
                        <a:ea typeface="Cambria Math"/>
                      </a:rPr>
                      <m:t> </m:t>
                    </m:r>
                    <m:r>
                      <m:rPr>
                        <m:sty m:val="p"/>
                      </m:rPr>
                      <a:rPr lang="en-GB" noProof="0" smtClean="0">
                        <a:latin typeface="Cambria Math"/>
                        <a:ea typeface="Cambria Math"/>
                      </a:rPr>
                      <m:t>real</m:t>
                    </m:r>
                    <m:r>
                      <a:rPr lang="en-GB" noProof="0" smtClean="0">
                        <a:latin typeface="Cambria Math"/>
                        <a:ea typeface="Cambria Math"/>
                      </a:rPr>
                      <m:t>, </m:t>
                    </m:r>
                  </m:oMath>
                </a14:m>
                <a:endParaRPr lang="en-GB" noProof="0" dirty="0">
                  <a:latin typeface="Cambria Math"/>
                  <a:ea typeface="Cambria Math"/>
                </a:endParaRPr>
              </a:p>
              <a:p>
                <a:pPr lvl="3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GB" i="1" noProof="0" smtClean="0">
                            <a:latin typeface="Cambria Math"/>
                            <a:ea typeface="Cambria Math"/>
                          </a:rPr>
                        </m:ctrlPr>
                      </m:sSubPr>
                      <m:e>
                        <m:r>
                          <a:rPr lang="en-GB" i="1" noProof="0" smtClean="0">
                            <a:latin typeface="Cambria Math"/>
                            <a:ea typeface="Cambria Math"/>
                          </a:rPr>
                          <m:t>𝛼</m:t>
                        </m:r>
                      </m:e>
                      <m:sub>
                        <m:r>
                          <a:rPr lang="en-GB" i="1" noProof="0" smtClean="0">
                            <a:latin typeface="Cambria Math"/>
                            <a:ea typeface="Cambria Math"/>
                          </a:rPr>
                          <m:t>𝑖</m:t>
                        </m:r>
                      </m:sub>
                    </m:sSub>
                    <m:r>
                      <a:rPr lang="en-GB" b="0" i="1" noProof="0" smtClean="0">
                        <a:latin typeface="Cambria Math"/>
                        <a:ea typeface="Cambria Math"/>
                      </a:rPr>
                      <m:t>&lt;−</m:t>
                    </m:r>
                    <m:r>
                      <a:rPr lang="en-GB" b="0" i="1" noProof="0" smtClean="0">
                        <a:latin typeface="Cambria Math"/>
                        <a:ea typeface="Cambria Math"/>
                      </a:rPr>
                      <m:t>𝑙</m:t>
                    </m:r>
                  </m:oMath>
                </a14:m>
                <a:endParaRPr lang="en-GB" noProof="0" dirty="0"/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en-GB" i="1" noProof="0" smtClean="0">
                            <a:latin typeface="Cambria Math"/>
                            <a:ea typeface="Cambria Math"/>
                          </a:rPr>
                        </m:ctrlPr>
                      </m:sSubPr>
                      <m:e>
                        <m:r>
                          <a:rPr lang="en-GB" i="1" noProof="0" smtClean="0">
                            <a:latin typeface="Cambria Math"/>
                            <a:ea typeface="Cambria Math"/>
                          </a:rPr>
                          <m:t>𝛼</m:t>
                        </m:r>
                      </m:e>
                      <m:sub>
                        <m:r>
                          <a:rPr lang="en-GB" i="1" noProof="0" smtClean="0">
                            <a:latin typeface="Cambria Math"/>
                            <a:ea typeface="Cambria Math"/>
                          </a:rPr>
                          <m:t>𝑖</m:t>
                        </m:r>
                      </m:sub>
                    </m:sSub>
                    <m:r>
                      <a:rPr lang="en-GB" noProof="0" smtClean="0">
                        <a:latin typeface="Cambria Math"/>
                        <a:ea typeface="Cambria Math"/>
                      </a:rPr>
                      <m:t> </m:t>
                    </m:r>
                    <m:r>
                      <m:rPr>
                        <m:sty m:val="p"/>
                      </m:rPr>
                      <a:rPr lang="en-GB" noProof="0" smtClean="0">
                        <a:latin typeface="Cambria Math"/>
                        <a:ea typeface="Cambria Math"/>
                      </a:rPr>
                      <m:t>complex</m:t>
                    </m:r>
                    <m:r>
                      <a:rPr lang="en-GB" noProof="0" smtClean="0">
                        <a:latin typeface="Cambria Math"/>
                        <a:ea typeface="Cambria Math"/>
                      </a:rPr>
                      <m:t>, </m:t>
                    </m:r>
                  </m:oMath>
                </a14:m>
                <a:endParaRPr lang="en-GB" noProof="0" dirty="0">
                  <a:latin typeface="Cambria Math"/>
                  <a:ea typeface="Cambria Math"/>
                </a:endParaRPr>
              </a:p>
              <a:p>
                <a:pPr lvl="3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GB" noProof="0" smtClean="0">
                            <a:latin typeface="Cambria Math"/>
                            <a:ea typeface="Cambria Math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GB" noProof="0" smtClean="0">
                            <a:latin typeface="Cambria Math"/>
                            <a:ea typeface="Cambria Math"/>
                          </a:rPr>
                          <m:t>arg</m:t>
                        </m:r>
                        <m:d>
                          <m:dPr>
                            <m:ctrlPr>
                              <a:rPr lang="en-GB" i="1" noProof="0" smtClean="0">
                                <a:latin typeface="Cambria Math" panose="02040503050406030204" pitchFamily="18" charset="0"/>
                                <a:ea typeface="Cambria Math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GB" i="1" noProof="0" smtClean="0">
                                    <a:latin typeface="Cambria Math"/>
                                    <a:ea typeface="Cambria Math"/>
                                  </a:rPr>
                                </m:ctrlPr>
                              </m:sSubPr>
                              <m:e>
                                <m:r>
                                  <a:rPr lang="en-GB" i="1" noProof="0" smtClean="0">
                                    <a:latin typeface="Cambria Math"/>
                                    <a:ea typeface="Cambria Math"/>
                                  </a:rPr>
                                  <m:t>𝛼</m:t>
                                </m:r>
                              </m:e>
                              <m:sub>
                                <m:r>
                                  <a:rPr lang="en-GB" i="1" noProof="0" smtClean="0">
                                    <a:latin typeface="Cambria Math"/>
                                    <a:ea typeface="Cambria Math"/>
                                  </a:rPr>
                                  <m:t>𝑖</m:t>
                                </m:r>
                              </m:sub>
                            </m:sSub>
                          </m:e>
                        </m:d>
                        <m:r>
                          <a:rPr lang="en-GB" i="1" noProof="0" smtClean="0">
                            <a:latin typeface="Cambria Math"/>
                            <a:ea typeface="Cambria Math"/>
                          </a:rPr>
                          <m:t>−</m:t>
                        </m:r>
                        <m:sSub>
                          <m:sSubPr>
                            <m:ctrlPr>
                              <a:rPr lang="en-GB" i="1" noProof="0" smtClean="0">
                                <a:latin typeface="Cambria Math"/>
                                <a:ea typeface="Cambria Math"/>
                              </a:rPr>
                            </m:ctrlPr>
                          </m:sSubPr>
                          <m:e>
                            <m:r>
                              <a:rPr lang="en-GB" i="1" noProof="0" smtClean="0">
                                <a:latin typeface="Cambria Math"/>
                                <a:ea typeface="Cambria Math"/>
                              </a:rPr>
                              <m:t>𝑓</m:t>
                            </m:r>
                          </m:e>
                          <m:sub>
                            <m:r>
                              <a:rPr lang="en-GB" b="0" i="1" noProof="0" smtClean="0">
                                <a:latin typeface="Cambria Math"/>
                                <a:ea typeface="Cambria Math"/>
                              </a:rPr>
                              <m:t>𝑠</m:t>
                            </m:r>
                          </m:sub>
                        </m:sSub>
                      </m:e>
                    </m:d>
                    <m:r>
                      <a:rPr lang="en-GB" i="1" noProof="0" smtClean="0">
                        <a:latin typeface="Cambria Math"/>
                        <a:ea typeface="Cambria Math"/>
                      </a:rPr>
                      <m:t>≤</m:t>
                    </m:r>
                    <m:r>
                      <a:rPr lang="en-GB" b="0" i="1" noProof="0" smtClean="0">
                        <a:latin typeface="Cambria Math"/>
                        <a:ea typeface="Cambria Math"/>
                      </a:rPr>
                      <m:t>𝑒</m:t>
                    </m:r>
                  </m:oMath>
                </a14:m>
                <a:r>
                  <a:rPr lang="en-GB" noProof="0" dirty="0"/>
                  <a:t> </a:t>
                </a:r>
              </a:p>
              <a:p>
                <a:pPr marL="1371600" lvl="3" indent="0">
                  <a:buNone/>
                </a:pPr>
                <a:endParaRPr lang="en-GB" i="1" noProof="0" dirty="0">
                  <a:latin typeface="Cambria Math"/>
                  <a:ea typeface="Cambria Math"/>
                </a:endParaRPr>
              </a:p>
              <a:p>
                <a:pPr marL="1371600" lvl="3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sSub>
                        <m:sSubPr>
                          <m:ctrlPr>
                            <a:rPr lang="en-GB" i="1" noProof="0" smtClean="0">
                              <a:latin typeface="Cambria Math"/>
                              <a:ea typeface="Cambria Math"/>
                            </a:rPr>
                          </m:ctrlPr>
                        </m:sSubPr>
                        <m:e>
                          <m:r>
                            <a:rPr lang="en-GB" i="1" noProof="0" smtClean="0">
                              <a:latin typeface="Cambria Math"/>
                              <a:ea typeface="Cambria Math"/>
                            </a:rPr>
                            <m:t>𝑓</m:t>
                          </m:r>
                        </m:e>
                        <m:sub>
                          <m:r>
                            <a:rPr lang="en-GB" i="1" noProof="0" smtClean="0">
                              <a:latin typeface="Cambria Math"/>
                              <a:ea typeface="Cambria Math"/>
                            </a:rPr>
                            <m:t>𝑠</m:t>
                          </m:r>
                        </m:sub>
                      </m:sSub>
                      <m:r>
                        <a:rPr lang="en-GB" i="1" noProof="0" smtClean="0">
                          <a:latin typeface="Cambria Math"/>
                          <a:ea typeface="Cambria Math"/>
                        </a:rPr>
                        <m:t> </m:t>
                      </m:r>
                      <m:r>
                        <a:rPr lang="en-GB" i="1" noProof="0" smtClean="0">
                          <a:latin typeface="Cambria Math"/>
                          <a:ea typeface="Cambria Math"/>
                        </a:rPr>
                        <m:t>𝑠𝑒𝑎𝑠𝑜𝑛𝑎𝑙</m:t>
                      </m:r>
                      <m:r>
                        <a:rPr lang="en-GB" i="1" noProof="0" smtClean="0">
                          <a:latin typeface="Cambria Math"/>
                          <a:ea typeface="Cambria Math"/>
                        </a:rPr>
                        <m:t> </m:t>
                      </m:r>
                      <m:r>
                        <a:rPr lang="en-GB" i="1" noProof="0" smtClean="0">
                          <a:latin typeface="Cambria Math"/>
                          <a:ea typeface="Cambria Math"/>
                        </a:rPr>
                        <m:t>𝑓𝑟𝑒𝑞𝑢𝑒𝑛𝑐𝑦</m:t>
                      </m:r>
                    </m:oMath>
                  </m:oMathPara>
                </a14:m>
                <a:endParaRPr lang="en-GB" noProof="0" dirty="0"/>
              </a:p>
              <a:p>
                <a:pPr marL="1371600" lvl="3" indent="0">
                  <a:buNone/>
                </a:pPr>
                <a:endParaRPr lang="en-GB" noProof="0" dirty="0"/>
              </a:p>
              <a:p>
                <a:pPr marL="971550" lvl="1" indent="-457200"/>
                <a:r>
                  <a:rPr lang="en-GB" noProof="0" dirty="0"/>
                  <a:t>Transitory (I)</a:t>
                </a:r>
              </a:p>
              <a:p>
                <a:pPr lvl="2" indent="-457200"/>
                <a:r>
                  <a:rPr lang="en-GB" noProof="0" dirty="0"/>
                  <a:t>All other roots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981200" y="548681"/>
                <a:ext cx="8229600" cy="5577483"/>
              </a:xfr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noProof="0" dirty="0"/>
              <a:t>Model-based decomposition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2E9969-9346-4095-A7C3-836AAB82C09A}" type="slidenum">
              <a:rPr lang="en-GB" noProof="0" smtClean="0"/>
              <a:t>12</a:t>
            </a:fld>
            <a:endParaRPr lang="en-GB" noProof="0" dirty="0"/>
          </a:p>
        </p:txBody>
      </p:sp>
      <p:pic>
        <p:nvPicPr>
          <p:cNvPr id="2050" name="Picture 2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84033" y="1092721"/>
            <a:ext cx="3419475" cy="2800350"/>
          </a:xfrm>
          <a:prstGeom prst="rect">
            <a:avLst/>
          </a:prstGeom>
          <a:noFill/>
          <a:ln w="1270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</p:pic>
      <p:sp>
        <p:nvSpPr>
          <p:cNvPr id="8" name="TextBox 7"/>
          <p:cNvSpPr txBox="1"/>
          <p:nvPr/>
        </p:nvSpPr>
        <p:spPr>
          <a:xfrm>
            <a:off x="7145418" y="692697"/>
            <a:ext cx="2843808" cy="307777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GB" noProof="0" dirty="0"/>
              <a:t>SeasonalSelector.java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54168134"/>
              </p:ext>
            </p:extLst>
          </p:nvPr>
        </p:nvGraphicFramePr>
        <p:xfrm>
          <a:off x="5231904" y="4581128"/>
          <a:ext cx="4757322" cy="16916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8803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7700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noProof="0" dirty="0"/>
                        <a:t>Trend boundary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i="1" noProof="0" dirty="0"/>
                        <a:t>k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noProof="0" dirty="0"/>
                        <a:t>Seasonal tolerance (degree)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i="1" noProof="0" dirty="0"/>
                        <a:t>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noProof="0" dirty="0"/>
                        <a:t>Seasonal boundary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i="1" noProof="0" dirty="0"/>
                        <a:t>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noProof="0" dirty="0" err="1"/>
                        <a:t>Seas.boundary</a:t>
                      </a:r>
                      <a:r>
                        <a:rPr lang="en-GB" noProof="0" dirty="0"/>
                        <a:t> (unique)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i="1" noProof="0" dirty="0"/>
                        <a:t>l</a:t>
                      </a:r>
                      <a:r>
                        <a:rPr lang="en-GB" i="1" baseline="0" noProof="0" dirty="0"/>
                        <a:t> </a:t>
                      </a:r>
                      <a:r>
                        <a:rPr lang="en-GB" sz="1600" i="1" baseline="0" noProof="0" dirty="0"/>
                        <a:t>(no seasonal part)</a:t>
                      </a:r>
                      <a:endParaRPr lang="en-GB" sz="1600" i="1" noProof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21343595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C62FB7-9BF9-F727-ADFB-5E13D3006E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2.3.1 Airline model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BC24608-F47B-3B45-8DF7-02AC1631B79F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F12E9969-9346-4095-A7C3-836AAB82C09A}" type="slidenum">
              <a:rPr lang="en-GB" noProof="0" smtClean="0"/>
              <a:t>13</a:t>
            </a:fld>
            <a:endParaRPr lang="en-GB" noProof="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3BC01B2-B94B-F977-A448-FEC7CAE8ACEC}"/>
                  </a:ext>
                </a:extLst>
              </p:cNvPr>
              <p:cNvSpPr>
                <a:spLocks noGrp="1"/>
              </p:cNvSpPr>
              <p:nvPr>
                <p:ph sz="half" idx="2"/>
              </p:nvPr>
            </p:nvSpPr>
            <p:spPr/>
            <p:txBody>
              <a:bodyPr/>
              <a:lstStyle/>
              <a:p>
                <a:pPr marL="800100" lvl="2" indent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GB" sz="320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Δ</m:t>
                    </m:r>
                    <m:sSub>
                      <m:sSubPr>
                        <m:ctrlPr>
                          <a:rPr lang="en-GB" sz="320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GB" sz="320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Δ</m:t>
                        </m:r>
                      </m:e>
                      <m:sub>
                        <m:r>
                          <a:rPr lang="en-GB" sz="320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𝑓</m:t>
                        </m:r>
                      </m:sub>
                    </m:sSub>
                    <m:sSub>
                      <m:sSubPr>
                        <m:ctrlPr>
                          <a:rPr lang="en-GB" sz="320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320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GB" sz="320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GB" sz="320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GB" sz="320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Θ</m:t>
                    </m:r>
                    <m:r>
                      <a:rPr lang="en-GB" sz="320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en-GB" sz="320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𝐵</m:t>
                    </m:r>
                    <m:r>
                      <a:rPr lang="en-GB" sz="320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GB" sz="3200" noProof="0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GB" sz="320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Θ</m:t>
                    </m:r>
                    <m:d>
                      <m:dPr>
                        <m:ctrlPr>
                          <a:rPr lang="en-GB" sz="320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GB" sz="3200" i="1" noProof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GB" sz="3200" i="1" noProof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𝐵</m:t>
                            </m:r>
                          </m:e>
                          <m:sup>
                            <m:r>
                              <a:rPr lang="en-GB" sz="3200" i="1" noProof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𝑓</m:t>
                            </m:r>
                          </m:sup>
                        </m:sSup>
                      </m:e>
                    </m:d>
                  </m:oMath>
                </a14:m>
                <a:r>
                  <a:rPr lang="en-GB" sz="3200" noProof="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sz="320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320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𝜀</m:t>
                        </m:r>
                      </m:e>
                      <m:sub>
                        <m:r>
                          <a:rPr lang="en-GB" sz="3200" i="1" noProof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GB" sz="3200" i="1" noProof="0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GB" sz="3200" i="1" noProof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3200" i="1" noProof="0" smtClean="0">
                            <a:latin typeface="Cambria Math" panose="02040503050406030204" pitchFamily="18" charset="0"/>
                          </a:rPr>
                          <m:t>    </m:t>
                        </m:r>
                        <m:r>
                          <a:rPr lang="en-GB" sz="320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𝜀</m:t>
                        </m:r>
                      </m:e>
                      <m:sub>
                        <m:r>
                          <a:rPr lang="en-GB" sz="3200" i="1" noProof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GB" sz="320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~</m:t>
                    </m:r>
                    <m:r>
                      <a:rPr lang="en-GB" sz="320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𝑁</m:t>
                    </m:r>
                    <m:d>
                      <m:dPr>
                        <m:ctrlPr>
                          <a:rPr lang="en-GB" sz="320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GB" sz="320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0, </m:t>
                        </m:r>
                        <m:sSubSup>
                          <m:sSubSupPr>
                            <m:ctrlPr>
                              <a:rPr lang="en-GB" sz="3200" i="1" noProof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GB" sz="3200" i="1" noProof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𝜎</m:t>
                            </m:r>
                          </m:e>
                          <m:sub>
                            <m:r>
                              <a:rPr lang="en-GB" sz="3200" i="1" noProof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𝜀</m:t>
                            </m:r>
                          </m:sub>
                          <m:sup>
                            <m:r>
                              <a:rPr lang="en-GB" sz="3200" i="1" noProof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</m:e>
                    </m:d>
                  </m:oMath>
                </a14:m>
                <a:endParaRPr lang="en-GB" sz="3200" noProof="0" dirty="0">
                  <a:ea typeface="Cambria Math" panose="02040503050406030204" pitchFamily="18" charset="0"/>
                </a:endParaRPr>
              </a:p>
              <a:p>
                <a:pPr marL="800100" lvl="2" indent="0">
                  <a:buNone/>
                </a:pPr>
                <a:endParaRPr lang="en-GB" sz="3200" noProof="0" dirty="0">
                  <a:ea typeface="Cambria Math" panose="02040503050406030204" pitchFamily="18" charset="0"/>
                </a:endParaRPr>
              </a:p>
              <a:p>
                <a:pPr marL="1257300" lvl="3" indent="0">
                  <a:buNone/>
                </a:pPr>
                <a:r>
                  <a:rPr lang="en-GB" sz="2800" noProof="0" dirty="0"/>
                  <a:t>Or</a:t>
                </a:r>
              </a:p>
              <a:p>
                <a:pPr marL="1257300" lvl="3" indent="0">
                  <a:buNone/>
                </a:pPr>
                <a:endParaRPr lang="en-GB" sz="2800" noProof="0" dirty="0"/>
              </a:p>
              <a:p>
                <a:pPr marL="800100" lvl="2" indent="0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GB" sz="3200" i="1" noProof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3200" i="1" noProof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GB" sz="3200" i="1" noProof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GB" sz="3200" i="1" noProof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GB" sz="3200" i="1" noProof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sSub>
                            <m:sSubPr>
                              <m:ctrlPr>
                                <a:rPr lang="en-GB" sz="3200" i="1" noProof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3200" i="1" noProof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GB" sz="3200" i="1" noProof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GB" sz="3200" i="1" noProof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GB" sz="3200" i="1" noProof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</m:sub>
                          </m:sSub>
                          <m:r>
                            <a:rPr lang="en-GB" sz="3200" i="1" noProof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+(</m:t>
                          </m:r>
                          <m:r>
                            <a:rPr lang="en-GB" sz="3200" i="1" noProof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GB" sz="3200" i="1" noProof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  <m:r>
                            <a:rPr lang="en-GB" sz="3200" i="1" noProof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  <m:r>
                        <a:rPr lang="en-GB" sz="3200" i="1" noProof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en-GB" sz="3200" i="1" noProof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3200" i="1" noProof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GB" sz="3200" i="1" noProof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  <m:r>
                            <a:rPr lang="en-GB" sz="3200" i="1" noProof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r>
                            <a:rPr lang="en-GB" sz="3200" i="1" noProof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  <m:r>
                            <a:rPr lang="en-GB" sz="3200" i="1" noProof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  <m:r>
                        <a:rPr lang="en-GB" sz="3200" i="1" noProof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)+</m:t>
                      </m:r>
                    </m:oMath>
                  </m:oMathPara>
                </a14:m>
                <a:endParaRPr lang="en-GB" sz="3200" i="1" noProof="0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marL="800100" lvl="2" indent="0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GB" sz="3200" i="1" noProof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3200" i="1" noProof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𝜀</m:t>
                          </m:r>
                        </m:e>
                        <m:sub>
                          <m:r>
                            <a:rPr lang="en-GB" sz="3200" i="1" noProof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GB" sz="3200" i="1" noProof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GB" sz="3200" b="1" i="1" noProof="0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3200" b="1" i="1" noProof="0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𝜽</m:t>
                          </m:r>
                        </m:e>
                        <m:sub>
                          <m:r>
                            <a:rPr lang="en-GB" sz="3200" b="1" i="1" noProof="0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𝒇</m:t>
                          </m:r>
                        </m:sub>
                      </m:sSub>
                      <m:sSub>
                        <m:sSubPr>
                          <m:ctrlPr>
                            <a:rPr lang="en-GB" sz="3200" i="1" noProof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3200" i="1" noProof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𝜀</m:t>
                          </m:r>
                        </m:e>
                        <m:sub>
                          <m:r>
                            <a:rPr lang="en-GB" sz="3200" i="1" noProof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  <m:r>
                            <a:rPr lang="en-GB" sz="3200" i="1" noProof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r>
                            <a:rPr lang="en-GB" sz="3200" i="1" noProof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</m:sub>
                      </m:sSub>
                      <m:r>
                        <a:rPr lang="en-GB" sz="3200" i="1" noProof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r>
                        <a:rPr lang="en-GB" sz="3200" b="1" i="1" noProof="0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𝜽</m:t>
                      </m:r>
                      <m:r>
                        <a:rPr lang="en-GB" sz="3200" i="1" noProof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GB" sz="3200" i="1" noProof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3200" i="1" noProof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𝜀</m:t>
                          </m:r>
                        </m:e>
                        <m:sub>
                          <m:r>
                            <a:rPr lang="en-GB" sz="3200" i="1" noProof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  <m:r>
                            <a:rPr lang="en-GB" sz="3200" i="1" noProof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  <m:r>
                        <a:rPr lang="en-GB" sz="3200" i="1" noProof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GB" sz="3200" b="1" i="1" noProof="0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3200" b="1" i="1" noProof="0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𝜽</m:t>
                          </m:r>
                        </m:e>
                        <m:sub>
                          <m:r>
                            <a:rPr lang="en-GB" sz="3200" b="1" i="1" noProof="0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𝒇</m:t>
                          </m:r>
                        </m:sub>
                      </m:sSub>
                      <m:sSub>
                        <m:sSubPr>
                          <m:ctrlPr>
                            <a:rPr lang="en-GB" sz="3200" i="1" noProof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3200" i="1" noProof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𝜀</m:t>
                          </m:r>
                        </m:e>
                        <m:sub>
                          <m:r>
                            <a:rPr lang="en-GB" sz="3200" i="1" noProof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  <m:r>
                            <a:rPr lang="en-GB" sz="3200" i="1" noProof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r>
                            <a:rPr lang="en-GB" sz="3200" i="1" noProof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  <m:r>
                            <a:rPr lang="en-GB" sz="3200" i="1" noProof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  <m:r>
                        <a:rPr lang="en-GB" sz="3200" i="1" noProof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),</m:t>
                      </m:r>
                    </m:oMath>
                  </m:oMathPara>
                </a14:m>
                <a:endParaRPr lang="en-GB" sz="3200" i="1" noProof="0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marL="800100" lvl="2" indent="0">
                  <a:buNone/>
                </a:pPr>
                <a:endParaRPr lang="en-GB" sz="3200" i="1" noProof="0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marL="800100" lvl="2" indent="0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GB" sz="3200" i="1" noProof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3200" i="1" noProof="0" smtClean="0">
                              <a:latin typeface="Cambria Math" panose="02040503050406030204" pitchFamily="18" charset="0"/>
                            </a:rPr>
                            <m:t>     </m:t>
                          </m:r>
                          <m:r>
                            <a:rPr lang="en-GB" sz="3200" i="1" noProof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𝜀</m:t>
                          </m:r>
                        </m:e>
                        <m:sub>
                          <m:r>
                            <a:rPr lang="en-GB" sz="3200" i="1" noProof="0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GB" sz="3200" i="1" noProof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~</m:t>
                      </m:r>
                      <m:r>
                        <a:rPr lang="en-GB" sz="3200" i="1" noProof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𝑁</m:t>
                      </m:r>
                      <m:d>
                        <m:dPr>
                          <m:ctrlPr>
                            <a:rPr lang="en-GB" sz="3200" i="1" noProof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3200" i="1" noProof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0, </m:t>
                          </m:r>
                          <m:sSubSup>
                            <m:sSubSupPr>
                              <m:ctrlPr>
                                <a:rPr lang="en-GB" sz="3200" b="1" i="1" noProof="0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GB" sz="3200" b="1" i="1" noProof="0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𝝈</m:t>
                              </m:r>
                            </m:e>
                            <m:sub>
                              <m:r>
                                <a:rPr lang="en-GB" sz="3200" b="1" i="1" noProof="0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𝜺</m:t>
                              </m:r>
                            </m:sub>
                            <m:sup>
                              <m:r>
                                <a:rPr lang="en-GB" sz="3200" b="1" i="1" noProof="0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𝟐</m:t>
                              </m:r>
                            </m:sup>
                          </m:sSubSup>
                        </m:e>
                      </m:d>
                    </m:oMath>
                  </m:oMathPara>
                </a14:m>
                <a:endParaRPr lang="en-GB" sz="3600" noProof="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3BC01B2-B94B-F977-A448-FEC7CAE8ACE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2"/>
              </p:nvPr>
            </p:nvSpPr>
            <p:spPr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1DB2D8E-AE2E-90C1-822F-C7FC775EDC44}"/>
              </a:ext>
            </a:extLst>
          </p:cNvPr>
          <p:cNvSpPr>
            <a:spLocks noGrp="1"/>
          </p:cNvSpPr>
          <p:nvPr>
            <p:ph type="ftr" sz="quarter" idx="4294967295"/>
          </p:nvPr>
        </p:nvSpPr>
        <p:spPr>
          <a:xfrm>
            <a:off x="0" y="0"/>
            <a:ext cx="0" cy="0"/>
          </a:xfrm>
        </p:spPr>
        <p:txBody>
          <a:bodyPr/>
          <a:lstStyle/>
          <a:p>
            <a:r>
              <a:rPr lang="en-GB" noProof="0" dirty="0"/>
              <a:t>Model-based decomposition</a:t>
            </a:r>
          </a:p>
        </p:txBody>
      </p:sp>
    </p:spTree>
    <p:extLst>
      <p:ext uri="{BB962C8B-B14F-4D97-AF65-F5344CB8AC3E}">
        <p14:creationId xmlns:p14="http://schemas.microsoft.com/office/powerpoint/2010/main" val="67442951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5010D0-AEDF-12EB-6FFB-85F8D6856D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2.3.2 Airline decomposition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91346A8-B214-AD16-058D-5BF2789A8DF0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F12E9969-9346-4095-A7C3-836AAB82C09A}" type="slidenum">
              <a:rPr lang="en-GB" noProof="0" smtClean="0"/>
              <a:t>14</a:t>
            </a:fld>
            <a:endParaRPr lang="en-GB" noProof="0" dirty="0"/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9B473715-946C-7B1D-72D7-C2A688B731C1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2211973" y="1423988"/>
            <a:ext cx="8031580" cy="4672012"/>
          </a:xfrm>
        </p:spPr>
      </p:pic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8D14150-41A2-F1B3-45D6-BA19EB398792}"/>
              </a:ext>
            </a:extLst>
          </p:cNvPr>
          <p:cNvSpPr>
            <a:spLocks noGrp="1"/>
          </p:cNvSpPr>
          <p:nvPr>
            <p:ph type="ftr" sz="quarter" idx="4294967295"/>
          </p:nvPr>
        </p:nvSpPr>
        <p:spPr>
          <a:xfrm>
            <a:off x="0" y="0"/>
            <a:ext cx="0" cy="0"/>
          </a:xfrm>
        </p:spPr>
        <p:txBody>
          <a:bodyPr/>
          <a:lstStyle/>
          <a:p>
            <a:r>
              <a:rPr lang="en-GB" noProof="0" dirty="0"/>
              <a:t>Model-based decomposition</a:t>
            </a:r>
          </a:p>
        </p:txBody>
      </p:sp>
    </p:spTree>
    <p:extLst>
      <p:ext uri="{BB962C8B-B14F-4D97-AF65-F5344CB8AC3E}">
        <p14:creationId xmlns:p14="http://schemas.microsoft.com/office/powerpoint/2010/main" val="422012937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CB2748-FE54-722D-E79F-335407190D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2.4 SEATS spectral decomposition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8D40D34-4CB1-DF29-A83B-198852881C1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sz="2000" noProof="0" dirty="0"/>
              <a:t>Splitting of the spectrum following the different « types » of frequencies </a:t>
            </a:r>
          </a:p>
          <a:p>
            <a:endParaRPr lang="en-GB" noProof="0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E2629A2-8A8A-14DD-BB87-04B614F6B1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noProof="0" dirty="0"/>
              <a:t>Model-based decomposition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C2E35E5-F37A-1817-A8C7-CDD458F0C1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2E9969-9346-4095-A7C3-836AAB82C09A}" type="slidenum">
              <a:rPr lang="en-GB" noProof="0" smtClean="0"/>
              <a:t>15</a:t>
            </a:fld>
            <a:endParaRPr lang="en-GB" noProof="0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E18749F4-8760-3289-86D1-34A3F7BEB7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99657" y="2421566"/>
            <a:ext cx="6488595" cy="3597999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30766934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noProof="0" dirty="0"/>
              <a:t>2.4 SEATS spectral decomposition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F12E9969-9346-4095-A7C3-836AAB82C09A}" type="slidenum">
              <a:rPr lang="en-GB" noProof="0" smtClean="0"/>
              <a:t>16</a:t>
            </a:fld>
            <a:endParaRPr lang="en-GB" noProof="0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4294967295"/>
          </p:nvPr>
        </p:nvSpPr>
        <p:spPr>
          <a:xfrm>
            <a:off x="0" y="0"/>
            <a:ext cx="0" cy="0"/>
          </a:xfrm>
        </p:spPr>
        <p:txBody>
          <a:bodyPr/>
          <a:lstStyle/>
          <a:p>
            <a:r>
              <a:rPr lang="en-GB" noProof="0" dirty="0"/>
              <a:t>Model-based decomposition</a:t>
            </a:r>
          </a:p>
        </p:txBody>
      </p:sp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59896" y="3544851"/>
            <a:ext cx="5292080" cy="253594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1029" name="Picture 5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47529" y="1486158"/>
            <a:ext cx="4461910" cy="201485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/>
              <p:cNvSpPr txBox="1"/>
              <p:nvPr/>
            </p:nvSpPr>
            <p:spPr>
              <a:xfrm>
                <a:off x="6738179" y="1588151"/>
                <a:ext cx="2042546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GB" i="1" noProof="0" smtClean="0">
                              <a:latin typeface="Cambria Math"/>
                            </a:rPr>
                          </m:ctrlPr>
                        </m:sSubPr>
                        <m:e>
                          <m:r>
                            <a:rPr lang="en-GB" i="1" noProof="0" smtClean="0">
                              <a:latin typeface="Cambria Math"/>
                            </a:rPr>
                            <m:t>𝑆</m:t>
                          </m:r>
                        </m:e>
                        <m:sub>
                          <m:r>
                            <a:rPr lang="en-GB" i="1" noProof="0" smtClean="0">
                              <a:latin typeface="Cambria Math"/>
                            </a:rPr>
                            <m:t>𝑌</m:t>
                          </m:r>
                        </m:sub>
                      </m:sSub>
                      <m:r>
                        <a:rPr lang="en-GB" i="1" noProof="0" smtClean="0">
                          <a:latin typeface="Cambria Math"/>
                        </a:rPr>
                        <m:t>=</m:t>
                      </m:r>
                      <m:sSub>
                        <m:sSubPr>
                          <m:ctrlPr>
                            <a:rPr lang="en-GB" i="1" noProof="0" smtClean="0">
                              <a:latin typeface="Cambria Math"/>
                            </a:rPr>
                          </m:ctrlPr>
                        </m:sSubPr>
                        <m:e>
                          <m:r>
                            <a:rPr lang="en-GB" i="1" noProof="0" smtClean="0">
                              <a:latin typeface="Cambria Math"/>
                            </a:rPr>
                            <m:t>𝑆</m:t>
                          </m:r>
                        </m:e>
                        <m:sub>
                          <m:r>
                            <a:rPr lang="en-GB" i="1" noProof="0" smtClean="0">
                              <a:latin typeface="Cambria Math"/>
                            </a:rPr>
                            <m:t>𝑇</m:t>
                          </m:r>
                        </m:sub>
                      </m:sSub>
                      <m:r>
                        <a:rPr lang="en-GB" i="1" noProof="0" smtClean="0">
                          <a:latin typeface="Cambria Math"/>
                        </a:rPr>
                        <m:t>+</m:t>
                      </m:r>
                      <m:sSub>
                        <m:sSubPr>
                          <m:ctrlPr>
                            <a:rPr lang="en-GB" i="1" noProof="0" smtClean="0">
                              <a:latin typeface="Cambria Math"/>
                            </a:rPr>
                          </m:ctrlPr>
                        </m:sSubPr>
                        <m:e>
                          <m:r>
                            <a:rPr lang="en-GB" i="1" noProof="0" smtClean="0">
                              <a:latin typeface="Cambria Math"/>
                            </a:rPr>
                            <m:t>𝑆</m:t>
                          </m:r>
                        </m:e>
                        <m:sub>
                          <m:r>
                            <a:rPr lang="en-GB" i="1" noProof="0" smtClean="0">
                              <a:latin typeface="Cambria Math"/>
                            </a:rPr>
                            <m:t>𝑆</m:t>
                          </m:r>
                        </m:sub>
                      </m:sSub>
                      <m:r>
                        <a:rPr lang="en-GB" i="1" noProof="0" smtClean="0">
                          <a:latin typeface="Cambria Math"/>
                        </a:rPr>
                        <m:t>+</m:t>
                      </m:r>
                      <m:sSub>
                        <m:sSubPr>
                          <m:ctrlPr>
                            <a:rPr lang="en-GB" i="1" noProof="0" smtClean="0">
                              <a:latin typeface="Cambria Math"/>
                            </a:rPr>
                          </m:ctrlPr>
                        </m:sSubPr>
                        <m:e>
                          <m:r>
                            <a:rPr lang="en-GB" i="1" noProof="0" smtClean="0">
                              <a:latin typeface="Cambria Math"/>
                            </a:rPr>
                            <m:t>𝑆</m:t>
                          </m:r>
                        </m:e>
                        <m:sub>
                          <m:r>
                            <a:rPr lang="en-GB" i="1" noProof="0" smtClean="0">
                              <a:latin typeface="Cambria Math"/>
                            </a:rPr>
                            <m:t>𝑇𝑟</m:t>
                          </m:r>
                        </m:sub>
                      </m:sSub>
                      <m:r>
                        <a:rPr lang="en-GB" i="1" noProof="0" smtClean="0">
                          <a:latin typeface="Cambria Math"/>
                        </a:rPr>
                        <m:t>+</m:t>
                      </m:r>
                      <m:sSub>
                        <m:sSubPr>
                          <m:ctrlPr>
                            <a:rPr lang="en-GB" i="1" noProof="0" smtClean="0">
                              <a:latin typeface="Cambria Math"/>
                            </a:rPr>
                          </m:ctrlPr>
                        </m:sSubPr>
                        <m:e>
                          <m:r>
                            <a:rPr lang="en-GB" i="1" noProof="0" smtClean="0">
                              <a:latin typeface="Cambria Math"/>
                            </a:rPr>
                            <m:t>𝑆</m:t>
                          </m:r>
                        </m:e>
                        <m:sub>
                          <m:r>
                            <a:rPr lang="en-GB" i="1" noProof="0" smtClean="0">
                              <a:latin typeface="Cambria Math"/>
                            </a:rPr>
                            <m:t>𝐼</m:t>
                          </m:r>
                        </m:sub>
                      </m:sSub>
                    </m:oMath>
                  </m:oMathPara>
                </a14:m>
                <a:endParaRPr lang="en-GB" noProof="0" dirty="0"/>
              </a:p>
            </p:txBody>
          </p:sp>
        </mc:Choice>
        <mc:Fallback xmlns="">
          <p:sp>
            <p:nvSpPr>
              <p:cNvPr id="7" name="TextBox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38179" y="1588151"/>
                <a:ext cx="2042546" cy="307777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/>
              <p:cNvSpPr txBox="1"/>
              <p:nvPr/>
            </p:nvSpPr>
            <p:spPr>
              <a:xfrm>
                <a:off x="6738179" y="2124251"/>
                <a:ext cx="2525948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GB" i="1" noProof="0" smtClean="0">
                              <a:latin typeface="Cambria Math"/>
                            </a:rPr>
                          </m:ctrlPr>
                        </m:sSubPr>
                        <m:e>
                          <m:r>
                            <a:rPr lang="en-GB" i="1" noProof="0" smtClean="0">
                              <a:latin typeface="Cambria Math"/>
                            </a:rPr>
                            <m:t>𝑆</m:t>
                          </m:r>
                        </m:e>
                        <m:sub>
                          <m:r>
                            <a:rPr lang="en-GB" i="1" noProof="0" smtClean="0">
                              <a:latin typeface="Cambria Math"/>
                            </a:rPr>
                            <m:t>𝑆𝐴</m:t>
                          </m:r>
                        </m:sub>
                      </m:sSub>
                      <m:r>
                        <a:rPr lang="en-GB" i="1" noProof="0" smtClean="0">
                          <a:latin typeface="Cambria Math"/>
                        </a:rPr>
                        <m:t>=</m:t>
                      </m:r>
                      <m:sSub>
                        <m:sSubPr>
                          <m:ctrlPr>
                            <a:rPr lang="en-GB" i="1" noProof="0" smtClean="0">
                              <a:latin typeface="Cambria Math"/>
                            </a:rPr>
                          </m:ctrlPr>
                        </m:sSubPr>
                        <m:e>
                          <m:r>
                            <a:rPr lang="en-GB" i="1" noProof="0" smtClean="0">
                              <a:latin typeface="Cambria Math"/>
                            </a:rPr>
                            <m:t>𝑆</m:t>
                          </m:r>
                        </m:e>
                        <m:sub>
                          <m:r>
                            <a:rPr lang="en-GB" i="1" noProof="0" smtClean="0">
                              <a:latin typeface="Cambria Math"/>
                            </a:rPr>
                            <m:t>𝑇</m:t>
                          </m:r>
                        </m:sub>
                      </m:sSub>
                      <m:r>
                        <a:rPr lang="en-GB" i="1" noProof="0" smtClean="0">
                          <a:latin typeface="Cambria Math"/>
                        </a:rPr>
                        <m:t>+</m:t>
                      </m:r>
                      <m:sSub>
                        <m:sSubPr>
                          <m:ctrlPr>
                            <a:rPr lang="en-GB" i="1" noProof="0" smtClean="0">
                              <a:latin typeface="Cambria Math"/>
                            </a:rPr>
                          </m:ctrlPr>
                        </m:sSubPr>
                        <m:e>
                          <m:r>
                            <a:rPr lang="en-GB" i="1" noProof="0" smtClean="0">
                              <a:latin typeface="Cambria Math"/>
                            </a:rPr>
                            <m:t>𝑆</m:t>
                          </m:r>
                        </m:e>
                        <m:sub>
                          <m:r>
                            <a:rPr lang="en-GB" i="1" noProof="0" smtClean="0">
                              <a:latin typeface="Cambria Math"/>
                            </a:rPr>
                            <m:t>𝑇𝑟</m:t>
                          </m:r>
                        </m:sub>
                      </m:sSub>
                      <m:r>
                        <a:rPr lang="en-GB" i="1" noProof="0" smtClean="0">
                          <a:latin typeface="Cambria Math"/>
                        </a:rPr>
                        <m:t>+</m:t>
                      </m:r>
                      <m:sSub>
                        <m:sSubPr>
                          <m:ctrlPr>
                            <a:rPr lang="en-GB" i="1" noProof="0" smtClean="0">
                              <a:latin typeface="Cambria Math"/>
                            </a:rPr>
                          </m:ctrlPr>
                        </m:sSubPr>
                        <m:e>
                          <m:r>
                            <a:rPr lang="en-GB" i="1" noProof="0" smtClean="0">
                              <a:latin typeface="Cambria Math"/>
                            </a:rPr>
                            <m:t>𝑆</m:t>
                          </m:r>
                        </m:e>
                        <m:sub>
                          <m:r>
                            <a:rPr lang="en-GB" i="1" noProof="0" smtClean="0">
                              <a:latin typeface="Cambria Math"/>
                            </a:rPr>
                            <m:t>𝐼</m:t>
                          </m:r>
                        </m:sub>
                      </m:sSub>
                      <m:r>
                        <a:rPr lang="en-GB" i="1" noProof="0" smtClean="0">
                          <a:latin typeface="Cambria Math"/>
                        </a:rPr>
                        <m:t>=</m:t>
                      </m:r>
                      <m:sSub>
                        <m:sSubPr>
                          <m:ctrlPr>
                            <a:rPr lang="en-GB" i="1" noProof="0" smtClean="0">
                              <a:latin typeface="Cambria Math"/>
                            </a:rPr>
                          </m:ctrlPr>
                        </m:sSubPr>
                        <m:e>
                          <m:r>
                            <a:rPr lang="en-GB" i="1" noProof="0" smtClean="0">
                              <a:latin typeface="Cambria Math"/>
                            </a:rPr>
                            <m:t>𝑆</m:t>
                          </m:r>
                        </m:e>
                        <m:sub>
                          <m:r>
                            <a:rPr lang="en-GB" i="1" noProof="0" smtClean="0">
                              <a:latin typeface="Cambria Math"/>
                            </a:rPr>
                            <m:t>𝑌</m:t>
                          </m:r>
                        </m:sub>
                      </m:sSub>
                      <m:r>
                        <a:rPr lang="en-GB" i="1" noProof="0" smtClean="0">
                          <a:latin typeface="Cambria Math"/>
                        </a:rPr>
                        <m:t>−</m:t>
                      </m:r>
                      <m:sSub>
                        <m:sSubPr>
                          <m:ctrlPr>
                            <a:rPr lang="en-GB" i="1" noProof="0" smtClean="0">
                              <a:latin typeface="Cambria Math"/>
                            </a:rPr>
                          </m:ctrlPr>
                        </m:sSubPr>
                        <m:e>
                          <m:r>
                            <a:rPr lang="en-GB" i="1" noProof="0" smtClean="0">
                              <a:latin typeface="Cambria Math"/>
                            </a:rPr>
                            <m:t>𝑆</m:t>
                          </m:r>
                        </m:e>
                        <m:sub>
                          <m:r>
                            <a:rPr lang="en-GB" i="1" noProof="0" smtClean="0">
                              <a:latin typeface="Cambria Math"/>
                            </a:rPr>
                            <m:t>𝑆</m:t>
                          </m:r>
                        </m:sub>
                      </m:sSub>
                    </m:oMath>
                  </m:oMathPara>
                </a14:m>
                <a:endParaRPr lang="en-GB" noProof="0" dirty="0"/>
              </a:p>
            </p:txBody>
          </p:sp>
        </mc:Choice>
        <mc:Fallback xmlns="">
          <p:sp>
            <p:nvSpPr>
              <p:cNvPr id="12" name="TextBox 1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38179" y="2124251"/>
                <a:ext cx="2525948" cy="307777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TextBox 7"/>
          <p:cNvSpPr txBox="1"/>
          <p:nvPr/>
        </p:nvSpPr>
        <p:spPr>
          <a:xfrm>
            <a:off x="2279577" y="4581021"/>
            <a:ext cx="29161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800" noProof="0" dirty="0"/>
              <a:t>Independent components !</a:t>
            </a:r>
          </a:p>
        </p:txBody>
      </p:sp>
    </p:spTree>
    <p:extLst>
      <p:ext uri="{BB962C8B-B14F-4D97-AF65-F5344CB8AC3E}">
        <p14:creationId xmlns:p14="http://schemas.microsoft.com/office/powerpoint/2010/main" val="203917784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noProof="0" dirty="0"/>
              <a:t>2.4 SEATS spectral decomposition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F12E9969-9346-4095-A7C3-836AAB82C09A}" type="slidenum">
              <a:rPr lang="en-GB" noProof="0" smtClean="0"/>
              <a:t>17</a:t>
            </a:fld>
            <a:endParaRPr lang="en-GB" noProof="0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4294967295"/>
          </p:nvPr>
        </p:nvSpPr>
        <p:spPr>
          <a:xfrm>
            <a:off x="0" y="0"/>
            <a:ext cx="0" cy="0"/>
          </a:xfrm>
        </p:spPr>
        <p:txBody>
          <a:bodyPr/>
          <a:lstStyle/>
          <a:p>
            <a:r>
              <a:rPr lang="en-GB" noProof="0" dirty="0"/>
              <a:t>Model-based decomposition</a:t>
            </a:r>
          </a:p>
        </p:txBody>
      </p:sp>
      <p:pic>
        <p:nvPicPr>
          <p:cNvPr id="3" name="Picture 3">
            <a:extLst>
              <a:ext uri="{FF2B5EF4-FFF2-40B4-BE49-F238E27FC236}">
                <a16:creationId xmlns:a16="http://schemas.microsoft.com/office/drawing/2014/main" id="{4C134B99-27A4-DBE8-B314-9E5E5E64655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35561" y="1315241"/>
            <a:ext cx="3852289" cy="231564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9" name="Left Arrow 7">
            <a:extLst>
              <a:ext uri="{FF2B5EF4-FFF2-40B4-BE49-F238E27FC236}">
                <a16:creationId xmlns:a16="http://schemas.microsoft.com/office/drawing/2014/main" id="{A1632C9B-2199-73B3-1563-DD988A1D75BC}"/>
              </a:ext>
            </a:extLst>
          </p:cNvPr>
          <p:cNvSpPr/>
          <p:nvPr/>
        </p:nvSpPr>
        <p:spPr>
          <a:xfrm>
            <a:off x="2711624" y="2473063"/>
            <a:ext cx="576064" cy="138323"/>
          </a:xfrm>
          <a:prstGeom prst="lef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noProof="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E6551DF-C380-7E9F-E2E4-22D5F4BB3E9C}"/>
              </a:ext>
            </a:extLst>
          </p:cNvPr>
          <p:cNvSpPr txBox="1"/>
          <p:nvPr/>
        </p:nvSpPr>
        <p:spPr>
          <a:xfrm>
            <a:off x="3483354" y="2288397"/>
            <a:ext cx="141737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noProof="0" dirty="0">
                <a:solidFill>
                  <a:srgbClr val="0070C0"/>
                </a:solidFill>
              </a:rPr>
              <a:t>Smoother trend</a:t>
            </a:r>
          </a:p>
        </p:txBody>
      </p:sp>
      <p:pic>
        <p:nvPicPr>
          <p:cNvPr id="11" name="Picture 4">
            <a:extLst>
              <a:ext uri="{FF2B5EF4-FFF2-40B4-BE49-F238E27FC236}">
                <a16:creationId xmlns:a16="http://schemas.microsoft.com/office/drawing/2014/main" id="{595F48E7-2C30-C442-7B5C-8E3CA54BF1F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51585" y="3907032"/>
            <a:ext cx="3373121" cy="202761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13" name="Right Arrow 9">
            <a:extLst>
              <a:ext uri="{FF2B5EF4-FFF2-40B4-BE49-F238E27FC236}">
                <a16:creationId xmlns:a16="http://schemas.microsoft.com/office/drawing/2014/main" id="{1DEEFF3A-8910-ED8B-17DC-23FBFE350A3A}"/>
              </a:ext>
            </a:extLst>
          </p:cNvPr>
          <p:cNvSpPr/>
          <p:nvPr/>
        </p:nvSpPr>
        <p:spPr>
          <a:xfrm>
            <a:off x="4542362" y="5542396"/>
            <a:ext cx="480119" cy="144016"/>
          </a:xfrm>
          <a:prstGeom prst="rightArrow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noProof="0" dirty="0"/>
          </a:p>
        </p:txBody>
      </p:sp>
      <p:sp>
        <p:nvSpPr>
          <p:cNvPr id="14" name="Left Arrow 10">
            <a:extLst>
              <a:ext uri="{FF2B5EF4-FFF2-40B4-BE49-F238E27FC236}">
                <a16:creationId xmlns:a16="http://schemas.microsoft.com/office/drawing/2014/main" id="{BCB10444-3B9A-E044-75CC-84D0EE5C90C5}"/>
              </a:ext>
            </a:extLst>
          </p:cNvPr>
          <p:cNvSpPr/>
          <p:nvPr/>
        </p:nvSpPr>
        <p:spPr>
          <a:xfrm>
            <a:off x="5204327" y="5542396"/>
            <a:ext cx="576064" cy="144016"/>
          </a:xfrm>
          <a:prstGeom prst="leftArrow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noProof="0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5A5C0B5-DAE2-8C1F-75F8-5D7AE9D7B204}"/>
              </a:ext>
            </a:extLst>
          </p:cNvPr>
          <p:cNvSpPr txBox="1"/>
          <p:nvPr/>
        </p:nvSpPr>
        <p:spPr>
          <a:xfrm>
            <a:off x="5926228" y="5440847"/>
            <a:ext cx="188545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noProof="0" dirty="0">
                <a:solidFill>
                  <a:srgbClr val="0070C0"/>
                </a:solidFill>
              </a:rPr>
              <a:t>More stable seasonal</a:t>
            </a:r>
          </a:p>
        </p:txBody>
      </p:sp>
      <p:pic>
        <p:nvPicPr>
          <p:cNvPr id="16" name="Picture 5">
            <a:extLst>
              <a:ext uri="{FF2B5EF4-FFF2-40B4-BE49-F238E27FC236}">
                <a16:creationId xmlns:a16="http://schemas.microsoft.com/office/drawing/2014/main" id="{8E0DAE94-8753-5F8A-81AD-6BF7A16971A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62770" y="2195919"/>
            <a:ext cx="3718497" cy="223521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17" name="Right Arrow 11">
            <a:extLst>
              <a:ext uri="{FF2B5EF4-FFF2-40B4-BE49-F238E27FC236}">
                <a16:creationId xmlns:a16="http://schemas.microsoft.com/office/drawing/2014/main" id="{85CD3DBA-9D6B-1118-017D-B142E4B2C168}"/>
              </a:ext>
            </a:extLst>
          </p:cNvPr>
          <p:cNvSpPr/>
          <p:nvPr/>
        </p:nvSpPr>
        <p:spPr>
          <a:xfrm>
            <a:off x="8978852" y="3877768"/>
            <a:ext cx="576064" cy="9156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noProof="0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A354808-8CB3-4710-3BB6-3F00ABD5260E}"/>
              </a:ext>
            </a:extLst>
          </p:cNvPr>
          <p:cNvSpPr txBox="1"/>
          <p:nvPr/>
        </p:nvSpPr>
        <p:spPr>
          <a:xfrm>
            <a:off x="7178653" y="3373713"/>
            <a:ext cx="169790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noProof="0" dirty="0">
                <a:solidFill>
                  <a:srgbClr val="0070C0"/>
                </a:solidFill>
              </a:rPr>
              <a:t>Switchback pattern</a:t>
            </a:r>
          </a:p>
        </p:txBody>
      </p:sp>
    </p:spTree>
    <p:extLst>
      <p:ext uri="{BB962C8B-B14F-4D97-AF65-F5344CB8AC3E}">
        <p14:creationId xmlns:p14="http://schemas.microsoft.com/office/powerpoint/2010/main" val="241111911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7EFE25-3836-11DD-1D74-7F5BE2639F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GB" noProof="0" dirty="0"/>
              <a:t>3. Estimation of the model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32B0039-FAF1-E70D-E3E0-2FC704B81B43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F12E9969-9346-4095-A7C3-836AAB82C09A}" type="slidenum">
              <a:rPr lang="en-GB" noProof="0" smtClean="0"/>
              <a:t>18</a:t>
            </a:fld>
            <a:endParaRPr lang="en-GB" noProof="0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B45CC05-5166-3B66-D2FA-4CF09A26C061}"/>
              </a:ext>
            </a:extLst>
          </p:cNvPr>
          <p:cNvSpPr>
            <a:spLocks noGrp="1"/>
          </p:cNvSpPr>
          <p:nvPr>
            <p:ph type="ftr" sz="quarter" idx="4294967295"/>
          </p:nvPr>
        </p:nvSpPr>
        <p:spPr>
          <a:xfrm>
            <a:off x="0" y="0"/>
            <a:ext cx="0" cy="0"/>
          </a:xfrm>
        </p:spPr>
        <p:txBody>
          <a:bodyPr/>
          <a:lstStyle/>
          <a:p>
            <a:r>
              <a:rPr lang="en-GB" noProof="0" dirty="0"/>
              <a:t>Model-based decomposition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A61B2F49-3D4E-2F35-2BA9-94A72641CB2B}"/>
              </a:ext>
            </a:extLst>
          </p:cNvPr>
          <p:cNvSpPr/>
          <p:nvPr/>
        </p:nvSpPr>
        <p:spPr>
          <a:xfrm>
            <a:off x="3071665" y="1916833"/>
            <a:ext cx="2782023" cy="621783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noProof="0" dirty="0"/>
              <a:t>Components model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8539B5CF-A841-CDCA-4C8E-654B752E53B5}"/>
              </a:ext>
            </a:extLst>
          </p:cNvPr>
          <p:cNvSpPr/>
          <p:nvPr/>
        </p:nvSpPr>
        <p:spPr>
          <a:xfrm>
            <a:off x="3070670" y="3413772"/>
            <a:ext cx="2782023" cy="621783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noProof="0" dirty="0"/>
              <a:t> Components estimators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B86CF7EB-3B60-3805-9362-A70512C4D7A5}"/>
              </a:ext>
            </a:extLst>
          </p:cNvPr>
          <p:cNvCxnSpPr>
            <a:cxnSpLocks/>
            <a:stCxn id="7" idx="2"/>
            <a:endCxn id="8" idx="0"/>
          </p:cNvCxnSpPr>
          <p:nvPr/>
        </p:nvCxnSpPr>
        <p:spPr>
          <a:xfrm flipH="1">
            <a:off x="4461682" y="2538615"/>
            <a:ext cx="995" cy="875156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13289681-7FAA-0887-AF59-2A507E8A5C52}"/>
              </a:ext>
            </a:extLst>
          </p:cNvPr>
          <p:cNvSpPr txBox="1"/>
          <p:nvPr/>
        </p:nvSpPr>
        <p:spPr>
          <a:xfrm>
            <a:off x="4592568" y="2676159"/>
            <a:ext cx="428545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noProof="0" dirty="0"/>
              <a:t>Estimators = Linear transformations of 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noProof="0" dirty="0"/>
              <a:t>MMSE criterion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DD641E74-2348-C5AF-5F71-2EA850622B61}"/>
              </a:ext>
            </a:extLst>
          </p:cNvPr>
          <p:cNvSpPr/>
          <p:nvPr/>
        </p:nvSpPr>
        <p:spPr>
          <a:xfrm>
            <a:off x="3070670" y="4910711"/>
            <a:ext cx="2782023" cy="621783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noProof="0" dirty="0"/>
              <a:t> Components estimates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29AAC512-4C69-EA65-4228-ECF7D8F8B104}"/>
              </a:ext>
            </a:extLst>
          </p:cNvPr>
          <p:cNvCxnSpPr>
            <a:cxnSpLocks/>
            <a:stCxn id="8" idx="2"/>
            <a:endCxn id="14" idx="0"/>
          </p:cNvCxnSpPr>
          <p:nvPr/>
        </p:nvCxnSpPr>
        <p:spPr>
          <a:xfrm>
            <a:off x="4461681" y="4035554"/>
            <a:ext cx="0" cy="875156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4DADE995-A868-A836-7ABA-2A6F3AA9117C}"/>
              </a:ext>
            </a:extLst>
          </p:cNvPr>
          <p:cNvSpPr txBox="1"/>
          <p:nvPr/>
        </p:nvSpPr>
        <p:spPr>
          <a:xfrm>
            <a:off x="4592568" y="4136402"/>
            <a:ext cx="428545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noProof="0" dirty="0"/>
              <a:t>Estimation by means of KF, Burman’s, McElroy’s algorithms…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18ADC4F-CAE7-5577-87CA-865394C61221}"/>
              </a:ext>
            </a:extLst>
          </p:cNvPr>
          <p:cNvSpPr txBox="1"/>
          <p:nvPr/>
        </p:nvSpPr>
        <p:spPr>
          <a:xfrm>
            <a:off x="6204021" y="1770523"/>
            <a:ext cx="317606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noProof="0" dirty="0" err="1">
                <a:solidFill>
                  <a:srgbClr val="0070C0"/>
                </a:solidFill>
              </a:rPr>
              <a:t>Independant</a:t>
            </a:r>
            <a:r>
              <a:rPr lang="en-GB" noProof="0" dirty="0">
                <a:solidFill>
                  <a:srgbClr val="0070C0"/>
                </a:solidFill>
              </a:rPr>
              <a:t> components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noProof="0" dirty="0">
                <a:solidFill>
                  <a:srgbClr val="0070C0"/>
                </a:solidFill>
              </a:rPr>
              <a:t>Sum of </a:t>
            </a:r>
            <a:r>
              <a:rPr lang="en-GB" noProof="0" dirty="0" err="1">
                <a:solidFill>
                  <a:srgbClr val="0070C0"/>
                </a:solidFill>
              </a:rPr>
              <a:t>cmps</a:t>
            </a:r>
            <a:r>
              <a:rPr lang="en-GB" noProof="0" dirty="0">
                <a:solidFill>
                  <a:srgbClr val="0070C0"/>
                </a:solidFill>
              </a:rPr>
              <a:t> &lt;=&gt; 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5A7EF33E-23AC-45BE-35DC-E864404657FD}"/>
                  </a:ext>
                </a:extLst>
              </p:cNvPr>
              <p:cNvSpPr txBox="1"/>
              <p:nvPr/>
            </p:nvSpPr>
            <p:spPr>
              <a:xfrm>
                <a:off x="6267373" y="3333400"/>
                <a:ext cx="3176067" cy="53053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GB" i="1" noProof="0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GB" i="1" noProof="0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</m:acc>
                    <m:r>
                      <a:rPr lang="en-GB" i="1" noProof="0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GB" i="1" noProof="0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 noProof="0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GB" i="1" noProof="0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𝑆</m:t>
                        </m:r>
                      </m:sub>
                    </m:sSub>
                    <m:r>
                      <a:rPr lang="en-GB" i="1" noProof="0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𝑌</m:t>
                    </m:r>
                    <m:r>
                      <a:rPr lang="en-GB" i="1" noProof="0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,    </m:t>
                    </m:r>
                    <m:acc>
                      <m:accPr>
                        <m:chr m:val="̂"/>
                        <m:ctrlPr>
                          <a:rPr lang="en-GB" i="1" noProof="0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GB" i="1" noProof="0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</m:acc>
                    <m:r>
                      <a:rPr lang="en-GB" i="1" noProof="0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GB" i="1" noProof="0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 noProof="0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GB" i="1" noProof="0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𝑁</m:t>
                        </m:r>
                      </m:sub>
                    </m:sSub>
                    <m:r>
                      <a:rPr lang="en-GB" i="1" noProof="0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𝑌</m:t>
                    </m:r>
                  </m:oMath>
                </a14:m>
                <a:endParaRPr lang="en-GB" noProof="0" dirty="0">
                  <a:solidFill>
                    <a:srgbClr val="0070C0"/>
                  </a:solidFill>
                </a:endParaRP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GB" noProof="0" dirty="0">
                    <a:solidFill>
                      <a:srgbClr val="0070C0"/>
                    </a:solidFill>
                  </a:rPr>
                  <a:t>Correlated estimators</a:t>
                </a:r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5A7EF33E-23AC-45BE-35DC-E864404657F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67373" y="3333400"/>
                <a:ext cx="3176067" cy="530530"/>
              </a:xfrm>
              <a:prstGeom prst="rect">
                <a:avLst/>
              </a:prstGeom>
              <a:blipFill>
                <a:blip r:embed="rId2"/>
                <a:stretch>
                  <a:fillRect l="-192" b="-11494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65C780AD-04D1-88E5-A5CE-B5CC707F7FD0}"/>
                  </a:ext>
                </a:extLst>
              </p:cNvPr>
              <p:cNvSpPr txBox="1"/>
              <p:nvPr/>
            </p:nvSpPr>
            <p:spPr>
              <a:xfrm>
                <a:off x="6348290" y="4876529"/>
                <a:ext cx="3176067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GB" i="1" noProof="0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(</m:t>
                    </m:r>
                    <m:acc>
                      <m:accPr>
                        <m:chr m:val="̂"/>
                        <m:ctrlPr>
                          <a:rPr lang="en-GB" i="1" noProof="0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GB" i="1" noProof="0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acc>
                    <m:r>
                      <a:rPr lang="en-GB" i="1" noProof="0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,</m:t>
                    </m:r>
                    <m:acc>
                      <m:accPr>
                        <m:chr m:val="̂"/>
                        <m:ctrlPr>
                          <a:rPr lang="en-GB" i="1" noProof="0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GB" i="1" noProof="0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acc>
                    <m:r>
                      <a:rPr lang="en-GB" i="1" noProof="0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)=</m:t>
                    </m:r>
                    <m:r>
                      <a:rPr lang="en-GB" i="1" noProof="0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𝐾𝐹</m:t>
                    </m:r>
                    <m:r>
                      <a:rPr lang="en-GB" i="1" noProof="0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GB" i="1" noProof="0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GB" i="1" noProof="0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GB" noProof="0" dirty="0">
                  <a:solidFill>
                    <a:srgbClr val="0070C0"/>
                  </a:solidFill>
                </a:endParaRP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GB" i="1" noProof="0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…</m:t>
                    </m:r>
                  </m:oMath>
                </a14:m>
                <a:endParaRPr lang="en-GB" noProof="0" dirty="0">
                  <a:solidFill>
                    <a:srgbClr val="0070C0"/>
                  </a:solidFill>
                </a:endParaRPr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65C780AD-04D1-88E5-A5CE-B5CC707F7FD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48290" y="4876529"/>
                <a:ext cx="3176067" cy="523220"/>
              </a:xfrm>
              <a:prstGeom prst="rect">
                <a:avLst/>
              </a:prstGeom>
              <a:blipFill>
                <a:blip r:embed="rId3"/>
                <a:stretch>
                  <a:fillRect l="-192" b="-8140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69302642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3.1 Estimation of the components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F12E9969-9346-4095-A7C3-836AAB82C09A}" type="slidenum">
              <a:rPr lang="en-GB" noProof="0" smtClean="0"/>
              <a:t>19</a:t>
            </a:fld>
            <a:endParaRPr lang="en-GB" noProof="0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r>
              <a:rPr lang="en-GB" sz="2800" noProof="0" dirty="0"/>
              <a:t>STS and AMB → UCARIMA models</a:t>
            </a:r>
          </a:p>
          <a:p>
            <a:pPr lvl="1"/>
            <a:r>
              <a:rPr lang="en-GB" sz="2400" noProof="0" dirty="0"/>
              <a:t>Same estimation algorithms </a:t>
            </a:r>
          </a:p>
          <a:p>
            <a:pPr lvl="1"/>
            <a:r>
              <a:rPr lang="en-GB" sz="2400" noProof="0" dirty="0"/>
              <a:t>Common analysis tools</a:t>
            </a:r>
          </a:p>
          <a:p>
            <a:r>
              <a:rPr lang="en-GB" sz="2800" noProof="0" dirty="0"/>
              <a:t>3 solutions, strictly equivalent (except for SD)</a:t>
            </a:r>
          </a:p>
          <a:p>
            <a:pPr lvl="1"/>
            <a:r>
              <a:rPr lang="en-GB" sz="2400" noProof="0" dirty="0"/>
              <a:t>Burman algorithm (WK filters): legacy and default solution, fastest</a:t>
            </a:r>
          </a:p>
          <a:p>
            <a:pPr lvl="1"/>
            <a:r>
              <a:rPr lang="en-GB" sz="2400" b="1" noProof="0" dirty="0"/>
              <a:t>Kalman smoother</a:t>
            </a:r>
            <a:r>
              <a:rPr lang="en-GB" sz="2400" noProof="0" dirty="0"/>
              <a:t>: more stable, exact SD</a:t>
            </a:r>
          </a:p>
          <a:p>
            <a:pPr lvl="1"/>
            <a:r>
              <a:rPr lang="en-GB" sz="2400" noProof="0" dirty="0"/>
              <a:t>[Matrix computation]: Not available in JD+ 3.x</a:t>
            </a:r>
          </a:p>
          <a:p>
            <a:endParaRPr lang="en-GB" noProof="0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4294967295"/>
          </p:nvPr>
        </p:nvSpPr>
        <p:spPr>
          <a:xfrm>
            <a:off x="0" y="0"/>
            <a:ext cx="0" cy="0"/>
          </a:xfrm>
        </p:spPr>
        <p:txBody>
          <a:bodyPr/>
          <a:lstStyle/>
          <a:p>
            <a:r>
              <a:rPr lang="en-GB" noProof="0" dirty="0"/>
              <a:t>Model-based decomposition</a:t>
            </a:r>
          </a:p>
        </p:txBody>
      </p:sp>
    </p:spTree>
    <p:extLst>
      <p:ext uri="{BB962C8B-B14F-4D97-AF65-F5344CB8AC3E}">
        <p14:creationId xmlns:p14="http://schemas.microsoft.com/office/powerpoint/2010/main" val="22758882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805138-E9CF-F51D-0B42-9E6879EDBC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lang="en-GB" noProof="0" dirty="0"/>
              <a:t>3.2 Basic case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1DFD5AD-D169-F171-4F32-C046CC63F71F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F12E9969-9346-4095-A7C3-836AAB82C09A}" type="slidenum">
              <a:rPr lang="en-GB" noProof="0" smtClean="0"/>
              <a:t>20</a:t>
            </a:fld>
            <a:endParaRPr lang="en-GB" noProof="0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ADE660A-C777-FA3B-E8BC-BFA21C0708F0}"/>
              </a:ext>
            </a:extLst>
          </p:cNvPr>
          <p:cNvSpPr>
            <a:spLocks noGrp="1"/>
          </p:cNvSpPr>
          <p:nvPr>
            <p:ph type="ftr" sz="quarter" idx="4294967295"/>
          </p:nvPr>
        </p:nvSpPr>
        <p:spPr>
          <a:xfrm>
            <a:off x="0" y="0"/>
            <a:ext cx="0" cy="0"/>
          </a:xfrm>
        </p:spPr>
        <p:txBody>
          <a:bodyPr/>
          <a:lstStyle/>
          <a:p>
            <a:r>
              <a:rPr lang="en-GB" noProof="0" dirty="0"/>
              <a:t>Model-based decomposition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76A8C446-E47A-D087-97DB-044B66F5554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7608" y="1167309"/>
            <a:ext cx="7643192" cy="4899269"/>
          </a:xfrm>
          <a:prstGeom prst="rect">
            <a:avLst/>
          </a:prstGeom>
          <a:ln>
            <a:solidFill>
              <a:schemeClr val="bg1"/>
            </a:solidFill>
          </a:ln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7CBCC9A6-71A7-7CFB-1DA1-34C120F422FE}"/>
              </a:ext>
            </a:extLst>
          </p:cNvPr>
          <p:cNvSpPr/>
          <p:nvPr/>
        </p:nvSpPr>
        <p:spPr>
          <a:xfrm>
            <a:off x="4007768" y="2636912"/>
            <a:ext cx="2736304" cy="864096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noProof="0" dirty="0">
              <a:ln>
                <a:solidFill>
                  <a:schemeClr val="tx1"/>
                </a:solidFill>
              </a:ln>
            </a:endParaRPr>
          </a:p>
        </p:txBody>
      </p:sp>
      <p:sp>
        <p:nvSpPr>
          <p:cNvPr id="8" name="ZoneTexte 7">
            <a:extLst>
              <a:ext uri="{FF2B5EF4-FFF2-40B4-BE49-F238E27FC236}">
                <a16:creationId xmlns:a16="http://schemas.microsoft.com/office/drawing/2014/main" id="{96590E16-9F98-4F8A-10C0-4E48769B11E0}"/>
              </a:ext>
            </a:extLst>
          </p:cNvPr>
          <p:cNvSpPr txBox="1"/>
          <p:nvPr/>
        </p:nvSpPr>
        <p:spPr>
          <a:xfrm>
            <a:off x="7467600" y="3068960"/>
            <a:ext cx="158729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600" dirty="0">
                <a:solidFill>
                  <a:srgbClr val="FF0000"/>
                </a:solidFill>
              </a:rPr>
              <a:t>MMSE criterion</a:t>
            </a:r>
          </a:p>
        </p:txBody>
      </p:sp>
      <p:cxnSp>
        <p:nvCxnSpPr>
          <p:cNvPr id="10" name="Connecteur droit avec flèche 9">
            <a:extLst>
              <a:ext uri="{FF2B5EF4-FFF2-40B4-BE49-F238E27FC236}">
                <a16:creationId xmlns:a16="http://schemas.microsoft.com/office/drawing/2014/main" id="{356FC1E9-F874-0929-EEB8-C313AC24C178}"/>
              </a:ext>
            </a:extLst>
          </p:cNvPr>
          <p:cNvCxnSpPr/>
          <p:nvPr/>
        </p:nvCxnSpPr>
        <p:spPr>
          <a:xfrm flipH="1">
            <a:off x="6389204" y="3242930"/>
            <a:ext cx="1078396" cy="0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1100491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79BCF7-0A28-5D7F-E4C7-AF5DCFEBB5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GB" noProof="0" dirty="0"/>
              <a:t>3.3 Wiener-Kolmogorov filters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D720DC6-D83A-0996-5359-0472E8F0FB61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F12E9969-9346-4095-A7C3-836AAB82C09A}" type="slidenum">
              <a:rPr lang="en-GB" noProof="0" smtClean="0"/>
              <a:t>21</a:t>
            </a:fld>
            <a:endParaRPr lang="en-GB" noProof="0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6A5B29F-C469-3FCB-7653-F79C0316EF47}"/>
              </a:ext>
            </a:extLst>
          </p:cNvPr>
          <p:cNvSpPr>
            <a:spLocks noGrp="1"/>
          </p:cNvSpPr>
          <p:nvPr>
            <p:ph type="ftr" sz="quarter" idx="4294967295"/>
          </p:nvPr>
        </p:nvSpPr>
        <p:spPr>
          <a:xfrm>
            <a:off x="0" y="0"/>
            <a:ext cx="0" cy="0"/>
          </a:xfrm>
        </p:spPr>
        <p:txBody>
          <a:bodyPr/>
          <a:lstStyle/>
          <a:p>
            <a:r>
              <a:rPr lang="en-GB" noProof="0" dirty="0"/>
              <a:t>Model-based decomposition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2ED8C2F0-0C22-BEC3-E521-904DB3D9386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4000" y="1417639"/>
            <a:ext cx="9144000" cy="46266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6809382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70771C-F3D5-F488-1E4E-3C277815CF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GB" noProof="0" dirty="0"/>
              <a:t>4. Analysis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6274C00-2E9B-BBCA-6C2C-BD2329FFC4E1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F12E9969-9346-4095-A7C3-836AAB82C09A}" type="slidenum">
              <a:rPr lang="en-GB" noProof="0" smtClean="0"/>
              <a:t>22</a:t>
            </a:fld>
            <a:endParaRPr lang="en-GB" noProof="0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84D6A90-BDCD-8CC1-3052-B0F3400837C6}"/>
              </a:ext>
            </a:extLst>
          </p:cNvPr>
          <p:cNvSpPr>
            <a:spLocks noGrp="1"/>
          </p:cNvSpPr>
          <p:nvPr>
            <p:ph type="ftr" sz="quarter" idx="4294967295"/>
          </p:nvPr>
        </p:nvSpPr>
        <p:spPr>
          <a:xfrm>
            <a:off x="0" y="0"/>
            <a:ext cx="0" cy="0"/>
          </a:xfrm>
        </p:spPr>
        <p:txBody>
          <a:bodyPr/>
          <a:lstStyle/>
          <a:p>
            <a:r>
              <a:rPr lang="en-GB" noProof="0" dirty="0"/>
              <a:t>Model-based decomposition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FE067586-7217-6A73-C016-5D09324C61E9}"/>
              </a:ext>
            </a:extLst>
          </p:cNvPr>
          <p:cNvSpPr/>
          <p:nvPr/>
        </p:nvSpPr>
        <p:spPr>
          <a:xfrm>
            <a:off x="1866178" y="2597105"/>
            <a:ext cx="2782023" cy="621783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noProof="0" dirty="0"/>
              <a:t> Components estimators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Rectangle: Rounded Corners 7">
                <a:extLst>
                  <a:ext uri="{FF2B5EF4-FFF2-40B4-BE49-F238E27FC236}">
                    <a16:creationId xmlns:a16="http://schemas.microsoft.com/office/drawing/2014/main" id="{E99477C7-DD07-C3D7-54A6-9F1D52FFC41A}"/>
                  </a:ext>
                </a:extLst>
              </p:cNvPr>
              <p:cNvSpPr/>
              <p:nvPr/>
            </p:nvSpPr>
            <p:spPr>
              <a:xfrm>
                <a:off x="5015880" y="1484784"/>
                <a:ext cx="4752528" cy="1143000"/>
              </a:xfrm>
              <a:prstGeom prst="roundRect">
                <a:avLst/>
              </a:prstGeom>
            </p:spPr>
            <p:style>
              <a:lnRef idx="2">
                <a:schemeClr val="accent4">
                  <a:shade val="50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1600" noProof="0" dirty="0">
                    <a:solidFill>
                      <a:schemeClr val="tx1"/>
                    </a:solidFill>
                  </a:rPr>
                  <a:t>McElroy: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sSub>
                        <m:sSubPr>
                          <m:ctrlPr>
                            <a:rPr lang="en-GB" sz="1600" i="1" noProof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600" i="1" noProof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en-GB" sz="1600" i="1" noProof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sub>
                      </m:sSub>
                      <m:r>
                        <a:rPr lang="en-GB" sz="1600" i="1" noProof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GB" sz="1600" i="1" noProof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600" i="1" noProof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𝑀</m:t>
                          </m:r>
                        </m:e>
                        <m:sub>
                          <m:r>
                            <a:rPr lang="en-GB" sz="1600" i="1" noProof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sub>
                      </m:sSub>
                      <m:r>
                        <a:rPr lang="en-GB" sz="1600" i="1" noProof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d>
                        <m:dPr>
                          <m:ctrlPr>
                            <a:rPr lang="en-GB" sz="1600" i="1" noProof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1600" i="1" noProof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GB" sz="1600" i="1" noProof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 ×</m:t>
                          </m:r>
                          <m:r>
                            <a:rPr lang="en-GB" sz="1600" i="1" noProof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GB" sz="1600" i="1" noProof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GB" sz="1600" i="1" noProof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𝑚𝑎𝑡𝑟𝑖𝑥</m:t>
                          </m:r>
                        </m:e>
                      </m:d>
                    </m:oMath>
                  </m:oMathPara>
                </a14:m>
                <a:endParaRPr lang="en-GB" sz="1600" noProof="0" dirty="0">
                  <a:solidFill>
                    <a:schemeClr val="tx1"/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sSub>
                        <m:sSubPr>
                          <m:ctrlPr>
                            <a:rPr lang="en-GB" sz="1600" i="1" noProof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600" i="1" noProof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𝑀</m:t>
                          </m:r>
                        </m:e>
                        <m:sub>
                          <m:r>
                            <a:rPr lang="en-GB" sz="1600" i="1" noProof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sub>
                      </m:sSub>
                      <m:d>
                        <m:dPr>
                          <m:begChr m:val="["/>
                          <m:endChr m:val="]"/>
                          <m:ctrlPr>
                            <a:rPr lang="en-GB" sz="1600" i="1" noProof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1600" i="1" noProof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GB" sz="1600" i="1" noProof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,.</m:t>
                          </m:r>
                        </m:e>
                      </m:d>
                      <m:r>
                        <a:rPr lang="en-GB" sz="1600" i="1" noProof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GB" sz="1600" i="1" noProof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𝑤𝑒𝑖𝑔ℎ𝑡𝑠</m:t>
                      </m:r>
                      <m:r>
                        <a:rPr lang="en-GB" sz="1600" i="1" noProof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GB" sz="1600" i="1" noProof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𝑓𝑜𝑟</m:t>
                      </m:r>
                      <m:r>
                        <a:rPr lang="en-GB" sz="1600" i="1" noProof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GB" sz="1600" i="1" noProof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𝑆</m:t>
                      </m:r>
                      <m:r>
                        <a:rPr lang="en-GB" sz="1600" i="1" noProof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[</m:t>
                      </m:r>
                      <m:r>
                        <a:rPr lang="en-GB" sz="1600" i="1" noProof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𝑖</m:t>
                      </m:r>
                      <m:r>
                        <a:rPr lang="en-GB" sz="1600" i="1" noProof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]</m:t>
                      </m:r>
                    </m:oMath>
                  </m:oMathPara>
                </a14:m>
                <a:endParaRPr lang="en-GB" sz="1600" noProof="0" dirty="0">
                  <a:solidFill>
                    <a:schemeClr val="tx1"/>
                  </a:solidFill>
                </a:endParaRPr>
              </a:p>
              <a:p>
                <a:endParaRPr lang="en-GB" noProof="0" dirty="0"/>
              </a:p>
            </p:txBody>
          </p:sp>
        </mc:Choice>
        <mc:Fallback xmlns="">
          <p:sp>
            <p:nvSpPr>
              <p:cNvPr id="8" name="Rectangle: Rounded Corners 7">
                <a:extLst>
                  <a:ext uri="{FF2B5EF4-FFF2-40B4-BE49-F238E27FC236}">
                    <a16:creationId xmlns:a16="http://schemas.microsoft.com/office/drawing/2014/main" id="{E99477C7-DD07-C3D7-54A6-9F1D52FFC41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15880" y="1484784"/>
                <a:ext cx="4752528" cy="1143000"/>
              </a:xfrm>
              <a:prstGeom prst="round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Rectangle: Rounded Corners 10">
                <a:extLst>
                  <a:ext uri="{FF2B5EF4-FFF2-40B4-BE49-F238E27FC236}">
                    <a16:creationId xmlns:a16="http://schemas.microsoft.com/office/drawing/2014/main" id="{3CFEACFD-EFA4-DD26-120C-55C2C7B9AA9B}"/>
                  </a:ext>
                </a:extLst>
              </p:cNvPr>
              <p:cNvSpPr/>
              <p:nvPr/>
            </p:nvSpPr>
            <p:spPr>
              <a:xfrm>
                <a:off x="5015881" y="2996952"/>
                <a:ext cx="4752527" cy="2448272"/>
              </a:xfrm>
              <a:prstGeom prst="roundRect">
                <a:avLst/>
              </a:prstGeom>
            </p:spPr>
            <p:style>
              <a:lnRef idx="2">
                <a:schemeClr val="accent5">
                  <a:shade val="50000"/>
                </a:schemeClr>
              </a:lnRef>
              <a:fillRef idx="1">
                <a:schemeClr val="accent5"/>
              </a:fillRef>
              <a:effectRef idx="0">
                <a:schemeClr val="accent5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1600" noProof="0" dirty="0">
                    <a:solidFill>
                      <a:schemeClr val="tx1"/>
                    </a:solidFill>
                  </a:rPr>
                  <a:t>Maravall (whittle…)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GB" sz="1600" i="1" noProof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1600" i="1" noProof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GB" sz="1600" i="1" noProof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𝑆</m:t>
                        </m:r>
                      </m:sub>
                    </m:sSub>
                    <m:r>
                      <a:rPr lang="en-GB" sz="1600" i="1" noProof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GB" sz="1600" i="1" noProof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1600" i="1" noProof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𝜓</m:t>
                        </m:r>
                      </m:e>
                      <m:sub>
                        <m:r>
                          <a:rPr lang="en-GB" sz="1600" i="1" noProof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𝑆</m:t>
                        </m:r>
                      </m:sub>
                    </m:sSub>
                    <m:r>
                      <a:rPr lang="en-GB" sz="1600" i="1" noProof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en-GB" sz="1600" i="1" noProof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𝐵</m:t>
                    </m:r>
                    <m:r>
                      <a:rPr lang="en-GB" sz="1600" i="1" noProof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  <m:sSub>
                      <m:sSubPr>
                        <m:ctrlPr>
                          <a:rPr lang="en-GB" sz="1600" i="1" noProof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1600" i="1" noProof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𝜓</m:t>
                        </m:r>
                      </m:e>
                      <m:sub>
                        <m:r>
                          <a:rPr lang="en-GB" sz="1600" i="1" noProof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𝑆</m:t>
                        </m:r>
                      </m:sub>
                    </m:sSub>
                    <m:r>
                      <a:rPr lang="en-GB" sz="1600" i="1" noProof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en-GB" sz="1600" i="1" noProof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𝐹</m:t>
                    </m:r>
                    <m:r>
                      <a:rPr lang="en-GB" sz="1600" i="1" noProof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GB" sz="1600" noProof="0" dirty="0">
                    <a:solidFill>
                      <a:schemeClr val="tx1"/>
                    </a:solidFill>
                  </a:rPr>
                  <a:t>		     [WK filters]</a:t>
                </a:r>
              </a:p>
              <a:p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GB" sz="1600" i="1" noProof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GB" sz="1600" i="1" noProof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</m:acc>
                    <m:d>
                      <m:dPr>
                        <m:ctrlPr>
                          <a:rPr lang="en-GB" sz="1600" i="1" noProof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GB" sz="1600" i="1" noProof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en-GB" sz="1600" i="1" noProof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bSup>
                      <m:sSubSupPr>
                        <m:ctrlPr>
                          <a:rPr lang="en-GB" sz="1600" i="1" noProof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GB" sz="1600" i="1" noProof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𝜉</m:t>
                        </m:r>
                      </m:e>
                      <m:sub>
                        <m:r>
                          <a:rPr lang="en-GB" sz="1600" i="1" noProof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𝑆</m:t>
                        </m:r>
                      </m:sub>
                      <m:sup>
                        <m:r>
                          <a:rPr lang="en-GB" sz="1600" i="1" noProof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</m:sup>
                    </m:sSubSup>
                    <m:d>
                      <m:dPr>
                        <m:ctrlPr>
                          <a:rPr lang="en-GB" sz="1600" i="1" noProof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GB" sz="1600" i="1" noProof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d>
                    <m:r>
                      <a:rPr lang="en-GB" sz="1600" i="1" noProof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𝜀</m:t>
                    </m:r>
                    <m:d>
                      <m:dPr>
                        <m:ctrlPr>
                          <a:rPr lang="en-GB" sz="1600" i="1" noProof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GB" sz="1600" i="1" noProof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en-GB" sz="1600" i="1" noProof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sSubSup>
                      <m:sSubSupPr>
                        <m:ctrlPr>
                          <a:rPr lang="en-GB" sz="1600" i="1" noProof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GB" sz="1600" i="1" noProof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𝜉</m:t>
                        </m:r>
                      </m:e>
                      <m:sub>
                        <m:r>
                          <a:rPr lang="en-GB" sz="1600" i="1" noProof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𝑆</m:t>
                        </m:r>
                      </m:sub>
                      <m:sup>
                        <m:r>
                          <a:rPr lang="en-GB" sz="1600" i="1" noProof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</m:sup>
                    </m:sSubSup>
                    <m:d>
                      <m:dPr>
                        <m:ctrlPr>
                          <a:rPr lang="en-GB" sz="1600" i="1" noProof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GB" sz="1600" i="1" noProof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</m:d>
                    <m:r>
                      <a:rPr lang="en-GB" sz="1600" i="1" noProof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𝜀</m:t>
                    </m:r>
                    <m:d>
                      <m:dPr>
                        <m:ctrlPr>
                          <a:rPr lang="en-GB" sz="1600" i="1" noProof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GB" sz="1600" i="1" noProof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e>
                    </m:d>
                  </m:oMath>
                </a14:m>
                <a:r>
                  <a:rPr lang="en-GB" sz="1600" noProof="0" dirty="0">
                    <a:solidFill>
                      <a:schemeClr val="tx1"/>
                    </a:solidFill>
                  </a:rPr>
                  <a:t> [</a:t>
                </a:r>
                <a:r>
                  <a:rPr lang="en-GB" sz="1600" noProof="0" dirty="0" err="1">
                    <a:solidFill>
                      <a:schemeClr val="tx1"/>
                    </a:solidFill>
                  </a:rPr>
                  <a:t>PsiE</a:t>
                </a:r>
                <a:r>
                  <a:rPr lang="en-GB" sz="1600" noProof="0" dirty="0">
                    <a:solidFill>
                      <a:schemeClr val="tx1"/>
                    </a:solidFill>
                  </a:rPr>
                  <a:t>-weights]</a:t>
                </a:r>
              </a:p>
              <a:p>
                <a:endParaRPr lang="en-GB" sz="1600" noProof="0" dirty="0">
                  <a:solidFill>
                    <a:schemeClr val="tx1"/>
                  </a:solidFill>
                </a:endParaRPr>
              </a:p>
              <a:p>
                <a:r>
                  <a:rPr lang="en-GB" sz="1600" noProof="0" dirty="0">
                    <a:solidFill>
                      <a:schemeClr val="tx1"/>
                    </a:solidFill>
                  </a:rPr>
                  <a:t>Error analysis based on the </a:t>
                </a:r>
                <a:r>
                  <a:rPr lang="en-GB" sz="1600" noProof="0" dirty="0" err="1">
                    <a:solidFill>
                      <a:schemeClr val="tx1"/>
                    </a:solidFill>
                  </a:rPr>
                  <a:t>PsiE</a:t>
                </a:r>
                <a:r>
                  <a:rPr lang="en-GB" sz="1600" noProof="0" dirty="0">
                    <a:solidFill>
                      <a:schemeClr val="tx1"/>
                    </a:solidFill>
                  </a:rPr>
                  <a:t>-weights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GB" sz="1600" noProof="0" dirty="0">
                    <a:solidFill>
                      <a:schemeClr val="tx1"/>
                    </a:solidFill>
                  </a:rPr>
                  <a:t>Analysis of the final and preliminary estimators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GB" sz="1600" noProof="0" dirty="0">
                    <a:solidFill>
                      <a:schemeClr val="tx1"/>
                    </a:solidFill>
                  </a:rPr>
                  <a:t>Revision analysis</a:t>
                </a:r>
              </a:p>
              <a:p>
                <a:endParaRPr lang="en-GB" sz="1600" noProof="0" dirty="0"/>
              </a:p>
            </p:txBody>
          </p:sp>
        </mc:Choice>
        <mc:Fallback xmlns="">
          <p:sp>
            <p:nvSpPr>
              <p:cNvPr id="11" name="Rectangle: Rounded Corners 10">
                <a:extLst>
                  <a:ext uri="{FF2B5EF4-FFF2-40B4-BE49-F238E27FC236}">
                    <a16:creationId xmlns:a16="http://schemas.microsoft.com/office/drawing/2014/main" id="{3CFEACFD-EFA4-DD26-120C-55C2C7B9AA9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15881" y="2996952"/>
                <a:ext cx="4752527" cy="2448272"/>
              </a:xfrm>
              <a:prstGeom prst="round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2065772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BAB340-0B02-A531-CA42-4377E721F6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lang="en-GB" noProof="0" dirty="0"/>
              <a:t>4.1 Analysis in the frequency domain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A991FDF-E87B-3491-F4AD-DD7B866428F7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F12E9969-9346-4095-A7C3-836AAB82C09A}" type="slidenum">
              <a:rPr lang="en-GB" noProof="0" smtClean="0"/>
              <a:t>23</a:t>
            </a:fld>
            <a:endParaRPr lang="en-GB" noProof="0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0B1E93A-7F5C-BECB-F8D9-0201F10CCE56}"/>
              </a:ext>
            </a:extLst>
          </p:cNvPr>
          <p:cNvSpPr>
            <a:spLocks noGrp="1"/>
          </p:cNvSpPr>
          <p:nvPr>
            <p:ph type="ftr" sz="quarter" idx="4294967295"/>
          </p:nvPr>
        </p:nvSpPr>
        <p:spPr>
          <a:xfrm>
            <a:off x="0" y="0"/>
            <a:ext cx="0" cy="0"/>
          </a:xfrm>
        </p:spPr>
        <p:txBody>
          <a:bodyPr/>
          <a:lstStyle/>
          <a:p>
            <a:r>
              <a:rPr lang="en-GB" noProof="0" dirty="0"/>
              <a:t>Model-based decomposition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B966357E-7098-7BD9-3A07-E8456E92052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95600" y="1196752"/>
            <a:ext cx="7386834" cy="48557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8890590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867F7A-3A41-75A5-7D96-D70BDCDE4E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noProof="0" dirty="0"/>
              <a:t>4.1 Analysis in the frequency domain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FCF830-2FF5-B6E1-27DF-A1E4899F4017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F12E9969-9346-4095-A7C3-836AAB82C09A}" type="slidenum">
              <a:rPr lang="en-GB" noProof="0" smtClean="0"/>
              <a:t>24</a:t>
            </a:fld>
            <a:endParaRPr lang="en-GB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3AAC434-E60D-2C98-5EC3-5A649F3E7DE3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GB" noProof="0" dirty="0"/>
              <a:t>(</a:t>
            </a:r>
            <a:r>
              <a:rPr lang="en-GB" sz="2800" noProof="0" dirty="0"/>
              <a:t>Squared-) gain of the filters:</a:t>
            </a:r>
          </a:p>
          <a:p>
            <a:pPr lvl="1"/>
            <a:r>
              <a:rPr lang="en-GB" sz="2400" noProof="0" dirty="0"/>
              <a:t>What are the frequencies that are kept/removed by the filter</a:t>
            </a:r>
          </a:p>
          <a:p>
            <a:r>
              <a:rPr lang="en-GB" sz="2800" noProof="0" dirty="0"/>
              <a:t>The estimators “underestimate” the variance of the components</a:t>
            </a:r>
          </a:p>
          <a:p>
            <a:r>
              <a:rPr lang="en-GB" sz="2800" noProof="0" dirty="0"/>
              <a:t>Similar analysis for the preliminary estimators</a:t>
            </a:r>
          </a:p>
          <a:p>
            <a:pPr lvl="1"/>
            <a:r>
              <a:rPr lang="en-GB" sz="2400" noProof="0" dirty="0"/>
              <a:t>Non-symmetric filters → phase effects</a:t>
            </a:r>
          </a:p>
          <a:p>
            <a:pPr lvl="1"/>
            <a:endParaRPr lang="en-GB" noProof="0" dirty="0"/>
          </a:p>
          <a:p>
            <a:endParaRPr lang="en-GB" noProof="0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421BBB5-236A-D99A-D014-5820D537FD80}"/>
              </a:ext>
            </a:extLst>
          </p:cNvPr>
          <p:cNvSpPr>
            <a:spLocks noGrp="1"/>
          </p:cNvSpPr>
          <p:nvPr>
            <p:ph type="ftr" sz="quarter" idx="4294967295"/>
          </p:nvPr>
        </p:nvSpPr>
        <p:spPr>
          <a:xfrm>
            <a:off x="0" y="0"/>
            <a:ext cx="0" cy="0"/>
          </a:xfrm>
        </p:spPr>
        <p:txBody>
          <a:bodyPr/>
          <a:lstStyle/>
          <a:p>
            <a:r>
              <a:rPr lang="en-GB" noProof="0" dirty="0"/>
              <a:t>Model-based decomposition</a:t>
            </a:r>
          </a:p>
        </p:txBody>
      </p:sp>
    </p:spTree>
    <p:extLst>
      <p:ext uri="{BB962C8B-B14F-4D97-AF65-F5344CB8AC3E}">
        <p14:creationId xmlns:p14="http://schemas.microsoft.com/office/powerpoint/2010/main" val="356838578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6AD1AE-E525-EC26-EB9A-017CE0E30E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GB" noProof="0" dirty="0"/>
              <a:t>4.2 Graphical representations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198FF5A-FBFD-1435-BB6B-E5DF84C3EF49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F12E9969-9346-4095-A7C3-836AAB82C09A}" type="slidenum">
              <a:rPr lang="en-GB" noProof="0" smtClean="0"/>
              <a:t>25</a:t>
            </a:fld>
            <a:endParaRPr lang="en-GB" noProof="0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DEC0DF1-FDB0-291E-0691-2C2AE2E8E803}"/>
              </a:ext>
            </a:extLst>
          </p:cNvPr>
          <p:cNvSpPr>
            <a:spLocks noGrp="1"/>
          </p:cNvSpPr>
          <p:nvPr>
            <p:ph type="ftr" sz="quarter" idx="4294967295"/>
          </p:nvPr>
        </p:nvSpPr>
        <p:spPr>
          <a:xfrm>
            <a:off x="0" y="0"/>
            <a:ext cx="0" cy="0"/>
          </a:xfrm>
        </p:spPr>
        <p:txBody>
          <a:bodyPr/>
          <a:lstStyle/>
          <a:p>
            <a:r>
              <a:rPr lang="en-GB" noProof="0" dirty="0"/>
              <a:t>Model-based decomposition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426987A8-3831-C037-6603-CF1DD647150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77852" y="1268761"/>
            <a:ext cx="7236296" cy="47538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680647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D49BAF-2896-3F44-40B7-6FB3EBDE4F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4.2 </a:t>
            </a:r>
            <a:r>
              <a:rPr lang="en-GB" noProof="0" dirty="0" err="1"/>
              <a:t>PsiE</a:t>
            </a:r>
            <a:r>
              <a:rPr lang="en-GB" noProof="0" dirty="0"/>
              <a:t>-weights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340478-5CC6-2409-52DC-F48AF4D6B7F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=Psi weights for estimators</a:t>
            </a:r>
          </a:p>
          <a:p>
            <a:endParaRPr lang="en-GB" noProof="0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A5DAD4E-C8F3-3DC2-0973-29E9E53AF3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noProof="0" dirty="0"/>
              <a:t>Model-based decomposition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012563C-3593-AA7F-B46F-85118892A3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2E9969-9346-4095-A7C3-836AAB82C09A}" type="slidenum">
              <a:rPr lang="en-GB" noProof="0" smtClean="0"/>
              <a:t>26</a:t>
            </a:fld>
            <a:endParaRPr lang="en-GB" noProof="0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710D4CCA-0793-9DBF-8F74-EFDB0CDBB8A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57872" y="2438538"/>
            <a:ext cx="6876256" cy="36555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7929650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GB" noProof="0" dirty="0"/>
              <a:t>4.3 Analysis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F12E9969-9346-4095-A7C3-836AAB82C09A}" type="slidenum">
              <a:rPr lang="en-GB" noProof="0" smtClean="0"/>
              <a:t>27</a:t>
            </a:fld>
            <a:endParaRPr lang="en-GB" noProof="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sz="half" idx="2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GB" noProof="0" dirty="0"/>
                  <a:t>What matters?</a:t>
                </a:r>
              </a:p>
              <a:p>
                <a:pPr lvl="1"/>
                <a:r>
                  <a:rPr lang="en-GB" noProof="0" dirty="0"/>
                  <a:t>Understanding the differences between the “theoretical components” and their “estimators”</a:t>
                </a:r>
              </a:p>
              <a:p>
                <a:pPr lvl="2"/>
                <a:r>
                  <a:rPr lang="en-GB" noProof="0" dirty="0"/>
                  <a:t>For instance:</a:t>
                </a:r>
                <a:r>
                  <a:rPr lang="en-GB" sz="1400" noProof="0" dirty="0"/>
                  <a:t> </a:t>
                </a:r>
                <a:r>
                  <a:rPr lang="en-GB" sz="1600" noProof="0" dirty="0"/>
                  <a:t>“dips” in the spectrum of the estimator</a:t>
                </a:r>
              </a:p>
              <a:p>
                <a:pPr lvl="1"/>
                <a:r>
                  <a:rPr lang="en-GB" noProof="0" dirty="0"/>
                  <a:t>Understanding the properties of the estimators</a:t>
                </a:r>
              </a:p>
              <a:p>
                <a:pPr lvl="2"/>
                <a:r>
                  <a:rPr lang="en-GB" sz="1600" noProof="0" dirty="0"/>
                  <a:t>Model of Irregular ≠ white noise, negative ac(1) in many SA estimators, …</a:t>
                </a:r>
              </a:p>
              <a:p>
                <a:pPr lvl="1"/>
                <a:r>
                  <a:rPr lang="en-GB" noProof="0" dirty="0"/>
                  <a:t>Understanding </a:t>
                </a:r>
                <a:r>
                  <a:rPr lang="en-GB" noProof="0" dirty="0" err="1"/>
                  <a:t>PsiE</a:t>
                </a:r>
                <a:r>
                  <a:rPr lang="en-GB" noProof="0" dirty="0"/>
                  <a:t>-weights</a:t>
                </a:r>
              </a:p>
              <a:p>
                <a:pPr marL="457200" lvl="1" indent="0" algn="ctr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GB" i="1" noProof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 noProof="0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GB" i="1" noProof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GB" i="1" noProof="0" smtClean="0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supHide m:val="on"/>
                        <m:ctrlPr>
                          <a:rPr lang="en-GB" i="1" noProof="0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7"/>
                          </m:rPr>
                          <a:rPr lang="en-GB" i="1" noProof="0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GB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≤</m:t>
                        </m:r>
                        <m:r>
                          <a:rPr lang="en-GB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en-GB" i="1" noProof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i="1" noProof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𝜓</m:t>
                            </m:r>
                          </m:e>
                          <m:sub>
                            <m:r>
                              <a:rPr lang="en-GB" i="1" noProof="0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sSub>
                          <m:sSubPr>
                            <m:ctrlPr>
                              <a:rPr lang="en-GB" i="1" noProof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i="1" noProof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𝜀</m:t>
                            </m:r>
                          </m:e>
                          <m:sub>
                            <m:r>
                              <a:rPr lang="en-GB" i="1" noProof="0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nary>
                    <m:r>
                      <a:rPr lang="en-GB" i="1" noProof="0" smtClean="0">
                        <a:latin typeface="Cambria Math" panose="02040503050406030204" pitchFamily="18" charset="0"/>
                      </a:rPr>
                      <m:t>⇒</m:t>
                    </m:r>
                  </m:oMath>
                </a14:m>
                <a:r>
                  <a:rPr lang="en-GB" noProof="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i="1" noProof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GB" i="1" noProof="0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GB" i="1" noProof="0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</m:acc>
                      </m:e>
                      <m:sub>
                        <m:r>
                          <a:rPr lang="en-GB" i="1" noProof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GB" i="1" noProof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GB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𝜈</m:t>
                    </m:r>
                    <m:r>
                      <a:rPr lang="en-GB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en-GB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𝐵</m:t>
                    </m:r>
                    <m:r>
                      <a:rPr lang="en-GB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</m:t>
                    </m:r>
                    <m:r>
                      <a:rPr lang="en-GB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𝐹</m:t>
                    </m:r>
                    <m:r>
                      <a:rPr lang="en-GB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  <m:sSub>
                      <m:sSubPr>
                        <m:ctrlPr>
                          <a:rPr lang="en-GB" i="1" noProof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 noProof="0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GB" i="1" noProof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GB" i="1" noProof="0" smtClean="0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GB" noProof="0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GB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𝜈</m:t>
                    </m:r>
                    <m:r>
                      <a:rPr lang="en-GB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en-GB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𝐵</m:t>
                    </m:r>
                    <m:r>
                      <a:rPr lang="en-GB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</m:t>
                    </m:r>
                    <m:r>
                      <a:rPr lang="en-GB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𝐹</m:t>
                    </m:r>
                    <m:r>
                      <a:rPr lang="en-GB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  <m:nary>
                      <m:naryPr>
                        <m:chr m:val="∑"/>
                        <m:supHide m:val="on"/>
                        <m:ctrlPr>
                          <a:rPr lang="en-GB" i="1" noProof="0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7"/>
                          </m:rPr>
                          <a:rPr lang="en-GB" i="1" noProof="0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GB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≤</m:t>
                        </m:r>
                        <m:r>
                          <a:rPr lang="en-GB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en-GB" i="1" noProof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i="1" noProof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𝜓</m:t>
                            </m:r>
                          </m:e>
                          <m:sub>
                            <m:r>
                              <a:rPr lang="en-GB" i="1" noProof="0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sSub>
                          <m:sSubPr>
                            <m:ctrlPr>
                              <a:rPr lang="en-GB" i="1" noProof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i="1" noProof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𝜀</m:t>
                            </m:r>
                          </m:e>
                          <m:sub>
                            <m:r>
                              <a:rPr lang="en-GB" i="1" noProof="0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nary>
                  </m:oMath>
                </a14:m>
                <a:endParaRPr lang="en-GB" noProof="0" dirty="0"/>
              </a:p>
              <a:p>
                <a:pPr marL="457200" lvl="1" indent="0" algn="ctr">
                  <a:buNone/>
                </a:pPr>
                <a14:m>
                  <m:oMath xmlns:m="http://schemas.openxmlformats.org/officeDocument/2006/math">
                    <m:r>
                      <a:rPr lang="en-GB" i="1" noProof="0" smtClean="0">
                        <a:latin typeface="Cambria Math" panose="02040503050406030204" pitchFamily="18" charset="0"/>
                      </a:rPr>
                      <m:t>⇒</m:t>
                    </m:r>
                  </m:oMath>
                </a14:m>
                <a:r>
                  <a:rPr lang="en-GB" noProof="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i="1" noProof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GB" i="1" noProof="0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GB" i="1" noProof="0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</m:acc>
                      </m:e>
                      <m:sub>
                        <m:r>
                          <a:rPr lang="en-GB" i="1" noProof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GB" i="1" noProof="0" smtClean="0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supHide m:val="on"/>
                        <m:ctrlPr>
                          <a:rPr lang="en-GB" i="1" noProof="0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7"/>
                          </m:rPr>
                          <a:rPr lang="en-GB" i="1" noProof="0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GB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≤</m:t>
                        </m:r>
                        <m:r>
                          <a:rPr lang="en-GB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sub>
                      <m:sup/>
                      <m:e>
                        <m:sSubSup>
                          <m:sSubSupPr>
                            <m:ctrlPr>
                              <a:rPr lang="en-GB" i="1" noProof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GB" i="1" noProof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𝜉</m:t>
                            </m:r>
                          </m:e>
                          <m:sub>
                            <m:r>
                              <a:rPr lang="en-GB" i="1" noProof="0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  <m:r>
                              <a:rPr lang="en-GB" i="1" noProof="0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GB" i="1" noProof="0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  <m:sup>
                            <m:r>
                              <a:rPr lang="en-GB" i="1" noProof="0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</m:sup>
                        </m:sSubSup>
                        <m:sSub>
                          <m:sSubPr>
                            <m:ctrlPr>
                              <a:rPr lang="en-GB" i="1" noProof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i="1" noProof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𝜀</m:t>
                            </m:r>
                          </m:e>
                          <m:sub>
                            <m:r>
                              <a:rPr lang="en-GB" i="1" noProof="0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nary>
                    <m:r>
                      <a:rPr lang="en-GB" i="1" noProof="0" smtClean="0">
                        <a:latin typeface="Cambria Math" panose="02040503050406030204" pitchFamily="18" charset="0"/>
                      </a:rPr>
                      <m:t>+</m:t>
                    </m:r>
                    <m:nary>
                      <m:naryPr>
                        <m:chr m:val="∑"/>
                        <m:supHide m:val="on"/>
                        <m:ctrlPr>
                          <a:rPr lang="en-GB" i="1" noProof="0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7"/>
                          </m:rPr>
                          <a:rPr lang="en-GB" i="1" noProof="0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GB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&gt;</m:t>
                        </m:r>
                        <m:r>
                          <a:rPr lang="en-GB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sub>
                      <m:sup/>
                      <m:e>
                        <m:sSubSup>
                          <m:sSubSupPr>
                            <m:ctrlPr>
                              <a:rPr lang="en-GB" i="1" noProof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GB" i="1" noProof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𝜉</m:t>
                            </m:r>
                          </m:e>
                          <m:sub>
                            <m:r>
                              <a:rPr lang="en-GB" i="1" noProof="0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  <m:r>
                              <a:rPr lang="en-GB" i="1" noProof="0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GB" i="1" noProof="0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  <m:sup>
                            <m:r>
                              <a:rPr lang="en-GB" i="1" noProof="0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</m:sup>
                        </m:sSubSup>
                        <m:sSub>
                          <m:sSubPr>
                            <m:ctrlPr>
                              <a:rPr lang="en-GB" i="1" noProof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i="1" noProof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𝜀</m:t>
                            </m:r>
                          </m:e>
                          <m:sub>
                            <m:r>
                              <a:rPr lang="en-GB" i="1" noProof="0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nary>
                  </m:oMath>
                </a14:m>
                <a:endParaRPr lang="en-GB" noProof="0" dirty="0"/>
              </a:p>
              <a:p>
                <a:pPr marL="457200" lvl="1" indent="0" algn="ctr">
                  <a:buNone/>
                </a:pPr>
                <a14:m>
                  <m:oMath xmlns:m="http://schemas.openxmlformats.org/officeDocument/2006/math">
                    <m:r>
                      <a:rPr lang="en-GB" i="1" noProof="0" smtClean="0">
                        <a:latin typeface="Cambria Math" panose="02040503050406030204" pitchFamily="18" charset="0"/>
                      </a:rPr>
                      <m:t>⇒</m:t>
                    </m:r>
                  </m:oMath>
                </a14:m>
                <a:r>
                  <a:rPr lang="en-GB" noProof="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i="1" noProof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GB" i="1" noProof="0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GB" i="1" noProof="0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</m:acc>
                      </m:e>
                      <m:sub>
                        <m:r>
                          <a:rPr lang="en-GB" i="1" noProof="0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GB" i="1" noProof="0" smtClean="0">
                            <a:latin typeface="Cambria Math" panose="02040503050406030204" pitchFamily="18" charset="0"/>
                          </a:rPr>
                          <m:t>|</m:t>
                        </m:r>
                        <m:r>
                          <a:rPr lang="en-GB" i="1" noProof="0" smtClean="0">
                            <a:latin typeface="Cambria Math" panose="02040503050406030204" pitchFamily="18" charset="0"/>
                          </a:rPr>
                          <m:t>𝑇</m:t>
                        </m:r>
                      </m:sub>
                    </m:sSub>
                    <m:r>
                      <a:rPr lang="en-GB" i="1" noProof="0" smtClean="0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supHide m:val="on"/>
                        <m:ctrlPr>
                          <a:rPr lang="en-GB" i="1" noProof="0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7"/>
                          </m:rPr>
                          <a:rPr lang="en-GB" i="1" noProof="0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GB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≤</m:t>
                        </m:r>
                        <m:r>
                          <a:rPr lang="en-GB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sub>
                      <m:sup/>
                      <m:e>
                        <m:sSubSup>
                          <m:sSubSupPr>
                            <m:ctrlPr>
                              <a:rPr lang="en-GB" i="1" noProof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GB" i="1" noProof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𝜉</m:t>
                            </m:r>
                          </m:e>
                          <m:sub>
                            <m:r>
                              <a:rPr lang="en-GB" i="1" noProof="0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  <m:r>
                              <a:rPr lang="en-GB" i="1" noProof="0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GB" i="1" noProof="0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  <m:sup>
                            <m:r>
                              <a:rPr lang="en-GB" i="1" noProof="0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</m:sup>
                        </m:sSubSup>
                        <m:sSub>
                          <m:sSubPr>
                            <m:ctrlPr>
                              <a:rPr lang="en-GB" i="1" noProof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i="1" noProof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𝜀</m:t>
                            </m:r>
                          </m:e>
                          <m:sub>
                            <m:r>
                              <a:rPr lang="en-GB" i="1" noProof="0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nary>
                    <m:r>
                      <a:rPr lang="en-GB" i="1" noProof="0" smtClean="0">
                        <a:latin typeface="Cambria Math" panose="02040503050406030204" pitchFamily="18" charset="0"/>
                      </a:rPr>
                      <m:t>+</m:t>
                    </m:r>
                    <m:nary>
                      <m:naryPr>
                        <m:chr m:val="∑"/>
                        <m:supHide m:val="on"/>
                        <m:ctrlPr>
                          <a:rPr lang="en-GB" i="1" noProof="0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GB" i="1" noProof="0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GB" i="1" noProof="0" smtClean="0">
                            <a:latin typeface="Cambria Math" panose="02040503050406030204" pitchFamily="18" charset="0"/>
                          </a:rPr>
                          <m:t>&lt;</m:t>
                        </m:r>
                        <m:r>
                          <m:rPr>
                            <m:brk m:alnAt="7"/>
                          </m:rPr>
                          <a:rPr lang="en-GB" i="1" noProof="0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GB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≤</m:t>
                        </m:r>
                        <m:r>
                          <a:rPr lang="en-GB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𝑇</m:t>
                        </m:r>
                      </m:sub>
                      <m:sup/>
                      <m:e>
                        <m:sSubSup>
                          <m:sSubSupPr>
                            <m:ctrlPr>
                              <a:rPr lang="en-GB" i="1" noProof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GB" i="1" noProof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𝜉</m:t>
                            </m:r>
                          </m:e>
                          <m:sub>
                            <m:r>
                              <a:rPr lang="en-GB" i="1" noProof="0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  <m:r>
                              <a:rPr lang="en-GB" i="1" noProof="0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GB" i="1" noProof="0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  <m:sup>
                            <m:r>
                              <a:rPr lang="en-GB" i="1" noProof="0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</m:sup>
                        </m:sSubSup>
                        <m:sSub>
                          <m:sSubPr>
                            <m:ctrlPr>
                              <a:rPr lang="en-GB" i="1" noProof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i="1" noProof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𝜀</m:t>
                            </m:r>
                          </m:e>
                          <m:sub>
                            <m:r>
                              <a:rPr lang="en-GB" i="1" noProof="0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nary>
                  </m:oMath>
                </a14:m>
                <a:endParaRPr lang="en-GB" noProof="0" dirty="0"/>
              </a:p>
              <a:p>
                <a:pPr marL="457200" lvl="1" indent="0" algn="ctr">
                  <a:buNone/>
                </a:pPr>
                <a14:m>
                  <m:oMath xmlns:m="http://schemas.openxmlformats.org/officeDocument/2006/math">
                    <m:r>
                      <a:rPr lang="en-GB" i="1" noProof="0" smtClean="0">
                        <a:latin typeface="Cambria Math" panose="02040503050406030204" pitchFamily="18" charset="0"/>
                      </a:rPr>
                      <m:t>⇒</m:t>
                    </m:r>
                  </m:oMath>
                </a14:m>
                <a:r>
                  <a:rPr lang="en-GB" noProof="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i="1" noProof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GB" i="1" noProof="0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GB" i="1" noProof="0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</m:acc>
                      </m:e>
                      <m:sub>
                        <m:r>
                          <a:rPr lang="en-GB" i="1" noProof="0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GB" i="1" noProof="0" smtClean="0">
                            <a:latin typeface="Cambria Math" panose="02040503050406030204" pitchFamily="18" charset="0"/>
                          </a:rPr>
                          <m:t>|</m:t>
                        </m:r>
                        <m:r>
                          <a:rPr lang="en-GB" i="1" noProof="0" smtClean="0">
                            <a:latin typeface="Cambria Math" panose="02040503050406030204" pitchFamily="18" charset="0"/>
                          </a:rPr>
                          <m:t>𝑇</m:t>
                        </m:r>
                      </m:sub>
                    </m:sSub>
                    <m:r>
                      <a:rPr lang="en-GB" i="1" noProof="0" smtClean="0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supHide m:val="on"/>
                        <m:ctrlPr>
                          <a:rPr lang="en-GB" i="1" noProof="0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GB" i="1" noProof="0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GB" i="1" noProof="0" smtClean="0">
                            <a:latin typeface="Cambria Math" panose="02040503050406030204" pitchFamily="18" charset="0"/>
                          </a:rPr>
                          <m:t>&gt;</m:t>
                        </m:r>
                        <m:r>
                          <a:rPr lang="en-GB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𝑇</m:t>
                        </m:r>
                      </m:sub>
                      <m:sup/>
                      <m:e>
                        <m:sSubSup>
                          <m:sSubSupPr>
                            <m:ctrlPr>
                              <a:rPr lang="en-GB" i="1" noProof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GB" i="1" noProof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𝜉</m:t>
                            </m:r>
                          </m:e>
                          <m:sub>
                            <m:r>
                              <a:rPr lang="en-GB" i="1" noProof="0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  <m:r>
                              <a:rPr lang="en-GB" i="1" noProof="0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GB" i="1" noProof="0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  <m:sup>
                            <m:r>
                              <a:rPr lang="en-GB" i="1" noProof="0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</m:sup>
                        </m:sSubSup>
                        <m:sSub>
                          <m:sSubPr>
                            <m:ctrlPr>
                              <a:rPr lang="en-GB" i="1" noProof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i="1" noProof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𝜀</m:t>
                            </m:r>
                          </m:e>
                          <m:sub>
                            <m:r>
                              <a:rPr lang="en-GB" i="1" noProof="0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nary>
                  </m:oMath>
                </a14:m>
                <a:endParaRPr lang="en-GB" noProof="0" dirty="0"/>
              </a:p>
              <a:p>
                <a:pPr lvl="1"/>
                <a:endParaRPr lang="en-GB" noProof="0" dirty="0"/>
              </a:p>
              <a:p>
                <a:pPr lvl="2"/>
                <a:endParaRPr lang="en-GB" noProof="0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2"/>
              </p:nvPr>
            </p:nvSpPr>
            <p:spPr>
              <a:blipFill>
                <a:blip r:embed="rId2"/>
                <a:stretch>
                  <a:fillRect l="-754" t="-2086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Footer Placeholder 4"/>
          <p:cNvSpPr>
            <a:spLocks noGrp="1"/>
          </p:cNvSpPr>
          <p:nvPr>
            <p:ph type="ftr" sz="quarter" idx="4294967295"/>
          </p:nvPr>
        </p:nvSpPr>
        <p:spPr>
          <a:xfrm>
            <a:off x="0" y="0"/>
            <a:ext cx="0" cy="0"/>
          </a:xfrm>
        </p:spPr>
        <p:txBody>
          <a:bodyPr/>
          <a:lstStyle/>
          <a:p>
            <a:r>
              <a:rPr lang="en-GB" noProof="0" dirty="0"/>
              <a:t>Model-based decomposition</a:t>
            </a:r>
          </a:p>
        </p:txBody>
      </p:sp>
    </p:spTree>
    <p:extLst>
      <p:ext uri="{BB962C8B-B14F-4D97-AF65-F5344CB8AC3E}">
        <p14:creationId xmlns:p14="http://schemas.microsoft.com/office/powerpoint/2010/main" val="145370274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5. SEATS in JD+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F12E9969-9346-4095-A7C3-836AAB82C09A}" type="slidenum">
              <a:rPr lang="en-GB" noProof="0" smtClean="0"/>
              <a:t>28</a:t>
            </a:fld>
            <a:endParaRPr lang="en-GB" noProof="0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4294967295"/>
          </p:nvPr>
        </p:nvSpPr>
        <p:spPr>
          <a:xfrm>
            <a:off x="0" y="0"/>
            <a:ext cx="0" cy="0"/>
          </a:xfrm>
        </p:spPr>
        <p:txBody>
          <a:bodyPr/>
          <a:lstStyle/>
          <a:p>
            <a:r>
              <a:rPr lang="en-GB" noProof="0" dirty="0"/>
              <a:t>Model-based decomposition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11116" y="3100319"/>
            <a:ext cx="2403222" cy="307777"/>
          </a:xfrm>
          <a:prstGeom prst="rect">
            <a:avLst/>
          </a:prstGeom>
          <a:noFill/>
          <a:ln w="15875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GB" noProof="0" dirty="0"/>
              <a:t>Decomposition of the model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7834" y="4077073"/>
            <a:ext cx="2542684" cy="307777"/>
          </a:xfrm>
          <a:prstGeom prst="rect">
            <a:avLst/>
          </a:prstGeom>
          <a:noFill/>
          <a:ln w="15875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GB" noProof="0" dirty="0"/>
              <a:t>Estimation of the components</a:t>
            </a:r>
          </a:p>
        </p:txBody>
      </p:sp>
      <p:pic>
        <p:nvPicPr>
          <p:cNvPr id="1028" name="Picture 4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55640" y="2303555"/>
            <a:ext cx="3787046" cy="246691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3" name="TextBox 12"/>
          <p:cNvSpPr txBox="1"/>
          <p:nvPr/>
        </p:nvSpPr>
        <p:spPr>
          <a:xfrm>
            <a:off x="7137835" y="2118890"/>
            <a:ext cx="2173993" cy="307777"/>
          </a:xfrm>
          <a:prstGeom prst="rect">
            <a:avLst/>
          </a:prstGeom>
          <a:noFill/>
          <a:ln w="15875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GB" noProof="0" dirty="0"/>
              <a:t>Modification of the model</a:t>
            </a:r>
          </a:p>
        </p:txBody>
      </p:sp>
      <p:cxnSp>
        <p:nvCxnSpPr>
          <p:cNvPr id="9" name="Straight Arrow Connector 8"/>
          <p:cNvCxnSpPr>
            <a:stCxn id="13" idx="1"/>
          </p:cNvCxnSpPr>
          <p:nvPr/>
        </p:nvCxnSpPr>
        <p:spPr>
          <a:xfrm flipH="1">
            <a:off x="6528048" y="2272778"/>
            <a:ext cx="609786" cy="364134"/>
          </a:xfrm>
          <a:prstGeom prst="straightConnector1">
            <a:avLst/>
          </a:prstGeom>
          <a:ln w="19050">
            <a:solidFill>
              <a:schemeClr val="bg1">
                <a:lumMod val="65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/>
          <p:cNvCxnSpPr>
            <a:stCxn id="7" idx="1"/>
          </p:cNvCxnSpPr>
          <p:nvPr/>
        </p:nvCxnSpPr>
        <p:spPr>
          <a:xfrm flipH="1">
            <a:off x="6528048" y="3254208"/>
            <a:ext cx="583069" cy="30777"/>
          </a:xfrm>
          <a:prstGeom prst="straightConnector1">
            <a:avLst/>
          </a:prstGeom>
          <a:ln w="19050">
            <a:solidFill>
              <a:schemeClr val="bg1">
                <a:lumMod val="65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/>
          <p:cNvCxnSpPr>
            <a:stCxn id="10" idx="1"/>
          </p:cNvCxnSpPr>
          <p:nvPr/>
        </p:nvCxnSpPr>
        <p:spPr>
          <a:xfrm flipH="1" flipV="1">
            <a:off x="6642686" y="3933057"/>
            <a:ext cx="495148" cy="297905"/>
          </a:xfrm>
          <a:prstGeom prst="straightConnector1">
            <a:avLst/>
          </a:prstGeom>
          <a:ln w="19050">
            <a:solidFill>
              <a:schemeClr val="bg1">
                <a:lumMod val="65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7091429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5.1 SEATS in JD+ (cont.)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F12E9969-9346-4095-A7C3-836AAB82C09A}" type="slidenum">
              <a:rPr lang="en-GB" noProof="0" smtClean="0"/>
              <a:t>29</a:t>
            </a:fld>
            <a:endParaRPr lang="en-GB" noProof="0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2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GB" sz="2800" noProof="0" dirty="0"/>
              <a:t>Impact of the parameters  </a:t>
            </a:r>
          </a:p>
          <a:p>
            <a:pPr lvl="1"/>
            <a:r>
              <a:rPr lang="en-GB" sz="2400" b="1" noProof="0" dirty="0"/>
              <a:t>Only in case of AR polynomials</a:t>
            </a:r>
          </a:p>
          <a:p>
            <a:pPr lvl="1"/>
            <a:endParaRPr lang="en-GB" sz="2400" noProof="0" dirty="0"/>
          </a:p>
          <a:p>
            <a:pPr lvl="1"/>
            <a:r>
              <a:rPr lang="en-GB" sz="2400" noProof="0" dirty="0"/>
              <a:t>k </a:t>
            </a:r>
          </a:p>
          <a:p>
            <a:pPr lvl="2"/>
            <a:r>
              <a:rPr lang="en-GB" sz="2000" noProof="0" dirty="0"/>
              <a:t>Small: possible « noisy » trend</a:t>
            </a:r>
          </a:p>
          <a:p>
            <a:pPr lvl="2"/>
            <a:r>
              <a:rPr lang="en-GB" sz="2000" noProof="0" dirty="0"/>
              <a:t>k ≈ 1: more stable trend</a:t>
            </a:r>
          </a:p>
          <a:p>
            <a:pPr lvl="1"/>
            <a:r>
              <a:rPr lang="en-GB" sz="2400" noProof="0" dirty="0"/>
              <a:t>e</a:t>
            </a:r>
          </a:p>
          <a:p>
            <a:pPr lvl="2"/>
            <a:r>
              <a:rPr lang="en-GB" sz="2000" noProof="0" dirty="0"/>
              <a:t>Large (&gt;5): possible short term cycle in the seasonal (for instance, stochastic TD)→erratic seasonal</a:t>
            </a:r>
          </a:p>
          <a:p>
            <a:pPr lvl="1"/>
            <a:r>
              <a:rPr lang="en-GB" sz="2400" noProof="0" dirty="0"/>
              <a:t>l </a:t>
            </a:r>
          </a:p>
          <a:p>
            <a:pPr lvl="2"/>
            <a:r>
              <a:rPr lang="en-GB" sz="2000" noProof="0" dirty="0"/>
              <a:t>Small (&lt;.8): higher risk of erratic seasonal</a:t>
            </a:r>
          </a:p>
          <a:p>
            <a:pPr marL="571500" indent="-457200"/>
            <a:endParaRPr lang="en-GB" sz="2800" noProof="0" dirty="0"/>
          </a:p>
          <a:p>
            <a:pPr marL="571500" indent="-457200"/>
            <a:r>
              <a:rPr lang="en-GB" sz="2800" noProof="0" dirty="0"/>
              <a:t>General consideration: threshold effects are unavoidable</a:t>
            </a:r>
          </a:p>
          <a:p>
            <a:pPr lvl="1"/>
            <a:endParaRPr lang="en-GB" noProof="0" dirty="0"/>
          </a:p>
          <a:p>
            <a:endParaRPr lang="en-GB" noProof="0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4294967295"/>
          </p:nvPr>
        </p:nvSpPr>
        <p:spPr>
          <a:xfrm>
            <a:off x="0" y="0"/>
            <a:ext cx="0" cy="0"/>
          </a:xfrm>
        </p:spPr>
        <p:txBody>
          <a:bodyPr/>
          <a:lstStyle/>
          <a:p>
            <a:r>
              <a:rPr lang="en-GB" noProof="0" dirty="0"/>
              <a:t>Model-based decomposition</a:t>
            </a:r>
          </a:p>
        </p:txBody>
      </p:sp>
    </p:spTree>
    <p:extLst>
      <p:ext uri="{BB962C8B-B14F-4D97-AF65-F5344CB8AC3E}">
        <p14:creationId xmlns:p14="http://schemas.microsoft.com/office/powerpoint/2010/main" val="1397053278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5.2 Non decomposable models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Some models are not decomposable (often due to complex models)</a:t>
            </a:r>
          </a:p>
          <a:p>
            <a:pPr lvl="1"/>
            <a:r>
              <a:rPr lang="en-GB" noProof="0" dirty="0"/>
              <a:t>Best solution: change yourself the model (→airline) </a:t>
            </a:r>
          </a:p>
          <a:p>
            <a:pPr lvl="1"/>
            <a:r>
              <a:rPr lang="en-GB" noProof="0" dirty="0"/>
              <a:t>Otherwise:</a:t>
            </a:r>
          </a:p>
          <a:p>
            <a:pPr lvl="2"/>
            <a:r>
              <a:rPr lang="en-GB" noProof="0" dirty="0"/>
              <a:t>Legacy: Seats search for another SARIMA model, as similar as possible to the original model</a:t>
            </a:r>
          </a:p>
          <a:p>
            <a:pPr lvl="2"/>
            <a:r>
              <a:rPr lang="en-GB" noProof="0" dirty="0"/>
              <a:t>Noisy: Seats add noise in the initial model (→ I = Tr[= 0])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noProof="0" dirty="0"/>
              <a:t>Model-based decomposition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2E9969-9346-4095-A7C3-836AAB82C09A}" type="slidenum">
              <a:rPr lang="en-GB" noProof="0" smtClean="0"/>
              <a:t>30</a:t>
            </a:fld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4239624760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GB" noProof="0" dirty="0"/>
              <a:t>6. Final remarks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F12E9969-9346-4095-A7C3-836AAB82C09A}" type="slidenum">
              <a:rPr lang="en-GB" noProof="0" smtClean="0"/>
              <a:t>31</a:t>
            </a:fld>
            <a:endParaRPr lang="en-GB" noProof="0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2"/>
          </p:nvPr>
        </p:nvSpPr>
        <p:spPr/>
        <p:txBody>
          <a:bodyPr>
            <a:normAutofit lnSpcReduction="10000"/>
          </a:bodyPr>
          <a:lstStyle/>
          <a:p>
            <a:r>
              <a:rPr lang="en-GB" noProof="0" dirty="0"/>
              <a:t>What matters?</a:t>
            </a:r>
          </a:p>
          <a:p>
            <a:pPr lvl="1"/>
            <a:r>
              <a:rPr lang="en-GB" sz="2400" noProof="0" dirty="0"/>
              <a:t>Impact of the model on </a:t>
            </a:r>
          </a:p>
          <a:p>
            <a:pPr lvl="2"/>
            <a:r>
              <a:rPr lang="en-GB" sz="2000" noProof="0" dirty="0"/>
              <a:t>SA/S “smoothness” </a:t>
            </a:r>
            <a:r>
              <a:rPr lang="en-GB" sz="2000" noProof="0" dirty="0">
                <a:latin typeface="Cambria Math" panose="02040503050406030204" pitchFamily="18" charset="0"/>
                <a:ea typeface="Cambria Math" panose="02040503050406030204" pitchFamily="18" charset="0"/>
              </a:rPr>
              <a:t>⇒ </a:t>
            </a:r>
            <a:r>
              <a:rPr lang="en-GB" noProof="0" dirty="0">
                <a:solidFill>
                  <a:srgbClr val="FF0000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Be very careful with stationary AR roots</a:t>
            </a:r>
            <a:endParaRPr lang="en-GB" sz="2000" noProof="0" dirty="0">
              <a:solidFill>
                <a:srgbClr val="FF0000"/>
              </a:solidFill>
            </a:endParaRPr>
          </a:p>
          <a:p>
            <a:pPr lvl="2"/>
            <a:r>
              <a:rPr lang="en-GB" sz="2000" noProof="0" dirty="0"/>
              <a:t>Revisions</a:t>
            </a:r>
          </a:p>
          <a:p>
            <a:pPr lvl="1"/>
            <a:r>
              <a:rPr lang="en-GB" sz="2400" noProof="0" dirty="0"/>
              <a:t>Use </a:t>
            </a:r>
            <a:r>
              <a:rPr lang="en-GB" sz="2400" noProof="0" dirty="0" err="1"/>
              <a:t>PsiE</a:t>
            </a:r>
            <a:r>
              <a:rPr lang="en-GB" sz="2400" noProof="0" dirty="0"/>
              <a:t>-weights to understand/anticipate revisions</a:t>
            </a:r>
          </a:p>
          <a:p>
            <a:pPr lvl="1"/>
            <a:r>
              <a:rPr lang="en-GB" sz="2400" noProof="0" dirty="0"/>
              <a:t>Model-based diagnostics</a:t>
            </a:r>
          </a:p>
          <a:p>
            <a:pPr lvl="2"/>
            <a:r>
              <a:rPr lang="en-GB" sz="2000" noProof="0" dirty="0"/>
              <a:t>Variance estimators&lt;&gt; variance estimates</a:t>
            </a:r>
          </a:p>
          <a:p>
            <a:pPr lvl="3"/>
            <a:r>
              <a:rPr lang="en-GB" noProof="0" dirty="0"/>
              <a:t>Should not happen if the original model is well defined</a:t>
            </a:r>
          </a:p>
          <a:p>
            <a:pPr lvl="3"/>
            <a:r>
              <a:rPr lang="en-GB" noProof="0" dirty="0">
                <a:solidFill>
                  <a:srgbClr val="FF0000"/>
                </a:solidFill>
              </a:rPr>
              <a:t>Be careful with non decomposable models / fixed models / “bad” models</a:t>
            </a:r>
          </a:p>
          <a:p>
            <a:pPr lvl="1"/>
            <a:r>
              <a:rPr lang="en-GB" sz="2400" noProof="0" dirty="0"/>
              <a:t>To go further, see: </a:t>
            </a:r>
          </a:p>
          <a:p>
            <a:pPr lvl="2"/>
            <a:r>
              <a:rPr lang="en-GB" sz="1600" noProof="0" dirty="0"/>
              <a:t>“SEASONAL ADJUSTMENT AND SIGNAL EXTRACTION IN ECONOMIC TIME SERIES”, by R. Gomez and A. </a:t>
            </a:r>
            <a:r>
              <a:rPr lang="en-GB" sz="1600" noProof="0" dirty="0" err="1"/>
              <a:t>Maravall</a:t>
            </a:r>
            <a:endParaRPr lang="en-GB" sz="1600" noProof="0" dirty="0"/>
          </a:p>
          <a:p>
            <a:pPr lvl="1"/>
            <a:endParaRPr lang="en-GB" sz="1800" noProof="0" dirty="0"/>
          </a:p>
          <a:p>
            <a:pPr lvl="2"/>
            <a:endParaRPr lang="en-GB" sz="2000" noProof="0" dirty="0"/>
          </a:p>
          <a:p>
            <a:pPr lvl="2"/>
            <a:endParaRPr lang="en-GB" noProof="0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4294967295"/>
          </p:nvPr>
        </p:nvSpPr>
        <p:spPr>
          <a:xfrm>
            <a:off x="0" y="0"/>
            <a:ext cx="0" cy="0"/>
          </a:xfrm>
        </p:spPr>
        <p:txBody>
          <a:bodyPr/>
          <a:lstStyle/>
          <a:p>
            <a:r>
              <a:rPr lang="en-GB" noProof="0" dirty="0"/>
              <a:t>Model-based decomposition</a:t>
            </a:r>
          </a:p>
        </p:txBody>
      </p:sp>
    </p:spTree>
    <p:extLst>
      <p:ext uri="{BB962C8B-B14F-4D97-AF65-F5344CB8AC3E}">
        <p14:creationId xmlns:p14="http://schemas.microsoft.com/office/powerpoint/2010/main" val="91780439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BA2C74-A04F-BE1D-E998-A722B43C41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GB" noProof="0" dirty="0"/>
              <a:t>6. Final remarks (cont.)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C086E9F-A2FE-7F23-6862-DBD18B2C094A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F12E9969-9346-4095-A7C3-836AAB82C09A}" type="slidenum">
              <a:rPr lang="en-GB" noProof="0" smtClean="0"/>
              <a:t>32</a:t>
            </a:fld>
            <a:endParaRPr lang="en-GB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464584-30A5-8147-6BEC-0A537D940685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GB" sz="2800" noProof="0" dirty="0"/>
              <a:t>Advantages and drawbacks of model-based decomposition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GB" sz="2400" noProof="0" dirty="0"/>
              <a:t>+</a:t>
            </a:r>
          </a:p>
          <a:p>
            <a:pPr lvl="2">
              <a:buFont typeface="Wingdings" panose="05000000000000000000" pitchFamily="2" charset="2"/>
              <a:buChar char="§"/>
            </a:pPr>
            <a:r>
              <a:rPr lang="en-GB" sz="2000" noProof="0" dirty="0"/>
              <a:t>« Optimal filters », tailored for each series</a:t>
            </a:r>
          </a:p>
          <a:p>
            <a:pPr lvl="2">
              <a:buFont typeface="Wingdings" panose="05000000000000000000" pitchFamily="2" charset="2"/>
              <a:buChar char="§"/>
            </a:pPr>
            <a:r>
              <a:rPr lang="en-GB" sz="2000" noProof="0" dirty="0"/>
              <a:t>Many useful additional information (uncertainty…)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GB" sz="2400" noProof="0" dirty="0"/>
              <a:t>-</a:t>
            </a:r>
          </a:p>
          <a:p>
            <a:pPr lvl="2">
              <a:buFont typeface="Wingdings" panose="05000000000000000000" pitchFamily="2" charset="2"/>
              <a:buChar char="§"/>
            </a:pPr>
            <a:r>
              <a:rPr lang="en-GB" sz="2000" noProof="0" dirty="0"/>
              <a:t>Might generate huge revisions</a:t>
            </a:r>
          </a:p>
          <a:p>
            <a:r>
              <a:rPr lang="en-GB" sz="2800" noProof="0" dirty="0"/>
              <a:t>Some recommendations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GB" sz="2400" noProof="0" dirty="0"/>
              <a:t>Fix the model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GB" sz="2400" noProof="0" dirty="0"/>
              <a:t>Fix the series in the past (5 years revisions)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GB" sz="2400" noProof="0" dirty="0"/>
              <a:t>Fix the parameters and revise them when you revise the raw data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GB" sz="2400" noProof="0" dirty="0"/>
              <a:t>Be pragmatic !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EA060AC-6C2F-164E-F80F-183D5B177515}"/>
              </a:ext>
            </a:extLst>
          </p:cNvPr>
          <p:cNvSpPr>
            <a:spLocks noGrp="1"/>
          </p:cNvSpPr>
          <p:nvPr>
            <p:ph type="ftr" sz="quarter" idx="4294967295"/>
          </p:nvPr>
        </p:nvSpPr>
        <p:spPr>
          <a:xfrm>
            <a:off x="0" y="0"/>
            <a:ext cx="0" cy="0"/>
          </a:xfrm>
        </p:spPr>
        <p:txBody>
          <a:bodyPr/>
          <a:lstStyle/>
          <a:p>
            <a:r>
              <a:rPr lang="en-GB" noProof="0" dirty="0"/>
              <a:t>Model-based decomposition</a:t>
            </a:r>
          </a:p>
        </p:txBody>
      </p:sp>
    </p:spTree>
    <p:extLst>
      <p:ext uri="{BB962C8B-B14F-4D97-AF65-F5344CB8AC3E}">
        <p14:creationId xmlns:p14="http://schemas.microsoft.com/office/powerpoint/2010/main" val="983101836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839CC45C-6ECF-1414-149F-897E6C17440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noProof="0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B0CA729C-10AD-F90E-DB78-5A4E0B79E3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GB" noProof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6F54865-23C6-396F-8BC1-7B48F2EAE335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00000000-1234-1234-1234-123412341234}" type="slidenum">
              <a:rPr lang="en-GB" noProof="0" smtClean="0"/>
              <a:pPr/>
              <a:t>33</a:t>
            </a:fld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1178843831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O_APP_VERSION" val="1.5.3.3511"/>
  <p:tag name="SLIDO_PRESENTATION_ID" val="00000000-0000-0000-0000-000000000000"/>
  <p:tag name="SLIDO_EVENT_UUID" val="d5f05ec8-edda-47a7-a42e-90bbfcebfc5f"/>
  <p:tag name="SLIDO_EVENT_SECTION_UUID" val="71a6711e-5d0b-4e9f-9223-093e31161b77"/>
</p:tagLst>
</file>

<file path=ppt/theme/theme1.xml><?xml version="1.0" encoding="utf-8"?>
<a:theme xmlns:a="http://schemas.openxmlformats.org/drawingml/2006/main" name="ESTAT Theme">
  <a:themeElements>
    <a:clrScheme name="EC colour scheme">
      <a:dk1>
        <a:srgbClr val="4D4D4D"/>
      </a:dk1>
      <a:lt1>
        <a:srgbClr val="FFFFFF"/>
      </a:lt1>
      <a:dk2>
        <a:srgbClr val="034EA2"/>
      </a:dk2>
      <a:lt2>
        <a:srgbClr val="D3E8F9"/>
      </a:lt2>
      <a:accent1>
        <a:srgbClr val="1E858B"/>
      </a:accent1>
      <a:accent2>
        <a:srgbClr val="4BC5DE"/>
      </a:accent2>
      <a:accent3>
        <a:srgbClr val="1EC08A"/>
      </a:accent3>
      <a:accent4>
        <a:srgbClr val="ED8D2F"/>
      </a:accent4>
      <a:accent5>
        <a:srgbClr val="FFC000"/>
      </a:accent5>
      <a:accent6>
        <a:srgbClr val="E76C53"/>
      </a:accent6>
      <a:hlink>
        <a:srgbClr val="0563C1"/>
      </a:hlink>
      <a:folHlink>
        <a:srgbClr val="24337E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ESTAT PPT Template.potx" id="{44100892-7769-4A20-A750-3553371E0F2E}" vid="{905E760A-09FE-4DBA-89B6-DF3A5D6D0959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E6AA5C57F8EADE4E9CD6BB064C0C3195" ma:contentTypeVersion="16" ma:contentTypeDescription="Create a new document." ma:contentTypeScope="" ma:versionID="bb51c19a58f458ddcddd050a07659236">
  <xsd:schema xmlns:xsd="http://www.w3.org/2001/XMLSchema" xmlns:xs="http://www.w3.org/2001/XMLSchema" xmlns:p="http://schemas.microsoft.com/office/2006/metadata/properties" xmlns:ns2="0e422b70-e85d-4377-8ee0-b6227433d381" xmlns:ns3="199f642e-5af9-486c-ac06-f366742ef41a" targetNamespace="http://schemas.microsoft.com/office/2006/metadata/properties" ma:root="true" ma:fieldsID="0ee7a3bac0352a48a43420936abd968a" ns2:_="" ns3:_="">
    <xsd:import namespace="0e422b70-e85d-4377-8ee0-b6227433d381"/>
    <xsd:import namespace="199f642e-5af9-486c-ac06-f366742ef41a"/>
    <xsd:element name="properties">
      <xsd:complexType>
        <xsd:sequence>
          <xsd:element name="documentManagement">
            <xsd:complexType>
              <xsd:all>
                <xsd:element ref="ns2:lcf76f155ced4ddcb4097134ff3c332f" minOccurs="0"/>
                <xsd:element ref="ns3:TaxCatchAll" minOccurs="0"/>
                <xsd:element ref="ns2:MediaServiceMetadata" minOccurs="0"/>
                <xsd:element ref="ns2:MediaServiceFastMetadata" minOccurs="0"/>
                <xsd:element ref="ns2:MediaServiceGenerationTime" minOccurs="0"/>
                <xsd:element ref="ns2:MediaServiceEventHashCode" minOccurs="0"/>
                <xsd:element ref="ns2:MediaServiceOCR" minOccurs="0"/>
                <xsd:element ref="ns3:SharedWithUsers" minOccurs="0"/>
                <xsd:element ref="ns3:SharedWithDetails" minOccurs="0"/>
                <xsd:element ref="ns2:MediaServiceObjectDetectorVersions" minOccurs="0"/>
                <xsd:element ref="ns2:MediaServiceDateTaken" minOccurs="0"/>
                <xsd:element ref="ns2:MediaLengthInSeconds" minOccurs="0"/>
                <xsd:element ref="ns2:MediaServiceSearchProperties" minOccurs="0"/>
                <xsd:element ref="ns2:MediaServiceLocation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e422b70-e85d-4377-8ee0-b6227433d381" elementFormDefault="qualified">
    <xsd:import namespace="http://schemas.microsoft.com/office/2006/documentManagement/types"/>
    <xsd:import namespace="http://schemas.microsoft.com/office/infopath/2007/PartnerControls"/>
    <xsd:element name="lcf76f155ced4ddcb4097134ff3c332f" ma:index="9" nillable="true" ma:taxonomy="true" ma:internalName="lcf76f155ced4ddcb4097134ff3c332f" ma:taxonomyFieldName="MediaServiceImageTags" ma:displayName="Image Tags" ma:readOnly="false" ma:fieldId="{5cf76f15-5ced-4ddc-b409-7134ff3c332f}" ma:taxonomyMulti="true" ma:sspId="22b2fad6-9d2c-441c-a321-3f5f1e9bd928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Metadata" ma:index="11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2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4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15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ObjectDetectorVersions" ma:index="18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DateTaken" ma:index="19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LengthInSeconds" ma:index="20" nillable="true" ma:displayName="MediaLengthInSeconds" ma:hidden="true" ma:internalName="MediaLengthInSeconds" ma:readOnly="true">
      <xsd:simpleType>
        <xsd:restriction base="dms:Unknown"/>
      </xsd:simpleType>
    </xsd:element>
    <xsd:element name="MediaServiceSearchProperties" ma:index="21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Location" ma:index="22" nillable="true" ma:displayName="Location" ma:indexed="true" ma:internalName="MediaServiceLocation" ma:readOnly="true">
      <xsd:simpleType>
        <xsd:restriction base="dms:Text"/>
      </xsd:simpleType>
    </xsd:element>
    <xsd:element name="MediaServiceBillingMetadata" ma:index="23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99f642e-5af9-486c-ac06-f366742ef41a" elementFormDefault="qualified">
    <xsd:import namespace="http://schemas.microsoft.com/office/2006/documentManagement/types"/>
    <xsd:import namespace="http://schemas.microsoft.com/office/infopath/2007/PartnerControls"/>
    <xsd:element name="TaxCatchAll" ma:index="10" nillable="true" ma:displayName="Taxonomy Catch All Column" ma:hidden="true" ma:list="{22defd33-e0ca-4991-a4bb-5bf1ac0b491c}" ma:internalName="TaxCatchAll" ma:showField="CatchAllData" ma:web="199f642e-5af9-486c-ac06-f366742ef41a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SharedWithUsers" ma:index="16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7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0e422b70-e85d-4377-8ee0-b6227433d381">
      <Terms xmlns="http://schemas.microsoft.com/office/infopath/2007/PartnerControls"/>
    </lcf76f155ced4ddcb4097134ff3c332f>
    <TaxCatchAll xmlns="199f642e-5af9-486c-ac06-f366742ef41a"/>
  </documentManagement>
</p:properties>
</file>

<file path=customXml/itemProps1.xml><?xml version="1.0" encoding="utf-8"?>
<ds:datastoreItem xmlns:ds="http://schemas.openxmlformats.org/officeDocument/2006/customXml" ds:itemID="{04B464EA-1576-49DD-9675-1E3399D4D196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0e422b70-e85d-4377-8ee0-b6227433d381"/>
    <ds:schemaRef ds:uri="199f642e-5af9-486c-ac06-f366742ef41a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67DD9E9F-9EEB-4105-B29B-819486C2855A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2D6C293B-B8B4-4284-A17E-9F9E4C32B25A}">
  <ds:schemaRefs>
    <ds:schemaRef ds:uri="http://schemas.microsoft.com/office/2006/documentManagement/types"/>
    <ds:schemaRef ds:uri="http://purl.org/dc/elements/1.1/"/>
    <ds:schemaRef ds:uri="http://purl.org/dc/terms/"/>
    <ds:schemaRef ds:uri="http://purl.org/dc/dcmitype/"/>
    <ds:schemaRef ds:uri="0e422b70-e85d-4377-8ee0-b6227433d381"/>
    <ds:schemaRef ds:uri="http://schemas.microsoft.com/office/infopath/2007/PartnerControls"/>
    <ds:schemaRef ds:uri="199f642e-5af9-486c-ac06-f366742ef41a"/>
    <ds:schemaRef ds:uri="http://schemas.openxmlformats.org/package/2006/metadata/core-properties"/>
    <ds:schemaRef ds:uri="http://schemas.microsoft.com/office/2006/metadata/properties"/>
    <ds:schemaRef ds:uri="http://www.w3.org/XML/1998/namespace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ESTAT PPT Template</Template>
  <TotalTime>83</TotalTime>
  <Words>1391</Words>
  <Application>Microsoft Office PowerPoint</Application>
  <PresentationFormat>Grand écran</PresentationFormat>
  <Paragraphs>303</Paragraphs>
  <Slides>33</Slides>
  <Notes>1</Notes>
  <HiddenSlides>0</HiddenSlides>
  <MMClips>0</MMClips>
  <ScaleCrop>false</ScaleCrop>
  <HeadingPairs>
    <vt:vector size="6" baseType="variant">
      <vt:variant>
        <vt:lpstr>Polices utilisées</vt:lpstr>
      </vt:variant>
      <vt:variant>
        <vt:i4>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33</vt:i4>
      </vt:variant>
    </vt:vector>
  </HeadingPairs>
  <TitlesOfParts>
    <vt:vector size="38" baseType="lpstr">
      <vt:lpstr>Arial</vt:lpstr>
      <vt:lpstr>Calibri</vt:lpstr>
      <vt:lpstr>Cambria Math</vt:lpstr>
      <vt:lpstr>Wingdings</vt:lpstr>
      <vt:lpstr>ESTAT Theme</vt:lpstr>
      <vt:lpstr>Model-based decomposition</vt:lpstr>
      <vt:lpstr>0. Outline</vt:lpstr>
      <vt:lpstr>Always keep in mind…</vt:lpstr>
      <vt:lpstr>0.1 Some notations</vt:lpstr>
      <vt:lpstr>0.2 Useful tools</vt:lpstr>
      <vt:lpstr>1. Unobserved components model</vt:lpstr>
      <vt:lpstr>1.1 Unobserved components model (STS)</vt:lpstr>
      <vt:lpstr>1.1.1 Basic structural model (STS)</vt:lpstr>
      <vt:lpstr>1.2 Unobserved components model (AMB)</vt:lpstr>
      <vt:lpstr>2.1 SEATS algorithm</vt:lpstr>
      <vt:lpstr>2.2 SEATS Algorithm. Details (I)</vt:lpstr>
      <vt:lpstr>Présentation PowerPoint</vt:lpstr>
      <vt:lpstr>2.3.1 Airline model</vt:lpstr>
      <vt:lpstr>2.3.2 Airline decomposition</vt:lpstr>
      <vt:lpstr>2.4 SEATS spectral decomposition</vt:lpstr>
      <vt:lpstr>2.4 SEATS spectral decomposition</vt:lpstr>
      <vt:lpstr>2.4 SEATS spectral decomposition</vt:lpstr>
      <vt:lpstr>3. Estimation of the model</vt:lpstr>
      <vt:lpstr>3.1 Estimation of the components</vt:lpstr>
      <vt:lpstr>3.2 Basic case</vt:lpstr>
      <vt:lpstr>3.3 Wiener-Kolmogorov filters</vt:lpstr>
      <vt:lpstr>4. Analysis</vt:lpstr>
      <vt:lpstr>4.1 Analysis in the frequency domain</vt:lpstr>
      <vt:lpstr>4.1 Analysis in the frequency domain</vt:lpstr>
      <vt:lpstr>4.2 Graphical representations</vt:lpstr>
      <vt:lpstr>4.2 PsiE-weights</vt:lpstr>
      <vt:lpstr>4.3 Analysis</vt:lpstr>
      <vt:lpstr>5. SEATS in JD+</vt:lpstr>
      <vt:lpstr>5.1 SEATS in JD+ (cont.)</vt:lpstr>
      <vt:lpstr>5.2 Non decomposable models</vt:lpstr>
      <vt:lpstr>6. Final remarks</vt:lpstr>
      <vt:lpstr>6. Final remarks (cont.)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Title title title title title title title title title title title title title</dc:title>
  <dc:creator>HANZEVACKI Andrej (ESTAT)</dc:creator>
  <cp:lastModifiedBy>Jean Palate</cp:lastModifiedBy>
  <cp:revision>70</cp:revision>
  <dcterms:created xsi:type="dcterms:W3CDTF">2024-11-22T11:11:00Z</dcterms:created>
  <dcterms:modified xsi:type="dcterms:W3CDTF">2026-09-28T21:05:36Z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0x010100E6AA5C57F8EADE4E9CD6BB064C0C3195</vt:lpwstr>
  </property>
  <property fmtid="{D5CDD505-2E9C-101B-9397-08002B2CF9AE}" pid="3" name="MSIP_Label_6bd9ddd1-4d20-43f6-abfa-fc3c07406f94_Enabled">
    <vt:lpwstr>true</vt:lpwstr>
  </property>
  <property fmtid="{D5CDD505-2E9C-101B-9397-08002B2CF9AE}" pid="4" name="MSIP_Label_6bd9ddd1-4d20-43f6-abfa-fc3c07406f94_SetDate">
    <vt:lpwstr>2023-09-26T10:27:54Z</vt:lpwstr>
  </property>
  <property fmtid="{D5CDD505-2E9C-101B-9397-08002B2CF9AE}" pid="5" name="MSIP_Label_6bd9ddd1-4d20-43f6-abfa-fc3c07406f94_Method">
    <vt:lpwstr>Standard</vt:lpwstr>
  </property>
  <property fmtid="{D5CDD505-2E9C-101B-9397-08002B2CF9AE}" pid="6" name="MSIP_Label_6bd9ddd1-4d20-43f6-abfa-fc3c07406f94_Name">
    <vt:lpwstr>Commission Use</vt:lpwstr>
  </property>
  <property fmtid="{D5CDD505-2E9C-101B-9397-08002B2CF9AE}" pid="7" name="MSIP_Label_6bd9ddd1-4d20-43f6-abfa-fc3c07406f94_SiteId">
    <vt:lpwstr>b24c8b06-522c-46fe-9080-70926f8dddb1</vt:lpwstr>
  </property>
  <property fmtid="{D5CDD505-2E9C-101B-9397-08002B2CF9AE}" pid="8" name="MSIP_Label_6bd9ddd1-4d20-43f6-abfa-fc3c07406f94_ActionId">
    <vt:lpwstr>5f9041e0-26c3-439f-9557-91c751557f9e</vt:lpwstr>
  </property>
  <property fmtid="{D5CDD505-2E9C-101B-9397-08002B2CF9AE}" pid="9" name="MSIP_Label_6bd9ddd1-4d20-43f6-abfa-fc3c07406f94_ContentBits">
    <vt:lpwstr>0</vt:lpwstr>
  </property>
  <property fmtid="{D5CDD505-2E9C-101B-9397-08002B2CF9AE}" pid="10" name="SlidoAppVersion">
    <vt:lpwstr>1.5.3.3511</vt:lpwstr>
  </property>
  <property fmtid="{D5CDD505-2E9C-101B-9397-08002B2CF9AE}" pid="11" name="MediaServiceImageTags">
    <vt:lpwstr/>
  </property>
</Properties>
</file>