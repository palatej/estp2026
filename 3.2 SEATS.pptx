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40"/>
  </p:notesMasterIdLst>
  <p:handoutMasterIdLst>
    <p:handoutMasterId r:id="rId41"/>
  </p:handoutMasterIdLst>
  <p:sldIdLst>
    <p:sldId id="256" r:id="rId5"/>
    <p:sldId id="280" r:id="rId6"/>
    <p:sldId id="301" r:id="rId7"/>
    <p:sldId id="294" r:id="rId8"/>
    <p:sldId id="295" r:id="rId9"/>
    <p:sldId id="293" r:id="rId10"/>
    <p:sldId id="270" r:id="rId11"/>
    <p:sldId id="277" r:id="rId12"/>
    <p:sldId id="269" r:id="rId13"/>
    <p:sldId id="302" r:id="rId14"/>
    <p:sldId id="259" r:id="rId15"/>
    <p:sldId id="303" r:id="rId16"/>
    <p:sldId id="278" r:id="rId17"/>
    <p:sldId id="279" r:id="rId18"/>
    <p:sldId id="281" r:id="rId19"/>
    <p:sldId id="271" r:id="rId20"/>
    <p:sldId id="283" r:id="rId21"/>
    <p:sldId id="291" r:id="rId22"/>
    <p:sldId id="267" r:id="rId23"/>
    <p:sldId id="304" r:id="rId24"/>
    <p:sldId id="305" r:id="rId25"/>
    <p:sldId id="285" r:id="rId26"/>
    <p:sldId id="286" r:id="rId27"/>
    <p:sldId id="292" r:id="rId28"/>
    <p:sldId id="296" r:id="rId29"/>
    <p:sldId id="297" r:id="rId30"/>
    <p:sldId id="298" r:id="rId31"/>
    <p:sldId id="299" r:id="rId32"/>
    <p:sldId id="264" r:id="rId33"/>
    <p:sldId id="260" r:id="rId34"/>
    <p:sldId id="274" r:id="rId35"/>
    <p:sldId id="273" r:id="rId36"/>
    <p:sldId id="275" r:id="rId37"/>
    <p:sldId id="300" r:id="rId38"/>
    <p:sldId id="261" r:id="rId39"/>
  </p:sldIdLst>
  <p:sldSz cx="12192000" cy="6858000"/>
  <p:notesSz cx="6858000" cy="9144000"/>
  <p:custDataLst>
    <p:tags r:id="rId4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4F4"/>
    <a:srgbClr val="2644A7"/>
    <a:srgbClr val="101010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71" d="100"/>
          <a:sy n="71" d="100"/>
        </p:scale>
        <p:origin x="693" y="51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gs" Target="tags/tag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customschemas.google.com/relationships/presentationmetadata" Target="metadata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Relationship Id="rId6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29/09/2026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3180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423358"/>
            <a:ext cx="10515597" cy="467276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Model-based decomposition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94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3.2 Model-based </a:t>
            </a:r>
            <a:r>
              <a:rPr lang="en-GB" noProof="0" dirty="0"/>
              <a:t>decomposition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4D6-BD49-28BA-B570-742D03DE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0. Outline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6090C-9C88-CB17-62D5-03FB12FC3E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2A1C7-B8A7-F246-DD55-FBE3919FBA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Unobserved component models</a:t>
            </a:r>
          </a:p>
          <a:p>
            <a:pPr lvl="1"/>
            <a:r>
              <a:rPr lang="en-GB" sz="2400" noProof="0" dirty="0"/>
              <a:t>STS, AMB</a:t>
            </a:r>
          </a:p>
          <a:p>
            <a:r>
              <a:rPr lang="en-GB" sz="2800" noProof="0" dirty="0"/>
              <a:t>SEATS algorithm</a:t>
            </a:r>
          </a:p>
          <a:p>
            <a:r>
              <a:rPr lang="en-GB" sz="2800" noProof="0" dirty="0"/>
              <a:t>Estimation</a:t>
            </a:r>
          </a:p>
          <a:p>
            <a:pPr lvl="1"/>
            <a:r>
              <a:rPr lang="en-GB" sz="2400" noProof="0" dirty="0"/>
              <a:t>MMSE estimators, algorithms</a:t>
            </a:r>
          </a:p>
          <a:p>
            <a:r>
              <a:rPr lang="en-GB" sz="2800" noProof="0" dirty="0"/>
              <a:t>Analysis</a:t>
            </a:r>
          </a:p>
          <a:p>
            <a:pPr lvl="1"/>
            <a:r>
              <a:rPr lang="en-GB" sz="2400" noProof="0" dirty="0"/>
              <a:t>Finite / infinite approaches</a:t>
            </a:r>
          </a:p>
          <a:p>
            <a:r>
              <a:rPr lang="en-GB" sz="2800" noProof="0" dirty="0"/>
              <a:t>SEATS in JD+</a:t>
            </a:r>
          </a:p>
          <a:p>
            <a:pPr lvl="1"/>
            <a:r>
              <a:rPr lang="en-GB" sz="2400" noProof="0" dirty="0"/>
              <a:t>Parameters, non decomposable models, estimation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03FE-6836-C279-9389-A9532A31DB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303403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236B-9B13-249F-1DE2-18A26DA6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Always keep in mind…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8DB6-3CC7-2B7B-6E0D-4D494AFCD4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4F6847-6455-88FF-3DB1-01D8AE52438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79638" y="1854994"/>
            <a:ext cx="8096250" cy="381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0615-59F6-C6EE-84E2-3ADFD485922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2978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EDA4C-C5A2-ACE0-5030-7597827A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0.1 Some notations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C218E-5C59-4E6A-2A40-F6837AD72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800" noProof="0" dirty="0"/>
                  <a:t>Operators</a:t>
                </a:r>
              </a:p>
              <a:p>
                <a:pPr lvl="1"/>
                <a:r>
                  <a:rPr lang="en-GB" sz="2400" noProof="0" dirty="0"/>
                  <a:t>Backward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Forward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Differencing: </a:t>
                </a:r>
                <a14:m>
                  <m:oMath xmlns:m="http://schemas.openxmlformats.org/officeDocument/2006/math">
                    <m:r>
                      <a:rPr lang="en-GB" sz="24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Seasonal differencing: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Annual sum: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r>
                  <a:rPr lang="en-GB" sz="2800" noProof="0" dirty="0"/>
                  <a:t>ARIMA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GB" sz="24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CEB32-8EC5-80C4-3D7B-ECFC84AFF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62203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5DDA1-2249-77A4-B3E8-8315032F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0.2 Useful tools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32747-A052-71E4-FBF8-B7E23C1E4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5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sz="2800" noProof="0" dirty="0" err="1"/>
                  <a:t>Wold</a:t>
                </a:r>
                <a:r>
                  <a:rPr lang="en-GB" sz="2800" noProof="0" dirty="0"/>
                  <a:t> representation of an ARMA model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noProof="0" dirty="0"/>
              </a:p>
              <a:p>
                <a:r>
                  <a:rPr lang="en-GB" sz="2800" noProof="0" dirty="0"/>
                  <a:t>Auto-covariance generating function (</a:t>
                </a:r>
                <a:r>
                  <a:rPr lang="en-GB" sz="2800" noProof="0" dirty="0" err="1"/>
                  <a:t>acgf</a:t>
                </a:r>
                <a:r>
                  <a:rPr lang="en-GB" sz="2800" noProof="0" dirty="0"/>
                  <a:t>)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𝑎𝑐𝑔𝑓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Spectrum ≡ Fourier transform of the </a:t>
                </a:r>
                <a:r>
                  <a:rPr lang="en-GB" sz="2800" noProof="0" dirty="0" err="1"/>
                  <a:t>acgf</a:t>
                </a:r>
                <a:endParaRPr lang="en-GB" sz="2800" noProof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Formal extension to the non-stationary cases</a:t>
                </a:r>
              </a:p>
              <a:p>
                <a:pPr marL="400050" lvl="1" indent="0">
                  <a:buNone/>
                </a:pPr>
                <a:endParaRPr lang="en-GB" sz="24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 b="-37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CABBA-2328-ABD9-3553-4266F70387B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9911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90C5-9CDC-143D-F7F1-24620CE5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1. Unobserved components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8D88C-CAA1-CCF8-0D1A-401396583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A052-2B41-8FD2-F520-D0E240556D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noProof="0" dirty="0"/>
              <a:t>Principle</a:t>
            </a:r>
          </a:p>
          <a:p>
            <a:pPr lvl="1"/>
            <a:r>
              <a:rPr lang="en-GB" sz="2400" noProof="0" dirty="0"/>
              <a:t>The different components of the series are “defined” by [ARIMA] models</a:t>
            </a:r>
          </a:p>
          <a:p>
            <a:pPr lvl="1"/>
            <a:r>
              <a:rPr lang="en-GB" sz="2400" noProof="0" dirty="0"/>
              <a:t>The components are independent</a:t>
            </a:r>
          </a:p>
          <a:p>
            <a:pPr lvl="1"/>
            <a:r>
              <a:rPr lang="en-GB" sz="2400" noProof="0" dirty="0"/>
              <a:t>The sum of the model of the components is the model of the series</a:t>
            </a:r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AA30-0D7F-CA3D-ABCF-BAD76D1A50F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964878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1.1 Unobserved components model (STS)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rgbClr val="FF0000"/>
                </a:solidFill>
              </a:rPr>
              <a:t>&lt;</a:t>
            </a:r>
            <a:r>
              <a:rPr lang="en-GB" sz="3200" noProof="0" dirty="0">
                <a:solidFill>
                  <a:schemeClr val="bg1"/>
                </a:solidFill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𝑇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𝑆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blipFill>
                <a:blip r:embed="rId6"/>
                <a:stretch>
                  <a:fillRect t="-1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750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07380-8B82-F603-4B42-22E76D72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1.1.1 Basic structural model (STS)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7FDA8-BE14-84F4-5E9B-402CE3A43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8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</p:spPr>
            <p:txBody>
              <a:bodyPr/>
              <a:lstStyle/>
              <a:p>
                <a:r>
                  <a:rPr lang="en-GB" sz="2400" noProof="0" dirty="0"/>
                  <a:t>Local linear trend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𝝂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Seasonal component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  <a:r>
                  <a:rPr lang="en-GB" sz="2400" i="1" noProof="0" dirty="0"/>
                  <a:t>(dummy model)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Noise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  <a:blipFill>
                <a:blip r:embed="rId2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DB1B-DBD8-BAAF-AD9D-977B0D3C6D2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792045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1.2 Unobserved components model (AMB)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=</a:t>
            </a:r>
            <a:r>
              <a:rPr lang="en-GB" sz="3200" noProof="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blipFill>
                <a:blip r:embed="rId6"/>
                <a:stretch>
                  <a:fillRect t="-1923" r="-5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04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2.1 SEATS algorithm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3912" y="1736296"/>
            <a:ext cx="1800200" cy="706969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ysClr val="windowText" lastClr="000000"/>
                </a:solidFill>
              </a:rPr>
              <a:t>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/>
          <p:cNvSpPr/>
          <p:nvPr/>
        </p:nvSpPr>
        <p:spPr>
          <a:xfrm>
            <a:off x="5517479" y="1482401"/>
            <a:ext cx="3341915" cy="1214761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Factorization based on the auto-regressive part (AR and I) </a:t>
            </a:r>
          </a:p>
        </p:txBody>
      </p:sp>
      <p:cxnSp>
        <p:nvCxnSpPr>
          <p:cNvPr id="11" name="Elbow Connector 10"/>
          <p:cNvCxnSpPr>
            <a:stCxn id="7" idx="3"/>
            <a:endCxn id="10" idx="2"/>
          </p:cNvCxnSpPr>
          <p:nvPr/>
        </p:nvCxnSpPr>
        <p:spPr>
          <a:xfrm>
            <a:off x="4374112" y="2089781"/>
            <a:ext cx="114336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4"/>
            <a:endCxn id="8" idx="0"/>
          </p:cNvCxnSpPr>
          <p:nvPr/>
        </p:nvCxnSpPr>
        <p:spPr>
          <a:xfrm rot="5400000">
            <a:off x="6207454" y="2116908"/>
            <a:ext cx="400728" cy="156123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10" idx="4"/>
            <a:endCxn id="9" idx="0"/>
          </p:cNvCxnSpPr>
          <p:nvPr/>
        </p:nvCxnSpPr>
        <p:spPr>
          <a:xfrm rot="16200000" flipH="1">
            <a:off x="6989532" y="2896066"/>
            <a:ext cx="400729" cy="2918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79185" y="4218705"/>
            <a:ext cx="3024336" cy="936104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Canonical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ounded Rectangle 14"/>
              <p:cNvSpPr/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5" name="Rounded 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Elbow Connector 15"/>
          <p:cNvCxnSpPr>
            <a:stCxn id="8" idx="2"/>
            <a:endCxn id="14" idx="0"/>
          </p:cNvCxnSpPr>
          <p:nvPr/>
        </p:nvCxnSpPr>
        <p:spPr>
          <a:xfrm rot="16200000" flipH="1">
            <a:off x="6202354" y="3229704"/>
            <a:ext cx="413847" cy="1564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9" idx="2"/>
            <a:endCxn id="14" idx="0"/>
          </p:cNvCxnSpPr>
          <p:nvPr/>
        </p:nvCxnSpPr>
        <p:spPr>
          <a:xfrm rot="5400000">
            <a:off x="6984431" y="4011783"/>
            <a:ext cx="41384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14" idx="4"/>
            <a:endCxn id="23" idx="0"/>
          </p:cNvCxnSpPr>
          <p:nvPr/>
        </p:nvCxnSpPr>
        <p:spPr>
          <a:xfrm rot="5400000">
            <a:off x="5862489" y="4406546"/>
            <a:ext cx="580600" cy="20771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4" idx="4"/>
            <a:endCxn id="15" idx="0"/>
          </p:cNvCxnSpPr>
          <p:nvPr/>
        </p:nvCxnSpPr>
        <p:spPr>
          <a:xfrm rot="5400000">
            <a:off x="6519721" y="5065137"/>
            <a:ext cx="581961" cy="76130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ounded Rectangle 19"/>
              <p:cNvSpPr/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pattFill prst="wdDnDiag">
                <a:fgClr>
                  <a:schemeClr val="bg1">
                    <a:lumMod val="95000"/>
                  </a:schemeClr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</m:ctrlPr>
                      </m:dPr>
                      <m:e>
                        <m: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  <m:t>𝑇𝑟</m:t>
                        </m:r>
                      </m:e>
                    </m:d>
                  </m:oMath>
                </a14:m>
                <a:r>
                  <a:rPr lang="en-GB" noProof="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Rounded 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Elbow Connector 20"/>
          <p:cNvCxnSpPr>
            <a:stCxn id="20" idx="2"/>
            <a:endCxn id="14" idx="0"/>
          </p:cNvCxnSpPr>
          <p:nvPr/>
        </p:nvCxnSpPr>
        <p:spPr>
          <a:xfrm rot="5400000">
            <a:off x="7802851" y="3193363"/>
            <a:ext cx="413845" cy="163683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0" idx="4"/>
            <a:endCxn id="20" idx="0"/>
          </p:cNvCxnSpPr>
          <p:nvPr/>
        </p:nvCxnSpPr>
        <p:spPr>
          <a:xfrm rot="16200000" flipH="1">
            <a:off x="7807948" y="2077649"/>
            <a:ext cx="400730" cy="163975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/>
              <p:cNvSpPr/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3" name="Rounded 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ounded Rectangle 23"/>
              <p:cNvSpPr/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pattFill prst="wdDnDiag">
                <a:fgClr>
                  <a:srgbClr val="F4F4F4"/>
                </a:fgClr>
                <a:bgClr>
                  <a:schemeClr val="bg1"/>
                </a:bgClr>
              </a:patt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𝑇𝑟</m:t>
                          </m:r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  <m:r>
                                <m:rPr>
                                  <m:nor/>
                                </m:rPr>
                                <a:rPr lang="en-GB" i="0" noProof="0" smtClean="0">
                                  <a:solidFill>
                                    <a:sysClr val="windowText" lastClr="000000"/>
                                  </a:solidFill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Rounded 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Elbow Connector 24"/>
          <p:cNvCxnSpPr>
            <a:cxnSpLocks/>
            <a:stCxn id="14" idx="4"/>
            <a:endCxn id="24" idx="0"/>
          </p:cNvCxnSpPr>
          <p:nvPr/>
        </p:nvCxnSpPr>
        <p:spPr>
          <a:xfrm rot="16200000" flipH="1">
            <a:off x="7190715" y="5155447"/>
            <a:ext cx="580600" cy="57932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19537" y="4011782"/>
            <a:ext cx="1902691" cy="7386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See:</a:t>
            </a:r>
          </a:p>
          <a:p>
            <a:r>
              <a:rPr lang="en-GB" noProof="0" dirty="0"/>
              <a:t>Gomez and </a:t>
            </a:r>
            <a:r>
              <a:rPr lang="en-GB" noProof="0" dirty="0" err="1"/>
              <a:t>Maravall</a:t>
            </a:r>
            <a:r>
              <a:rPr lang="en-GB" noProof="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/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[+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Elbow Connector 17">
            <a:extLst>
              <a:ext uri="{FF2B5EF4-FFF2-40B4-BE49-F238E27FC236}">
                <a16:creationId xmlns:a16="http://schemas.microsoft.com/office/drawing/2014/main" id="{5626D959-E86C-438E-9479-025D7C579B09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 rot="16200000" flipH="1">
            <a:off x="8062914" y="4283248"/>
            <a:ext cx="580600" cy="232372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24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2.2 SEATS Algorithm. Details (I)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11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ARIMA: </a:t>
                </a:r>
                <a14:m>
                  <m:oMath xmlns:m="http://schemas.openxmlformats.org/officeDocument/2006/math">
                    <m:r>
                      <a:rPr lang="en-GB" b="0" i="0" noProof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GB" b="0" i="0" noProof="0" dirty="0">
                  <a:latin typeface="Cambria Math" panose="02040503050406030204" pitchFamily="18" charset="0"/>
                  <a:ea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𝑡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  <a:p>
                <a:r>
                  <a:rPr lang="en-GB" noProof="0" dirty="0"/>
                  <a:t>Factorization of the AR polynomial: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a:rPr lang="en-GB" b="0" i="1" noProof="0" smtClean="0">
                          <a:latin typeface="Cambria Math"/>
                          <a:ea typeface="Cambria Math"/>
                        </a:rPr>
                        <m:t>=</m:t>
                      </m:r>
                      <m:nary>
                        <m:naryPr>
                          <m:chr m:val="∏"/>
                          <m:subHide m:val="on"/>
                          <m:supHide m:val="on"/>
                          <m:ctrlPr>
                            <a:rPr lang="en-GB" b="0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b="0" i="1" noProof="0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GB" b="0" noProof="0" dirty="0">
                  <a:ea typeface="Cambria Math"/>
                </a:endParaRPr>
              </a:p>
              <a:p>
                <a:pPr lvl="1"/>
                <a:r>
                  <a:rPr lang="en-GB" noProof="0" dirty="0"/>
                  <a:t>Trend-cycle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b="0" i="0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𝑘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𝛼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arg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(</m:t>
                    </m:r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𝑐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en-GB" noProof="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en-GB" sz="1400" i="1" noProof="0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1400" i="1" noProof="0" smtClean="0">
                              <a:latin typeface="Cambria Math"/>
                            </a:rPr>
                            <m:t>𝑐</m:t>
                          </m:r>
                          <m:r>
                            <a:rPr lang="en-GB" sz="1400" i="1" noProof="0" smtClean="0">
                              <a:latin typeface="Cambria Math"/>
                            </a:rPr>
                            <m:t>=</m:t>
                          </m:r>
                          <m:f>
                            <m:fPr>
                              <m:ctrlP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fPr>
                            <m:num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~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𝑐𝑦𝑐𝑙𝑒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𝑙𝑒𝑛𝑔𝑡ℎ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𝑡𝑤𝑜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𝑦𝑒𝑎𝑟𝑠</m:t>
                      </m:r>
                    </m:oMath>
                  </m:oMathPara>
                </a14:m>
                <a:endParaRPr lang="en-GB" sz="1400" noProof="0" dirty="0"/>
              </a:p>
              <a:p>
                <a:pPr lvl="2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7" y="3573017"/>
            <a:ext cx="3705225" cy="23526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7461473" y="3068961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TrendCycleSelector.java</a:t>
            </a:r>
          </a:p>
        </p:txBody>
      </p:sp>
    </p:spTree>
    <p:extLst>
      <p:ext uri="{BB962C8B-B14F-4D97-AF65-F5344CB8AC3E}">
        <p14:creationId xmlns:p14="http://schemas.microsoft.com/office/powerpoint/2010/main" val="3343839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</p:spPr>
            <p:txBody>
              <a:bodyPr/>
              <a:lstStyle/>
              <a:p>
                <a:pPr lvl="1"/>
                <a:r>
                  <a:rPr lang="en-GB" noProof="0" dirty="0"/>
                  <a:t>Seasonal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&lt;−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𝑙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noProof="0" smtClean="0">
                            <a:latin typeface="Cambria Math"/>
                            <a:ea typeface="Cambria Math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/>
                            <a:ea typeface="Cambria Math"/>
                          </a:rPr>
                          <m:t>arg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/>
                                <a:ea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𝑒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marL="1371600" lvl="3" indent="0">
                  <a:buNone/>
                </a:pPr>
                <a:endParaRPr lang="en-GB" i="1" noProof="0" dirty="0">
                  <a:latin typeface="Cambria Math"/>
                  <a:ea typeface="Cambria Math"/>
                </a:endParaRPr>
              </a:p>
              <a:p>
                <a:pPr marL="1371600" lvl="3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𝑠𝑒𝑎𝑠𝑜𝑛𝑎𝑙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𝑓𝑟𝑒𝑞𝑢𝑒𝑛𝑐𝑦</m:t>
                      </m:r>
                    </m:oMath>
                  </m:oMathPara>
                </a14:m>
                <a:endParaRPr lang="en-GB" noProof="0" dirty="0"/>
              </a:p>
              <a:p>
                <a:pPr marL="1371600" lvl="3" indent="0">
                  <a:buNone/>
                </a:pPr>
                <a:endParaRPr lang="en-GB" noProof="0" dirty="0"/>
              </a:p>
              <a:p>
                <a:pPr marL="971550" lvl="1" indent="-457200"/>
                <a:r>
                  <a:rPr lang="en-GB" noProof="0" dirty="0"/>
                  <a:t>Transitory (I)</a:t>
                </a:r>
              </a:p>
              <a:p>
                <a:pPr lvl="2" indent="-457200"/>
                <a:r>
                  <a:rPr lang="en-GB" noProof="0" dirty="0"/>
                  <a:t>All other roots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12</a:t>
            </a:fld>
            <a:endParaRPr lang="en-GB" noProof="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3" y="1092721"/>
            <a:ext cx="3419475" cy="2800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145418" y="692697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SeasonalSelector.java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168134"/>
              </p:ext>
            </p:extLst>
          </p:nvPr>
        </p:nvGraphicFramePr>
        <p:xfrm>
          <a:off x="5231904" y="4581128"/>
          <a:ext cx="4757322" cy="169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7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Trend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tolerance (degree)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boundary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Seas.boundary</a:t>
                      </a:r>
                      <a:r>
                        <a:rPr lang="en-GB" noProof="0" dirty="0"/>
                        <a:t> (unique)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  <a:r>
                        <a:rPr lang="en-GB" i="1" baseline="0" noProof="0" dirty="0"/>
                        <a:t> </a:t>
                      </a:r>
                      <a:r>
                        <a:rPr lang="en-GB" sz="1600" i="1" baseline="0" noProof="0" dirty="0"/>
                        <a:t>(no seasonal part)</a:t>
                      </a:r>
                      <a:endParaRPr lang="en-GB" sz="1600" i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435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2FB7-9BF9-F727-ADFB-5E13D300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2.3.1 Airline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24608-F47B-3B45-8DF7-02AC1631B7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13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8001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3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sz="32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  <m:sup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1257300" lvl="3" indent="0">
                  <a:buNone/>
                </a:pPr>
                <a:r>
                  <a:rPr lang="en-GB" sz="2800" noProof="0" dirty="0"/>
                  <a:t>Or</a:t>
                </a:r>
              </a:p>
              <a:p>
                <a:pPr marL="1257300" lvl="3" indent="0">
                  <a:buNone/>
                </a:pPr>
                <a:endParaRPr lang="en-GB" sz="28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+(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200" b="1" i="1" noProof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GB" sz="32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0, </m:t>
                          </m:r>
                          <m:sSubSup>
                            <m:sSubSupPr>
                              <m:ctrlP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𝜺</m:t>
                              </m:r>
                            </m:sub>
                            <m:sup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GB" sz="36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2D8E-AE2E-90C1-822F-C7FC775EDC4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674429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10D0-AEDF-12EB-6FFB-85F8D685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2.3.2 Airline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346A8-B214-AD16-058D-5BF2789A8D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14</a:t>
            </a:fld>
            <a:endParaRPr lang="en-GB" noProof="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B473715-946C-7B1D-72D7-C2A688B731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11973" y="1423988"/>
            <a:ext cx="8031580" cy="46720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14150-41A2-F1B3-45D6-BA19EB39879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220129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2748-FE54-722D-E79F-33540719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40D34-4CB1-DF29-A83B-198852881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noProof="0" dirty="0"/>
              <a:t>Splitting of the spectrum following the different « types » of frequencies 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29A2-8A8A-14DD-BB87-04B614F6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E35E5-F37A-1817-A8C7-CDD458F0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15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49F4-8760-3289-86D1-34A3F7BE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7" y="2421566"/>
            <a:ext cx="6488595" cy="3597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7669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16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3544851"/>
            <a:ext cx="5292080" cy="25359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9" y="1486158"/>
            <a:ext cx="4461910" cy="2014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𝑆𝐴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279577" y="4581021"/>
            <a:ext cx="2916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noProof="0" dirty="0"/>
              <a:t>Independent components !</a:t>
            </a:r>
          </a:p>
        </p:txBody>
      </p:sp>
    </p:spTree>
    <p:extLst>
      <p:ext uri="{BB962C8B-B14F-4D97-AF65-F5344CB8AC3E}">
        <p14:creationId xmlns:p14="http://schemas.microsoft.com/office/powerpoint/2010/main" val="2039177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4C134B99-27A4-DBE8-B314-9E5E5E646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1" y="1315241"/>
            <a:ext cx="3852289" cy="2315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Left Arrow 7">
            <a:extLst>
              <a:ext uri="{FF2B5EF4-FFF2-40B4-BE49-F238E27FC236}">
                <a16:creationId xmlns:a16="http://schemas.microsoft.com/office/drawing/2014/main" id="{A1632C9B-2199-73B3-1563-DD988A1D75BC}"/>
              </a:ext>
            </a:extLst>
          </p:cNvPr>
          <p:cNvSpPr/>
          <p:nvPr/>
        </p:nvSpPr>
        <p:spPr>
          <a:xfrm>
            <a:off x="2711624" y="2473063"/>
            <a:ext cx="576064" cy="13832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551DF-C380-7E9F-E2E4-22D5F4BB3E9C}"/>
              </a:ext>
            </a:extLst>
          </p:cNvPr>
          <p:cNvSpPr txBox="1"/>
          <p:nvPr/>
        </p:nvSpPr>
        <p:spPr>
          <a:xfrm>
            <a:off x="3483354" y="2288397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Smoother trend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595F48E7-2C30-C442-7B5C-8E3CA54BF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5" y="3907032"/>
            <a:ext cx="3373121" cy="2027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ight Arrow 9">
            <a:extLst>
              <a:ext uri="{FF2B5EF4-FFF2-40B4-BE49-F238E27FC236}">
                <a16:creationId xmlns:a16="http://schemas.microsoft.com/office/drawing/2014/main" id="{1DEEFF3A-8910-ED8B-17DC-23FBFE350A3A}"/>
              </a:ext>
            </a:extLst>
          </p:cNvPr>
          <p:cNvSpPr/>
          <p:nvPr/>
        </p:nvSpPr>
        <p:spPr>
          <a:xfrm>
            <a:off x="4542362" y="5542396"/>
            <a:ext cx="480119" cy="144016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Left Arrow 10">
            <a:extLst>
              <a:ext uri="{FF2B5EF4-FFF2-40B4-BE49-F238E27FC236}">
                <a16:creationId xmlns:a16="http://schemas.microsoft.com/office/drawing/2014/main" id="{BCB10444-3B9A-E044-75CC-84D0EE5C90C5}"/>
              </a:ext>
            </a:extLst>
          </p:cNvPr>
          <p:cNvSpPr/>
          <p:nvPr/>
        </p:nvSpPr>
        <p:spPr>
          <a:xfrm>
            <a:off x="5204327" y="5542396"/>
            <a:ext cx="576064" cy="144016"/>
          </a:xfrm>
          <a:prstGeom prst="lef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5C0B5-DAE2-8C1F-75F8-5D7AE9D7B204}"/>
              </a:ext>
            </a:extLst>
          </p:cNvPr>
          <p:cNvSpPr txBox="1"/>
          <p:nvPr/>
        </p:nvSpPr>
        <p:spPr>
          <a:xfrm>
            <a:off x="5926228" y="5440847"/>
            <a:ext cx="1885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More stable seasonal</a:t>
            </a:r>
          </a:p>
        </p:txBody>
      </p:sp>
      <p:pic>
        <p:nvPicPr>
          <p:cNvPr id="16" name="Picture 5">
            <a:extLst>
              <a:ext uri="{FF2B5EF4-FFF2-40B4-BE49-F238E27FC236}">
                <a16:creationId xmlns:a16="http://schemas.microsoft.com/office/drawing/2014/main" id="{8E0DAE94-8753-5F8A-81AD-6BF7A1697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770" y="2195919"/>
            <a:ext cx="3718497" cy="2235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Right Arrow 11">
            <a:extLst>
              <a:ext uri="{FF2B5EF4-FFF2-40B4-BE49-F238E27FC236}">
                <a16:creationId xmlns:a16="http://schemas.microsoft.com/office/drawing/2014/main" id="{85CD3DBA-9D6B-1118-017D-B142E4B2C168}"/>
              </a:ext>
            </a:extLst>
          </p:cNvPr>
          <p:cNvSpPr/>
          <p:nvPr/>
        </p:nvSpPr>
        <p:spPr>
          <a:xfrm>
            <a:off x="8978852" y="3877768"/>
            <a:ext cx="576064" cy="9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354808-8CB3-4710-3BB6-3F00ABD5260E}"/>
              </a:ext>
            </a:extLst>
          </p:cNvPr>
          <p:cNvSpPr txBox="1"/>
          <p:nvPr/>
        </p:nvSpPr>
        <p:spPr>
          <a:xfrm>
            <a:off x="7178653" y="3373713"/>
            <a:ext cx="1697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Switchback pattern</a:t>
            </a:r>
          </a:p>
        </p:txBody>
      </p:sp>
    </p:spTree>
    <p:extLst>
      <p:ext uri="{BB962C8B-B14F-4D97-AF65-F5344CB8AC3E}">
        <p14:creationId xmlns:p14="http://schemas.microsoft.com/office/powerpoint/2010/main" val="2411119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FE25-3836-11DD-1D74-7F5BE263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 Estimation of the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0039-FAF1-E70D-E3E0-2FC704B81B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18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5CC05-5166-3B66-D2FA-4CF09A26C06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1B2F49-3D4E-2F35-2BA9-94A72641CB2B}"/>
              </a:ext>
            </a:extLst>
          </p:cNvPr>
          <p:cNvSpPr/>
          <p:nvPr/>
        </p:nvSpPr>
        <p:spPr>
          <a:xfrm>
            <a:off x="3071665" y="1916833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Components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39B5CF-A841-CDCA-4C8E-654B752E53B5}"/>
              </a:ext>
            </a:extLst>
          </p:cNvPr>
          <p:cNvSpPr/>
          <p:nvPr/>
        </p:nvSpPr>
        <p:spPr>
          <a:xfrm>
            <a:off x="3070670" y="3413772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CF7EB-3B60-3805-9362-A70512C4D7A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461682" y="2538615"/>
            <a:ext cx="995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289681-7FAA-0887-AF59-2A507E8A5C52}"/>
              </a:ext>
            </a:extLst>
          </p:cNvPr>
          <p:cNvSpPr txBox="1"/>
          <p:nvPr/>
        </p:nvSpPr>
        <p:spPr>
          <a:xfrm>
            <a:off x="4592568" y="2676159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Estimators = Linear transformations of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MMSE criterion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641E74-2348-C5AF-5F71-2EA850622B61}"/>
              </a:ext>
            </a:extLst>
          </p:cNvPr>
          <p:cNvSpPr/>
          <p:nvPr/>
        </p:nvSpPr>
        <p:spPr>
          <a:xfrm>
            <a:off x="3070670" y="4910711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AAC512-4C69-EA65-4228-ECF7D8F8B104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61681" y="4035554"/>
            <a:ext cx="0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DADE995-A868-A836-7ABA-2A6F3AA9117C}"/>
              </a:ext>
            </a:extLst>
          </p:cNvPr>
          <p:cNvSpPr txBox="1"/>
          <p:nvPr/>
        </p:nvSpPr>
        <p:spPr>
          <a:xfrm>
            <a:off x="4592568" y="4136402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Estimation by means of KF, Burman’s, McElroy’s algorithms…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ADC4F-CAE7-5577-87CA-865394C61221}"/>
              </a:ext>
            </a:extLst>
          </p:cNvPr>
          <p:cNvSpPr txBox="1"/>
          <p:nvPr/>
        </p:nvSpPr>
        <p:spPr>
          <a:xfrm>
            <a:off x="6204021" y="1770523"/>
            <a:ext cx="31760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>
                <a:solidFill>
                  <a:srgbClr val="0070C0"/>
                </a:solidFill>
              </a:rPr>
              <a:t>Independant</a:t>
            </a:r>
            <a:r>
              <a:rPr lang="en-GB" noProof="0" dirty="0">
                <a:solidFill>
                  <a:srgbClr val="0070C0"/>
                </a:solidFill>
              </a:rPr>
              <a:t>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>
                <a:solidFill>
                  <a:srgbClr val="0070C0"/>
                </a:solidFill>
              </a:rPr>
              <a:t>Sum of </a:t>
            </a:r>
            <a:r>
              <a:rPr lang="en-GB" noProof="0" dirty="0" err="1">
                <a:solidFill>
                  <a:srgbClr val="0070C0"/>
                </a:solidFill>
              </a:rPr>
              <a:t>cmps</a:t>
            </a:r>
            <a:r>
              <a:rPr lang="en-GB" noProof="0" dirty="0">
                <a:solidFill>
                  <a:srgbClr val="0070C0"/>
                </a:solidFill>
              </a:rPr>
              <a:t> &lt;=&gt;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/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noProof="0" dirty="0">
                    <a:solidFill>
                      <a:srgbClr val="0070C0"/>
                    </a:solidFill>
                  </a:rPr>
                  <a:t>Correlated estimators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blipFill>
                <a:blip r:embed="rId2"/>
                <a:stretch>
                  <a:fillRect l="-192" b="-11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/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blipFill>
                <a:blip r:embed="rId3"/>
                <a:stretch>
                  <a:fillRect l="-192" b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26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 Estimation of the components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19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STS and AMB → UCARIMA models</a:t>
            </a:r>
          </a:p>
          <a:p>
            <a:pPr lvl="1"/>
            <a:r>
              <a:rPr lang="en-GB" sz="2400" noProof="0" dirty="0"/>
              <a:t>Same estimation algorithms </a:t>
            </a:r>
          </a:p>
          <a:p>
            <a:pPr lvl="1"/>
            <a:r>
              <a:rPr lang="en-GB" sz="2400" noProof="0" dirty="0"/>
              <a:t>Common analysis tools</a:t>
            </a:r>
          </a:p>
          <a:p>
            <a:r>
              <a:rPr lang="en-GB" sz="2800" noProof="0" dirty="0"/>
              <a:t>3 solutions, strictly equivalent (except for SD)</a:t>
            </a:r>
          </a:p>
          <a:p>
            <a:pPr lvl="1"/>
            <a:r>
              <a:rPr lang="en-GB" sz="2400" noProof="0" dirty="0"/>
              <a:t>Burman algorithm (WK filters): legacy and default solution, fastest</a:t>
            </a:r>
          </a:p>
          <a:p>
            <a:pPr lvl="1"/>
            <a:r>
              <a:rPr lang="en-GB" sz="2400" b="1" noProof="0" dirty="0"/>
              <a:t>Kalman smoother</a:t>
            </a:r>
            <a:r>
              <a:rPr lang="en-GB" sz="2400" noProof="0" dirty="0"/>
              <a:t>: more stable, exact SD</a:t>
            </a:r>
          </a:p>
          <a:p>
            <a:pPr lvl="1"/>
            <a:r>
              <a:rPr lang="en-GB" sz="2400" noProof="0" dirty="0"/>
              <a:t>[Matrix computation]: Not available in JD+ 3.x</a:t>
            </a:r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27588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33737B-F45D-7007-2347-205509A1F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Components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8BF47E9-DCF4-BDFB-D0B9-9BE209C89C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20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FF581F2-9464-692F-874C-7ECD8389458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102952" y="1604914"/>
                <a:ext cx="3688683" cy="1474483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FF581F2-9464-692F-874C-7ECD838945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102952" y="1604914"/>
                <a:ext cx="3688683" cy="1474483"/>
              </a:xfrm>
              <a:blipFill>
                <a:blip r:embed="rId2"/>
                <a:stretch>
                  <a:fillRect l="-2142" t="-61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ce réservé du contenu 3">
                <a:extLst>
                  <a:ext uri="{FF2B5EF4-FFF2-40B4-BE49-F238E27FC236}">
                    <a16:creationId xmlns:a16="http://schemas.microsoft.com/office/drawing/2014/main" id="{87555583-84DA-1938-6787-961D0EEFA9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10735" y="1423357"/>
                <a:ext cx="5521967" cy="18913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342000" marR="0" lvl="0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2400"/>
                  <a:buFont typeface="Arial"/>
                  <a:buChar char="•"/>
                  <a:defRPr sz="20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684000" marR="0" lvl="1" indent="-342000" algn="l" rtl="0" ea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>
                    <a:schemeClr val="dk2"/>
                  </a:buClr>
                  <a:buSzPts val="2000"/>
                  <a:buFont typeface="Arial"/>
                  <a:buChar char="•"/>
                  <a:defRPr sz="18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972000" marR="0" lvl="2" indent="-3429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800"/>
                  <a:buFont typeface="Arial"/>
                  <a:buChar char="•"/>
                  <a:defRPr sz="16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296000" marR="0" lvl="3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600"/>
                  <a:buFont typeface="Arial"/>
                  <a:buChar char="•"/>
                  <a:defRPr sz="14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1620000" marR="0" lvl="4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600"/>
                  <a:buFont typeface="Arial"/>
                  <a:buChar char="•"/>
                  <a:defRPr sz="12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 eaLnBrk="1" hangingPunct="1">
                  <a:lnSpc>
                    <a:spcPct val="90000"/>
                  </a:lnSpc>
                  <a:spcBef>
                    <a:spcPts val="18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fr-BE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⇓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fr-BE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fr-B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</a:p>
            </p:txBody>
          </p:sp>
        </mc:Choice>
        <mc:Fallback>
          <p:sp>
            <p:nvSpPr>
              <p:cNvPr id="5" name="Espace réservé du contenu 3">
                <a:extLst>
                  <a:ext uri="{FF2B5EF4-FFF2-40B4-BE49-F238E27FC236}">
                    <a16:creationId xmlns:a16="http://schemas.microsoft.com/office/drawing/2014/main" id="{87555583-84DA-1938-6787-961D0EEFA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0735" y="1423357"/>
                <a:ext cx="5521967" cy="1891343"/>
              </a:xfrm>
              <a:prstGeom prst="rect">
                <a:avLst/>
              </a:prstGeom>
              <a:blipFill>
                <a:blip r:embed="rId3"/>
                <a:stretch>
                  <a:fillRect l="-1432" t="-479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24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4773C-01A2-6079-1996-42717C58F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DC3698-FDF6-8323-A326-D102A99E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Estimators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9ED83B-A5E1-1CF7-2E0E-7E070F1DA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21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0144878-1963-39E6-F73A-50144BFC825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102952" y="1826790"/>
                <a:ext cx="9150430" cy="3861316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GB" dirty="0"/>
                  <a:t>MMSE criterion</a:t>
                </a:r>
              </a:p>
              <a:p>
                <a:pPr marL="0" indent="0" algn="ctr">
                  <a:buNone/>
                </a:pPr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⇓</a:t>
                </a:r>
                <a:endParaRPr lang="en-GB" dirty="0"/>
              </a:p>
              <a:p>
                <a:pPr marL="0" indent="0" algn="ctr">
                  <a:buNone/>
                </a:pPr>
                <a:r>
                  <a:rPr lang="en-GB" dirty="0"/>
                  <a:t>Wiener-Kolmogorov filter</a:t>
                </a:r>
              </a:p>
              <a:p>
                <a:pPr marL="0" indent="0" algn="ctr">
                  <a:buNone/>
                </a:pPr>
                <a:endParaRPr lang="en-GB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B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fr-BE" b="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fr-B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B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 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fr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fr-BE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brk m:alnAt="7"/>
                          </m:r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fr-BE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BE" i="1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BE" b="0" i="1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fr-BE" b="0" i="1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fr-BE" i="1">
                        <a:solidFill>
                          <a:schemeClr val="bg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fr-BE" i="1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brk m:alnAt="7"/>
                          </m:rPr>
                          <a:rPr lang="fr-BE" i="1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 (concurrent estimator)</a:t>
                </a:r>
                <a:r>
                  <a:rPr lang="en-GB" dirty="0"/>
                  <a:t>	,</a:t>
                </a:r>
                <a:r>
                  <a:rPr lang="fr-B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fr-BE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m:rPr>
                            <m:brk m:alnAt="7"/>
                          </m:rPr>
                          <a:rPr lang="fr-BE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>
                    <a:solidFill>
                      <a:srgbClr val="FF0000"/>
                    </a:solidFill>
                  </a:rPr>
                  <a:t> (revisions)</a:t>
                </a:r>
                <a:endParaRPr lang="en-GB" dirty="0"/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0144878-1963-39E6-F73A-50144BFC82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102952" y="1826790"/>
                <a:ext cx="9150430" cy="3861316"/>
              </a:xfrm>
              <a:blipFill>
                <a:blip r:embed="rId2"/>
                <a:stretch>
                  <a:fillRect l="-865" t="-1417" b="-133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7266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5138-E9CF-F51D-0B42-9E6879EDB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3.2 Basic case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D5AD-D169-F171-4F32-C046CC63F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22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E660A-C777-FA3B-E8BC-BFA21C070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A8C446-E47A-D087-97DB-044B66F5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8" y="1167309"/>
            <a:ext cx="7643192" cy="48992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CBCC9A6-71A7-7CFB-1DA1-34C120F422FE}"/>
              </a:ext>
            </a:extLst>
          </p:cNvPr>
          <p:cNvSpPr/>
          <p:nvPr/>
        </p:nvSpPr>
        <p:spPr>
          <a:xfrm>
            <a:off x="4007768" y="2636912"/>
            <a:ext cx="2736304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6590E16-9F98-4F8A-10C0-4E48769B11E0}"/>
              </a:ext>
            </a:extLst>
          </p:cNvPr>
          <p:cNvSpPr txBox="1"/>
          <p:nvPr/>
        </p:nvSpPr>
        <p:spPr>
          <a:xfrm>
            <a:off x="7467600" y="3068960"/>
            <a:ext cx="15872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FF0000"/>
                </a:solidFill>
              </a:rPr>
              <a:t>MMSE criterion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56FC1E9-F874-0929-EEB8-C313AC24C178}"/>
              </a:ext>
            </a:extLst>
          </p:cNvPr>
          <p:cNvCxnSpPr/>
          <p:nvPr/>
        </p:nvCxnSpPr>
        <p:spPr>
          <a:xfrm flipH="1">
            <a:off x="6389204" y="3242930"/>
            <a:ext cx="107839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004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CF7-0A28-5D7F-E4C7-AF5DCFEB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3.3 Wiener-Kolmogorov filters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20DC6-D83A-0996-5359-0472E8F0FB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23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5B29F-C469-3FCB-7653-F79C0316EF4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D8C2F0-0C22-BEC3-E521-904DB3D93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417639"/>
            <a:ext cx="9144000" cy="462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9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0771C-F3D5-F488-1E4E-3C277815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74C00-2E9B-BBCA-6C2C-BD2329FFC4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24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D6A90-BDCD-8CC1-3052-B0F3400837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067586-7217-6A73-C016-5D09324C61E9}"/>
              </a:ext>
            </a:extLst>
          </p:cNvPr>
          <p:cNvSpPr/>
          <p:nvPr/>
        </p:nvSpPr>
        <p:spPr>
          <a:xfrm>
            <a:off x="1866178" y="2597105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/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McElroy: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×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𝑚𝑎𝑡𝑟𝑖𝑥</m:t>
                          </m:r>
                        </m:e>
                      </m:d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,.</m:t>
                          </m:r>
                        </m:e>
                      </m:d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𝑤𝑒𝑖𝑔ℎ𝑡𝑠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/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Maravall (whittle…)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		     [WK filters]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 [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-weights]</a:t>
                </a:r>
              </a:p>
              <a:p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Error analysis based on the 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Analysis of the final and preliminary estimators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Revision analysis</a:t>
                </a:r>
              </a:p>
              <a:p>
                <a:endParaRPr lang="en-GB" sz="1600" noProof="0" dirty="0"/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6577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B340-0B02-A531-CA42-4377E721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1FDF-E87B-3491-F4AD-DD7B866428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1E93A-7F5C-BECB-F8D9-0201F10CCE5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66357E-7098-7BD9-3A07-E8456E92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1196752"/>
            <a:ext cx="7386834" cy="48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059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7F7A-3A41-75A5-7D96-D70BDCDE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CF830-2FF5-B6E1-27DF-A1E4899F40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26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AC434-E60D-2C98-5EC3-5A649F3E7D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(</a:t>
            </a:r>
            <a:r>
              <a:rPr lang="en-GB" sz="2800" noProof="0" dirty="0"/>
              <a:t>Squared-) gain of the filters:</a:t>
            </a:r>
          </a:p>
          <a:p>
            <a:pPr lvl="1"/>
            <a:r>
              <a:rPr lang="en-GB" sz="2400" noProof="0" dirty="0"/>
              <a:t>What are the frequencies that are kept/removed by the filter</a:t>
            </a:r>
          </a:p>
          <a:p>
            <a:r>
              <a:rPr lang="en-GB" sz="2800" noProof="0" dirty="0"/>
              <a:t>The estimators “underestimate” the variance of the components</a:t>
            </a:r>
          </a:p>
          <a:p>
            <a:r>
              <a:rPr lang="en-GB" sz="2800" noProof="0" dirty="0"/>
              <a:t>Similar analysis for the preliminary estimators</a:t>
            </a:r>
          </a:p>
          <a:p>
            <a:pPr lvl="1"/>
            <a:r>
              <a:rPr lang="en-GB" sz="2400" noProof="0" dirty="0"/>
              <a:t>Non-symmetric filters → phase effects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1BBB5-236A-D99A-D014-5820D537FD8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683857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D1AE-E525-EC26-EB9A-017CE0E3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4.2 Graphical representations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8FF5A-FBFD-1435-BB6B-E5DF84C3EF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27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C0DF1-FDB0-291E-0691-2C2AE2E8E8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6987A8-3831-C037-6603-CF1DD6471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1268761"/>
            <a:ext cx="7236296" cy="475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9BAF-2896-3F44-40B7-6FB3EBDE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4.2 </a:t>
            </a:r>
            <a:r>
              <a:rPr lang="en-GB" noProof="0" dirty="0" err="1"/>
              <a:t>PsiE</a:t>
            </a:r>
            <a:r>
              <a:rPr lang="en-GB" noProof="0" dirty="0"/>
              <a:t>-weights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0478-5CC6-2409-52DC-F48AF4D6B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=Psi weights for estimators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DAD4E-C8F3-3DC2-0973-29E9E53AF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2563C-3593-AA7F-B46F-85118892A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28</a:t>
            </a:fld>
            <a:endParaRPr lang="en-GB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0D4CCA-0793-9DBF-8F74-EFDB0CDBB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72" y="2438538"/>
            <a:ext cx="6876256" cy="36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96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4.3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29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What matters?</a:t>
                </a:r>
              </a:p>
              <a:p>
                <a:pPr lvl="1"/>
                <a:r>
                  <a:rPr lang="en-GB" noProof="0" dirty="0"/>
                  <a:t>Understanding the differences between the “theoretical components” and their “estimators”</a:t>
                </a:r>
              </a:p>
              <a:p>
                <a:pPr lvl="2"/>
                <a:r>
                  <a:rPr lang="en-GB" noProof="0" dirty="0"/>
                  <a:t>For instance:</a:t>
                </a:r>
                <a:r>
                  <a:rPr lang="en-GB" sz="1400" noProof="0" dirty="0"/>
                  <a:t> </a:t>
                </a:r>
                <a:r>
                  <a:rPr lang="en-GB" sz="1600" noProof="0" dirty="0"/>
                  <a:t>“dips” in the spectrum of the estimator</a:t>
                </a:r>
              </a:p>
              <a:p>
                <a:pPr lvl="1"/>
                <a:r>
                  <a:rPr lang="en-GB" noProof="0" dirty="0"/>
                  <a:t>Understanding the properties of the estimators</a:t>
                </a:r>
              </a:p>
              <a:p>
                <a:pPr lvl="2"/>
                <a:r>
                  <a:rPr lang="en-GB" sz="1600" noProof="0" dirty="0"/>
                  <a:t>Model of Irregular ≠ white noise, negative ac(1) in many SA estimators, …</a:t>
                </a:r>
              </a:p>
              <a:p>
                <a:pPr lvl="1"/>
                <a:r>
                  <a:rPr lang="en-GB" noProof="0" dirty="0"/>
                  <a:t>Understanding </a:t>
                </a:r>
                <a:r>
                  <a:rPr lang="en-GB" noProof="0" dirty="0" err="1"/>
                  <a:t>PsiE</a:t>
                </a:r>
                <a:r>
                  <a:rPr lang="en-GB" noProof="0" dirty="0"/>
                  <a:t>-weights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lvl="1"/>
                <a:endParaRPr lang="en-GB" noProof="0" dirty="0"/>
              </a:p>
              <a:p>
                <a:pPr lvl="2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4537027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 SEATS in JD+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30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116" y="3100319"/>
            <a:ext cx="2403222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Decomposition of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7834" y="4077073"/>
            <a:ext cx="2542684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Estimation of the components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640" y="2303555"/>
            <a:ext cx="3787046" cy="24669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137835" y="2118890"/>
            <a:ext cx="2173993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Modification of the model</a:t>
            </a:r>
          </a:p>
        </p:txBody>
      </p:sp>
      <p:cxnSp>
        <p:nvCxnSpPr>
          <p:cNvPr id="9" name="Straight Arrow Connector 8"/>
          <p:cNvCxnSpPr>
            <a:stCxn id="13" idx="1"/>
          </p:cNvCxnSpPr>
          <p:nvPr/>
        </p:nvCxnSpPr>
        <p:spPr>
          <a:xfrm flipH="1">
            <a:off x="6528048" y="2272778"/>
            <a:ext cx="609786" cy="36413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7" idx="1"/>
          </p:cNvCxnSpPr>
          <p:nvPr/>
        </p:nvCxnSpPr>
        <p:spPr>
          <a:xfrm flipH="1">
            <a:off x="6528048" y="3254208"/>
            <a:ext cx="583069" cy="3077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 flipV="1">
            <a:off x="6642686" y="3933057"/>
            <a:ext cx="495148" cy="29790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9142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5.1 SEATS in JD+ (cont.)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31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800" noProof="0" dirty="0"/>
              <a:t>Impact of the parameters  </a:t>
            </a:r>
          </a:p>
          <a:p>
            <a:pPr lvl="1"/>
            <a:r>
              <a:rPr lang="en-GB" sz="2400" b="1" noProof="0" dirty="0"/>
              <a:t>Only in case of AR polynomials</a:t>
            </a:r>
          </a:p>
          <a:p>
            <a:pPr lvl="1"/>
            <a:endParaRPr lang="en-GB" sz="2400" noProof="0" dirty="0"/>
          </a:p>
          <a:p>
            <a:pPr lvl="1"/>
            <a:r>
              <a:rPr lang="en-GB" sz="2400" noProof="0" dirty="0"/>
              <a:t>k </a:t>
            </a:r>
          </a:p>
          <a:p>
            <a:pPr lvl="2"/>
            <a:r>
              <a:rPr lang="en-GB" sz="2000" noProof="0" dirty="0"/>
              <a:t>Small: possible « noisy » trend</a:t>
            </a:r>
          </a:p>
          <a:p>
            <a:pPr lvl="2"/>
            <a:r>
              <a:rPr lang="en-GB" sz="2000" noProof="0" dirty="0"/>
              <a:t>k ≈ 1: more stable trend</a:t>
            </a:r>
          </a:p>
          <a:p>
            <a:pPr lvl="1"/>
            <a:r>
              <a:rPr lang="en-GB" sz="2400" noProof="0" dirty="0"/>
              <a:t>e</a:t>
            </a:r>
          </a:p>
          <a:p>
            <a:pPr lvl="2"/>
            <a:r>
              <a:rPr lang="en-GB" sz="2000" noProof="0" dirty="0"/>
              <a:t>Large (&gt;5): possible short term cycle in the seasonal (for instance, stochastic TD)→erratic seasonal</a:t>
            </a:r>
          </a:p>
          <a:p>
            <a:pPr lvl="1"/>
            <a:r>
              <a:rPr lang="en-GB" sz="2400" noProof="0" dirty="0"/>
              <a:t>l </a:t>
            </a:r>
          </a:p>
          <a:p>
            <a:pPr lvl="2"/>
            <a:r>
              <a:rPr lang="en-GB" sz="2000" noProof="0" dirty="0"/>
              <a:t>Small (&lt;.8): higher risk of erratic seasonal</a:t>
            </a:r>
          </a:p>
          <a:p>
            <a:pPr marL="571500" indent="-457200"/>
            <a:endParaRPr lang="en-GB" sz="2800" noProof="0" dirty="0"/>
          </a:p>
          <a:p>
            <a:pPr marL="571500" indent="-457200"/>
            <a:r>
              <a:rPr lang="en-GB" sz="2800" noProof="0" dirty="0"/>
              <a:t>General consideration: threshold effects are unavoidable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397053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5.2 Non decomposable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models are not decomposable (often due to complex models)</a:t>
            </a:r>
          </a:p>
          <a:p>
            <a:pPr lvl="1"/>
            <a:r>
              <a:rPr lang="en-GB" noProof="0" dirty="0"/>
              <a:t>Best solution: change yourself the model (→airline) </a:t>
            </a:r>
          </a:p>
          <a:p>
            <a:pPr lvl="1"/>
            <a:r>
              <a:rPr lang="en-GB" noProof="0" dirty="0"/>
              <a:t>Otherwise:</a:t>
            </a:r>
          </a:p>
          <a:p>
            <a:pPr lvl="2"/>
            <a:r>
              <a:rPr lang="en-GB" noProof="0" dirty="0"/>
              <a:t>Legacy: Seats search for another SARIMA model, as similar as possible to the original model</a:t>
            </a:r>
          </a:p>
          <a:p>
            <a:pPr lvl="2"/>
            <a:r>
              <a:rPr lang="en-GB" noProof="0" dirty="0"/>
              <a:t>Noisy: Seats add noise in the initial model (→ I = Tr[= 0])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39624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33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What matters?</a:t>
            </a:r>
          </a:p>
          <a:p>
            <a:pPr lvl="1"/>
            <a:r>
              <a:rPr lang="en-GB" sz="2400" noProof="0" dirty="0"/>
              <a:t>Impact of the model on </a:t>
            </a:r>
          </a:p>
          <a:p>
            <a:pPr lvl="2"/>
            <a:r>
              <a:rPr lang="en-GB" sz="2000" noProof="0" dirty="0"/>
              <a:t>SA/S “smoothness” </a:t>
            </a:r>
            <a:r>
              <a:rPr lang="en-GB" sz="2000" noProof="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en-GB" noProof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Be very careful with stationary AR roots</a:t>
            </a:r>
            <a:endParaRPr lang="en-GB" sz="2000" noProof="0" dirty="0">
              <a:solidFill>
                <a:srgbClr val="FF0000"/>
              </a:solidFill>
            </a:endParaRPr>
          </a:p>
          <a:p>
            <a:pPr lvl="2"/>
            <a:r>
              <a:rPr lang="en-GB" sz="2000" noProof="0" dirty="0"/>
              <a:t>Revisions</a:t>
            </a:r>
          </a:p>
          <a:p>
            <a:pPr lvl="1"/>
            <a:r>
              <a:rPr lang="en-GB" sz="2400" noProof="0" dirty="0"/>
              <a:t>Use </a:t>
            </a:r>
            <a:r>
              <a:rPr lang="en-GB" sz="2400" noProof="0" dirty="0" err="1"/>
              <a:t>PsiE</a:t>
            </a:r>
            <a:r>
              <a:rPr lang="en-GB" sz="2400" noProof="0" dirty="0"/>
              <a:t>-weights to understand/anticipate revisions</a:t>
            </a:r>
          </a:p>
          <a:p>
            <a:pPr lvl="1"/>
            <a:r>
              <a:rPr lang="en-GB" sz="2400" noProof="0" dirty="0"/>
              <a:t>Model-based diagnostics</a:t>
            </a:r>
          </a:p>
          <a:p>
            <a:pPr lvl="2"/>
            <a:r>
              <a:rPr lang="en-GB" sz="2000" noProof="0" dirty="0"/>
              <a:t>Variance estimators&lt;&gt; variance estimates</a:t>
            </a:r>
          </a:p>
          <a:p>
            <a:pPr lvl="3"/>
            <a:r>
              <a:rPr lang="en-GB" noProof="0" dirty="0"/>
              <a:t>Should not happen if the original model is well defined</a:t>
            </a:r>
          </a:p>
          <a:p>
            <a:pPr lvl="3"/>
            <a:r>
              <a:rPr lang="en-GB" noProof="0" dirty="0">
                <a:solidFill>
                  <a:srgbClr val="FF0000"/>
                </a:solidFill>
              </a:rPr>
              <a:t>Be careful with non decomposable models / fixed models / “bad” models</a:t>
            </a:r>
          </a:p>
          <a:p>
            <a:pPr lvl="1"/>
            <a:r>
              <a:rPr lang="en-GB" sz="2400" noProof="0" dirty="0"/>
              <a:t>To go further, see: </a:t>
            </a:r>
          </a:p>
          <a:p>
            <a:pPr lvl="2"/>
            <a:r>
              <a:rPr lang="en-GB" sz="1600" noProof="0" dirty="0"/>
              <a:t>“SEASONAL ADJUSTMENT AND SIGNAL EXTRACTION IN ECONOMIC TIME SERIES”, by R. Gomez and A. </a:t>
            </a:r>
            <a:r>
              <a:rPr lang="en-GB" sz="1600" noProof="0" dirty="0" err="1"/>
              <a:t>Maravall</a:t>
            </a:r>
            <a:endParaRPr lang="en-GB" sz="1600" noProof="0" dirty="0"/>
          </a:p>
          <a:p>
            <a:pPr lvl="1"/>
            <a:endParaRPr lang="en-GB" sz="1800" noProof="0" dirty="0"/>
          </a:p>
          <a:p>
            <a:pPr lvl="2"/>
            <a:endParaRPr lang="en-GB" sz="2000" noProof="0" dirty="0"/>
          </a:p>
          <a:p>
            <a:pPr lvl="2"/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17804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2C74-A04F-BE1D-E998-A722B43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 (cont.)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86E9F-A2FE-7F23-6862-DBD18B2C09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34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4584-30A5-8147-6BEC-0A537D9406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2800" noProof="0" dirty="0"/>
              <a:t>Advantages and drawbacks of model-based decomposition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+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« Optimal filters », tailored for each series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Many useful additional information (uncertainty…)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-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Might generate huge revisions</a:t>
            </a:r>
          </a:p>
          <a:p>
            <a:r>
              <a:rPr lang="en-GB" sz="2800" noProof="0" dirty="0"/>
              <a:t>Some recommendations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model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series in the past (5 years revisions)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parameters and revise them when you revise the raw data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Be pragmatic !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060AC-6C2F-164E-F80F-183D5B17751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83101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35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137</TotalTime>
  <Words>1505</Words>
  <Application>Microsoft Office PowerPoint</Application>
  <PresentationFormat>Grand écran</PresentationFormat>
  <Paragraphs>323</Paragraphs>
  <Slides>35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Cambria Math</vt:lpstr>
      <vt:lpstr>Wingdings</vt:lpstr>
      <vt:lpstr>ESTAT Theme</vt:lpstr>
      <vt:lpstr>3.2 Model-based decomposition</vt:lpstr>
      <vt:lpstr>0. Outline</vt:lpstr>
      <vt:lpstr>Always keep in mind…</vt:lpstr>
      <vt:lpstr>0.1 Some notations</vt:lpstr>
      <vt:lpstr>0.2 Useful tools</vt:lpstr>
      <vt:lpstr>1. Unobserved components model</vt:lpstr>
      <vt:lpstr>1.1 Unobserved components model (STS)</vt:lpstr>
      <vt:lpstr>1.1.1 Basic structural model (STS)</vt:lpstr>
      <vt:lpstr>1.2 Unobserved components model (AMB)</vt:lpstr>
      <vt:lpstr>2.1 SEATS algorithm</vt:lpstr>
      <vt:lpstr>2.2 SEATS Algorithm. Details (I)</vt:lpstr>
      <vt:lpstr>Présentation PowerPoint</vt:lpstr>
      <vt:lpstr>2.3.1 Airline model</vt:lpstr>
      <vt:lpstr>2.3.2 Airline decomposition</vt:lpstr>
      <vt:lpstr>2.4 SEATS spectral decomposition</vt:lpstr>
      <vt:lpstr>2.4 SEATS spectral decomposition</vt:lpstr>
      <vt:lpstr>2.4 SEATS spectral decomposition</vt:lpstr>
      <vt:lpstr>3. Estimation of the model</vt:lpstr>
      <vt:lpstr>3.1 Estimation of the components</vt:lpstr>
      <vt:lpstr>Components</vt:lpstr>
      <vt:lpstr>Estimators</vt:lpstr>
      <vt:lpstr>3.2 Basic case</vt:lpstr>
      <vt:lpstr>3.3 Wiener-Kolmogorov filters</vt:lpstr>
      <vt:lpstr>4. Analysis</vt:lpstr>
      <vt:lpstr>4.1 Analysis in the frequency domain</vt:lpstr>
      <vt:lpstr>4.1 Analysis in the frequency domain</vt:lpstr>
      <vt:lpstr>4.2 Graphical representations</vt:lpstr>
      <vt:lpstr>4.2 PsiE-weights</vt:lpstr>
      <vt:lpstr>4.3 Analysis</vt:lpstr>
      <vt:lpstr>5. SEATS in JD+</vt:lpstr>
      <vt:lpstr>5.1 SEATS in JD+ (cont.)</vt:lpstr>
      <vt:lpstr>5.2 Non decomposable models</vt:lpstr>
      <vt:lpstr>6. Final remarks</vt:lpstr>
      <vt:lpstr>6. Final remarks (cont.)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72</cp:revision>
  <dcterms:created xsi:type="dcterms:W3CDTF">2024-11-22T11:11:00Z</dcterms:created>
  <dcterms:modified xsi:type="dcterms:W3CDTF">2026-09-29T21:19:26Z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