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61" r:id="rId16"/>
  </p:sldIdLst>
  <p:sldSz cx="12192000" cy="6858000"/>
  <p:notesSz cx="6858000" cy="9144000"/>
  <p:custDataLst>
    <p:tags r:id="rId19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9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9" roundtripDataSignature="AMtx7mh3YP3xexYcFoahXa2ehi0H5V4Z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4A7"/>
    <a:srgbClr val="101010"/>
    <a:srgbClr val="F4F4F4"/>
    <a:srgbClr val="104F99"/>
    <a:srgbClr val="0E47CB"/>
    <a:srgbClr val="003180"/>
    <a:srgbClr val="0A2744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AA4A9A-08D4-41EC-A222-5D5926BFFED6}" v="2" dt="2025-07-04T13:46:36.3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45" autoAdjust="0"/>
    <p:restoredTop sz="81100" autoAdjust="0"/>
  </p:normalViewPr>
  <p:slideViewPr>
    <p:cSldViewPr snapToGrid="0">
      <p:cViewPr varScale="1">
        <p:scale>
          <a:sx n="90" d="100"/>
          <a:sy n="90" d="100"/>
        </p:scale>
        <p:origin x="1122" y="90"/>
      </p:cViewPr>
      <p:guideLst>
        <p:guide orient="horz" pos="209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293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59" Type="http://customschemas.google.com/relationships/presentationmetadata" Target="meta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61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6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6D6800-DB9C-EBAC-83AC-5F9D7E2C8B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ED1430-DB1F-C50E-E2CC-369D36DF27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B8CE-488C-4A7E-87F2-3AF6127C51C1}" type="datetimeFigureOut">
              <a:rPr lang="en-IE" smtClean="0"/>
              <a:t>28/09/2026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B46C1-E31F-1BE5-CF29-FC2D8EA3E2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38F49-91A1-E3F0-770A-4578CF8E58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F2F4C-E206-483F-A4B8-E82471BA527C}" type="slidenum">
              <a:rPr lang="en-IE" smtClean="0"/>
              <a:t>‹N°›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19827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767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 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898605-EE7A-6AAE-447A-080B2C6D22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 t="3042" b="3042"/>
          <a:stretch/>
        </p:blipFill>
        <p:spPr>
          <a:xfrm>
            <a:off x="-918" y="0"/>
            <a:ext cx="12192001" cy="6866879"/>
          </a:xfrm>
          <a:prstGeom prst="rect">
            <a:avLst/>
          </a:prstGeom>
        </p:spPr>
      </p:pic>
      <p:sp>
        <p:nvSpPr>
          <p:cNvPr id="19" name="Google Shape;19;p22"/>
          <p:cNvSpPr txBox="1">
            <a:spLocks noGrp="1"/>
          </p:cNvSpPr>
          <p:nvPr>
            <p:ph type="subTitle" idx="1"/>
          </p:nvPr>
        </p:nvSpPr>
        <p:spPr>
          <a:xfrm>
            <a:off x="1112521" y="3277775"/>
            <a:ext cx="3957106" cy="1745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i="0">
                <a:solidFill>
                  <a:schemeClr val="bg1"/>
                </a:solidFill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9F257-77BC-80DD-CDE4-F5B22D7951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381876" y="3596720"/>
            <a:ext cx="4224858" cy="1374485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84A076C-4C5D-810C-C205-F06C4916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521" y="885018"/>
            <a:ext cx="9448800" cy="203778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5F2B0E4-A35A-CFA1-4E98-55EAD82CE8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07994" y="5771588"/>
            <a:ext cx="2509626" cy="777875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9407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BA733-25B6-C4BB-1150-48850654F2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D3E27D-21BB-B8BD-0101-611C3D7A9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8CD64-6B9A-81A2-BDB2-55DA96C9E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901951"/>
            <a:ext cx="10515597" cy="4194176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350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2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491114-E7C3-4716-7109-6FDE72E853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C1ABAA-9559-8C24-1A56-0668CC664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BC1E451-4262-316A-7418-6EF16E049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B9F341-14FC-51F5-105A-E4BFB54BFE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533867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8248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3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49220B6-B4CB-BA59-8F58-4304C8D42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723" y="1894895"/>
            <a:ext cx="5157787" cy="823912"/>
          </a:xfrm>
        </p:spPr>
        <p:txBody>
          <a:bodyPr wrap="square" anchor="t">
            <a:noAutofit/>
          </a:bodyPr>
          <a:lstStyle>
            <a:lvl1pPr marL="0" indent="0">
              <a:buNone/>
              <a:defRPr sz="2400" b="0" baseline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DB0ABC1-873A-F2DD-170F-E80FE4830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2725735"/>
            <a:ext cx="5157787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57B6DC-82B6-DC47-2B36-FBA16BFA5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3134" y="1894895"/>
            <a:ext cx="5183188" cy="823912"/>
          </a:xfrm>
          <a:noFill/>
        </p:spPr>
        <p:txBody>
          <a:bodyPr wrap="square" anchor="t">
            <a:noAutofit/>
          </a:bodyPr>
          <a:lstStyle>
            <a:lvl1pPr marL="0" indent="0">
              <a:buNone/>
              <a:defRPr sz="2400" b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95916A-C750-070D-C528-9F655246DF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7D36BD-C483-ED07-0866-A0A591A017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623D267-A36F-1DAC-4912-F3587711782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09559" y="2725735"/>
            <a:ext cx="5183188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7344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1)" preserve="1" userDrawn="1">
  <p:cSld name="Last slide (option 1)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1;p37">
            <a:extLst>
              <a:ext uri="{FF2B5EF4-FFF2-40B4-BE49-F238E27FC236}">
                <a16:creationId xmlns:a16="http://schemas.microsoft.com/office/drawing/2014/main" id="{ACED6512-1BD5-58D6-D635-D62C0A34BF8C}"/>
              </a:ext>
            </a:extLst>
          </p:cNvPr>
          <p:cNvSpPr>
            <a:spLocks/>
          </p:cNvSpPr>
          <p:nvPr userDrawn="1"/>
        </p:nvSpPr>
        <p:spPr>
          <a:xfrm>
            <a:off x="0" y="3328560"/>
            <a:ext cx="12192000" cy="2913720"/>
          </a:xfrm>
          <a:prstGeom prst="rect">
            <a:avLst/>
          </a:prstGeom>
          <a:solidFill>
            <a:srgbClr val="2644A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7"/>
          <p:cNvSpPr txBox="1">
            <a:spLocks noGrp="1"/>
          </p:cNvSpPr>
          <p:nvPr>
            <p:ph type="body" idx="1"/>
          </p:nvPr>
        </p:nvSpPr>
        <p:spPr>
          <a:xfrm>
            <a:off x="970723" y="3777422"/>
            <a:ext cx="6865686" cy="2174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>
                <a:solidFill>
                  <a:srgbClr val="F4F4F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8A19F-A201-3EB2-A71E-1E51EF3E1B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107569" y="3538903"/>
            <a:ext cx="2931525" cy="2412704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CD49B01-566F-CA34-C636-83E50BFD4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22" y="414281"/>
            <a:ext cx="10515600" cy="2937139"/>
          </a:xfrm>
          <a:prstGeom prst="rect">
            <a:avLst/>
          </a:prstGeom>
        </p:spPr>
        <p:txBody>
          <a:bodyPr vert="horz" lIns="91440" tIns="45720" rIns="91440" bIns="0" rtlCol="0" anchor="ctr" anchorCtr="0">
            <a:noAutofit/>
          </a:bodyPr>
          <a:lstStyle>
            <a:lvl1pPr algn="ctr">
              <a:defRPr sz="4800">
                <a:solidFill>
                  <a:srgbClr val="10101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Google Shape;10;p21">
            <a:extLst>
              <a:ext uri="{FF2B5EF4-FFF2-40B4-BE49-F238E27FC236}">
                <a16:creationId xmlns:a16="http://schemas.microsoft.com/office/drawing/2014/main" id="{C209E83E-F338-C8C6-D016-6C5FE194EA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6B8EBF-8A1C-818A-CBBC-1DC51D94C5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541C9F-06FD-4BC7-C438-D852985D159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49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251AD-7D8C-4C3B-824E-50C748295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E113E-768B-4593-A9C7-A1E1DD1DF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AEEB7-BB24-4732-8514-B34F83480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283D4-3C75-4639-AF68-1347ECEE9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Seasonality and trading days tests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BF48D-2583-437B-8CFA-DD8EE0B2A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C62B1-FA1F-4849-B719-012F8D8A46B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7318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1"/>
          <p:cNvSpPr txBox="1">
            <a:spLocks noGrp="1"/>
          </p:cNvSpPr>
          <p:nvPr>
            <p:ph type="title"/>
          </p:nvPr>
        </p:nvSpPr>
        <p:spPr>
          <a:xfrm>
            <a:off x="838200" y="763064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2" name="Google Shape;12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81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7" r:id="rId1"/>
    <p:sldLayoutId id="2147483717" r:id="rId2"/>
    <p:sldLayoutId id="2147483724" r:id="rId3"/>
    <p:sldLayoutId id="2147483725" r:id="rId4"/>
    <p:sldLayoutId id="2147483723" r:id="rId5"/>
    <p:sldLayoutId id="2147483728" r:id="rId6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2644A7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86E511-2A8E-CD8D-FA1D-6DDA5388CE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ESTP Training</a:t>
            </a:r>
          </a:p>
          <a:p>
            <a:r>
              <a:rPr lang="en-IE"/>
              <a:t>05-07 October 2026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518E6D-618C-DDB2-DF84-26EB66F0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Seasonality and trading days tests in JD+</a:t>
            </a:r>
            <a:endParaRPr lang="en-I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A50BB-3958-DA6F-CD7B-74B9FFF5C4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8115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B0E1F-060B-4CF2-9303-92C425DE2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4A914FCB-70F4-BE4A-6DC8-F1EB5CCD86E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601312-4157-49B2-A0C5-00D7D93BCF7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/>
              <a:t>Seasonality and trading days tests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055562-606C-453A-AC16-502361F1555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134" y="1933673"/>
            <a:ext cx="5581650" cy="34385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6E7DA4-EBC4-45FA-AF1F-D40DDD7CA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775" y="1027905"/>
            <a:ext cx="4432627" cy="471042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6CF291E-05FC-3161-3438-113B7CC4F5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6579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F1051-B3A1-4DC0-8847-2AC415F1B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Seasonality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AA1BC-9934-4D18-8790-06EDDD3BC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195947"/>
            <a:ext cx="10515597" cy="4900180"/>
          </a:xfrm>
        </p:spPr>
        <p:txBody>
          <a:bodyPr/>
          <a:lstStyle/>
          <a:p>
            <a:r>
              <a:rPr lang="en-GB" sz="2800" dirty="0"/>
              <a:t>Non-parametric tests</a:t>
            </a:r>
          </a:p>
          <a:p>
            <a:pPr lvl="1"/>
            <a:r>
              <a:rPr lang="en-GB" sz="2400" dirty="0"/>
              <a:t>Applied on series without trend (for instance (log) differenced series) </a:t>
            </a:r>
          </a:p>
          <a:p>
            <a:pPr lvl="1"/>
            <a:r>
              <a:rPr lang="en-GB" sz="2400" b="1" dirty="0"/>
              <a:t>Friedman</a:t>
            </a:r>
          </a:p>
          <a:p>
            <a:pPr lvl="2"/>
            <a:r>
              <a:rPr lang="en-GB" sz="2000" dirty="0"/>
              <a:t>ANOVA-type. The test uses the rankings of the observations within each year. It does not require distributional assumptions. </a:t>
            </a:r>
          </a:p>
          <a:p>
            <a:pPr lvl="2"/>
            <a:r>
              <a:rPr lang="en-GB" sz="2000" dirty="0"/>
              <a:t>H0: all periods can be treated equally (= no seasonality), H1: series is seasonal</a:t>
            </a:r>
          </a:p>
          <a:p>
            <a:pPr lvl="1"/>
            <a:r>
              <a:rPr lang="en-GB" sz="2400" b="1" dirty="0" err="1"/>
              <a:t>Kruskall</a:t>
            </a:r>
            <a:r>
              <a:rPr lang="en-GB" sz="2400" b="1" dirty="0"/>
              <a:t>-Wallis</a:t>
            </a:r>
          </a:p>
          <a:p>
            <a:pPr lvl="2"/>
            <a:r>
              <a:rPr lang="en-GB" sz="2000" dirty="0"/>
              <a:t>The test uses the rankings of all the observations. It does not require distributional assumptions.</a:t>
            </a:r>
          </a:p>
          <a:p>
            <a:pPr lvl="2"/>
            <a:r>
              <a:rPr lang="en-GB" sz="2000" dirty="0"/>
              <a:t>H0: All periods have the same mean(average ranking), H1: series is seasonal</a:t>
            </a:r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CCEA11-D813-4CA7-9B77-3EC90E51120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/>
              <a:t>Seasonality and trading days tests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C6FE919-F8A9-36F7-8C16-7E1A5825FF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014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336B6-3FFC-4651-BC6A-C00A5C9E7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Seasonality tests (cont.)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F192CD-036B-1E59-0333-1C2E94EB43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1CC62B1-FA1F-4849-B719-012F8D8A46B3}" type="slidenum">
              <a:rPr lang="en-GB" smtClean="0"/>
              <a:t>4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569DA0-0DB1-45A4-AC62-9C6921E9033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970722" y="1277471"/>
                <a:ext cx="10515597" cy="4818656"/>
              </a:xfrm>
            </p:spPr>
            <p:txBody>
              <a:bodyPr>
                <a:normAutofit/>
              </a:bodyPr>
              <a:lstStyle/>
              <a:p>
                <a:r>
                  <a:rPr lang="en-GB" b="1" dirty="0"/>
                  <a:t>QS test, </a:t>
                </a:r>
                <a:r>
                  <a:rPr lang="en-GB" dirty="0"/>
                  <a:t>applied on (log) differenced series, corrected for mean effect</a:t>
                </a:r>
              </a:p>
              <a:p>
                <a:endParaRPr lang="en-GB" b="1" dirty="0"/>
              </a:p>
              <a:p>
                <a:pPr lvl="1"/>
                <a:r>
                  <a:rPr lang="en-GB" dirty="0"/>
                  <a:t>Modified </a:t>
                </a:r>
                <a:r>
                  <a:rPr lang="en-GB" dirty="0" err="1"/>
                  <a:t>Ljung</a:t>
                </a:r>
                <a:r>
                  <a:rPr lang="en-GB" dirty="0"/>
                  <a:t>-box on seasonal auto-correlations</a:t>
                </a:r>
              </a:p>
              <a:p>
                <a:pPr lvl="1"/>
                <a:r>
                  <a:rPr lang="en-GB" dirty="0"/>
                  <a:t>H0: No correlation (no seasonality), H1: seasonality</a:t>
                </a:r>
              </a:p>
              <a:p>
                <a:pPr lvl="1"/>
                <a:endParaRPr lang="en-GB" dirty="0"/>
              </a:p>
              <a:p>
                <a:r>
                  <a:rPr lang="en-GB" b="1" dirty="0"/>
                  <a:t>F test, </a:t>
                </a:r>
                <a:r>
                  <a:rPr lang="en-GB" dirty="0"/>
                  <a:t>applied on (log) series</a:t>
                </a:r>
              </a:p>
              <a:p>
                <a:pPr lvl="1"/>
                <a:r>
                  <a:rPr lang="en-GB" dirty="0"/>
                  <a:t>Regression test with seasonal dummies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) and different models</a:t>
                </a:r>
              </a:p>
              <a:p>
                <a:pPr lvl="2"/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BE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B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fr-B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B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B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 		(WN ; </a:t>
                </a:r>
                <a:r>
                  <a:rPr lang="en-GB" sz="1400" dirty="0"/>
                  <a:t>for residuals</a:t>
                </a:r>
                <a:r>
                  <a:rPr lang="en-GB" dirty="0"/>
                  <a:t>)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fr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B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fr-B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BE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fr-BE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B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B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		(AR ; </a:t>
                </a:r>
                <a:r>
                  <a:rPr lang="en-GB" sz="1400" dirty="0"/>
                  <a:t>GUI</a:t>
                </a:r>
                <a:r>
                  <a:rPr lang="en-GB" dirty="0"/>
                  <a:t>)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fr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BE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B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BE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fr-B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B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B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 		(D1; </a:t>
                </a:r>
                <a:r>
                  <a:rPr lang="en-GB" sz="1400" dirty="0"/>
                  <a:t>for Y, SA ; differencing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B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1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fr-BE" sz="14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fr-BE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BE" sz="1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1400" dirty="0"/>
                  <a:t> is useless: same projection space</a:t>
                </a:r>
                <a:r>
                  <a:rPr lang="en-GB" dirty="0"/>
                  <a:t>)</a:t>
                </a:r>
              </a:p>
              <a:p>
                <a:pPr lvl="1"/>
                <a:r>
                  <a:rPr lang="en-GB" dirty="0"/>
                  <a:t>H0: coefficients (</a:t>
                </a:r>
                <a14:m>
                  <m:oMath xmlns:m="http://schemas.openxmlformats.org/officeDocument/2006/math"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dirty="0"/>
                  <a:t>) are equal to 0, H1: coefficients jointly differ from 0</a:t>
                </a:r>
              </a:p>
              <a:p>
                <a:pPr lvl="1"/>
                <a:r>
                  <a:rPr lang="en-GB" dirty="0"/>
                  <a:t>Applied on (log) series. Should be applied on parts of the series</a:t>
                </a:r>
              </a:p>
              <a:p>
                <a:pPr lvl="1"/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569DA0-0DB1-45A4-AC62-9C6921E903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970722" y="1277471"/>
                <a:ext cx="10515597" cy="4818656"/>
              </a:xfrm>
              <a:blipFill>
                <a:blip r:embed="rId3"/>
                <a:stretch>
                  <a:fillRect l="-754" t="-20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57CC17-3DA5-4222-97F2-8F93ABA87B4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/>
              <a:t>Seasonality and trading days tests</a:t>
            </a:r>
          </a:p>
        </p:txBody>
      </p:sp>
    </p:spTree>
    <p:extLst>
      <p:ext uri="{BB962C8B-B14F-4D97-AF65-F5344CB8AC3E}">
        <p14:creationId xmlns:p14="http://schemas.microsoft.com/office/powerpoint/2010/main" val="1407033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4637A-6C2C-4FCA-B486-81CED963D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Seasonality tests (cont.)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B027CAA5-D400-DB2F-E55E-874C6D556D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1CC62B1-FA1F-4849-B719-012F8D8A46B3}" type="slidenum">
              <a:rPr lang="en-GB" smtClean="0"/>
              <a:t>5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01676-CDEE-4930-B5F1-7CF82E34B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337982"/>
            <a:ext cx="10515597" cy="4758145"/>
          </a:xfrm>
        </p:spPr>
        <p:txBody>
          <a:bodyPr/>
          <a:lstStyle/>
          <a:p>
            <a:r>
              <a:rPr lang="en-GB" sz="2800" dirty="0"/>
              <a:t>Combined seasonality test (X11-like)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44ED8-86F6-4CED-842B-4D05DB3C454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/>
              <a:t>Seasonality and trading days tests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DD682B3D-2A5A-484E-858A-5C7F3CD281E0}"/>
                  </a:ext>
                </a:extLst>
              </p:cNvPr>
              <p:cNvSpPr/>
              <p:nvPr/>
            </p:nvSpPr>
            <p:spPr>
              <a:xfrm>
                <a:off x="8397536" y="1544530"/>
                <a:ext cx="2956264" cy="798991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fr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GB" dirty="0"/>
                  <a:t>: Single factor ANOVA:</a:t>
                </a:r>
              </a:p>
              <a:p>
                <a:pPr algn="ctr"/>
                <a:r>
                  <a:rPr lang="en-GB" dirty="0"/>
                  <a:t>identical seasonal factors</a:t>
                </a:r>
              </a:p>
            </p:txBody>
          </p:sp>
        </mc:Choice>
        <mc:Fallback xmlns="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DD682B3D-2A5A-484E-858A-5C7F3CD281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536" y="1544530"/>
                <a:ext cx="2956264" cy="798991"/>
              </a:xfrm>
              <a:prstGeom prst="roundRect">
                <a:avLst/>
              </a:prstGeom>
              <a:blipFill>
                <a:blip r:embed="rId2"/>
                <a:stretch>
                  <a:fillRect b="-15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844EF8B1-D5C7-437D-860F-9D48E5AC11CA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5400000">
            <a:off x="4594814" y="-449957"/>
            <a:ext cx="2487376" cy="80743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61BBD5B-03A3-4E24-93F4-6301A346EC1E}"/>
              </a:ext>
            </a:extLst>
          </p:cNvPr>
          <p:cNvSpPr/>
          <p:nvPr/>
        </p:nvSpPr>
        <p:spPr>
          <a:xfrm>
            <a:off x="775965" y="4830897"/>
            <a:ext cx="2050742" cy="8966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 identifiable seasonality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0216384-328E-437D-9DD1-B77F551F9C4D}"/>
              </a:ext>
            </a:extLst>
          </p:cNvPr>
          <p:cNvSpPr/>
          <p:nvPr/>
        </p:nvSpPr>
        <p:spPr>
          <a:xfrm>
            <a:off x="4354685" y="5241880"/>
            <a:ext cx="1879106" cy="8966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Probably no identifiable seasonality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5F0E858-A488-4850-A3BF-EE720F954EE2}"/>
              </a:ext>
            </a:extLst>
          </p:cNvPr>
          <p:cNvSpPr/>
          <p:nvPr/>
        </p:nvSpPr>
        <p:spPr>
          <a:xfrm>
            <a:off x="9024067" y="5596231"/>
            <a:ext cx="1757779" cy="8966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Identifiable seasonality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E049C9-BDCE-44A2-BAC8-1C9F4C487976}"/>
              </a:ext>
            </a:extLst>
          </p:cNvPr>
          <p:cNvSpPr txBox="1"/>
          <p:nvPr/>
        </p:nvSpPr>
        <p:spPr>
          <a:xfrm>
            <a:off x="1879598" y="3198920"/>
            <a:ext cx="1285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P-value&lt;0.1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2F981BB9-A6CC-42F3-915A-DB7578AD8AA8}"/>
                  </a:ext>
                </a:extLst>
              </p:cNvPr>
              <p:cNvSpPr/>
              <p:nvPr/>
            </p:nvSpPr>
            <p:spPr>
              <a:xfrm>
                <a:off x="6212370" y="2534883"/>
                <a:ext cx="2956264" cy="798991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fr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GB" dirty="0"/>
                  <a:t>: Two factors ANOVA</a:t>
                </a:r>
              </a:p>
              <a:p>
                <a:pPr algn="ctr"/>
                <a:r>
                  <a:rPr lang="en-GB" dirty="0"/>
                  <a:t>Years, seasonal factors </a:t>
                </a:r>
              </a:p>
            </p:txBody>
          </p:sp>
        </mc:Choice>
        <mc:Fallback xmlns=""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2F981BB9-A6CC-42F3-915A-DB7578AD8A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370" y="2534883"/>
                <a:ext cx="2956264" cy="798991"/>
              </a:xfrm>
              <a:prstGeom prst="roundRect">
                <a:avLst/>
              </a:prstGeom>
              <a:blipFill>
                <a:blip r:embed="rId3"/>
                <a:stretch>
                  <a:fillRect b="-15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483A151B-6F2F-47D7-A67D-253DD00C5825}"/>
              </a:ext>
            </a:extLst>
          </p:cNvPr>
          <p:cNvCxnSpPr>
            <a:cxnSpLocks/>
            <a:stCxn id="4" idx="2"/>
            <a:endCxn id="13" idx="3"/>
          </p:cNvCxnSpPr>
          <p:nvPr/>
        </p:nvCxnSpPr>
        <p:spPr>
          <a:xfrm rot="5400000">
            <a:off x="9226722" y="2285433"/>
            <a:ext cx="590858" cy="7070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02013E2-47DF-499F-AE91-1D101655CD6B}"/>
                  </a:ext>
                </a:extLst>
              </p:cNvPr>
              <p:cNvSpPr/>
              <p:nvPr/>
            </p:nvSpPr>
            <p:spPr>
              <a:xfrm>
                <a:off x="4075593" y="3858048"/>
                <a:ext cx="1105270" cy="726075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B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fr-B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BE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02013E2-47DF-499F-AE91-1D101655CD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5593" y="3858048"/>
                <a:ext cx="1105270" cy="726075"/>
              </a:xfrm>
              <a:prstGeom prst="ellipse">
                <a:avLst/>
              </a:prstGeom>
              <a:blipFill>
                <a:blip r:embed="rId4"/>
                <a:stretch>
                  <a:fillRect l="-27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6E367EA6-9B8C-4744-8006-43B05090CE5E}"/>
              </a:ext>
            </a:extLst>
          </p:cNvPr>
          <p:cNvCxnSpPr>
            <a:cxnSpLocks/>
            <a:stCxn id="13" idx="1"/>
            <a:endCxn id="22" idx="0"/>
          </p:cNvCxnSpPr>
          <p:nvPr/>
        </p:nvCxnSpPr>
        <p:spPr>
          <a:xfrm rot="10800000" flipV="1">
            <a:off x="4628228" y="2934378"/>
            <a:ext cx="1584142" cy="92366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6F6DE4D-5B76-4C98-B4E0-4E66CFE68ACE}"/>
              </a:ext>
            </a:extLst>
          </p:cNvPr>
          <p:cNvSpPr/>
          <p:nvPr/>
        </p:nvSpPr>
        <p:spPr>
          <a:xfrm>
            <a:off x="7219216" y="4490659"/>
            <a:ext cx="2956264" cy="7989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Kruskal-Wallis </a:t>
            </a:r>
          </a:p>
          <a:p>
            <a:pPr algn="ctr"/>
            <a:r>
              <a:rPr lang="en-GB" dirty="0"/>
              <a:t>(non parametric) 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7575E3FB-5C3E-46D8-9E5F-38BA0A87C1C4}"/>
              </a:ext>
            </a:extLst>
          </p:cNvPr>
          <p:cNvCxnSpPr>
            <a:cxnSpLocks/>
            <a:stCxn id="22" idx="2"/>
            <a:endCxn id="7" idx="6"/>
          </p:cNvCxnSpPr>
          <p:nvPr/>
        </p:nvCxnSpPr>
        <p:spPr>
          <a:xfrm rot="10800000" flipV="1">
            <a:off x="2826707" y="4221085"/>
            <a:ext cx="1248886" cy="10581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527F8D03-2A84-4675-B006-B4E5336197DE}"/>
              </a:ext>
            </a:extLst>
          </p:cNvPr>
          <p:cNvCxnSpPr>
            <a:cxnSpLocks/>
            <a:stCxn id="22" idx="4"/>
            <a:endCxn id="8" idx="1"/>
          </p:cNvCxnSpPr>
          <p:nvPr/>
        </p:nvCxnSpPr>
        <p:spPr>
          <a:xfrm rot="16200000" flipH="1">
            <a:off x="4234518" y="4977833"/>
            <a:ext cx="789067" cy="164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31ABFAEE-614E-496D-99F9-7FB3F9FB17FA}"/>
              </a:ext>
            </a:extLst>
          </p:cNvPr>
          <p:cNvCxnSpPr>
            <a:cxnSpLocks/>
            <a:stCxn id="22" idx="6"/>
            <a:endCxn id="28" idx="0"/>
          </p:cNvCxnSpPr>
          <p:nvPr/>
        </p:nvCxnSpPr>
        <p:spPr>
          <a:xfrm>
            <a:off x="5180863" y="4221086"/>
            <a:ext cx="3516485" cy="2695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1A726151-6E75-4D72-AF8A-DE0BCFA07A7E}"/>
              </a:ext>
            </a:extLst>
          </p:cNvPr>
          <p:cNvCxnSpPr>
            <a:cxnSpLocks/>
            <a:stCxn id="28" idx="1"/>
            <a:endCxn id="8" idx="0"/>
          </p:cNvCxnSpPr>
          <p:nvPr/>
        </p:nvCxnSpPr>
        <p:spPr>
          <a:xfrm rot="10800000" flipV="1">
            <a:off x="5294238" y="4890154"/>
            <a:ext cx="1924978" cy="3517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D187B275-CFB9-4A2F-BE8C-353981683191}"/>
              </a:ext>
            </a:extLst>
          </p:cNvPr>
          <p:cNvCxnSpPr>
            <a:cxnSpLocks/>
            <a:stCxn id="28" idx="2"/>
            <a:endCxn id="9" idx="2"/>
          </p:cNvCxnSpPr>
          <p:nvPr/>
        </p:nvCxnSpPr>
        <p:spPr>
          <a:xfrm rot="16200000" flipH="1">
            <a:off x="8483256" y="5503741"/>
            <a:ext cx="754903" cy="32671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A8C23A1-4686-4931-A727-5D4308DAC8EF}"/>
              </a:ext>
            </a:extLst>
          </p:cNvPr>
          <p:cNvSpPr txBox="1"/>
          <p:nvPr/>
        </p:nvSpPr>
        <p:spPr>
          <a:xfrm>
            <a:off x="5202027" y="4520823"/>
            <a:ext cx="1285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P-value&lt;0.1</a:t>
            </a:r>
          </a:p>
        </p:txBody>
      </p:sp>
    </p:spTree>
    <p:extLst>
      <p:ext uri="{BB962C8B-B14F-4D97-AF65-F5344CB8AC3E}">
        <p14:creationId xmlns:p14="http://schemas.microsoft.com/office/powerpoint/2010/main" val="3568861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F1051-B3A1-4DC0-8847-2AC415F1B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Seasonality tests (cont.)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5E2DBCC-465C-8EDD-BD70-E5CD10396D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1CC62B1-FA1F-4849-B719-012F8D8A46B3}" type="slidenum">
              <a:rPr lang="en-GB" smtClean="0"/>
              <a:t>6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AA1BC-9934-4D18-8790-06EDDD3BC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195947"/>
            <a:ext cx="10515597" cy="4900180"/>
          </a:xfrm>
        </p:spPr>
        <p:txBody>
          <a:bodyPr>
            <a:normAutofit/>
          </a:bodyPr>
          <a:lstStyle/>
          <a:p>
            <a:r>
              <a:rPr lang="en-GB" sz="2400" dirty="0"/>
              <a:t>Spectral diagnostics</a:t>
            </a:r>
          </a:p>
          <a:p>
            <a:pPr lvl="1"/>
            <a:r>
              <a:rPr lang="en-GB" sz="2000" b="1" dirty="0"/>
              <a:t>Spectral peaks (X13-like)</a:t>
            </a:r>
          </a:p>
          <a:p>
            <a:pPr lvl="2"/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Based on the spectrum of a long auto-regressive model that fits the series (see X13 documentation)</a:t>
            </a:r>
            <a:endParaRPr lang="en-GB" sz="1800" dirty="0"/>
          </a:p>
          <a:p>
            <a:pPr lvl="1"/>
            <a:r>
              <a:rPr lang="en-GB" sz="2000" b="1" dirty="0"/>
              <a:t>Periodogram</a:t>
            </a:r>
          </a:p>
          <a:p>
            <a:pPr lvl="2">
              <a:lnSpc>
                <a:spcPct val="100000"/>
              </a:lnSpc>
              <a:spcAft>
                <a:spcPts val="1000"/>
              </a:spcAft>
            </a:pP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Performed on the periodogram (Fourier transformation) of the series at the Fourier frequencies.</a:t>
            </a:r>
          </a:p>
          <a:p>
            <a:pPr lvl="3">
              <a:lnSpc>
                <a:spcPct val="100000"/>
              </a:lnSpc>
              <a:spcAft>
                <a:spcPts val="1000"/>
              </a:spcAft>
            </a:pPr>
            <a:r>
              <a:rPr lang="en-US" sz="1600" u="sng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maximum</a:t>
            </a:r>
            <a:r>
              <a:rPr lang="en-US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the periodogram on or around the seasonal frequencies</a:t>
            </a:r>
          </a:p>
          <a:p>
            <a:pPr lvl="3">
              <a:lnSpc>
                <a:spcPct val="100000"/>
              </a:lnSpc>
              <a:spcAft>
                <a:spcPts val="1000"/>
              </a:spcAft>
            </a:pPr>
            <a:r>
              <a:rPr lang="en-US" sz="1600" u="sng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the values of the periodogram on or around the seasonal frequencies</a:t>
            </a:r>
            <a:endParaRPr lang="en-US" sz="1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00000"/>
              </a:lnSpc>
              <a:spcAft>
                <a:spcPts val="1000"/>
              </a:spcAft>
            </a:pP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Strictly speaking, only valid against the hypothesis that the (transformed) series is a white noise. As the spectral peaks, they don’t perform well for short series.</a:t>
            </a:r>
            <a:endParaRPr lang="fr-BE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GB" dirty="0"/>
          </a:p>
          <a:p>
            <a:endParaRPr lang="en-GB" dirty="0"/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29E2FE-52E4-4E9E-9231-A5B5CB86F9B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/>
              <a:t>Seasonality and trading days tests</a:t>
            </a:r>
          </a:p>
        </p:txBody>
      </p:sp>
    </p:spTree>
    <p:extLst>
      <p:ext uri="{BB962C8B-B14F-4D97-AF65-F5344CB8AC3E}">
        <p14:creationId xmlns:p14="http://schemas.microsoft.com/office/powerpoint/2010/main" val="3130613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F1051-B3A1-4DC0-8847-2AC415F1B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Seasonality tests (cont.)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14DB151-AC9A-AC68-D7C1-28998D5729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1CC62B1-FA1F-4849-B719-012F8D8A46B3}" type="slidenum">
              <a:rPr lang="en-GB" smtClean="0"/>
              <a:t>7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AA1BC-9934-4D18-8790-06EDDD3BC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195947"/>
            <a:ext cx="10515597" cy="4900180"/>
          </a:xfrm>
        </p:spPr>
        <p:txBody>
          <a:bodyPr>
            <a:normAutofit/>
          </a:bodyPr>
          <a:lstStyle/>
          <a:p>
            <a:r>
              <a:rPr lang="en-GB" sz="2800" b="1" dirty="0"/>
              <a:t>Canova-Hansen test (R only)</a:t>
            </a:r>
          </a:p>
          <a:p>
            <a:pPr lvl="1"/>
            <a:r>
              <a:rPr lang="en-GB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test the stability of </a:t>
            </a:r>
            <a:r>
              <a:rPr lang="en-GB" sz="2400" dirty="0">
                <a:solidFill>
                  <a:srgbClr val="000000"/>
                </a:solidFill>
                <a:latin typeface="Arial" panose="020B0604020202020204" pitchFamily="34" charset="0"/>
              </a:rPr>
              <a:t>the coefficients of seasonal regressors (model quite like the F-test), using a Lagrange multiplier test.</a:t>
            </a:r>
          </a:p>
          <a:p>
            <a:pPr lvl="1"/>
            <a:r>
              <a:rPr lang="en-GB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H0: stable seasonal pattern (no seasonality ≡ stable 0 coefficients).</a:t>
            </a:r>
          </a:p>
          <a:p>
            <a:pPr lvl="1"/>
            <a:r>
              <a:rPr lang="en-GB" sz="2400" dirty="0">
                <a:solidFill>
                  <a:srgbClr val="000000"/>
                </a:solidFill>
                <a:latin typeface="Arial" panose="020B0604020202020204" pitchFamily="34" charset="0"/>
              </a:rPr>
              <a:t>H1: seasonal unit roots.</a:t>
            </a:r>
          </a:p>
          <a:p>
            <a:pPr lvl="1"/>
            <a:r>
              <a:rPr lang="en-GB" sz="2400" dirty="0">
                <a:solidFill>
                  <a:srgbClr val="000000"/>
                </a:solidFill>
                <a:latin typeface="Arial" panose="020B0604020202020204" pitchFamily="34" charset="0"/>
              </a:rPr>
              <a:t>P-values computed numerically for small samples. </a:t>
            </a:r>
          </a:p>
          <a:p>
            <a:pPr lvl="1"/>
            <a:endParaRPr lang="en-GB" b="1" dirty="0"/>
          </a:p>
          <a:p>
            <a:pPr lvl="1"/>
            <a:endParaRPr lang="en-GB" dirty="0"/>
          </a:p>
          <a:p>
            <a:endParaRPr lang="en-GB" dirty="0"/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29E2FE-52E4-4E9E-9231-A5B5CB86F9B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/>
              <a:t>Seasonality and trading days tests</a:t>
            </a:r>
          </a:p>
        </p:txBody>
      </p:sp>
    </p:spTree>
    <p:extLst>
      <p:ext uri="{BB962C8B-B14F-4D97-AF65-F5344CB8AC3E}">
        <p14:creationId xmlns:p14="http://schemas.microsoft.com/office/powerpoint/2010/main" val="1985775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3330-1077-4FBD-A8DD-1B6BA4E5F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Trading days tests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6F6A09A-50B8-1102-B92B-CC1C8DB76F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1CC62B1-FA1F-4849-B719-012F8D8A46B3}" type="slidenum">
              <a:rPr lang="en-GB" smtClean="0"/>
              <a:t>8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8A9E7B-8B1A-4288-B4E6-6F55C5BB2FE2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970722" y="1278965"/>
                <a:ext cx="10515597" cy="4817162"/>
              </a:xfrm>
            </p:spPr>
            <p:txBody>
              <a:bodyPr/>
              <a:lstStyle/>
              <a:p>
                <a:r>
                  <a:rPr lang="en-GB" sz="2800" b="1" dirty="0"/>
                  <a:t>F test </a:t>
                </a:r>
                <a:r>
                  <a:rPr lang="en-GB" sz="2800" dirty="0"/>
                  <a:t>on default trading days variables (contrasts)</a:t>
                </a:r>
              </a:p>
              <a:p>
                <a:pPr lvl="1"/>
                <a:r>
                  <a:rPr lang="en-GB" sz="2400" dirty="0"/>
                  <a:t>Regression test with trading days contrasts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B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400" b="0" i="1" smtClean="0">
                            <a:latin typeface="Cambria Math" panose="02040503050406030204" pitchFamily="18" charset="0"/>
                          </a:rPr>
                          <m:t>𝑇𝐷</m:t>
                        </m:r>
                      </m:e>
                      <m:sub>
                        <m:r>
                          <a:rPr lang="fr-BE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2400" dirty="0"/>
                  <a:t>) and different models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fr-B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BE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B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B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fr-B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fr-B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BE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BE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B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b="0" i="1" smtClean="0">
                            <a:latin typeface="Cambria Math" panose="02040503050406030204" pitchFamily="18" charset="0"/>
                          </a:rPr>
                          <m:t>𝑇𝐷</m:t>
                        </m:r>
                      </m:e>
                      <m:sub>
                        <m:r>
                          <a:rPr lang="fr-BE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B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fr-B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B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B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2000" dirty="0"/>
                  <a:t>		(2.2.x)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fr-B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BE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B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BE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BE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B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B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B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b="0" i="1" smtClean="0">
                            <a:latin typeface="Cambria Math" panose="02040503050406030204" pitchFamily="18" charset="0"/>
                          </a:rPr>
                          <m:t>𝑇𝐷</m:t>
                        </m:r>
                      </m:e>
                      <m:sub>
                        <m:r>
                          <a:rPr lang="fr-BE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B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fr-B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B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B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2000" dirty="0"/>
                  <a:t> 		(2.2.x)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fr-B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B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BE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B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i="1">
                            <a:latin typeface="Cambria Math" panose="02040503050406030204" pitchFamily="18" charset="0"/>
                          </a:rPr>
                          <m:t>𝑇𝐷</m:t>
                        </m:r>
                      </m:e>
                      <m:sub>
                        <m:r>
                          <a:rPr lang="fr-BE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BE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fr-BE" sz="200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B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B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B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B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2000" dirty="0"/>
                  <a:t>			(3.0)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d>
                      <m:dPr>
                        <m:ctrlPr>
                          <a:rPr lang="fr-BE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BE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BE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BE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BE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r-B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BE" sz="2000" i="1">
                                <a:latin typeface="Cambria Math" panose="02040503050406030204" pitchFamily="18" charset="0"/>
                              </a:rPr>
                              <m:t>𝑇𝐷</m:t>
                            </m:r>
                          </m:e>
                          <m:sub>
                            <m:r>
                              <a:rPr lang="fr-BE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B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B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B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B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fr-B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sSub>
                      <m:sSubPr>
                        <m:ctrlPr>
                          <a:rPr lang="fr-B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B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fr-B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GB" sz="2000" dirty="0"/>
                  <a:t>		(3.0)</a:t>
                </a:r>
              </a:p>
              <a:p>
                <a:pPr lvl="2"/>
                <a:r>
                  <a:rPr lang="en-GB" sz="2000" dirty="0"/>
                  <a:t>More generally: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B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BE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B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B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B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b="0" i="1" smtClean="0">
                            <a:latin typeface="Cambria Math" panose="02040503050406030204" pitchFamily="18" charset="0"/>
                          </a:rPr>
                          <m:t>𝑇𝐷</m:t>
                        </m:r>
                      </m:e>
                      <m:sub>
                        <m:r>
                          <a:rPr lang="fr-BE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B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fr-B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B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𝑎𝑟𝑖𝑚𝑎</m:t>
                        </m:r>
                      </m:e>
                      <m:sub>
                        <m:r>
                          <a:rPr lang="fr-B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GB" sz="2000" dirty="0"/>
              </a:p>
              <a:p>
                <a:pPr lvl="1"/>
                <a:r>
                  <a:rPr lang="en-GB" sz="2400" dirty="0"/>
                  <a:t>H0: coefficients (</a:t>
                </a:r>
                <a14:m>
                  <m:oMath xmlns:m="http://schemas.openxmlformats.org/officeDocument/2006/math">
                    <m:r>
                      <a:rPr lang="fr-B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sz="2400" dirty="0"/>
                  <a:t>) are equal to 0, H1: coefficients jointly differ from 0</a:t>
                </a:r>
              </a:p>
              <a:p>
                <a:pPr lvl="1"/>
                <a:r>
                  <a:rPr lang="en-GB" sz="2400" dirty="0"/>
                  <a:t>Applied on (log) series. Should be applied on parts of the series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8A9E7B-8B1A-4288-B4E6-6F55C5BB2F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970722" y="1278965"/>
                <a:ext cx="10515597" cy="4817162"/>
              </a:xfrm>
              <a:blipFill>
                <a:blip r:embed="rId2"/>
                <a:stretch>
                  <a:fillRect l="-754" t="-22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DD6E21-A376-42D4-BDE6-56E3934286A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/>
              <a:t>Seasonality and trading days tests</a:t>
            </a:r>
          </a:p>
        </p:txBody>
      </p:sp>
    </p:spTree>
    <p:extLst>
      <p:ext uri="{BB962C8B-B14F-4D97-AF65-F5344CB8AC3E}">
        <p14:creationId xmlns:p14="http://schemas.microsoft.com/office/powerpoint/2010/main" val="2470296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7E53AA-11C5-C2DF-D89B-B91E2B31A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Trading </a:t>
            </a:r>
            <a:r>
              <a:rPr lang="fr-BE" dirty="0" err="1"/>
              <a:t>days</a:t>
            </a:r>
            <a:r>
              <a:rPr lang="fr-BE" dirty="0"/>
              <a:t> tests(</a:t>
            </a:r>
            <a:r>
              <a:rPr lang="fr-BE" dirty="0" err="1"/>
              <a:t>cont</a:t>
            </a:r>
            <a:r>
              <a:rPr lang="fr-BE" dirty="0"/>
              <a:t>.)</a:t>
            </a:r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63F9CD5-C9E2-28B6-4E5C-EE9430DCB8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1CC62B1-FA1F-4849-B719-012F8D8A46B3}" type="slidenum">
              <a:rPr lang="en-GB" smtClean="0"/>
              <a:t>9</a:t>
            </a:fld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5470C4-A731-E401-A841-BCFA81F08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302871"/>
            <a:ext cx="10515597" cy="4793256"/>
          </a:xfrm>
        </p:spPr>
        <p:txBody>
          <a:bodyPr/>
          <a:lstStyle/>
          <a:p>
            <a:r>
              <a:rPr lang="en-GB" sz="2800" b="1" dirty="0"/>
              <a:t>Canova-Hansen test </a:t>
            </a:r>
            <a:r>
              <a:rPr lang="en-GB" sz="2800" dirty="0"/>
              <a:t>on trading days variables </a:t>
            </a:r>
            <a:r>
              <a:rPr lang="en-GB" sz="2800" b="1" dirty="0"/>
              <a:t>(R only)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test the stability of the coefficients of trading days, using a Lagrange multiplier test.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Bef>
                <a:spcPts val="500"/>
              </a:spcBef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Likelihood ratio test </a:t>
            </a:r>
            <a:r>
              <a:rPr lang="en-GB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time varying trading days coefficients </a:t>
            </a:r>
            <a:r>
              <a:rPr lang="en-GB" sz="2800" b="1" dirty="0"/>
              <a:t>(R only)</a:t>
            </a:r>
          </a:p>
          <a:p>
            <a:pPr lvl="1">
              <a:defRPr/>
            </a:pP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rjd3toolkit &gt;= 3.2.5 </a:t>
            </a:r>
          </a:p>
          <a:p>
            <a:pPr>
              <a:spcBef>
                <a:spcPts val="500"/>
              </a:spcBef>
              <a:defRPr/>
            </a:pPr>
            <a:endParaRPr kumimoji="0" lang="en-GB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b="1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3C44A7-9ABD-0D8B-13D8-B037F9DD769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/>
              <a:t>Seasonality and trading days tests</a:t>
            </a:r>
          </a:p>
        </p:txBody>
      </p:sp>
    </p:spTree>
    <p:extLst>
      <p:ext uri="{BB962C8B-B14F-4D97-AF65-F5344CB8AC3E}">
        <p14:creationId xmlns:p14="http://schemas.microsoft.com/office/powerpoint/2010/main" val="903435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8D258-5DF9-4AA3-A7D7-8980AF433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Seasonality tests in R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E4528E1-465C-CB9A-D6ED-C459F52689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1CC62B1-FA1F-4849-B719-012F8D8A46B3}" type="slidenum">
              <a:rPr lang="en-GB" smtClean="0"/>
              <a:t>10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7C27E-E94D-4E4B-BC85-C0FB6523890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/>
              <a:t>Seasonality and trading days tests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A51CBD5-257C-394E-2253-09418FFDE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722" y="1901951"/>
            <a:ext cx="5718895" cy="423823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57496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0B06191-102B-95BD-3EA1-660E0C6B1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50" y="1800731"/>
            <a:ext cx="7043426" cy="41941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74612C-4204-0C99-33A2-7EB1815A6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Trading </a:t>
            </a:r>
            <a:r>
              <a:rPr lang="fr-BE" dirty="0" err="1"/>
              <a:t>days</a:t>
            </a:r>
            <a:r>
              <a:rPr lang="fr-BE" dirty="0"/>
              <a:t> tests in R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9311E8F-86AE-EFCF-162F-F083340789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1CC62B1-FA1F-4849-B719-012F8D8A46B3}" type="slidenum">
              <a:rPr lang="en-GB" smtClean="0"/>
              <a:t>11</a:t>
            </a:fld>
            <a:endParaRPr lang="en-GB"/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B60C8452-182E-143C-F289-E9E7A886CB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09174" y="3203911"/>
            <a:ext cx="4677148" cy="2790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9B21F-C80E-2986-0A8B-EC53A35F288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/>
              <a:t>Seasonality and trading days tests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B1FF77-CC37-4C05-1343-03767076B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173" y="518554"/>
            <a:ext cx="4677150" cy="2706797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183761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9CC45C-6ECF-1414-149F-897E6C174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CA729C-10AD-F90E-DB78-5A4E0B79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1CD9A3-F785-365F-6876-BF17463B78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88438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3.3511"/>
  <p:tag name="SLIDO_PRESENTATION_ID" val="00000000-0000-0000-0000-000000000000"/>
  <p:tag name="SLIDO_EVENT_UUID" val="d5f05ec8-edda-47a7-a42e-90bbfcebfc5f"/>
  <p:tag name="SLIDO_EVENT_SECTION_UUID" val="71a6711e-5d0b-4e9f-9223-093e31161b77"/>
</p:tagLst>
</file>

<file path=ppt/theme/theme1.xml><?xml version="1.0" encoding="utf-8"?>
<a:theme xmlns:a="http://schemas.openxmlformats.org/drawingml/2006/main" name="ESTAT Theme">
  <a:themeElements>
    <a:clrScheme name="EC colour scheme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1E858B"/>
      </a:accent1>
      <a:accent2>
        <a:srgbClr val="4BC5DE"/>
      </a:accent2>
      <a:accent3>
        <a:srgbClr val="1EC08A"/>
      </a:accent3>
      <a:accent4>
        <a:srgbClr val="ED8D2F"/>
      </a:accent4>
      <a:accent5>
        <a:srgbClr val="FFC000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STAT PPT Template.potx" id="{44100892-7769-4A20-A750-3553371E0F2E}" vid="{905E760A-09FE-4DBA-89B6-DF3A5D6D09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e422b70-e85d-4377-8ee0-b6227433d381">
      <Terms xmlns="http://schemas.microsoft.com/office/infopath/2007/PartnerControls"/>
    </lcf76f155ced4ddcb4097134ff3c332f>
    <TaxCatchAll xmlns="199f642e-5af9-486c-ac06-f366742ef41a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AA5C57F8EADE4E9CD6BB064C0C3195" ma:contentTypeVersion="16" ma:contentTypeDescription="Create a new document." ma:contentTypeScope="" ma:versionID="bb51c19a58f458ddcddd050a07659236">
  <xsd:schema xmlns:xsd="http://www.w3.org/2001/XMLSchema" xmlns:xs="http://www.w3.org/2001/XMLSchema" xmlns:p="http://schemas.microsoft.com/office/2006/metadata/properties" xmlns:ns2="0e422b70-e85d-4377-8ee0-b6227433d381" xmlns:ns3="199f642e-5af9-486c-ac06-f366742ef41a" targetNamespace="http://schemas.microsoft.com/office/2006/metadata/properties" ma:root="true" ma:fieldsID="0ee7a3bac0352a48a43420936abd968a" ns2:_="" ns3:_="">
    <xsd:import namespace="0e422b70-e85d-4377-8ee0-b6227433d381"/>
    <xsd:import namespace="199f642e-5af9-486c-ac06-f366742ef41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22b70-e85d-4377-8ee0-b6227433d38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22b2fad6-9d2c-441c-a321-3f5f1e9bd9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9f642e-5af9-486c-ac06-f366742ef41a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2defd33-e0ca-4991-a4bb-5bf1ac0b491c}" ma:internalName="TaxCatchAll" ma:showField="CatchAllData" ma:web="199f642e-5af9-486c-ac06-f366742ef4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D6C293B-B8B4-4284-A17E-9F9E4C32B25A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0e422b70-e85d-4377-8ee0-b6227433d381"/>
    <ds:schemaRef ds:uri="http://schemas.microsoft.com/office/infopath/2007/PartnerControls"/>
    <ds:schemaRef ds:uri="199f642e-5af9-486c-ac06-f366742ef41a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4B464EA-1576-49DD-9675-1E3399D4D1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422b70-e85d-4377-8ee0-b6227433d381"/>
    <ds:schemaRef ds:uri="199f642e-5af9-486c-ac06-f366742ef4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7DD9E9F-9EEB-4105-B29B-819486C285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ESTAT PPT Template</Template>
  <TotalTime>134</TotalTime>
  <Words>724</Words>
  <Application>Microsoft Office PowerPoint</Application>
  <PresentationFormat>Grand écran</PresentationFormat>
  <Paragraphs>98</Paragraphs>
  <Slides>12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 Math</vt:lpstr>
      <vt:lpstr>ESTAT Theme</vt:lpstr>
      <vt:lpstr>Seasonality and trading days tests in JD+</vt:lpstr>
      <vt:lpstr>Overview</vt:lpstr>
      <vt:lpstr>Seasonality tests</vt:lpstr>
      <vt:lpstr>Seasonality tests (cont.)</vt:lpstr>
      <vt:lpstr>Seasonality tests (cont.)</vt:lpstr>
      <vt:lpstr>Seasonality tests (cont.)</vt:lpstr>
      <vt:lpstr>Seasonality tests (cont.)</vt:lpstr>
      <vt:lpstr>Trading days tests</vt:lpstr>
      <vt:lpstr>Trading days tests(cont.)</vt:lpstr>
      <vt:lpstr>Seasonality tests in R</vt:lpstr>
      <vt:lpstr>Trading days tests in R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title title title title title title title title title title title title</dc:title>
  <dc:creator>HANZEVACKI Andrej (ESTAT)</dc:creator>
  <cp:lastModifiedBy>Jean Palate</cp:lastModifiedBy>
  <cp:revision>77</cp:revision>
  <dcterms:created xsi:type="dcterms:W3CDTF">2024-11-22T11:11:00Z</dcterms:created>
  <dcterms:modified xsi:type="dcterms:W3CDTF">2026-09-28T09:39:00Z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0x010100E6AA5C57F8EADE4E9CD6BB064C0C3195</vt:lpwstr>
  </property>
  <property fmtid="{D5CDD505-2E9C-101B-9397-08002B2CF9AE}" pid="3" name="MSIP_Label_6bd9ddd1-4d20-43f6-abfa-fc3c07406f94_Enabled">
    <vt:lpwstr>true</vt:lpwstr>
  </property>
  <property fmtid="{D5CDD505-2E9C-101B-9397-08002B2CF9AE}" pid="4" name="MSIP_Label_6bd9ddd1-4d20-43f6-abfa-fc3c07406f94_SetDate">
    <vt:lpwstr>2023-09-26T10:27:54Z</vt:lpwstr>
  </property>
  <property fmtid="{D5CDD505-2E9C-101B-9397-08002B2CF9AE}" pid="5" name="MSIP_Label_6bd9ddd1-4d20-43f6-abfa-fc3c07406f94_Method">
    <vt:lpwstr>Standard</vt:lpwstr>
  </property>
  <property fmtid="{D5CDD505-2E9C-101B-9397-08002B2CF9AE}" pid="6" name="MSIP_Label_6bd9ddd1-4d20-43f6-abfa-fc3c07406f94_Name">
    <vt:lpwstr>Commission Use</vt:lpwstr>
  </property>
  <property fmtid="{D5CDD505-2E9C-101B-9397-08002B2CF9AE}" pid="7" name="MSIP_Label_6bd9ddd1-4d20-43f6-abfa-fc3c07406f94_SiteId">
    <vt:lpwstr>b24c8b06-522c-46fe-9080-70926f8dddb1</vt:lpwstr>
  </property>
  <property fmtid="{D5CDD505-2E9C-101B-9397-08002B2CF9AE}" pid="8" name="MSIP_Label_6bd9ddd1-4d20-43f6-abfa-fc3c07406f94_ActionId">
    <vt:lpwstr>5f9041e0-26c3-439f-9557-91c751557f9e</vt:lpwstr>
  </property>
  <property fmtid="{D5CDD505-2E9C-101B-9397-08002B2CF9AE}" pid="9" name="MSIP_Label_6bd9ddd1-4d20-43f6-abfa-fc3c07406f94_ContentBits">
    <vt:lpwstr>0</vt:lpwstr>
  </property>
  <property fmtid="{D5CDD505-2E9C-101B-9397-08002B2CF9AE}" pid="10" name="SlidoAppVersion">
    <vt:lpwstr>1.5.3.3511</vt:lpwstr>
  </property>
  <property fmtid="{D5CDD505-2E9C-101B-9397-08002B2CF9AE}" pid="11" name="MediaServiceImageTags">
    <vt:lpwstr/>
  </property>
</Properties>
</file>