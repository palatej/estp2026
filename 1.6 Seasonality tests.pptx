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25/09/2026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51AD-7D8C-4C3B-824E-50C74829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E113E-768B-4593-A9C7-A1E1DD1DF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AEEB7-BB24-4732-8514-B34F83480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283D4-3C75-4639-AF68-1347ECEE9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BF48D-2583-437B-8CFA-DD8EE0B2A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31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and trading days tests in JD+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B0E1F-060B-4CF2-9303-92C425DE2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55562-606C-453A-AC16-502361F1555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34" y="1933673"/>
            <a:ext cx="5581650" cy="34385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6E7DA4-EBC4-45FA-AF1F-D40DDD7CA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775" y="1027905"/>
            <a:ext cx="4432627" cy="471042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601312-4157-49B2-A0C5-00D7D93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676579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Non-parametric tests</a:t>
            </a:r>
          </a:p>
          <a:p>
            <a:pPr lvl="1"/>
            <a:r>
              <a:rPr lang="en-GB" dirty="0"/>
              <a:t>Applied on series without trend (for instance (log) differenced series) </a:t>
            </a:r>
          </a:p>
          <a:p>
            <a:pPr lvl="1"/>
            <a:r>
              <a:rPr lang="en-GB" b="1" dirty="0"/>
              <a:t>Friedman</a:t>
            </a:r>
          </a:p>
          <a:p>
            <a:pPr lvl="2"/>
            <a:r>
              <a:rPr lang="en-GB" sz="1600" dirty="0"/>
              <a:t>ANOVA-type. The test uses the rankings of the observations within each year. It does not require distributional assumptions. </a:t>
            </a:r>
          </a:p>
          <a:p>
            <a:pPr lvl="2"/>
            <a:r>
              <a:rPr lang="en-GB" sz="1600" dirty="0"/>
              <a:t>H0: all periods can be treated equally (= no seasonality), H1: series is seasonal</a:t>
            </a:r>
          </a:p>
          <a:p>
            <a:pPr lvl="1"/>
            <a:r>
              <a:rPr lang="en-GB" b="1" dirty="0" err="1"/>
              <a:t>Kruskall</a:t>
            </a:r>
            <a:r>
              <a:rPr lang="en-GB" b="1" dirty="0"/>
              <a:t>-Wallis</a:t>
            </a:r>
          </a:p>
          <a:p>
            <a:pPr lvl="2"/>
            <a:r>
              <a:rPr lang="en-GB" sz="1600" dirty="0"/>
              <a:t>The test uses the rankings of all the observations. It does not require distributional assumptions.</a:t>
            </a:r>
          </a:p>
          <a:p>
            <a:pPr lvl="2"/>
            <a:r>
              <a:rPr lang="en-GB" sz="1600" dirty="0"/>
              <a:t>H0: All periods have the same mean(average ranking), H1: series is seasonal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CEA11-D813-4CA7-9B77-3EC90E511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126014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36B6-3FFC-4651-BC6A-C00A5C9E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GB" b="1" dirty="0"/>
                  <a:t>QS test, a</a:t>
                </a:r>
                <a:r>
                  <a:rPr lang="en-GB" dirty="0"/>
                  <a:t>pplied on (log) differenced series (no trend), corrected for mean effect</a:t>
                </a:r>
              </a:p>
              <a:p>
                <a:endParaRPr lang="en-GB" b="1" dirty="0"/>
              </a:p>
              <a:p>
                <a:pPr lvl="1"/>
                <a:r>
                  <a:rPr lang="en-GB" dirty="0"/>
                  <a:t>Modified </a:t>
                </a:r>
                <a:r>
                  <a:rPr lang="en-GB" dirty="0" err="1"/>
                  <a:t>Ljung</a:t>
                </a:r>
                <a:r>
                  <a:rPr lang="en-GB" dirty="0"/>
                  <a:t>-box on seasonal auto-correlations</a:t>
                </a:r>
              </a:p>
              <a:p>
                <a:pPr lvl="1"/>
                <a:r>
                  <a:rPr lang="en-GB" dirty="0"/>
                  <a:t>H0: No correlation (no seasonality), H1: seasonality</a:t>
                </a:r>
              </a:p>
              <a:p>
                <a:pPr lvl="1"/>
                <a:endParaRPr lang="en-GB" dirty="0"/>
              </a:p>
              <a:p>
                <a:r>
                  <a:rPr lang="en-GB" b="1" dirty="0"/>
                  <a:t>F test </a:t>
                </a:r>
                <a:r>
                  <a:rPr lang="en-GB" dirty="0"/>
                  <a:t>on seasonal dummies</a:t>
                </a:r>
              </a:p>
              <a:p>
                <a:pPr lvl="1"/>
                <a:r>
                  <a:rPr lang="en-GB" dirty="0"/>
                  <a:t>Regression test with seasonal dummies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) and different models</a:t>
                </a:r>
              </a:p>
              <a:p>
                <a:pPr lvl="2"/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GB" dirty="0"/>
                  <a:t> 		(GUI)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		(diagnostics)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		(diagnostics)</a:t>
                </a:r>
              </a:p>
              <a:p>
                <a:pPr lvl="1"/>
                <a:r>
                  <a:rPr lang="en-GB" dirty="0"/>
                  <a:t>H0: coefficients (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) are equal to 0, H1: coefficients jointly differ from 0</a:t>
                </a:r>
              </a:p>
              <a:p>
                <a:pPr lvl="1"/>
                <a:r>
                  <a:rPr lang="en-GB" dirty="0"/>
                  <a:t>Applied on (log) series. Should be applied on parts of the series</a:t>
                </a:r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5024" b="-15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57CC17-3DA5-4222-97F2-8F93ABA87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40703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637A-6C2C-4FCA-B486-81CED963D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01676-CDEE-4930-B5F1-7CF82E34B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Combined seasonality test (X11-like)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/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dirty="0"/>
                  <a:t>: Single factor ANOVA:</a:t>
                </a:r>
              </a:p>
              <a:p>
                <a:pPr algn="ctr"/>
                <a:r>
                  <a:rPr lang="en-GB" dirty="0"/>
                  <a:t>identical seasonal factors</a:t>
                </a: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  <a:blipFill>
                <a:blip r:embed="rId2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844EF8B1-D5C7-437D-860F-9D48E5AC11CA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4594814" y="-449957"/>
            <a:ext cx="2487376" cy="8074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61BBD5B-03A3-4E24-93F4-6301A346EC1E}"/>
              </a:ext>
            </a:extLst>
          </p:cNvPr>
          <p:cNvSpPr/>
          <p:nvPr/>
        </p:nvSpPr>
        <p:spPr>
          <a:xfrm>
            <a:off x="775965" y="4830897"/>
            <a:ext cx="2050742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 identifiable seasonality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0216384-328E-437D-9DD1-B77F551F9C4D}"/>
              </a:ext>
            </a:extLst>
          </p:cNvPr>
          <p:cNvSpPr/>
          <p:nvPr/>
        </p:nvSpPr>
        <p:spPr>
          <a:xfrm>
            <a:off x="4354685" y="5241880"/>
            <a:ext cx="1879106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Probably no identifiable seasonality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5F0E858-A488-4850-A3BF-EE720F954EE2}"/>
              </a:ext>
            </a:extLst>
          </p:cNvPr>
          <p:cNvSpPr/>
          <p:nvPr/>
        </p:nvSpPr>
        <p:spPr>
          <a:xfrm>
            <a:off x="9024067" y="5596231"/>
            <a:ext cx="1757779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Identifiable seasonality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E049C9-BDCE-44A2-BAC8-1C9F4C487976}"/>
              </a:ext>
            </a:extLst>
          </p:cNvPr>
          <p:cNvSpPr txBox="1"/>
          <p:nvPr/>
        </p:nvSpPr>
        <p:spPr>
          <a:xfrm>
            <a:off x="1879598" y="3198920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P-value&lt;0.1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/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GB" dirty="0"/>
                  <a:t>: Two factors ANOVA</a:t>
                </a:r>
              </a:p>
              <a:p>
                <a:pPr algn="ctr"/>
                <a:r>
                  <a:rPr lang="en-GB" dirty="0"/>
                  <a:t>Years, seasonal factors </a:t>
                </a:r>
              </a:p>
            </p:txBody>
          </p:sp>
        </mc:Choice>
        <mc:Fallback xmlns="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  <a:blipFill>
                <a:blip r:embed="rId3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83A151B-6F2F-47D7-A67D-253DD00C5825}"/>
              </a:ext>
            </a:extLst>
          </p:cNvPr>
          <p:cNvCxnSpPr>
            <a:cxnSpLocks/>
            <a:stCxn id="4" idx="2"/>
            <a:endCxn id="13" idx="3"/>
          </p:cNvCxnSpPr>
          <p:nvPr/>
        </p:nvCxnSpPr>
        <p:spPr>
          <a:xfrm rot="5400000">
            <a:off x="9226722" y="2285433"/>
            <a:ext cx="590858" cy="7070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/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  <a:blipFill>
                <a:blip r:embed="rId4"/>
                <a:stretch>
                  <a:fillRect l="-27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E367EA6-9B8C-4744-8006-43B05090CE5E}"/>
              </a:ext>
            </a:extLst>
          </p:cNvPr>
          <p:cNvCxnSpPr>
            <a:cxnSpLocks/>
            <a:stCxn id="13" idx="1"/>
            <a:endCxn id="22" idx="0"/>
          </p:cNvCxnSpPr>
          <p:nvPr/>
        </p:nvCxnSpPr>
        <p:spPr>
          <a:xfrm rot="10800000" flipV="1">
            <a:off x="4628228" y="2934378"/>
            <a:ext cx="1584142" cy="92366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6DE4D-5B76-4C98-B4E0-4E66CFE68ACE}"/>
              </a:ext>
            </a:extLst>
          </p:cNvPr>
          <p:cNvSpPr/>
          <p:nvPr/>
        </p:nvSpPr>
        <p:spPr>
          <a:xfrm>
            <a:off x="7219216" y="4490659"/>
            <a:ext cx="2956264" cy="79899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Kruskal-Wallis </a:t>
            </a:r>
          </a:p>
          <a:p>
            <a:pPr algn="ctr"/>
            <a:r>
              <a:rPr lang="en-GB" dirty="0"/>
              <a:t>(non parametric) 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575E3FB-5C3E-46D8-9E5F-38BA0A87C1C4}"/>
              </a:ext>
            </a:extLst>
          </p:cNvPr>
          <p:cNvCxnSpPr>
            <a:cxnSpLocks/>
            <a:stCxn id="22" idx="2"/>
            <a:endCxn id="7" idx="6"/>
          </p:cNvCxnSpPr>
          <p:nvPr/>
        </p:nvCxnSpPr>
        <p:spPr>
          <a:xfrm rot="10800000" flipV="1">
            <a:off x="2826707" y="4221085"/>
            <a:ext cx="1248886" cy="10581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527F8D03-2A84-4675-B006-B4E5336197DE}"/>
              </a:ext>
            </a:extLst>
          </p:cNvPr>
          <p:cNvCxnSpPr>
            <a:cxnSpLocks/>
            <a:stCxn id="22" idx="4"/>
            <a:endCxn id="8" idx="1"/>
          </p:cNvCxnSpPr>
          <p:nvPr/>
        </p:nvCxnSpPr>
        <p:spPr>
          <a:xfrm rot="16200000" flipH="1">
            <a:off x="4234518" y="4977833"/>
            <a:ext cx="789067" cy="16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ABFAEE-614E-496D-99F9-7FB3F9FB17FA}"/>
              </a:ext>
            </a:extLst>
          </p:cNvPr>
          <p:cNvCxnSpPr>
            <a:cxnSpLocks/>
            <a:stCxn id="22" idx="6"/>
            <a:endCxn id="28" idx="0"/>
          </p:cNvCxnSpPr>
          <p:nvPr/>
        </p:nvCxnSpPr>
        <p:spPr>
          <a:xfrm>
            <a:off x="5180863" y="4221086"/>
            <a:ext cx="3516485" cy="269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1A726151-6E75-4D72-AF8A-DE0BCFA07A7E}"/>
              </a:ext>
            </a:extLst>
          </p:cNvPr>
          <p:cNvCxnSpPr>
            <a:cxnSpLocks/>
            <a:stCxn id="28" idx="1"/>
            <a:endCxn id="8" idx="0"/>
          </p:cNvCxnSpPr>
          <p:nvPr/>
        </p:nvCxnSpPr>
        <p:spPr>
          <a:xfrm rot="10800000" flipV="1">
            <a:off x="5294238" y="4890154"/>
            <a:ext cx="1924978" cy="351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D187B275-CFB9-4A2F-BE8C-353981683191}"/>
              </a:ext>
            </a:extLst>
          </p:cNvPr>
          <p:cNvCxnSpPr>
            <a:cxnSpLocks/>
            <a:stCxn id="28" idx="2"/>
            <a:endCxn id="9" idx="2"/>
          </p:cNvCxnSpPr>
          <p:nvPr/>
        </p:nvCxnSpPr>
        <p:spPr>
          <a:xfrm rot="16200000" flipH="1">
            <a:off x="8483256" y="5503741"/>
            <a:ext cx="754903" cy="32671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A8C23A1-4686-4931-A727-5D4308DAC8EF}"/>
              </a:ext>
            </a:extLst>
          </p:cNvPr>
          <p:cNvSpPr txBox="1"/>
          <p:nvPr/>
        </p:nvSpPr>
        <p:spPr>
          <a:xfrm>
            <a:off x="5202027" y="4520823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P-value&lt;0.1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44ED8-86F6-4CED-842B-4D05DB3C4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356886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Spectral diagnostics</a:t>
            </a:r>
          </a:p>
          <a:p>
            <a:pPr lvl="1"/>
            <a:r>
              <a:rPr lang="en-GB" b="1" dirty="0"/>
              <a:t>Spectral peaks (X13-like)</a:t>
            </a:r>
          </a:p>
          <a:p>
            <a:pPr lvl="2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Based on the spectrum of a long auto-regressive model that fits the series (see X13 documentation)</a:t>
            </a:r>
            <a:endParaRPr lang="en-GB" dirty="0"/>
          </a:p>
          <a:p>
            <a:pPr lvl="1"/>
            <a:r>
              <a:rPr lang="en-GB" b="1" dirty="0"/>
              <a:t>Periodogram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Performed on the periodogram (Fourier transformation) of the series at the Fourier frequencies.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US" u="sng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maximum</a:t>
            </a:r>
            <a:r>
              <a:rPr lang="en-US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periodogram on or around the seasonal frequencies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US" u="sng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</a:t>
            </a:r>
            <a:r>
              <a:rPr lang="en-US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values of the periodogram on or around the seasonal frequencies</a:t>
            </a: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Strictly speaking, only valid against the hypothesis that the (transformed) series is a white noise. As the spectral peaks, they don’t perform well for short series.</a:t>
            </a:r>
            <a:endParaRPr lang="fr-BE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313061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Canova-Hansen test (R only)</a:t>
            </a:r>
          </a:p>
          <a:p>
            <a:pPr lvl="1"/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the stability of 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the coefficients of seasonal regressors (model quite similar to the F-test), using a Lagrange multiplier test.</a:t>
            </a:r>
          </a:p>
          <a:p>
            <a:pPr lvl="1"/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H0: stable seasonal pattern (no seasonality ≡ stable 0 coefficients).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H1: seasonal unit roots.</a:t>
            </a:r>
          </a:p>
          <a:p>
            <a:pPr lvl="1"/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P-values computed numerically for small samples. </a:t>
            </a:r>
          </a:p>
          <a:p>
            <a:pPr lvl="1"/>
            <a:endParaRPr lang="en-GB" b="1" dirty="0"/>
          </a:p>
          <a:p>
            <a:pPr lvl="1"/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985775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73330-1077-4FBD-A8DD-1B6BA4E5F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Trading days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dirty="0"/>
                  <a:t>F test </a:t>
                </a:r>
                <a:r>
                  <a:rPr lang="en-GB" dirty="0"/>
                  <a:t>on default trading days variables (contrasts)</a:t>
                </a:r>
              </a:p>
              <a:p>
                <a:pPr lvl="1"/>
                <a:r>
                  <a:rPr lang="en-GB" dirty="0"/>
                  <a:t>Regression test with trading days contrasts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) and different models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		(2.2.x)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		(2.2.x)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			(3.0)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𝑇𝐷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GB" dirty="0"/>
                  <a:t>		(3.0)</a:t>
                </a:r>
              </a:p>
              <a:p>
                <a:pPr lvl="2"/>
                <a:r>
                  <a:rPr lang="en-GB" dirty="0"/>
                  <a:t>More generally: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𝑎𝑟𝑖𝑚𝑎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H0: coefficients (</a:t>
                </a:r>
                <a14:m>
                  <m:oMath xmlns:m="http://schemas.openxmlformats.org/officeDocument/2006/math"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dirty="0"/>
                  <a:t>) are equal to 0, H1: coefficients jointly differ from 0</a:t>
                </a:r>
              </a:p>
              <a:p>
                <a:pPr lvl="1"/>
                <a:r>
                  <a:rPr lang="en-GB" dirty="0"/>
                  <a:t>Applied on (log) series. Should be applied on parts of the series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D6E21-A376-42D4-BDE6-56E39342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2470296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E53AA-11C5-C2DF-D89B-B91E2B31A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Trading </a:t>
            </a:r>
            <a:r>
              <a:rPr lang="fr-BE" dirty="0" err="1"/>
              <a:t>days</a:t>
            </a:r>
            <a:r>
              <a:rPr lang="fr-BE" dirty="0"/>
              <a:t> tests(</a:t>
            </a:r>
            <a:r>
              <a:rPr lang="fr-BE" dirty="0" err="1"/>
              <a:t>cont</a:t>
            </a:r>
            <a:r>
              <a:rPr lang="fr-BE" dirty="0"/>
              <a:t>.)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5470C4-A731-E401-A841-BCFA81F08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Canova-Hansen test </a:t>
            </a:r>
            <a:r>
              <a:rPr lang="en-GB" dirty="0"/>
              <a:t>on trading days variables </a:t>
            </a:r>
            <a:r>
              <a:rPr lang="en-GB" b="1" dirty="0"/>
              <a:t>(R only)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test the stability of the coefficients of trading days, using a Lagrange multiplier test.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Bef>
                <a:spcPts val="500"/>
              </a:spcBef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Likelihood test </a:t>
            </a:r>
            <a:r>
              <a:rPr lang="en-GB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time varying trading days coefficients </a:t>
            </a:r>
            <a:r>
              <a:rPr lang="en-GB" b="1" dirty="0"/>
              <a:t>(R only)</a:t>
            </a:r>
          </a:p>
          <a:p>
            <a:pPr lvl="1">
              <a:defRPr/>
            </a:pPr>
            <a:r>
              <a:rPr lang="en-GB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rjd3toolkit &gt;= 3.2.5 </a:t>
            </a:r>
          </a:p>
          <a:p>
            <a:pPr>
              <a:spcBef>
                <a:spcPts val="500"/>
              </a:spcBef>
              <a:defRPr/>
            </a:pP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b="1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3C44A7-9ABD-0D8B-13D8-B037F9DD7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903435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8D258-5DF9-4AA3-A7D7-8980AF43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Seasonality tests in 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7C27E-E94D-4E4B-BC85-C0FB6523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51CBD5-257C-394E-2253-09418FFD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86" y="2096955"/>
            <a:ext cx="4409331" cy="32677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749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4612C-4204-0C99-33A2-7EB1815A6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Trading </a:t>
            </a:r>
            <a:r>
              <a:rPr lang="fr-BE" dirty="0" err="1"/>
              <a:t>days</a:t>
            </a:r>
            <a:r>
              <a:rPr lang="fr-BE" dirty="0"/>
              <a:t> tests in 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9B21F-C80E-2986-0A8B-EC53A35F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B06191-102B-95BD-3EA1-660E0C6B1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08" y="1569510"/>
            <a:ext cx="6240214" cy="37158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B1FF77-CC37-4C05-1343-03767076B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9172" y="292962"/>
            <a:ext cx="5038829" cy="2916111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2EB992-20EB-D64B-B04A-A55CEAD51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171" y="3281236"/>
            <a:ext cx="5038830" cy="291611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183761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45</TotalTime>
  <Words>697</Words>
  <Application>Microsoft Office PowerPoint</Application>
  <PresentationFormat>Grand écran</PresentationFormat>
  <Paragraphs>86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ESTAT Theme</vt:lpstr>
      <vt:lpstr>Seasonality and trading days tests in JD+</vt:lpstr>
      <vt:lpstr>Overview</vt:lpstr>
      <vt:lpstr>Seasonality tests</vt:lpstr>
      <vt:lpstr>Seasonality tests (cont.)</vt:lpstr>
      <vt:lpstr>Seasonality tests (cont.)</vt:lpstr>
      <vt:lpstr>Seasonality tests (cont.)</vt:lpstr>
      <vt:lpstr>Seasonality tests (cont.)</vt:lpstr>
      <vt:lpstr>Trading days tests</vt:lpstr>
      <vt:lpstr>Trading days tests(cont.)</vt:lpstr>
      <vt:lpstr>Seasonality tests in R</vt:lpstr>
      <vt:lpstr>Trading days tests in R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68</cp:revision>
  <dcterms:created xsi:type="dcterms:W3CDTF">2024-11-22T11:11:00Z</dcterms:created>
  <dcterms:modified xsi:type="dcterms:W3CDTF">2026-09-25T09:04:02Z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