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77" r:id="rId6"/>
    <p:sldId id="278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61" r:id="rId16"/>
  </p:sldIdLst>
  <p:sldSz cx="12192000" cy="6858000"/>
  <p:notesSz cx="6858000" cy="9144000"/>
  <p:custDataLst>
    <p:tags r:id="rId19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84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tags" Target="tags/tag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29/09/2026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en-GB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7670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251AD-7D8C-4C3B-824E-50C748295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E113E-768B-4593-A9C7-A1E1DD1DF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2AEEB7-BB24-4732-8514-B34F83480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283D4-3C75-4639-AF68-1347ECEE9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Seasonality and trading days tests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2BF48D-2583-437B-8CFA-DD8EE0B2A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CC62B1-FA1F-4849-B719-012F8D8A46B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7318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ESTP Training</a:t>
            </a:r>
          </a:p>
          <a:p>
            <a:r>
              <a:rPr lang="en-GB" noProof="0" dirty="0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Seasonality and trading days tests in JD+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B0E1F-060B-4CF2-9303-92C425DE2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Overview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4A914FCB-70F4-BE4A-6DC8-F1EB5CCD86E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601312-4157-49B2-A0C5-00D7D93BCF78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Seasonality and trading days tests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055562-606C-453A-AC16-502361F1555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9134" y="1933673"/>
            <a:ext cx="5581650" cy="3438525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26E7DA4-EBC4-45FA-AF1F-D40DDD7CA2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8775" y="1027905"/>
            <a:ext cx="4432627" cy="4710421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6CF291E-05FC-3161-3438-113B7CC4F56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noProof="0" smtClean="0"/>
              <a:pPr/>
              <a:t>2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6765792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F1051-B3A1-4DC0-8847-2AC415F1B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Seasonality tests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A1BC-9934-4D18-8790-06EDDD3BCC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195947"/>
            <a:ext cx="10515597" cy="4900180"/>
          </a:xfrm>
        </p:spPr>
        <p:txBody>
          <a:bodyPr/>
          <a:lstStyle/>
          <a:p>
            <a:r>
              <a:rPr lang="en-GB" sz="2800" noProof="0" dirty="0"/>
              <a:t>Non-parametric tests</a:t>
            </a:r>
          </a:p>
          <a:p>
            <a:pPr lvl="1"/>
            <a:r>
              <a:rPr lang="en-GB" sz="2400" noProof="0" dirty="0"/>
              <a:t>Applied on series without trend (for instance (log) differenced series) </a:t>
            </a:r>
          </a:p>
          <a:p>
            <a:pPr lvl="1"/>
            <a:r>
              <a:rPr lang="en-GB" sz="2400" b="1" noProof="0" dirty="0"/>
              <a:t>Friedman</a:t>
            </a:r>
          </a:p>
          <a:p>
            <a:pPr lvl="2"/>
            <a:r>
              <a:rPr lang="en-GB" sz="2000" noProof="0" dirty="0"/>
              <a:t>ANOVA-type. The test uses the rankings of the observations within each year. It does not require distributional assumptions. </a:t>
            </a:r>
          </a:p>
          <a:p>
            <a:pPr lvl="2"/>
            <a:r>
              <a:rPr lang="en-GB" sz="2000" noProof="0" dirty="0"/>
              <a:t>H0: all periods can be treated equally (= no seasonality), H1: series is seasonal</a:t>
            </a:r>
          </a:p>
          <a:p>
            <a:pPr lvl="1"/>
            <a:r>
              <a:rPr lang="en-GB" sz="2400" b="1" noProof="0" dirty="0" err="1"/>
              <a:t>Kruskall</a:t>
            </a:r>
            <a:r>
              <a:rPr lang="en-GB" sz="2400" b="1" noProof="0" dirty="0"/>
              <a:t>-Wallis</a:t>
            </a:r>
          </a:p>
          <a:p>
            <a:pPr lvl="2"/>
            <a:r>
              <a:rPr lang="en-GB" sz="2000" noProof="0" dirty="0"/>
              <a:t>The test uses the rankings of all the observations. It does not require distributional assumptions.</a:t>
            </a:r>
          </a:p>
          <a:p>
            <a:pPr lvl="2"/>
            <a:r>
              <a:rPr lang="en-GB" sz="2000" noProof="0" dirty="0"/>
              <a:t>H0: All periods have the same mean(average ranking), H1: series is seasonal</a:t>
            </a:r>
          </a:p>
          <a:p>
            <a:pPr marL="457200" lvl="1" indent="0">
              <a:buNone/>
            </a:pPr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CCEA11-D813-4CA7-9B77-3EC90E51120F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Seasonality and trading days tests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C6FE919-F8A9-36F7-8C16-7E1A5825FF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noProof="0" smtClean="0"/>
              <a:pPr/>
              <a:t>3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26014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336B6-3FFC-4651-BC6A-C00A5C9E7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Seasonality tests (cont.)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9F192CD-036B-1E59-0333-1C2E94EB43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noProof="0" smtClean="0"/>
              <a:t>4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569DA0-0DB1-45A4-AC62-9C6921E9033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70722" y="1277471"/>
                <a:ext cx="10515597" cy="4818656"/>
              </a:xfrm>
            </p:spPr>
            <p:txBody>
              <a:bodyPr>
                <a:normAutofit/>
              </a:bodyPr>
              <a:lstStyle/>
              <a:p>
                <a:r>
                  <a:rPr lang="en-GB" b="1" noProof="0" dirty="0"/>
                  <a:t>QS test, </a:t>
                </a:r>
                <a:r>
                  <a:rPr lang="en-GB" noProof="0" dirty="0"/>
                  <a:t>applied on (log) differenced series, corrected for mean effect</a:t>
                </a:r>
              </a:p>
              <a:p>
                <a:endParaRPr lang="en-GB" b="1" noProof="0" dirty="0"/>
              </a:p>
              <a:p>
                <a:pPr lvl="1"/>
                <a:r>
                  <a:rPr lang="en-GB" noProof="0" dirty="0"/>
                  <a:t>Modified Ljung-box on seasonal auto-correlations</a:t>
                </a:r>
              </a:p>
              <a:p>
                <a:pPr lvl="1"/>
                <a:r>
                  <a:rPr lang="en-GB" noProof="0" dirty="0"/>
                  <a:t>H0: No correlation (no seasonality), H1: seasonality</a:t>
                </a:r>
              </a:p>
              <a:p>
                <a:pPr lvl="1"/>
                <a:endParaRPr lang="en-GB" noProof="0" dirty="0"/>
              </a:p>
              <a:p>
                <a:r>
                  <a:rPr lang="en-GB" b="1" noProof="0" dirty="0"/>
                  <a:t>F test, </a:t>
                </a:r>
                <a:r>
                  <a:rPr lang="en-GB" noProof="0" dirty="0"/>
                  <a:t>applied on (log) series</a:t>
                </a:r>
              </a:p>
              <a:p>
                <a:pPr lvl="1"/>
                <a:r>
                  <a:rPr lang="en-GB" noProof="0" dirty="0"/>
                  <a:t>Regression test with seasonal dummies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noProof="0" dirty="0"/>
                  <a:t>) and different models</a:t>
                </a:r>
              </a:p>
              <a:p>
                <a:pPr lvl="2"/>
                <a:r>
                  <a:rPr lang="en-GB" noProof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noProof="0" dirty="0"/>
                  <a:t> 		(WN ; </a:t>
                </a:r>
                <a:r>
                  <a:rPr lang="en-GB" sz="1400" noProof="0" dirty="0"/>
                  <a:t>for residuals</a:t>
                </a:r>
                <a:r>
                  <a:rPr lang="en-GB" noProof="0" dirty="0"/>
                  <a:t>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noProof="0" dirty="0"/>
                  <a:t>		(AR ; </a:t>
                </a:r>
                <a:r>
                  <a:rPr lang="en-GB" sz="1400" noProof="0" dirty="0"/>
                  <a:t>GUI</a:t>
                </a:r>
                <a:r>
                  <a:rPr lang="en-GB" noProof="0" dirty="0"/>
                  <a:t>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noProof="0" dirty="0"/>
                  <a:t> 		(D1; </a:t>
                </a:r>
                <a:r>
                  <a:rPr lang="en-GB" sz="1400" noProof="0" dirty="0"/>
                  <a:t>for Y, SA ; differencing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4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1400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GB" sz="14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GB" sz="1400" i="1" noProof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GB" sz="14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1400" noProof="0" dirty="0"/>
                  <a:t> is useless: same projection space</a:t>
                </a:r>
                <a:r>
                  <a:rPr lang="en-GB" noProof="0" dirty="0"/>
                  <a:t>)</a:t>
                </a:r>
              </a:p>
              <a:p>
                <a:pPr lvl="1"/>
                <a:r>
                  <a:rPr lang="en-GB" noProof="0" dirty="0"/>
                  <a:t>H0: coefficients (</a:t>
                </a:r>
                <a14:m>
                  <m:oMath xmlns:m="http://schemas.openxmlformats.org/officeDocument/2006/math">
                    <m:r>
                      <a:rPr lang="en-GB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GB" noProof="0" dirty="0"/>
                  <a:t>) are equal to 0, H1: coefficients jointly differ from 0</a:t>
                </a:r>
              </a:p>
              <a:p>
                <a:pPr lvl="1"/>
                <a:r>
                  <a:rPr lang="en-GB" noProof="0" dirty="0"/>
                  <a:t>Applied on (log) series. Should be applied on parts of the series</a:t>
                </a:r>
              </a:p>
              <a:p>
                <a:pPr lvl="1"/>
                <a:endParaRPr lang="en-GB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569DA0-0DB1-45A4-AC62-9C6921E903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70722" y="1277471"/>
                <a:ext cx="10515597" cy="4818656"/>
              </a:xfrm>
              <a:blipFill>
                <a:blip r:embed="rId3"/>
                <a:stretch>
                  <a:fillRect l="-754" t="-20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57CC17-3DA5-4222-97F2-8F93ABA87B4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1407033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637A-6C2C-4FCA-B486-81CED963D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Seasonality tests (cont.)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B027CAA5-D400-DB2F-E55E-874C6D556D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noProof="0" smtClean="0"/>
              <a:t>5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01676-CDEE-4930-B5F1-7CF82E34B7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337982"/>
            <a:ext cx="10515597" cy="4758145"/>
          </a:xfrm>
        </p:spPr>
        <p:txBody>
          <a:bodyPr/>
          <a:lstStyle/>
          <a:p>
            <a:r>
              <a:rPr lang="en-GB" sz="2800" noProof="0" dirty="0"/>
              <a:t>Combined seasonality test (X11-like)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44ED8-86F6-4CED-842B-4D05DB3C454C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Seasonality and trading days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DD682B3D-2A5A-484E-858A-5C7F3CD281E0}"/>
                  </a:ext>
                </a:extLst>
              </p:cNvPr>
              <p:cNvSpPr/>
              <p:nvPr/>
            </p:nvSpPr>
            <p:spPr>
              <a:xfrm>
                <a:off x="8397536" y="1544530"/>
                <a:ext cx="2956264" cy="798991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GB" noProof="0" dirty="0"/>
                  <a:t>: Single factor ANOVA:</a:t>
                </a:r>
              </a:p>
              <a:p>
                <a:pPr algn="ctr"/>
                <a:r>
                  <a:rPr lang="en-GB" noProof="0" dirty="0"/>
                  <a:t>identical seasonal factors</a:t>
                </a:r>
              </a:p>
            </p:txBody>
          </p:sp>
        </mc:Choice>
        <mc:Fallback>
          <p:sp>
            <p:nvSpPr>
              <p:cNvPr id="4" name="Rectangle: Rounded Corners 3">
                <a:extLst>
                  <a:ext uri="{FF2B5EF4-FFF2-40B4-BE49-F238E27FC236}">
                    <a16:creationId xmlns:a16="http://schemas.microsoft.com/office/drawing/2014/main" id="{DD682B3D-2A5A-484E-858A-5C7F3CD281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7536" y="1544530"/>
                <a:ext cx="2956264" cy="798991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844EF8B1-D5C7-437D-860F-9D48E5AC11CA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rot="5400000">
            <a:off x="4594814" y="-449957"/>
            <a:ext cx="2487376" cy="80743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61BBD5B-03A3-4E24-93F4-6301A346EC1E}"/>
              </a:ext>
            </a:extLst>
          </p:cNvPr>
          <p:cNvSpPr/>
          <p:nvPr/>
        </p:nvSpPr>
        <p:spPr>
          <a:xfrm>
            <a:off x="775965" y="4830897"/>
            <a:ext cx="2050742" cy="896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No identifiable seasonality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0216384-328E-437D-9DD1-B77F551F9C4D}"/>
              </a:ext>
            </a:extLst>
          </p:cNvPr>
          <p:cNvSpPr/>
          <p:nvPr/>
        </p:nvSpPr>
        <p:spPr>
          <a:xfrm>
            <a:off x="4354685" y="5241880"/>
            <a:ext cx="1879106" cy="896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Probably no identifiable seasonality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5F0E858-A488-4850-A3BF-EE720F954EE2}"/>
              </a:ext>
            </a:extLst>
          </p:cNvPr>
          <p:cNvSpPr/>
          <p:nvPr/>
        </p:nvSpPr>
        <p:spPr>
          <a:xfrm>
            <a:off x="9024067" y="5596231"/>
            <a:ext cx="1757779" cy="89664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Identifiable seasonality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E049C9-BDCE-44A2-BAC8-1C9F4C487976}"/>
              </a:ext>
            </a:extLst>
          </p:cNvPr>
          <p:cNvSpPr txBox="1"/>
          <p:nvPr/>
        </p:nvSpPr>
        <p:spPr>
          <a:xfrm>
            <a:off x="1879598" y="3198920"/>
            <a:ext cx="1285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/>
              <a:t>P-value&lt;0.1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2F981BB9-A6CC-42F3-915A-DB7578AD8AA8}"/>
                  </a:ext>
                </a:extLst>
              </p:cNvPr>
              <p:cNvSpPr/>
              <p:nvPr/>
            </p:nvSpPr>
            <p:spPr>
              <a:xfrm>
                <a:off x="6212370" y="2534883"/>
                <a:ext cx="2956264" cy="798991"/>
              </a:xfrm>
              <a:prstGeom prst="round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GB" b="0" i="1" noProof="0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GB" noProof="0" dirty="0"/>
                  <a:t>: Two factors ANOVA</a:t>
                </a:r>
              </a:p>
              <a:p>
                <a:pPr algn="ctr"/>
                <a:r>
                  <a:rPr lang="en-GB" noProof="0" dirty="0"/>
                  <a:t>Years, seasonal factors </a:t>
                </a:r>
              </a:p>
            </p:txBody>
          </p:sp>
        </mc:Choice>
        <mc:Fallback>
          <p:sp>
            <p:nvSpPr>
              <p:cNvPr id="13" name="Rectangle: Rounded Corners 12">
                <a:extLst>
                  <a:ext uri="{FF2B5EF4-FFF2-40B4-BE49-F238E27FC236}">
                    <a16:creationId xmlns:a16="http://schemas.microsoft.com/office/drawing/2014/main" id="{2F981BB9-A6CC-42F3-915A-DB7578A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12370" y="2534883"/>
                <a:ext cx="2956264" cy="798991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483A151B-6F2F-47D7-A67D-253DD00C5825}"/>
              </a:ext>
            </a:extLst>
          </p:cNvPr>
          <p:cNvCxnSpPr>
            <a:cxnSpLocks/>
            <a:stCxn id="4" idx="2"/>
            <a:endCxn id="13" idx="3"/>
          </p:cNvCxnSpPr>
          <p:nvPr/>
        </p:nvCxnSpPr>
        <p:spPr>
          <a:xfrm rot="5400000">
            <a:off x="9226722" y="2285433"/>
            <a:ext cx="590858" cy="70703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02013E2-47DF-499F-AE91-1D101655CD6B}"/>
                  </a:ext>
                </a:extLst>
              </p:cNvPr>
              <p:cNvSpPr/>
              <p:nvPr/>
            </p:nvSpPr>
            <p:spPr>
              <a:xfrm>
                <a:off x="4075593" y="3858048"/>
                <a:ext cx="1105270" cy="72607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</m:sSub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GB" i="1" noProof="0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r>
                        <a:rPr lang="en-GB" b="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noProof="0" dirty="0"/>
              </a:p>
            </p:txBody>
          </p:sp>
        </mc:Choice>
        <mc:Fallback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902013E2-47DF-499F-AE91-1D101655CD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5593" y="3858048"/>
                <a:ext cx="1105270" cy="726075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E367EA6-9B8C-4744-8006-43B05090CE5E}"/>
              </a:ext>
            </a:extLst>
          </p:cNvPr>
          <p:cNvCxnSpPr>
            <a:cxnSpLocks/>
            <a:stCxn id="13" idx="1"/>
            <a:endCxn id="22" idx="0"/>
          </p:cNvCxnSpPr>
          <p:nvPr/>
        </p:nvCxnSpPr>
        <p:spPr>
          <a:xfrm rot="10800000" flipV="1">
            <a:off x="4628228" y="2934378"/>
            <a:ext cx="1584142" cy="92366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B6F6DE4D-5B76-4C98-B4E0-4E66CFE68ACE}"/>
              </a:ext>
            </a:extLst>
          </p:cNvPr>
          <p:cNvSpPr/>
          <p:nvPr/>
        </p:nvSpPr>
        <p:spPr>
          <a:xfrm>
            <a:off x="7219216" y="4490659"/>
            <a:ext cx="2956264" cy="79899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noProof="0" dirty="0"/>
              <a:t>Kruskal-Wallis </a:t>
            </a:r>
          </a:p>
          <a:p>
            <a:pPr algn="ctr"/>
            <a:r>
              <a:rPr lang="en-GB" noProof="0" dirty="0"/>
              <a:t>(non-parametric) </a:t>
            </a:r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575E3FB-5C3E-46D8-9E5F-38BA0A87C1C4}"/>
              </a:ext>
            </a:extLst>
          </p:cNvPr>
          <p:cNvCxnSpPr>
            <a:cxnSpLocks/>
            <a:stCxn id="22" idx="2"/>
            <a:endCxn id="7" idx="6"/>
          </p:cNvCxnSpPr>
          <p:nvPr/>
        </p:nvCxnSpPr>
        <p:spPr>
          <a:xfrm rot="10800000" flipV="1">
            <a:off x="2826707" y="4221085"/>
            <a:ext cx="1248886" cy="105813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527F8D03-2A84-4675-B006-B4E5336197DE}"/>
              </a:ext>
            </a:extLst>
          </p:cNvPr>
          <p:cNvCxnSpPr>
            <a:cxnSpLocks/>
            <a:stCxn id="22" idx="4"/>
            <a:endCxn id="8" idx="1"/>
          </p:cNvCxnSpPr>
          <p:nvPr/>
        </p:nvCxnSpPr>
        <p:spPr>
          <a:xfrm rot="16200000" flipH="1">
            <a:off x="4234518" y="4977833"/>
            <a:ext cx="789067" cy="164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31ABFAEE-614E-496D-99F9-7FB3F9FB17FA}"/>
              </a:ext>
            </a:extLst>
          </p:cNvPr>
          <p:cNvCxnSpPr>
            <a:cxnSpLocks/>
            <a:stCxn id="22" idx="6"/>
            <a:endCxn id="28" idx="0"/>
          </p:cNvCxnSpPr>
          <p:nvPr/>
        </p:nvCxnSpPr>
        <p:spPr>
          <a:xfrm>
            <a:off x="5180863" y="4221086"/>
            <a:ext cx="3516485" cy="269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1A726151-6E75-4D72-AF8A-DE0BCFA07A7E}"/>
              </a:ext>
            </a:extLst>
          </p:cNvPr>
          <p:cNvCxnSpPr>
            <a:cxnSpLocks/>
            <a:stCxn id="28" idx="1"/>
            <a:endCxn id="8" idx="0"/>
          </p:cNvCxnSpPr>
          <p:nvPr/>
        </p:nvCxnSpPr>
        <p:spPr>
          <a:xfrm rot="10800000" flipV="1">
            <a:off x="5294238" y="4890154"/>
            <a:ext cx="1924978" cy="3517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D187B275-CFB9-4A2F-BE8C-353981683191}"/>
              </a:ext>
            </a:extLst>
          </p:cNvPr>
          <p:cNvCxnSpPr>
            <a:cxnSpLocks/>
            <a:stCxn id="28" idx="2"/>
            <a:endCxn id="9" idx="2"/>
          </p:cNvCxnSpPr>
          <p:nvPr/>
        </p:nvCxnSpPr>
        <p:spPr>
          <a:xfrm rot="16200000" flipH="1">
            <a:off x="8483256" y="5503741"/>
            <a:ext cx="754903" cy="32671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7A8C23A1-4686-4931-A727-5D4308DAC8EF}"/>
              </a:ext>
            </a:extLst>
          </p:cNvPr>
          <p:cNvSpPr txBox="1"/>
          <p:nvPr/>
        </p:nvSpPr>
        <p:spPr>
          <a:xfrm>
            <a:off x="5202027" y="4520823"/>
            <a:ext cx="12857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/>
              <a:t>P-value&lt;0.1</a:t>
            </a:r>
          </a:p>
        </p:txBody>
      </p:sp>
    </p:spTree>
    <p:extLst>
      <p:ext uri="{BB962C8B-B14F-4D97-AF65-F5344CB8AC3E}">
        <p14:creationId xmlns:p14="http://schemas.microsoft.com/office/powerpoint/2010/main" val="35688619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F1051-B3A1-4DC0-8847-2AC415F1B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Seasonality tests (cont.)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5E2DBCC-465C-8EDD-BD70-E5CD10396D0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noProof="0" smtClean="0"/>
              <a:t>6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A1BC-9934-4D18-8790-06EDDD3BCC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195947"/>
            <a:ext cx="10515597" cy="4900180"/>
          </a:xfrm>
        </p:spPr>
        <p:txBody>
          <a:bodyPr>
            <a:normAutofit/>
          </a:bodyPr>
          <a:lstStyle/>
          <a:p>
            <a:r>
              <a:rPr lang="en-GB" sz="2400" noProof="0" dirty="0"/>
              <a:t>Spectral diagnostics</a:t>
            </a:r>
          </a:p>
          <a:p>
            <a:pPr lvl="1"/>
            <a:r>
              <a:rPr lang="en-GB" sz="2000" b="1" noProof="0" dirty="0"/>
              <a:t>Spectral peaks (X13-like)</a:t>
            </a:r>
          </a:p>
          <a:p>
            <a:pPr lvl="2"/>
            <a:r>
              <a:rPr lang="en-GB" sz="2000" noProof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Based on the spectrum of a long auto-regressive model that fits the series (see X13 documentation)</a:t>
            </a:r>
            <a:endParaRPr lang="en-GB" sz="1800" noProof="0" dirty="0"/>
          </a:p>
          <a:p>
            <a:pPr lvl="1"/>
            <a:r>
              <a:rPr lang="en-GB" sz="2000" b="1" noProof="0" dirty="0"/>
              <a:t>Periodogram</a:t>
            </a: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GB" sz="2000" noProof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Performed on the periodogram (Fourier transformation) of the series at the Fourier frequencies.</a:t>
            </a:r>
          </a:p>
          <a:p>
            <a:pPr lvl="3">
              <a:lnSpc>
                <a:spcPct val="100000"/>
              </a:lnSpc>
              <a:spcAft>
                <a:spcPts val="1000"/>
              </a:spcAft>
            </a:pPr>
            <a:r>
              <a:rPr lang="en-GB" sz="1600" u="sng" noProof="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maximum</a:t>
            </a:r>
            <a:r>
              <a:rPr lang="en-GB" sz="1600" noProof="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of the periodogram on or around the seasonal frequencies</a:t>
            </a:r>
          </a:p>
          <a:p>
            <a:pPr lvl="3">
              <a:lnSpc>
                <a:spcPct val="100000"/>
              </a:lnSpc>
              <a:spcAft>
                <a:spcPts val="1000"/>
              </a:spcAft>
            </a:pPr>
            <a:r>
              <a:rPr lang="en-GB" sz="1600" u="sng" noProof="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sum</a:t>
            </a:r>
            <a:r>
              <a:rPr lang="en-GB" sz="1600" noProof="0" dirty="0"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of the values of the periodogram on or around the seasonal frequencies</a:t>
            </a:r>
            <a:endParaRPr lang="en-GB" sz="1600" noProof="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>
              <a:lnSpc>
                <a:spcPct val="100000"/>
              </a:lnSpc>
              <a:spcAft>
                <a:spcPts val="1000"/>
              </a:spcAft>
            </a:pPr>
            <a:r>
              <a:rPr lang="en-GB" sz="2000" noProof="0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Strictly speaking, only valid against the hypothesis that the (transformed) series is a white noise. As the spectral peaks, they don’t perform well for short series.</a:t>
            </a:r>
          </a:p>
          <a:p>
            <a:pPr lvl="1"/>
            <a:endParaRPr lang="en-GB" noProof="0" dirty="0"/>
          </a:p>
          <a:p>
            <a:endParaRPr lang="en-GB" noProof="0" dirty="0"/>
          </a:p>
          <a:p>
            <a:pPr marL="457200" lvl="1" indent="0">
              <a:buNone/>
            </a:pPr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9E2FE-52E4-4E9E-9231-A5B5CB86F9B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3130613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F1051-B3A1-4DC0-8847-2AC415F1B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Seasonality tests (cont.)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14DB151-AC9A-AC68-D7C1-28998D5729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AA1BC-9934-4D18-8790-06EDDD3BCC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195947"/>
            <a:ext cx="10515597" cy="4900180"/>
          </a:xfrm>
        </p:spPr>
        <p:txBody>
          <a:bodyPr>
            <a:normAutofit/>
          </a:bodyPr>
          <a:lstStyle/>
          <a:p>
            <a:r>
              <a:rPr lang="en-GB" sz="2800" b="1" noProof="0" dirty="0"/>
              <a:t>Canova-Hansen test (R only)</a:t>
            </a:r>
          </a:p>
          <a:p>
            <a:pPr lvl="1"/>
            <a:r>
              <a:rPr lang="en-GB" sz="2400" b="0" i="0" noProof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test the stability of </a:t>
            </a:r>
            <a:r>
              <a:rPr lang="en-GB" sz="2400" noProof="0" dirty="0">
                <a:solidFill>
                  <a:srgbClr val="000000"/>
                </a:solidFill>
                <a:latin typeface="Arial" panose="020B0604020202020204" pitchFamily="34" charset="0"/>
              </a:rPr>
              <a:t>the coefficients of seasonal regressors (model quite like the F-test), using a Lagrange multiplier test.</a:t>
            </a:r>
          </a:p>
          <a:p>
            <a:pPr lvl="1"/>
            <a:r>
              <a:rPr lang="en-GB" sz="2400" b="0" i="0" noProof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H0: stable seasonal pattern (no seasonality ≡ stable 0 coefficients).</a:t>
            </a:r>
          </a:p>
          <a:p>
            <a:pPr lvl="1"/>
            <a:r>
              <a:rPr lang="en-GB" sz="2400" noProof="0" dirty="0">
                <a:solidFill>
                  <a:srgbClr val="000000"/>
                </a:solidFill>
                <a:latin typeface="Arial" panose="020B0604020202020204" pitchFamily="34" charset="0"/>
              </a:rPr>
              <a:t>H1: seasonal unit roots.</a:t>
            </a:r>
          </a:p>
          <a:p>
            <a:pPr lvl="1"/>
            <a:r>
              <a:rPr lang="en-GB" sz="2400" noProof="0" dirty="0">
                <a:solidFill>
                  <a:srgbClr val="000000"/>
                </a:solidFill>
                <a:latin typeface="Arial" panose="020B0604020202020204" pitchFamily="34" charset="0"/>
              </a:rPr>
              <a:t>P-values computed numerically for small samples. </a:t>
            </a:r>
          </a:p>
          <a:p>
            <a:pPr lvl="1"/>
            <a:endParaRPr lang="en-GB" b="1" noProof="0" dirty="0"/>
          </a:p>
          <a:p>
            <a:pPr lvl="1"/>
            <a:endParaRPr lang="en-GB" noProof="0" dirty="0"/>
          </a:p>
          <a:p>
            <a:endParaRPr lang="en-GB" noProof="0" dirty="0"/>
          </a:p>
          <a:p>
            <a:pPr marL="457200" lvl="1" indent="0">
              <a:buNone/>
            </a:pPr>
            <a:endParaRPr lang="en-GB" noProof="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29E2FE-52E4-4E9E-9231-A5B5CB86F9B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1985775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73330-1077-4FBD-A8DD-1B6BA4E5F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Trading days tests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6F6A09A-50B8-1102-B92B-CC1C8DB76F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noProof="0" smtClean="0"/>
              <a:t>8</a:t>
            </a:fld>
            <a:endParaRPr lang="en-GB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A9E7B-8B1A-4288-B4E6-6F55C5BB2FE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70722" y="1278965"/>
                <a:ext cx="10515597" cy="4817162"/>
              </a:xfrm>
            </p:spPr>
            <p:txBody>
              <a:bodyPr/>
              <a:lstStyle/>
              <a:p>
                <a:r>
                  <a:rPr lang="en-GB" sz="2800" b="1" noProof="0" dirty="0"/>
                  <a:t>F test </a:t>
                </a:r>
                <a:r>
                  <a:rPr lang="en-GB" sz="2800" noProof="0" dirty="0"/>
                  <a:t>on default trading days variables (contrasts)</a:t>
                </a:r>
              </a:p>
              <a:p>
                <a:pPr lvl="1"/>
                <a:r>
                  <a:rPr lang="en-GB" sz="2400" noProof="0" dirty="0"/>
                  <a:t>Regression test with trading days contrasts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4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400" b="0" i="1" noProof="0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en-GB" sz="2400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400" noProof="0" dirty="0"/>
                  <a:t>) and different models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000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GB" sz="20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0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sz="2000" b="0" i="1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000" noProof="0" dirty="0"/>
                  <a:t>		(2.2.x)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000" b="0" i="1" noProof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sz="20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0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GB" sz="2000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000" noProof="0" dirty="0"/>
                  <a:t> 		(2.2.x)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sz="20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000" b="0" i="1" noProof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GB" sz="20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 noProof="0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en-GB" sz="20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0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GB" sz="2000" i="1" noProof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GB" sz="2000" noProof="0" dirty="0"/>
                  <a:t>			(3.0)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GB" sz="20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b="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GB" sz="2000" b="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GB" sz="20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2000" i="1" noProof="0" smtClean="0">
                                <a:latin typeface="Cambria Math" panose="02040503050406030204" pitchFamily="18" charset="0"/>
                              </a:rPr>
                              <m:t>𝑇𝐷</m:t>
                            </m:r>
                          </m:e>
                          <m:sub>
                            <m:r>
                              <a:rPr lang="en-GB" sz="20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GB" sz="20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d>
                    <m:r>
                      <a:rPr lang="en-GB" sz="2000" b="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sSub>
                      <m:sSubPr>
                        <m:ctrlPr>
                          <a:rPr lang="en-GB" sz="20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GB" sz="20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GB" sz="2000" noProof="0" dirty="0"/>
                  <a:t>		(3.0)</a:t>
                </a:r>
              </a:p>
              <a:p>
                <a:pPr lvl="2"/>
                <a:r>
                  <a:rPr lang="en-GB" sz="2000" noProof="0" dirty="0"/>
                  <a:t>More generally: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000" b="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𝑇𝐷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GB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𝑎𝑟𝑖𝑚𝑎</m:t>
                        </m:r>
                      </m:e>
                      <m:sub>
                        <m:r>
                          <a:rPr lang="en-GB" sz="20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GB" sz="2000" noProof="0" dirty="0"/>
              </a:p>
              <a:p>
                <a:pPr lvl="1"/>
                <a:r>
                  <a:rPr lang="en-GB" sz="2400" noProof="0" dirty="0"/>
                  <a:t>H0: coefficients (</a:t>
                </a:r>
                <a14:m>
                  <m:oMath xmlns:m="http://schemas.openxmlformats.org/officeDocument/2006/math">
                    <m:r>
                      <a:rPr lang="en-GB" sz="24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GB" sz="2400" noProof="0" dirty="0"/>
                  <a:t>) are equal to 0, H1: coefficients jointly differ from 0</a:t>
                </a:r>
              </a:p>
              <a:p>
                <a:pPr lvl="1"/>
                <a:r>
                  <a:rPr lang="en-GB" sz="2400" noProof="0" dirty="0"/>
                  <a:t>Applied on (log) series. Should be applied on parts of the series</a:t>
                </a:r>
              </a:p>
              <a:p>
                <a:endParaRPr lang="en-GB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8A9E7B-8B1A-4288-B4E6-6F55C5BB2F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70722" y="1278965"/>
                <a:ext cx="10515597" cy="4817162"/>
              </a:xfrm>
              <a:blipFill>
                <a:blip r:embed="rId2"/>
                <a:stretch>
                  <a:fillRect l="-754" t="-227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D6E21-A376-42D4-BDE6-56E3934286A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24702968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7E53AA-11C5-C2DF-D89B-B91E2B31A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Trading days tests(cont.)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63F9CD5-C9E2-28B6-4E5C-EE9430DCB8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5470C4-A731-E401-A841-BCFA81F08B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302871"/>
            <a:ext cx="10515597" cy="4793256"/>
          </a:xfrm>
        </p:spPr>
        <p:txBody>
          <a:bodyPr/>
          <a:lstStyle/>
          <a:p>
            <a:r>
              <a:rPr lang="en-GB" sz="2800" b="1" noProof="0" dirty="0"/>
              <a:t>Canova-Hansen test </a:t>
            </a:r>
            <a:r>
              <a:rPr lang="en-GB" sz="2800" noProof="0" dirty="0"/>
              <a:t>on trading days variables </a:t>
            </a:r>
            <a:r>
              <a:rPr lang="en-GB" sz="2800" b="1" noProof="0" dirty="0"/>
              <a:t>(R only)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test the stability of the coefficients of trading days, using a Lagrange multiplier test.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GB" sz="2400" noProof="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>
              <a:spcBef>
                <a:spcPts val="500"/>
              </a:spcBef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Likelihood ratio test </a:t>
            </a:r>
            <a:r>
              <a:rPr lang="en-GB" sz="2800" noProof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 time varying trading days coefficients </a:t>
            </a:r>
            <a:r>
              <a:rPr lang="en-GB" sz="2800" b="1" noProof="0" dirty="0"/>
              <a:t>(R only)</a:t>
            </a:r>
          </a:p>
          <a:p>
            <a:pPr lvl="1">
              <a:defRPr/>
            </a:pPr>
            <a:r>
              <a:rPr lang="en-GB" sz="2400" noProof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rjd3toolkit &gt;= 3.2.5 </a:t>
            </a:r>
          </a:p>
          <a:p>
            <a:pPr>
              <a:spcBef>
                <a:spcPts val="500"/>
              </a:spcBef>
              <a:defRPr/>
            </a:pPr>
            <a:endParaRPr kumimoji="0" lang="en-GB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GB" b="1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3C44A7-9ABD-0D8B-13D8-B037F9DD769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Seasonality and trading days tests</a:t>
            </a:r>
          </a:p>
        </p:txBody>
      </p:sp>
    </p:spTree>
    <p:extLst>
      <p:ext uri="{BB962C8B-B14F-4D97-AF65-F5344CB8AC3E}">
        <p14:creationId xmlns:p14="http://schemas.microsoft.com/office/powerpoint/2010/main" val="9034356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8D258-5DF9-4AA3-A7D7-8980AF433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Seasonality tests in 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E4528E1-465C-CB9A-D6ED-C459F52689C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17C27E-E94D-4E4B-BC85-C0FB65238908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Seasonality and trading days tests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A51CBD5-257C-394E-2253-09418FFDE7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722" y="1901951"/>
            <a:ext cx="5718895" cy="423823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57496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0B06191-102B-95BD-3EA1-660E0C6B1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50" y="1800731"/>
            <a:ext cx="7043426" cy="41941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74612C-4204-0C99-33A2-7EB1815A6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Trading days tests in R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59311E8F-86AE-EFCF-162F-F083340789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1CC62B1-FA1F-4849-B719-012F8D8A46B3}" type="slidenum">
              <a:rPr lang="en-GB" noProof="0" smtClean="0"/>
              <a:t>11</a:t>
            </a:fld>
            <a:endParaRPr lang="en-GB" noProof="0" dirty="0"/>
          </a:p>
        </p:txBody>
      </p:sp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B60C8452-182E-143C-F289-E9E7A886CB0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09174" y="3203911"/>
            <a:ext cx="4677148" cy="27909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9B21F-C80E-2986-0A8B-EC53A35F288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Seasonality and trading days tests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B1FF77-CC37-4C05-1343-03767076B9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173" y="518554"/>
            <a:ext cx="4677150" cy="2706797"/>
          </a:xfrm>
          <a:prstGeom prst="rect">
            <a:avLst/>
          </a:prstGeom>
          <a:ln>
            <a:solidFill>
              <a:srgbClr val="0070C0"/>
            </a:solidFill>
          </a:ln>
        </p:spPr>
      </p:pic>
    </p:spTree>
    <p:extLst>
      <p:ext uri="{BB962C8B-B14F-4D97-AF65-F5344CB8AC3E}">
        <p14:creationId xmlns:p14="http://schemas.microsoft.com/office/powerpoint/2010/main" val="3183761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1CD9A3-F785-365F-6876-BF17463B78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noProof="0" smtClean="0"/>
              <a:pPr/>
              <a:t>12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134</TotalTime>
  <Words>723</Words>
  <Application>Microsoft Office PowerPoint</Application>
  <PresentationFormat>Grand écran</PresentationFormat>
  <Paragraphs>98</Paragraphs>
  <Slides>12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 Math</vt:lpstr>
      <vt:lpstr>ESTAT Theme</vt:lpstr>
      <vt:lpstr>Seasonality and trading days tests in JD+</vt:lpstr>
      <vt:lpstr>Overview</vt:lpstr>
      <vt:lpstr>Seasonality tests</vt:lpstr>
      <vt:lpstr>Seasonality tests (cont.)</vt:lpstr>
      <vt:lpstr>Seasonality tests (cont.)</vt:lpstr>
      <vt:lpstr>Seasonality tests (cont.)</vt:lpstr>
      <vt:lpstr>Seasonality tests (cont.)</vt:lpstr>
      <vt:lpstr>Trading days tests</vt:lpstr>
      <vt:lpstr>Trading days tests(cont.)</vt:lpstr>
      <vt:lpstr>Seasonality tests in R</vt:lpstr>
      <vt:lpstr>Trading days tests in R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78</cp:revision>
  <dcterms:created xsi:type="dcterms:W3CDTF">2024-11-22T11:11:00Z</dcterms:created>
  <dcterms:modified xsi:type="dcterms:W3CDTF">2026-09-29T08:09:49Z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