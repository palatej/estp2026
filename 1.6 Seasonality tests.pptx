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3"/>
  </p:notesMasterIdLst>
  <p:handoutMasterIdLst>
    <p:handoutMasterId r:id="rId24"/>
  </p:handoutMasterIdLst>
  <p:sldIdLst>
    <p:sldId id="256" r:id="rId5"/>
    <p:sldId id="262" r:id="rId6"/>
    <p:sldId id="263" r:id="rId7"/>
    <p:sldId id="264" r:id="rId8"/>
    <p:sldId id="259" r:id="rId9"/>
    <p:sldId id="271" r:id="rId10"/>
    <p:sldId id="272" r:id="rId11"/>
    <p:sldId id="273" r:id="rId12"/>
    <p:sldId id="260" r:id="rId13"/>
    <p:sldId id="274" r:id="rId14"/>
    <p:sldId id="275" r:id="rId15"/>
    <p:sldId id="276" r:id="rId16"/>
    <p:sldId id="265" r:id="rId17"/>
    <p:sldId id="266" r:id="rId18"/>
    <p:sldId id="267" r:id="rId19"/>
    <p:sldId id="270" r:id="rId20"/>
    <p:sldId id="268" r:id="rId21"/>
    <p:sldId id="261" r:id="rId22"/>
  </p:sldIdLst>
  <p:sldSz cx="12192000" cy="6858000"/>
  <p:notesSz cx="6858000" cy="9144000"/>
  <p:custDataLst>
    <p:tags r:id="rId2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AA4A9A-08D4-41EC-A222-5D5926BFFED6}" v="2" dt="2025-07-04T13:46:36.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64"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27/08/2026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Seasonality and Trading days tests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106731820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GB" dirty="0"/>
              <a:t>Seasonality and trading days tests in JD+</a:t>
            </a:r>
            <a:endParaRPr lang="en-IE" dirty="0"/>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idx="1"/>
          </p:nvPr>
        </p:nvSpPr>
        <p:spPr/>
        <p:txBody>
          <a:bodyPr/>
          <a:lstStyle/>
          <a:p>
            <a:r>
              <a:rPr lang="en-GB" dirty="0"/>
              <a:t>“Regular” time series</a:t>
            </a:r>
          </a:p>
          <a:p>
            <a:r>
              <a:rPr lang="en-GB" dirty="0"/>
              <a:t>Basic tools</a:t>
            </a:r>
          </a:p>
          <a:p>
            <a:pPr lvl="1"/>
            <a:r>
              <a:rPr lang="en-GB" dirty="0"/>
              <a:t>Auto-correlation function</a:t>
            </a:r>
          </a:p>
          <a:p>
            <a:pPr lvl="1"/>
            <a:r>
              <a:rPr lang="en-GB" dirty="0"/>
              <a:t>Periodogram</a:t>
            </a:r>
          </a:p>
          <a:p>
            <a:pPr lvl="1"/>
            <a:r>
              <a:rPr lang="en-GB" dirty="0"/>
              <a:t>Linear filter</a:t>
            </a:r>
          </a:p>
          <a:p>
            <a:r>
              <a:rPr lang="en-GB" dirty="0"/>
              <a:t>Stationarity</a:t>
            </a:r>
          </a:p>
          <a:p>
            <a:r>
              <a:rPr lang="en-GB"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idx="1"/>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11"/>
          </p:nvPr>
        </p:nvSpPr>
        <p:spPr/>
        <p:txBody>
          <a:bodyPr/>
          <a:lstStyle/>
          <a:p>
            <a:r>
              <a:rPr lang="en-GB"/>
              <a:t>Seasonality and Trading days tests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3265714" y="4137047"/>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E0653D-53CC-4553-9F52-C8EAC4239A42}"/>
                  </a:ext>
                </a:extLst>
              </p:cNvPr>
              <p:cNvSpPr>
                <a:spLocks noGrp="1"/>
              </p:cNvSpPr>
              <p:nvPr>
                <p:ph idx="1"/>
              </p:nvPr>
            </p:nvSpPr>
            <p:spPr/>
            <p:txBody>
              <a:bodyPr/>
              <a:lstStyle/>
              <a:p>
                <a:r>
                  <a:rPr lang="en-GB" dirty="0"/>
                  <a:t>Auto-correlation function and auto-covariance function (ACF)</a:t>
                </a:r>
              </a:p>
              <a:p>
                <a:endParaRPr lang="en-GB" dirty="0"/>
              </a:p>
              <a:p>
                <a:pPr lvl="1"/>
                <a:r>
                  <a:rPr lang="en-GB" dirty="0"/>
                  <a:t>Measurement of “patterns” in time series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sz="1200" i="1">
                        <a:latin typeface="Cambria Math" panose="02040503050406030204" pitchFamily="18" charset="0"/>
                      </a:rPr>
                      <m:t>0</m:t>
                    </m:r>
                    <m:r>
                      <a:rPr lang="fr-BE" sz="1200" i="1">
                        <a:latin typeface="Cambria Math" panose="02040503050406030204" pitchFamily="18" charset="0"/>
                        <a:ea typeface="Cambria Math" panose="02040503050406030204" pitchFamily="18" charset="0"/>
                      </a:rPr>
                      <m:t>≤</m:t>
                    </m:r>
                    <m:r>
                      <a:rPr lang="fr-BE" sz="1200" i="1">
                        <a:latin typeface="Cambria Math" panose="02040503050406030204" pitchFamily="18" charset="0"/>
                        <a:ea typeface="Cambria Math" panose="02040503050406030204" pitchFamily="18" charset="0"/>
                      </a:rPr>
                      <m:t>𝑡</m:t>
                    </m:r>
                    <m:r>
                      <a:rPr lang="fr-BE" sz="1200" i="1">
                        <a:latin typeface="Cambria Math" panose="02040503050406030204" pitchFamily="18" charset="0"/>
                        <a:ea typeface="Cambria Math" panose="02040503050406030204" pitchFamily="18" charset="0"/>
                      </a:rPr>
                      <m:t>&lt;</m:t>
                    </m:r>
                    <m:r>
                      <a:rPr lang="fr-BE" sz="1200" i="1">
                        <a:latin typeface="Cambria Math" panose="02040503050406030204" pitchFamily="18" charset="0"/>
                        <a:ea typeface="Cambria Math" panose="02040503050406030204" pitchFamily="18" charset="0"/>
                      </a:rPr>
                      <m:t>𝑛</m:t>
                    </m:r>
                  </m:oMath>
                </a14:m>
                <a:r>
                  <a:rPr lang="en-GB" dirty="0"/>
                  <a:t>)</a:t>
                </a:r>
                <a:endParaRPr lang="en-GB" sz="1200" dirty="0"/>
              </a:p>
              <a:p>
                <a:endParaRPr lang="en-GB" dirty="0"/>
              </a:p>
              <a:p>
                <a:pPr lvl="1"/>
                <a14:m>
                  <m:oMath xmlns:m="http://schemas.openxmlformats.org/officeDocument/2006/math">
                    <m:r>
                      <a:rPr lang="fr-BE" b="0" i="1" smtClean="0">
                        <a:latin typeface="Cambria Math" panose="02040503050406030204" pitchFamily="18" charset="0"/>
                      </a:rPr>
                      <m:t>𝑎𝑐𝑓</m:t>
                    </m:r>
                    <m:d>
                      <m:dPr>
                        <m:ctrlPr>
                          <a:rPr lang="fr-BE" b="0" i="1" smtClean="0">
                            <a:latin typeface="Cambria Math" panose="02040503050406030204" pitchFamily="18" charset="0"/>
                          </a:rPr>
                        </m:ctrlPr>
                      </m:dPr>
                      <m:e>
                        <m:r>
                          <a:rPr lang="fr-BE" b="0" i="1" smtClean="0">
                            <a:latin typeface="Cambria Math" panose="02040503050406030204" pitchFamily="18" charset="0"/>
                          </a:rPr>
                          <m:t>𝑘</m:t>
                        </m:r>
                      </m:e>
                    </m:d>
                    <m:r>
                      <a:rPr lang="fr-BE" b="0" i="1" smtClean="0">
                        <a:latin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d>
                                  <m:dPr>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e>
                                </m:d>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r>
                  <a:rPr lang="en-GB" dirty="0"/>
                  <a:t> </a:t>
                </a:r>
              </a:p>
              <a:p>
                <a:pPr lvl="1"/>
                <a:endParaRPr lang="en-GB" dirty="0"/>
              </a:p>
              <a:p>
                <a:pPr lvl="1"/>
                <a:r>
                  <a:rPr lang="en-GB" dirty="0"/>
                  <a:t>If we assume that </a:t>
                </a:r>
                <a14:m>
                  <m:oMath xmlns:m="http://schemas.openxmlformats.org/officeDocument/2006/math">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=0</m:t>
                    </m:r>
                  </m:oMath>
                </a14:m>
                <a:r>
                  <a:rPr lang="en-GB" dirty="0"/>
                  <a:t>, </a:t>
                </a:r>
                <a14:m>
                  <m:oMath xmlns:m="http://schemas.openxmlformats.org/officeDocument/2006/math">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180A3-8F25-444E-96A2-248683A857A2}"/>
              </a:ext>
            </a:extLst>
          </p:cNvPr>
          <p:cNvSpPr>
            <a:spLocks noGrp="1"/>
          </p:cNvSpPr>
          <p:nvPr>
            <p:ph type="title"/>
          </p:nvPr>
        </p:nvSpPr>
        <p:spPr/>
        <p:txBody>
          <a:bodyPr/>
          <a:lstStyle/>
          <a:p>
            <a:r>
              <a:rPr lang="en-GB" dirty="0"/>
              <a:t>3. Basic tools (cont.)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5DEFE7-7E41-4E13-88FE-5BC2E427D451}"/>
                  </a:ext>
                </a:extLst>
              </p:cNvPr>
              <p:cNvSpPr>
                <a:spLocks noGrp="1"/>
              </p:cNvSpPr>
              <p:nvPr>
                <p:ph idx="1"/>
              </p:nvPr>
            </p:nvSpPr>
            <p:spPr/>
            <p:txBody>
              <a:bodyPr>
                <a:normAutofit fontScale="40000" lnSpcReduction="20000"/>
              </a:bodyPr>
              <a:lstStyle/>
              <a:p>
                <a:r>
                  <a:rPr lang="en-GB" dirty="0"/>
                  <a:t>Periodogram </a:t>
                </a:r>
                <a:r>
                  <a:rPr lang="en-GB" sz="1800" dirty="0">
                    <a:solidFill>
                      <a:srgbClr val="0070C0"/>
                    </a:solidFill>
                  </a:rPr>
                  <a:t>(see JD+_Seasonality_final_version.docx, pages 12-14)</a:t>
                </a:r>
                <a:r>
                  <a:rPr lang="en-GB" dirty="0"/>
                  <a:t>.</a:t>
                </a:r>
              </a:p>
              <a:p>
                <a:pPr lvl="1"/>
                <a:r>
                  <a:rPr lang="en-GB" dirty="0"/>
                  <a:t>Discrete Fourier’s transform of the series </a:t>
                </a:r>
                <a14:m>
                  <m:oMath xmlns:m="http://schemas.openxmlformats.org/officeDocument/2006/math">
                    <m:sSub>
                      <m:sSubPr>
                        <m:ctrlPr>
                          <a:rPr lang="en-GB" i="1">
                            <a:latin typeface="Cambria Math" panose="02040503050406030204" pitchFamily="18" charset="0"/>
                          </a:rPr>
                        </m:ctrlPr>
                      </m:sSub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𝑗</m:t>
                                </m:r>
                              </m:sub>
                            </m:sSub>
                          </m:e>
                        </m:d>
                      </m:e>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Sub>
                  </m:oMath>
                </a14:m>
                <a:endParaRPr lang="en-GB" dirty="0"/>
              </a:p>
              <a:p>
                <a:pPr lvl="2"/>
                <a:r>
                  <a:rPr lang="en-GB" dirty="0"/>
                  <a:t>Fourier frequencies: </a:t>
                </a:r>
                <a14:m>
                  <m:oMath xmlns:m="http://schemas.openxmlformats.org/officeDocument/2006/math">
                    <m:sSub>
                      <m:sSubPr>
                        <m:ctrlPr>
                          <a:rPr lang="en-GB" i="1" smtClean="0">
                            <a:latin typeface="Cambria Math" panose="02040503050406030204" pitchFamily="18" charset="0"/>
                            <a:ea typeface="Cambria Math" panose="02040503050406030204" pitchFamily="18" charset="0"/>
                          </a:rPr>
                        </m:ctrlPr>
                      </m:sSubPr>
                      <m:e>
                        <m:r>
                          <a:rPr lang="en-GB"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i="1">
                            <a:latin typeface="Cambria Math" panose="02040503050406030204" pitchFamily="18" charset="0"/>
                            <a:ea typeface="Cambria Math" panose="02040503050406030204" pitchFamily="18" charset="0"/>
                          </a:rPr>
                        </m:ctrlPr>
                      </m:fPr>
                      <m:num>
                        <m:r>
                          <a:rPr lang="fr-BE" i="1">
                            <a:latin typeface="Cambria Math" panose="02040503050406030204" pitchFamily="18" charset="0"/>
                            <a:ea typeface="Cambria Math" panose="02040503050406030204" pitchFamily="18" charset="0"/>
                          </a:rPr>
                          <m:t>2</m:t>
                        </m:r>
                        <m:r>
                          <a:rPr lang="fr-BE" i="1">
                            <a:latin typeface="Cambria Math" panose="02040503050406030204" pitchFamily="18" charset="0"/>
                            <a:ea typeface="Cambria Math" panose="02040503050406030204" pitchFamily="18" charset="0"/>
                          </a:rPr>
                          <m:t>𝜋</m:t>
                        </m:r>
                      </m:num>
                      <m:den>
                        <m:r>
                          <a:rPr lang="fr-BE" i="1">
                            <a:latin typeface="Cambria Math" panose="02040503050406030204" pitchFamily="18" charset="0"/>
                            <a:ea typeface="Cambria Math" panose="02040503050406030204" pitchFamily="18" charset="0"/>
                          </a:rPr>
                          <m:t>𝑛</m:t>
                        </m:r>
                      </m:den>
                    </m:f>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     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endParaRPr lang="en-GB" dirty="0"/>
              </a:p>
              <a:p>
                <a:pPr lvl="2"/>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r>
                      <a:rPr lang="fr-BE" b="0" i="1" smtClean="0">
                        <a:latin typeface="Cambria Math" panose="02040503050406030204" pitchFamily="18" charset="0"/>
                      </a:rPr>
                      <m:t>=</m:t>
                    </m:r>
                  </m:oMath>
                </a14:m>
                <a:r>
                  <a:rPr lang="fr-BE" dirty="0"/>
                  <a:t> </a:t>
                </a:r>
                <a14:m>
                  <m:oMath xmlns:m="http://schemas.openxmlformats.org/officeDocument/2006/math">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2</m:t>
                            </m:r>
                          </m:den>
                        </m:f>
                      </m:sup>
                    </m:sSup>
                    <m:r>
                      <a:rPr lang="fr-BE" b="0" i="0"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𝑗</m:t>
                            </m:r>
                          </m:sub>
                        </m:sSub>
                      </m:sup>
                    </m:sSup>
                    <m:r>
                      <a:rPr lang="fr-BE" b="0" i="1" smtClean="0">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2</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r>
                      <a:rPr lang="fr-BE" b="0" i="1" smtClean="0">
                        <a:latin typeface="Cambria Math" panose="02040503050406030204" pitchFamily="18" charset="0"/>
                      </a:rPr>
                      <m:t>,…</m:t>
                    </m:r>
                  </m:oMath>
                </a14:m>
                <a:r>
                  <a:rPr lang="fr-BE" dirty="0"/>
                  <a:t> </a:t>
                </a:r>
                <a14:m>
                  <m:oMath xmlns:m="http://schemas.openxmlformats.org/officeDocument/2006/math">
                    <m:r>
                      <a:rPr lang="fr-BE">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𝑛</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oMath>
                </a14:m>
                <a:r>
                  <a:rPr lang="en-GB" dirty="0"/>
                  <a:t>),    </a:t>
                </a: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𝑭</m:t>
                        </m:r>
                      </m:e>
                      <m:sub>
                        <m:r>
                          <a:rPr lang="fr-BE" b="1" i="1" smtClean="0">
                            <a:latin typeface="Cambria Math" panose="02040503050406030204" pitchFamily="18" charset="0"/>
                          </a:rPr>
                          <m:t>𝒏</m:t>
                        </m:r>
                      </m:sub>
                    </m:sSub>
                    <m:r>
                      <a:rPr lang="fr-BE" b="1" i="1" smtClean="0">
                        <a:latin typeface="Cambria Math" panose="02040503050406030204" pitchFamily="18" charset="0"/>
                      </a:rPr>
                      <m:t>=</m:t>
                    </m:r>
                    <m:d>
                      <m:dPr>
                        <m:begChr m:val="{"/>
                        <m:endChr m:val="}"/>
                        <m:ctrlPr>
                          <a:rPr lang="fr-BE" b="1" i="1">
                            <a:latin typeface="Cambria Math" panose="02040503050406030204" pitchFamily="18" charset="0"/>
                          </a:rPr>
                        </m:ctrlPr>
                      </m:dPr>
                      <m:e>
                        <m:sSub>
                          <m:sSubPr>
                            <m:ctrlPr>
                              <a:rPr lang="fr-BE" b="1" i="1">
                                <a:latin typeface="Cambria Math" panose="02040503050406030204" pitchFamily="18" charset="0"/>
                              </a:rPr>
                            </m:ctrlPr>
                          </m:sSubPr>
                          <m:e>
                            <m:r>
                              <a:rPr lang="fr-BE" b="1" i="1">
                                <a:latin typeface="Cambria Math" panose="02040503050406030204" pitchFamily="18" charset="0"/>
                              </a:rPr>
                              <m:t>𝒆</m:t>
                            </m:r>
                          </m:e>
                          <m:sub>
                            <m:r>
                              <a:rPr lang="fr-BE" b="1" i="1">
                                <a:latin typeface="Cambria Math" panose="02040503050406030204" pitchFamily="18" charset="0"/>
                              </a:rPr>
                              <m:t>𝒋</m:t>
                            </m:r>
                          </m:sub>
                        </m:sSub>
                      </m:e>
                    </m:d>
                  </m:oMath>
                </a14:m>
                <a:r>
                  <a:rPr lang="en-GB" dirty="0"/>
                  <a:t> orthonormal basis of </a:t>
                </a:r>
                <a14:m>
                  <m:oMath xmlns:m="http://schemas.openxmlformats.org/officeDocument/2006/math">
                    <m:sSup>
                      <m:sSupPr>
                        <m:ctrlPr>
                          <a:rPr lang="en-GB" i="1" smtClean="0">
                            <a:latin typeface="Cambria Math" panose="02040503050406030204" pitchFamily="18" charset="0"/>
                            <a:ea typeface="Cambria Math" panose="02040503050406030204" pitchFamily="18" charset="0"/>
                          </a:rPr>
                        </m:ctrlPr>
                      </m:sSupPr>
                      <m:e>
                        <m:r>
                          <a:rPr lang="en-GB" i="1" smtClean="0">
                            <a:latin typeface="Cambria Math" panose="02040503050406030204" pitchFamily="18" charset="0"/>
                            <a:ea typeface="Cambria Math" panose="02040503050406030204" pitchFamily="18" charset="0"/>
                          </a:rPr>
                          <m:t>ℂ</m:t>
                        </m:r>
                      </m:e>
                      <m:sup>
                        <m:r>
                          <a:rPr lang="fr-BE" b="0" i="1" smtClean="0">
                            <a:latin typeface="Cambria Math" panose="02040503050406030204" pitchFamily="18" charset="0"/>
                          </a:rPr>
                          <m:t>𝑛</m:t>
                        </m:r>
                      </m:sup>
                    </m:sSup>
                  </m:oMath>
                </a14:m>
                <a:r>
                  <a:rPr lang="en-GB" dirty="0"/>
                  <a:t> 	</a:t>
                </a:r>
                <a14:m>
                  <m:oMath xmlns:m="http://schemas.openxmlformats.org/officeDocument/2006/math">
                    <m:sSup>
                      <m:sSupPr>
                        <m:ctrlPr>
                          <a:rPr lang="fr-BE" sz="1500" b="0" i="1" smtClean="0">
                            <a:latin typeface="Cambria Math" panose="02040503050406030204" pitchFamily="18" charset="0"/>
                          </a:rPr>
                        </m:ctrlPr>
                      </m:sSupPr>
                      <m:e>
                        <m:r>
                          <a:rPr lang="fr-BE" sz="1500" b="0" i="1" smtClean="0">
                            <a:latin typeface="Cambria Math" panose="02040503050406030204" pitchFamily="18" charset="0"/>
                          </a:rPr>
                          <m:t>(</m:t>
                        </m:r>
                        <m:r>
                          <a:rPr lang="fr-BE" sz="1500" b="0" i="1" smtClean="0">
                            <a:latin typeface="Cambria Math" panose="02040503050406030204" pitchFamily="18" charset="0"/>
                          </a:rPr>
                          <m:t>𝑒</m:t>
                        </m:r>
                      </m:e>
                      <m:sup>
                        <m:r>
                          <a:rPr lang="fr-BE" sz="1500" b="0" i="1" smtClean="0">
                            <a:latin typeface="Cambria Math" panose="02040503050406030204" pitchFamily="18" charset="0"/>
                          </a:rPr>
                          <m:t>𝑖</m:t>
                        </m:r>
                        <m:r>
                          <a:rPr lang="fr-BE" sz="1500" i="1">
                            <a:latin typeface="Cambria Math" panose="02040503050406030204" pitchFamily="18" charset="0"/>
                            <a:ea typeface="Cambria Math" panose="02040503050406030204" pitchFamily="18" charset="0"/>
                          </a:rPr>
                          <m:t>𝜔</m:t>
                        </m:r>
                      </m:sup>
                    </m:sSup>
                    <m:r>
                      <a:rPr lang="fr-BE" sz="1500" b="0" i="1" smtClean="0">
                        <a:latin typeface="Cambria Math" panose="02040503050406030204" pitchFamily="18" charset="0"/>
                      </a:rPr>
                      <m:t>=</m:t>
                    </m:r>
                    <m:r>
                      <a:rPr lang="fr-BE" sz="1500" b="0" i="1" smtClean="0">
                        <a:latin typeface="Cambria Math" panose="02040503050406030204" pitchFamily="18" charset="0"/>
                      </a:rPr>
                      <m:t>𝑐𝑜𝑠</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r>
                      <a:rPr lang="fr-BE" sz="1500" b="0" i="1" smtClean="0">
                        <a:latin typeface="Cambria Math" panose="02040503050406030204" pitchFamily="18" charset="0"/>
                        <a:ea typeface="Cambria Math" panose="02040503050406030204" pitchFamily="18" charset="0"/>
                      </a:rPr>
                      <m:t>𝑖𝑠𝑖𝑛</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oMath>
                </a14:m>
                <a:endParaRPr lang="en-GB" dirty="0"/>
              </a:p>
              <a:p>
                <a:pPr lvl="2"/>
                <a14:m>
                  <m:oMath xmlns:m="http://schemas.openxmlformats.org/officeDocument/2006/math">
                    <m:r>
                      <a:rPr lang="fr-BE" i="1" smtClean="0">
                        <a:latin typeface="Cambria Math" panose="02040503050406030204" pitchFamily="18" charset="0"/>
                      </a:rPr>
                      <m:t>𝑥</m:t>
                    </m:r>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e>
                    </m:nary>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b="0" i="1" smtClean="0">
                            <a:latin typeface="Cambria Math" panose="02040503050406030204" pitchFamily="18" charset="0"/>
                            <a:ea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𝒖</m:t>
                            </m:r>
                          </m:e>
                          <m:sub>
                            <m:r>
                              <a:rPr lang="fr-BE" b="0" i="1" smtClean="0">
                                <a:latin typeface="Cambria Math" panose="02040503050406030204" pitchFamily="18" charset="0"/>
                              </a:rPr>
                              <m:t>𝑘</m:t>
                            </m:r>
                          </m:sub>
                        </m:sSub>
                      </m:e>
                    </m:nary>
                  </m:oMath>
                </a14:m>
                <a:r>
                  <a:rPr lang="en-GB" dirty="0"/>
                  <a:t>, </a:t>
                </a:r>
                <a14:m>
                  <m:oMath xmlns:m="http://schemas.openxmlformats.org/officeDocument/2006/math">
                    <m:sSub>
                      <m:sSubPr>
                        <m:ctrlPr>
                          <a:rPr lang="fr-BE" b="1" i="1">
                            <a:latin typeface="Cambria Math" panose="02040503050406030204" pitchFamily="18" charset="0"/>
                          </a:rPr>
                        </m:ctrlPr>
                      </m:sSubPr>
                      <m:e>
                        <m:r>
                          <a:rPr lang="fr-BE" b="1" i="1">
                            <a:latin typeface="Cambria Math" panose="02040503050406030204" pitchFamily="18" charset="0"/>
                          </a:rPr>
                          <m:t>𝒖</m:t>
                        </m:r>
                      </m:e>
                      <m:sub>
                        <m:r>
                          <a:rPr lang="fr-BE" i="1">
                            <a:latin typeface="Cambria Math" panose="02040503050406030204" pitchFamily="18" charset="0"/>
                          </a:rPr>
                          <m:t>𝑘</m:t>
                        </m:r>
                      </m:sub>
                    </m:sSub>
                    <m:r>
                      <a:rPr lang="fr-BE" b="0" i="1" smtClean="0">
                        <a:latin typeface="Cambria Math" panose="02040503050406030204" pitchFamily="18" charset="0"/>
                      </a:rPr>
                      <m:t>=</m:t>
                    </m:r>
                    <m:r>
                      <a:rPr lang="fr-BE">
                        <a:latin typeface="Cambria Math" panose="02040503050406030204" pitchFamily="18" charset="0"/>
                      </a:rPr>
                      <m:t>(</m:t>
                    </m:r>
                    <m:r>
                      <a:rPr lang="fr-BE" b="0" i="0" smtClean="0">
                        <a:latin typeface="Cambria Math" panose="02040503050406030204" pitchFamily="18" charset="0"/>
                      </a:rPr>
                      <m:t>0,…, 0, </m:t>
                    </m:r>
                    <m:sSub>
                      <m:sSubPr>
                        <m:ctrlPr>
                          <a:rPr lang="fr-BE" b="0" i="1" smtClean="0">
                            <a:latin typeface="Cambria Math" panose="02040503050406030204" pitchFamily="18" charset="0"/>
                          </a:rPr>
                        </m:ctrlPr>
                      </m:sSubPr>
                      <m:e>
                        <m:r>
                          <a:rPr lang="fr-BE" b="0" i="1" smtClean="0">
                            <a:latin typeface="Cambria Math" panose="02040503050406030204" pitchFamily="18" charset="0"/>
                          </a:rPr>
                          <m:t>1</m:t>
                        </m:r>
                      </m:e>
                      <m:sub>
                        <m:r>
                          <a:rPr lang="fr-BE" b="0" i="1" smtClean="0">
                            <a:latin typeface="Cambria Math" panose="02040503050406030204" pitchFamily="18" charset="0"/>
                          </a:rPr>
                          <m:t>𝑘</m:t>
                        </m:r>
                      </m:sub>
                    </m:sSub>
                    <m:r>
                      <a:rPr lang="fr-BE" b="0" i="1" smtClean="0">
                        <a:latin typeface="Cambria Math" panose="02040503050406030204" pitchFamily="18" charset="0"/>
                      </a:rPr>
                      <m:t>, 0, …,0)</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𝑘</m:t>
                        </m:r>
                        <m:r>
                          <a:rPr lang="fr-BE" b="0" i="1" smtClean="0">
                            <a:latin typeface="Cambria Math" panose="02040503050406030204" pitchFamily="18" charset="0"/>
                          </a:rPr>
                          <m:t>=0</m:t>
                        </m:r>
                      </m:sub>
                      <m:sup>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rPr>
                      <m:t>     [</m:t>
                    </m:r>
                    <m:r>
                      <a:rPr lang="fr-BE" b="0" i="1" smtClean="0">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r>
                      <a:rPr lang="fr-BE" i="1">
                        <a:latin typeface="Cambria Math" panose="02040503050406030204" pitchFamily="18" charset="0"/>
                      </a:rPr>
                      <m:t>=</m:t>
                    </m:r>
                    <m:nary>
                      <m:naryPr>
                        <m:chr m:val="∑"/>
                        <m:ctrlPr>
                          <a:rPr lang="fr-BE" i="1">
                            <a:latin typeface="Cambria Math" panose="02040503050406030204" pitchFamily="18" charset="0"/>
                          </a:rPr>
                        </m:ctrlPr>
                      </m:naryPr>
                      <m:sub>
                        <m:r>
                          <a:rPr lang="fr-BE" i="1">
                            <a:latin typeface="Cambria Math" panose="02040503050406030204" pitchFamily="18" charset="0"/>
                          </a:rPr>
                          <m:t>𝑘</m:t>
                        </m:r>
                        <m:r>
                          <a:rPr lang="fr-BE" i="1">
                            <a:latin typeface="Cambria Math" panose="02040503050406030204" pitchFamily="18" charset="0"/>
                          </a:rPr>
                          <m:t>=0</m:t>
                        </m:r>
                      </m:sub>
                      <m:sup>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m:t>
                            </m:r>
                            <m:r>
                              <a:rPr lang="fr-BE" i="1">
                                <a:latin typeface="Cambria Math" panose="02040503050406030204" pitchFamily="18" charset="0"/>
                              </a:rPr>
                              <m:t>𝑖</m:t>
                            </m:r>
                            <m:sSub>
                              <m:sSubPr>
                                <m:ctrlPr>
                                  <a:rPr lang="fr-BE" i="1">
                                    <a:latin typeface="Cambria Math" panose="02040503050406030204" pitchFamily="18" charset="0"/>
                                  </a:rPr>
                                </m:ctrlPr>
                              </m:sSubPr>
                              <m:e>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ea typeface="Cambria Math" panose="02040503050406030204" pitchFamily="18" charset="0"/>
                      </a:rPr>
                      <m:t>]</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𝑗</m:t>
                        </m:r>
                        <m:r>
                          <a:rPr lang="fr-BE" b="0" i="1" smtClean="0">
                            <a:latin typeface="Cambria Math" panose="02040503050406030204" pitchFamily="18" charset="0"/>
                          </a:rPr>
                          <m:t>=0</m:t>
                        </m:r>
                      </m:sub>
                      <m:sup>
                        <m:r>
                          <a:rPr lang="fr-BE" b="0" i="1" smtClean="0">
                            <a:latin typeface="Cambria Math" panose="02040503050406030204" pitchFamily="18" charset="0"/>
                          </a:rPr>
                          <m:t>𝑗</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𝑖𝑗</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p>
                        </m:sSup>
                      </m:e>
                    </m:nary>
                    <m:r>
                      <a:rPr lang="fr-BE" b="0" i="1" smtClean="0">
                        <a:latin typeface="Cambria Math" panose="02040503050406030204" pitchFamily="18" charset="0"/>
                      </a:rPr>
                      <m:t>        [</m:t>
                    </m:r>
                    <m:r>
                      <a:rPr lang="fr-BE" i="1">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r>
                      <a:rPr lang="fr-BE" i="1">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r>
                          <a:rPr lang="fr-BE" b="0" i="1" smtClean="0">
                            <a:latin typeface="Cambria Math" panose="02040503050406030204" pitchFamily="18" charset="0"/>
                          </a:rPr>
                          <m:t>1</m:t>
                        </m:r>
                      </m:sup>
                    </m:sSup>
                    <m:nary>
                      <m:naryPr>
                        <m:chr m:val="∑"/>
                        <m:ctrlPr>
                          <a:rPr lang="fr-BE" i="1">
                            <a:latin typeface="Cambria Math" panose="02040503050406030204" pitchFamily="18" charset="0"/>
                          </a:rPr>
                        </m:ctrlPr>
                      </m:naryPr>
                      <m:sub>
                        <m:r>
                          <m:rPr>
                            <m:brk m:alnAt="23"/>
                          </m:rPr>
                          <a:rPr lang="fr-BE" i="1">
                            <a:latin typeface="Cambria Math" panose="02040503050406030204" pitchFamily="18" charset="0"/>
                          </a:rPr>
                          <m:t>𝑗</m:t>
                        </m:r>
                        <m:r>
                          <a:rPr lang="fr-BE" i="1">
                            <a:latin typeface="Cambria Math" panose="02040503050406030204" pitchFamily="18" charset="0"/>
                          </a:rPr>
                          <m:t>=0</m:t>
                        </m:r>
                      </m:sub>
                      <m:sup>
                        <m:r>
                          <a:rPr lang="fr-BE" i="1">
                            <a:latin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𝑖𝑗</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rPr>
                                  <m:t>𝑘</m:t>
                                </m:r>
                              </m:sub>
                            </m:sSub>
                          </m:sup>
                        </m:sSup>
                      </m:e>
                    </m:nary>
                    <m:r>
                      <a:rPr lang="fr-BE" b="0" i="1" smtClean="0">
                        <a:latin typeface="Cambria Math" panose="02040503050406030204" pitchFamily="18" charset="0"/>
                      </a:rPr>
                      <m:t>]</m:t>
                    </m:r>
                  </m:oMath>
                </a14:m>
                <a:endParaRPr lang="en-GB" dirty="0"/>
              </a:p>
              <a:p>
                <a:pPr lvl="2"/>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𝑝</m:t>
                        </m:r>
                      </m:e>
                      <m: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b>
                    </m:sSub>
                    <m:r>
                      <a:rPr lang="fr-BE" b="0" i="1" smtClean="0">
                        <a:latin typeface="Cambria Math" panose="02040503050406030204" pitchFamily="18" charset="0"/>
                      </a:rPr>
                      <m:t>=</m:t>
                    </m:r>
                    <m:sSup>
                      <m:sSupPr>
                        <m:ctrlPr>
                          <a:rPr lang="en-GB" i="1" smtClean="0">
                            <a:latin typeface="Cambria Math" panose="02040503050406030204" pitchFamily="18" charset="0"/>
                          </a:rPr>
                        </m:ctrlPr>
                      </m:sSup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𝑘</m:t>
                                </m:r>
                              </m:sub>
                            </m:sSub>
                          </m:e>
                        </m:d>
                      </m:e>
                      <m:sup>
                        <m:r>
                          <a:rPr lang="fr-BE" b="0" i="1" smtClean="0">
                            <a:latin typeface="Cambria Math" panose="02040503050406030204" pitchFamily="18" charset="0"/>
                            <a:ea typeface="Cambria Math" panose="02040503050406030204" pitchFamily="18" charset="0"/>
                          </a:rPr>
                          <m:t>2</m:t>
                        </m:r>
                      </m:sup>
                    </m:sSup>
                  </m:oMath>
                </a14:m>
                <a:endParaRPr lang="en-GB" sz="1800" dirty="0"/>
              </a:p>
              <a:p>
                <a:pPr lvl="2"/>
                <a:endParaRPr lang="en-GB" sz="1800"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mc:Choice>
        <mc:Fallback xmlns="">
          <p:sp>
            <p:nvSpPr>
              <p:cNvPr id="3" name="Content Placeholder 2">
                <a:extLst>
                  <a:ext uri="{FF2B5EF4-FFF2-40B4-BE49-F238E27FC236}">
                    <a16:creationId xmlns:a16="http://schemas.microsoft.com/office/drawing/2014/main" id="{0D5DEFE7-7E41-4E13-88FE-5BC2E427D451}"/>
                  </a:ext>
                </a:extLst>
              </p:cNvPr>
              <p:cNvSpPr>
                <a:spLocks noGrp="1" noRot="1" noChangeAspect="1" noMove="1" noResize="1" noEditPoints="1" noAdjustHandles="1" noChangeArrowheads="1" noChangeShapeType="1" noTextEdit="1"/>
              </p:cNvSpPr>
              <p:nvPr>
                <p:ph idx="1"/>
              </p:nvPr>
            </p:nvSpPr>
            <p:spPr>
              <a:blipFill>
                <a:blip r:embed="rId2"/>
                <a:stretch>
                  <a:fillRect l="-58" t="-5808"/>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998987FF-C064-426B-A5C1-86A84C84F71E}"/>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3395920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667EEF-9B78-4236-CBAA-311B2EFEC40A}"/>
              </a:ext>
            </a:extLst>
          </p:cNvPr>
          <p:cNvSpPr>
            <a:spLocks noGrp="1"/>
          </p:cNvSpPr>
          <p:nvPr>
            <p:ph type="title"/>
          </p:nvPr>
        </p:nvSpPr>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FA2D216B-525D-E32A-3860-2CFBF8223E67}"/>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𝑖</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𝑖</m:t>
                            </m:r>
                          </m:sub>
                        </m:sSub>
                      </m:e>
                    </m:nary>
                  </m:oMath>
                </a14:m>
                <a:r>
                  <a:rPr lang="en-GB" dirty="0"/>
                  <a:t>, </a:t>
                </a:r>
                <a14:m>
                  <m:oMath xmlns:m="http://schemas.openxmlformats.org/officeDocument/2006/math">
                    <m:d>
                      <m:dPr>
                        <m:begChr m:val="{"/>
                        <m:endChr m:val="}"/>
                        <m:ctrlPr>
                          <a:rPr lang="fr-BE" i="1" smtClean="0">
                            <a:latin typeface="Cambria Math" panose="02040503050406030204" pitchFamily="18" charset="0"/>
                            <a:ea typeface="Cambria Math" panose="02040503050406030204" pitchFamily="18" charset="0"/>
                          </a:rPr>
                        </m:ctrlPr>
                      </m:dPr>
                      <m:e>
                        <m:sSub>
                          <m:sSubPr>
                            <m:ctrlPr>
                              <a:rPr lang="fr-BE" i="1" smtClean="0">
                                <a:latin typeface="Cambria Math" panose="02040503050406030204" pitchFamily="18" charset="0"/>
                                <a:ea typeface="Cambria Math" panose="02040503050406030204" pitchFamily="18" charset="0"/>
                              </a:rPr>
                            </m:ctrlPr>
                          </m:sSubPr>
                          <m:e>
                            <m:r>
                              <a:rPr lang="fr-BE"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e>
                    </m:d>
                    <m:r>
                      <a:rPr lang="fr-BE" b="1" i="1" smtClean="0">
                        <a:latin typeface="Cambria Math" panose="02040503050406030204" pitchFamily="18" charset="0"/>
                        <a:ea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𝑙𝑖𝑛𝑒𝑎𝑟</m:t>
                    </m:r>
                    <m:r>
                      <a:rPr lang="fr-BE" b="0" i="1" smtClean="0">
                        <a:latin typeface="Cambria Math" panose="02040503050406030204" pitchFamily="18" charset="0"/>
                        <a:ea typeface="Cambria Math" panose="02040503050406030204" pitchFamily="18" charset="0"/>
                      </a:rPr>
                      <m:t> </m:t>
                    </m:r>
                    <m:r>
                      <a:rPr lang="fr-BE" b="0" i="1" smtClean="0">
                        <a:latin typeface="Cambria Math" panose="02040503050406030204" pitchFamily="18" charset="0"/>
                        <a:ea typeface="Cambria Math" panose="02040503050406030204" pitchFamily="18" charset="0"/>
                      </a:rPr>
                      <m:t>𝑓𝑖𝑙𝑡𝑒𝑟</m:t>
                    </m:r>
                  </m:oMath>
                </a14:m>
                <a:endParaRPr lang="en-GB" dirty="0"/>
              </a:p>
              <a:p>
                <a:endParaRPr lang="en-GB" dirty="0"/>
              </a:p>
              <a:p>
                <a:r>
                  <a:rPr lang="en-GB" dirty="0"/>
                  <a:t>Backward, forward operators: </a:t>
                </a:r>
                <a14:m>
                  <m:oMath xmlns:m="http://schemas.openxmlformats.org/officeDocument/2006/math">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𝑘</m:t>
                        </m:r>
                      </m:sup>
                    </m:sSup>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𝐹</m:t>
                        </m:r>
                      </m:e>
                      <m:sup>
                        <m:r>
                          <a:rPr lang="fr-BE" i="1">
                            <a:latin typeface="Cambria Math" panose="02040503050406030204" pitchFamily="18" charset="0"/>
                          </a:rPr>
                          <m:t>𝑘</m:t>
                        </m:r>
                      </m:sup>
                    </m:sSup>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m:t>
                        </m:r>
                        <m:r>
                          <a:rPr lang="fr-BE" i="1">
                            <a:latin typeface="Cambria Math" panose="02040503050406030204" pitchFamily="18" charset="0"/>
                          </a:rPr>
                          <m:t>𝑘</m:t>
                        </m:r>
                      </m:sub>
                    </m:sSub>
                  </m:oMath>
                </a14:m>
                <a:endParaRPr lang="en-GB" dirty="0"/>
              </a:p>
              <a:p>
                <a:endParaRPr lang="en-GB" i="1" dirty="0">
                  <a:latin typeface="Cambria Math" panose="02040503050406030204" pitchFamily="18" charset="0"/>
                </a:endParaRP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a:p>
                <a:pPr lvl="1"/>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−0.9</m:t>
                    </m:r>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r>
                          <a:rPr lang="fr-BE" b="0" i="1" smtClean="0">
                            <a:latin typeface="Cambria Math" panose="02040503050406030204" pitchFamily="18" charset="0"/>
                          </a:rPr>
                          <m:t>−1</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or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r>
                      <a:rPr lang="fr-BE" i="1">
                        <a:latin typeface="Cambria Math" panose="02040503050406030204" pitchFamily="18" charset="0"/>
                      </a:rPr>
                      <m:t>0.9</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−1</m:t>
                        </m:r>
                      </m:sub>
                    </m:sSub>
                    <m:r>
                      <a:rPr lang="fr-BE" b="0" i="1" smtClean="0">
                        <a:latin typeface="Cambria Math" panose="02040503050406030204" pitchFamily="18" charset="0"/>
                      </a:rPr>
                      <m:t>+</m:t>
                    </m:r>
                    <m:r>
                      <a:rPr lang="fr-BE" i="1">
                        <a:latin typeface="Cambria Math" panose="02040503050406030204" pitchFamily="18" charset="0"/>
                      </a:rPr>
                      <m:t>0.</m:t>
                    </m:r>
                    <m:r>
                      <a:rPr lang="fr-BE" b="0" i="1" smtClean="0">
                        <a:latin typeface="Cambria Math" panose="02040503050406030204" pitchFamily="18" charset="0"/>
                      </a:rPr>
                      <m:t>81</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−2</m:t>
                        </m:r>
                      </m:sub>
                    </m:sSub>
                    <m:r>
                      <a:rPr lang="fr-BE" i="1">
                        <a:latin typeface="Cambria Math" panose="02040503050406030204" pitchFamily="18" charset="0"/>
                      </a:rPr>
                      <m:t>+</m:t>
                    </m:r>
                  </m:oMath>
                </a14:m>
                <a:r>
                  <a:rPr lang="en-GB" dirty="0"/>
                  <a:t>…</a:t>
                </a: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p:txBody>
          </p:sp>
        </mc:Choice>
        <mc:Fallback xmlns="">
          <p:sp>
            <p:nvSpPr>
              <p:cNvPr id="3" name="Espace réservé du contenu 2">
                <a:extLst>
                  <a:ext uri="{FF2B5EF4-FFF2-40B4-BE49-F238E27FC236}">
                    <a16:creationId xmlns:a16="http://schemas.microsoft.com/office/drawing/2014/main" id="{FA2D216B-525D-E32A-3860-2CFBF8223E67}"/>
                  </a:ext>
                </a:extLst>
              </p:cNvPr>
              <p:cNvSpPr>
                <a:spLocks noGrp="1" noRot="1" noChangeAspect="1" noMove="1" noResize="1" noEditPoints="1" noAdjustHandles="1" noChangeArrowheads="1" noChangeShapeType="1" noTextEdit="1"/>
              </p:cNvSpPr>
              <p:nvPr>
                <p:ph idx="1"/>
              </p:nvPr>
            </p:nvSpPr>
            <p:spPr>
              <a:blipFill>
                <a:blip r:embed="rId2"/>
                <a:stretch>
                  <a:fillRect l="-1043" t="-2101" b="-17507"/>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39AB89E1-294E-F751-DE65-117B9FF28C78}"/>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4109074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idx="1"/>
              </p:nvPr>
            </p:nvSpPr>
            <p:spPr/>
            <p:txBody>
              <a:bodyPr/>
              <a:lstStyle/>
              <a:p>
                <a:r>
                  <a:rPr lang="en-GB" dirty="0"/>
                  <a:t>Filter: </a:t>
                </a:r>
                <a:endParaRPr lang="fr-BE" i="1" dirty="0">
                  <a:latin typeface="Cambria Math" panose="02040503050406030204" pitchFamily="18" charset="0"/>
                </a:endParaRPr>
              </a:p>
              <a:p>
                <a:pPr marL="0"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𝑗</m:t>
                              </m:r>
                            </m:sub>
                          </m:sSub>
                        </m:e>
                      </m:nary>
                    </m:oMath>
                  </m:oMathPara>
                </a14:m>
                <a:endParaRPr lang="fr-BE" dirty="0"/>
              </a:p>
              <a:p>
                <a:r>
                  <a:rPr lang="fr-BE" dirty="0"/>
                  <a:t>Frequency </a:t>
                </a:r>
                <a:r>
                  <a:rPr lang="fr-BE" dirty="0" err="1"/>
                  <a:t>response</a:t>
                </a:r>
                <a:r>
                  <a:rPr lang="fr-BE" dirty="0"/>
                  <a:t>:</a:t>
                </a:r>
              </a:p>
              <a:p>
                <a:pPr marL="0" indent="0">
                  <a:buNone/>
                </a:pPr>
                <a14:m>
                  <m:oMathPara xmlns:m="http://schemas.openxmlformats.org/officeDocument/2006/math">
                    <m:oMath>
                      <m:r>
                        <a:rPr lang="fr-BE" i="1" smtClean="0">
                          <a:latin typeface="Cambria Math" panose="02040503050406030204" pitchFamily="18" charset="0"/>
                        </a:rPr>
                        <m:t>𝐹</m:t>
                      </m:r>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r>
                                <a:rPr lang="fr-BE" i="1">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𝑗</m:t>
                              </m:r>
                            </m:sup>
                          </m:sSup>
                        </m:e>
                      </m:nary>
                    </m:oMath>
                  </m:oMathPara>
                </a14:m>
                <a:endParaRPr lang="fr-BE" dirty="0"/>
              </a:p>
              <a:p>
                <a:r>
                  <a:rPr lang="fr-BE" dirty="0"/>
                  <a:t>Gain, phase</a:t>
                </a:r>
              </a:p>
              <a:p>
                <a:pPr marL="457200" lvl="1" indent="0" algn="ctr">
                  <a:buNone/>
                </a:pPr>
                <a:r>
                  <a:rPr lang="en-GB" dirty="0"/>
                  <a:t>|</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𝐹</m:t>
                        </m:r>
                      </m:e>
                      <m:sub>
                        <m:r>
                          <a:rPr lang="fr-BE" b="0" i="1" smtClean="0">
                            <a:latin typeface="Cambria Math" panose="02040503050406030204" pitchFamily="18" charset="0"/>
                          </a:rPr>
                          <m:t>𝑡</m:t>
                        </m:r>
                      </m:sub>
                    </m:sSub>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𝜔</m:t>
                        </m:r>
                      </m:e>
                    </m:d>
                    <m:r>
                      <a:rPr lang="fr-BE" b="0" i="1" smtClean="0">
                        <a:latin typeface="Cambria Math" panose="02040503050406030204" pitchFamily="18" charset="0"/>
                        <a:ea typeface="Cambria Math" panose="02040503050406030204" pitchFamily="18" charset="0"/>
                      </a:rPr>
                      <m:t>|, </m:t>
                    </m:r>
                    <m:r>
                      <m:rPr>
                        <m:sty m:val="p"/>
                      </m:rPr>
                      <a:rPr lang="fr-BE" b="0" i="0" smtClean="0">
                        <a:latin typeface="Cambria Math" panose="02040503050406030204" pitchFamily="18" charset="0"/>
                        <a:ea typeface="Cambria Math" panose="02040503050406030204" pitchFamily="18" charset="0"/>
                      </a:rPr>
                      <m:t>arg</m:t>
                    </m:r>
                    <m:r>
                      <a:rPr lang="fr-BE" b="0" i="1" smtClean="0">
                        <a:latin typeface="Cambria Math" panose="02040503050406030204" pitchFamily="18" charset="0"/>
                        <a:ea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𝐹</m:t>
                        </m:r>
                      </m:e>
                      <m:sub>
                        <m:r>
                          <a:rPr lang="fr-BE" i="1">
                            <a:latin typeface="Cambria Math" panose="02040503050406030204" pitchFamily="18" charset="0"/>
                          </a:rPr>
                          <m:t>𝑡</m:t>
                        </m:r>
                      </m:sub>
                    </m:sSub>
                    <m:d>
                      <m:dPr>
                        <m:ctrlPr>
                          <a:rPr lang="fr-BE" i="1">
                            <a:latin typeface="Cambria Math" panose="02040503050406030204" pitchFamily="18" charset="0"/>
                            <a:ea typeface="Cambria Math" panose="02040503050406030204" pitchFamily="18" charset="0"/>
                          </a:rPr>
                        </m:ctrlPr>
                      </m:dPr>
                      <m:e>
                        <m:r>
                          <a:rPr lang="fr-BE" i="1">
                            <a:latin typeface="Cambria Math" panose="02040503050406030204" pitchFamily="18" charset="0"/>
                            <a:ea typeface="Cambria Math" panose="02040503050406030204" pitchFamily="18" charset="0"/>
                          </a:rPr>
                          <m:t>𝜔</m:t>
                        </m:r>
                      </m:e>
                    </m:d>
                  </m:oMath>
                </a14:m>
                <a:endParaRPr lang="fr-BE" dirty="0"/>
              </a:p>
              <a:p>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11"/>
          </p:nvPr>
        </p:nvSpPr>
        <p:spPr/>
        <p:txBody>
          <a:bodyPr/>
          <a:lstStyle/>
          <a:p>
            <a:r>
              <a:rPr lang="en-GB"/>
              <a:t>Seasonality and Trading days tests</a:t>
            </a:r>
          </a:p>
        </p:txBody>
      </p:sp>
      <p:pic>
        <p:nvPicPr>
          <p:cNvPr id="9" name="Image 8">
            <a:extLst>
              <a:ext uri="{FF2B5EF4-FFF2-40B4-BE49-F238E27FC236}">
                <a16:creationId xmlns:a16="http://schemas.microsoft.com/office/drawing/2014/main" id="{DA1A3F1D-DADC-FD35-107E-10023DF6DAB3}"/>
              </a:ext>
            </a:extLst>
          </p:cNvPr>
          <p:cNvPicPr>
            <a:picLocks noChangeAspect="1"/>
          </p:cNvPicPr>
          <p:nvPr/>
        </p:nvPicPr>
        <p:blipFill>
          <a:blip r:embed="rId3"/>
          <a:stretch>
            <a:fillRect/>
          </a:stretch>
        </p:blipFill>
        <p:spPr>
          <a:xfrm>
            <a:off x="4144618" y="2486400"/>
            <a:ext cx="5143164" cy="3331090"/>
          </a:xfrm>
          <a:prstGeom prst="rect">
            <a:avLst/>
          </a:prstGeom>
        </p:spPr>
      </p:pic>
      <p:pic>
        <p:nvPicPr>
          <p:cNvPr id="11" name="Image 10">
            <a:extLst>
              <a:ext uri="{FF2B5EF4-FFF2-40B4-BE49-F238E27FC236}">
                <a16:creationId xmlns:a16="http://schemas.microsoft.com/office/drawing/2014/main" id="{8BBEF42A-C277-6C82-68FF-C6939ED6B98A}"/>
              </a:ext>
            </a:extLst>
          </p:cNvPr>
          <p:cNvPicPr>
            <a:picLocks noChangeAspect="1"/>
          </p:cNvPicPr>
          <p:nvPr/>
        </p:nvPicPr>
        <p:blipFill>
          <a:blip r:embed="rId4"/>
          <a:stretch>
            <a:fillRect/>
          </a:stretch>
        </p:blipFill>
        <p:spPr>
          <a:xfrm>
            <a:off x="247647" y="2797811"/>
            <a:ext cx="3790953" cy="2312564"/>
          </a:xfrm>
          <a:prstGeom prst="rect">
            <a:avLst/>
          </a:prstGeom>
        </p:spPr>
      </p:pic>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7AC310-7850-454C-AB59-FADCC6FD55FC}"/>
                  </a:ext>
                </a:extLst>
              </p:cNvPr>
              <p:cNvSpPr>
                <a:spLocks noGrp="1"/>
              </p:cNvSpPr>
              <p:nvPr>
                <p:ph idx="1"/>
              </p:nvPr>
            </p:nvSpPr>
            <p:spPr/>
            <p:txBody>
              <a:bodyPr>
                <a:normAutofit fontScale="92500" lnSpcReduction="20000"/>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xmlns="">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idx="1"/>
              </p:nvPr>
            </p:nvSpPr>
            <p:spPr>
              <a:blipFill>
                <a:blip r:embed="rId2"/>
                <a:stretch>
                  <a:fillRect l="-58" t="-2983" b="-31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Stationary series</a:t>
            </a:r>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idx="1"/>
          </p:nvPr>
        </p:nvPicPr>
        <p:blipFill>
          <a:blip r:embed="rId2"/>
          <a:stretch>
            <a:fillRect/>
          </a:stretch>
        </p:blipFill>
        <p:spPr>
          <a:xfrm>
            <a:off x="1421125" y="1825625"/>
            <a:ext cx="9349749" cy="4351338"/>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Stationary series in R</a:t>
            </a:r>
          </a:p>
        </p:txBody>
      </p:sp>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11"/>
          </p:nvPr>
        </p:nvSpPr>
        <p:spPr/>
        <p:txBody>
          <a:bodyPr/>
          <a:lstStyle/>
          <a:p>
            <a:r>
              <a:rPr lang="en-GB"/>
              <a:t>Seasonality and Trading days tests</a:t>
            </a:r>
          </a:p>
        </p:txBody>
      </p:sp>
      <p:pic>
        <p:nvPicPr>
          <p:cNvPr id="11" name="Content Placeholder 10">
            <a:extLst>
              <a:ext uri="{FF2B5EF4-FFF2-40B4-BE49-F238E27FC236}">
                <a16:creationId xmlns:a16="http://schemas.microsoft.com/office/drawing/2014/main" id="{BBAA7276-A8BD-40AA-B0C9-6DE541BC7BCD}"/>
              </a:ext>
            </a:extLst>
          </p:cNvPr>
          <p:cNvPicPr>
            <a:picLocks noGrp="1" noChangeAspect="1"/>
          </p:cNvPicPr>
          <p:nvPr>
            <p:ph idx="1"/>
          </p:nvPr>
        </p:nvPicPr>
        <p:blipFill>
          <a:blip r:embed="rId2"/>
          <a:stretch>
            <a:fillRect/>
          </a:stretch>
        </p:blipFill>
        <p:spPr>
          <a:xfrm>
            <a:off x="838200" y="1452401"/>
            <a:ext cx="6640519" cy="4351338"/>
          </a:xfrm>
          <a:ln>
            <a:solidFill>
              <a:schemeClr val="tx1"/>
            </a:solidFill>
          </a:ln>
        </p:spPr>
      </p:pic>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3"/>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4"/>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5"/>
          <a:stretch>
            <a:fillRect/>
          </a:stretch>
        </p:blipFill>
        <p:spPr>
          <a:xfrm>
            <a:off x="8059328" y="4469594"/>
            <a:ext cx="2906398" cy="1780599"/>
          </a:xfrm>
          <a:prstGeom prst="rect">
            <a:avLst/>
          </a:prstGeom>
        </p:spPr>
      </p:pic>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Arima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60CBDC-549E-4102-8ADF-10FF41A00C00}"/>
                  </a:ext>
                </a:extLst>
              </p:cNvPr>
              <p:cNvSpPr>
                <a:spLocks noGrp="1"/>
              </p:cNvSpPr>
              <p:nvPr>
                <p:ph idx="1"/>
              </p:nvPr>
            </p:nvSpPr>
            <p:spPr/>
            <p:txBody>
              <a:bodyPr/>
              <a:lstStyle/>
              <a:p>
                <a:r>
                  <a:rPr lang="en-GB" dirty="0"/>
                  <a:t>Auto-projective Models: </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oMath>
                </a14:m>
                <a:endParaRPr lang="en-GB" dirty="0"/>
              </a:p>
              <a:p>
                <a:r>
                  <a:rPr lang="en-GB" dirty="0"/>
                  <a:t>ARIMA models (Box-Jenkins)</a:t>
                </a:r>
              </a:p>
              <a:p>
                <a:pPr lvl="1"/>
                <a:r>
                  <a:rPr lang="en-GB" dirty="0"/>
                  <a:t>Good approximation of </a:t>
                </a:r>
                <a14:m>
                  <m:oMath xmlns:m="http://schemas.openxmlformats.org/officeDocument/2006/math">
                    <m:r>
                      <a:rPr lang="fr-BE" b="0" i="1" smtClean="0">
                        <a:latin typeface="Cambria Math" panose="02040503050406030204" pitchFamily="18" charset="0"/>
                      </a:rPr>
                      <m:t>𝑓</m:t>
                    </m:r>
                  </m:oMath>
                </a14:m>
                <a:endParaRPr lang="en-GB" dirty="0"/>
              </a:p>
              <a:p>
                <a:pPr lvl="1"/>
                <a:r>
                  <a:rPr lang="en-GB" dirty="0"/>
                  <a:t>Flexible, parsimonious</a:t>
                </a:r>
              </a:p>
            </p:txBody>
          </p:sp>
        </mc:Choice>
        <mc:Fallback xmlns="">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8CCF9-3520-411B-8E09-F52C407B47A3}"/>
                  </a:ext>
                </a:extLst>
              </p:cNvPr>
              <p:cNvSpPr>
                <a:spLocks noGrp="1"/>
              </p:cNvSpPr>
              <p:nvPr>
                <p:ph idx="1"/>
              </p:nvPr>
            </p:nvSpPr>
            <p:spPr/>
            <p:txBody>
              <a:bodyPr/>
              <a:lstStyle/>
              <a:p>
                <a:r>
                  <a:rPr lang="en-GB" dirty="0"/>
                  <a:t>Auto-regressive model</a:t>
                </a:r>
              </a:p>
              <a:p>
                <a:pPr lvl="1"/>
                <a14:m>
                  <m:oMath xmlns:m="http://schemas.openxmlformats.org/officeDocument/2006/math">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𝑝</m:t>
                            </m:r>
                          </m:sup>
                        </m:sSup>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𝑝</m:t>
                        </m:r>
                      </m:sub>
                    </m:sSub>
                  </m:oMath>
                </a14:m>
                <a:r>
                  <a:rPr lang="en-GB" dirty="0"/>
                  <a:t> 			</a:t>
                </a:r>
                <a:r>
                  <a:rPr lang="en-GB" dirty="0">
                    <a:solidFill>
                      <a:srgbClr val="FF0000"/>
                    </a:solidFill>
                  </a:rPr>
                  <a:t>(≠R, X13)</a:t>
                </a:r>
              </a:p>
              <a:p>
                <a:r>
                  <a:rPr lang="en-GB" dirty="0"/>
                  <a:t>Moving average model</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𝑞</m:t>
                                </m:r>
                              </m:sup>
                            </m:sSup>
                          </m:e>
                        </m:d>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𝑞</m:t>
                        </m:r>
                      </m:sub>
                    </m:sSub>
                  </m:oMath>
                </a14:m>
                <a:r>
                  <a:rPr lang="en-GB" dirty="0"/>
                  <a:t> 	</a:t>
                </a:r>
              </a:p>
            </p:txBody>
          </p:sp>
        </mc:Choice>
        <mc:Fallback xmlns="">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90E2B5-ABD5-409B-9F04-6E4A904B7191}"/>
                  </a:ext>
                </a:extLst>
              </p:cNvPr>
              <p:cNvSpPr>
                <a:spLocks noGrp="1"/>
              </p:cNvSpPr>
              <p:nvPr>
                <p:ph idx="1"/>
              </p:nvPr>
            </p:nvSpPr>
            <p:spPr/>
            <p:txBody>
              <a:bodyPr/>
              <a:lstStyle/>
              <a:p>
                <a:r>
                  <a:rPr lang="en-GB" dirty="0"/>
                  <a:t>ARMA</a:t>
                </a:r>
                <a:r>
                  <a:rPr lang="fr-BE" b="0" dirty="0"/>
                  <a:t> </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 </m:t>
                    </m:r>
                    <m:r>
                      <a:rPr lang="fr-BE" b="0" i="1" smtClean="0">
                        <a:latin typeface="Cambria Math" panose="02040503050406030204" pitchFamily="18" charset="0"/>
                      </a:rPr>
                      <m:t>𝑞</m:t>
                    </m:r>
                    <m:r>
                      <a:rPr lang="fr-BE" b="0" i="1" smtClean="0">
                        <a:latin typeface="Cambria Math" panose="02040503050406030204" pitchFamily="18" charset="0"/>
                      </a:rPr>
                      <m:t>)</m:t>
                    </m:r>
                  </m:oMath>
                </a14:m>
                <a:endParaRPr lang="en-GB" dirty="0"/>
              </a:p>
              <a:p>
                <a:pPr lvl="1"/>
                <a14:m>
                  <m:oMath xmlns:m="http://schemas.openxmlformats.org/officeDocument/2006/math">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r>
                  <a:rPr lang="en-GB" dirty="0"/>
                  <a:t>SARIMA</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m:t>
                    </m:r>
                    <m:r>
                      <a:rPr lang="fr-BE" b="0" i="1" smtClean="0">
                        <a:latin typeface="Cambria Math" panose="02040503050406030204" pitchFamily="18" charset="0"/>
                      </a:rPr>
                      <m:t>𝑑</m:t>
                    </m:r>
                    <m:r>
                      <a:rPr lang="fr-BE" b="0" i="1" smtClean="0">
                        <a:latin typeface="Cambria Math" panose="02040503050406030204" pitchFamily="18" charset="0"/>
                      </a:rPr>
                      <m:t>,</m:t>
                    </m:r>
                    <m:r>
                      <a:rPr lang="fr-BE" b="0" i="1" smtClean="0">
                        <a:latin typeface="Cambria Math" panose="02040503050406030204" pitchFamily="18" charset="0"/>
                      </a:rPr>
                      <m:t>𝑞</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m:t>
                        </m:r>
                        <m:r>
                          <a:rPr lang="fr-BE" b="0" i="1" smtClean="0">
                            <a:latin typeface="Cambria Math" panose="02040503050406030204" pitchFamily="18" charset="0"/>
                          </a:rPr>
                          <m:t>𝑏𝑝</m:t>
                        </m:r>
                        <m:r>
                          <a:rPr lang="fr-BE" b="0" i="1" smtClean="0">
                            <a:latin typeface="Cambria Math" panose="02040503050406030204" pitchFamily="18" charset="0"/>
                          </a:rPr>
                          <m:t>, </m:t>
                        </m:r>
                        <m:r>
                          <a:rPr lang="fr-BE" b="0" i="1" smtClean="0">
                            <a:latin typeface="Cambria Math" panose="02040503050406030204" pitchFamily="18" charset="0"/>
                          </a:rPr>
                          <m:t>𝑏𝑑</m:t>
                        </m:r>
                        <m:r>
                          <a:rPr lang="fr-BE" b="0" i="1" smtClean="0">
                            <a:latin typeface="Cambria Math" panose="02040503050406030204" pitchFamily="18" charset="0"/>
                          </a:rPr>
                          <m:t>, </m:t>
                        </m:r>
                        <m:r>
                          <a:rPr lang="fr-BE" b="0" i="1" smtClean="0">
                            <a:latin typeface="Cambria Math" panose="02040503050406030204" pitchFamily="18" charset="0"/>
                          </a:rPr>
                          <m:t>𝑏𝑞</m:t>
                        </m:r>
                        <m:r>
                          <a:rPr lang="fr-BE" b="0" i="1" smtClean="0">
                            <a:latin typeface="Cambria Math" panose="02040503050406030204" pitchFamily="18" charset="0"/>
                          </a:rPr>
                          <m:t>)</m:t>
                        </m:r>
                      </m:e>
                      <m:sub>
                        <m:r>
                          <a:rPr lang="fr-BE" b="0" i="1" smtClean="0">
                            <a:latin typeface="Cambria Math" panose="02040503050406030204" pitchFamily="18" charset="0"/>
                          </a:rPr>
                          <m:t>𝑠</m:t>
                        </m:r>
                      </m:sub>
                    </m:sSub>
                  </m:oMath>
                </a14:m>
                <a:endParaRPr lang="en-GB" dirty="0"/>
              </a:p>
              <a:p>
                <a:pPr lvl="1"/>
                <a14:m>
                  <m:oMath xmlns:m="http://schemas.openxmlformats.org/officeDocument/2006/math">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𝑑</m:t>
                        </m:r>
                      </m:sup>
                    </m:sSup>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𝑏𝑑</m:t>
                        </m:r>
                      </m:sup>
                    </m:sSup>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Φ</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Θ</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endParaRPr lang="en-GB" dirty="0"/>
              </a:p>
              <a:p>
                <a:r>
                  <a:rPr lang="en-GB" dirty="0"/>
                  <a:t>Airline model</a:t>
                </a:r>
              </a:p>
              <a:p>
                <a:pPr lvl="1"/>
                <a14:m>
                  <m:oMath xmlns:m="http://schemas.openxmlformats.org/officeDocument/2006/math">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𝜃</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r>
                      <a:rPr lang="el-GR" b="0" i="1" smtClean="0">
                        <a:latin typeface="Cambria Math" panose="02040503050406030204" pitchFamily="18" charset="0"/>
                        <a:ea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endParaRPr lang="en-GB" dirty="0"/>
              </a:p>
              <a:p>
                <a:pPr lvl="1"/>
                <a:r>
                  <a:rPr lang="en-GB" dirty="0"/>
                  <a:t>Interpretation of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r>
                  <a:rPr lang="en-GB" dirty="0"/>
                  <a:t> : </a:t>
                </a:r>
                <a:r>
                  <a:rPr lang="en-GB" sz="1800" i="1" dirty="0"/>
                  <a:t>same as previous year, partially corrected for the “committed error”</a:t>
                </a:r>
                <a:endParaRPr lang="en-GB" i="1" dirty="0"/>
              </a:p>
              <a:p>
                <a:endParaRPr lang="en-GB" dirty="0"/>
              </a:p>
            </p:txBody>
          </p:sp>
        </mc:Choice>
        <mc:Fallback xmlns="">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Arima model properties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8297F8-BA6A-48E5-9382-E3D1FB89D815}"/>
                  </a:ext>
                </a:extLst>
              </p:cNvPr>
              <p:cNvSpPr>
                <a:spLocks noGrp="1"/>
              </p:cNvSpPr>
              <p:nvPr>
                <p:ph idx="1"/>
              </p:nvPr>
            </p:nvSpPr>
            <p:spPr/>
            <p:txBody>
              <a:bodyPr>
                <a:normAutofit fontScale="85000" lnSpcReduction="20000"/>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a:t>
                </a:r>
                <a:r>
                  <a:rPr lang="en-GB"/>
                  <a:t>, contribution </a:t>
                </a:r>
                <a:r>
                  <a:rPr lang="en-GB" dirty="0"/>
                  <a:t>of each frequency to the variance of the series</a:t>
                </a:r>
              </a:p>
              <a:p>
                <a:pPr lvl="1"/>
                <a:endParaRPr lang="en-GB" dirty="0"/>
              </a:p>
            </p:txBody>
          </p:sp>
        </mc:Choice>
        <mc:Fallback xmlns="">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idx="1"/>
              </p:nvPr>
            </p:nvSpPr>
            <p:spPr>
              <a:blipFill>
                <a:blip r:embed="rId2"/>
                <a:stretch>
                  <a:fillRect l="-58" t="-2983" b="-109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B7DF51-014D-E317-BD55-60469F3ACB10}"/>
              </a:ext>
            </a:extLst>
          </p:cNvPr>
          <p:cNvSpPr>
            <a:spLocks noGrp="1"/>
          </p:cNvSpPr>
          <p:nvPr>
            <p:ph type="title"/>
          </p:nvPr>
        </p:nvSpPr>
        <p:spPr/>
        <p:txBody>
          <a:bodyPr/>
          <a:lstStyle/>
          <a:p>
            <a:endParaRPr lang="en-GB"/>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7D576E3-CFEC-BCE2-A098-9DB253DE5F00}"/>
                  </a:ext>
                </a:extLst>
              </p:cNvPr>
              <p:cNvSpPr>
                <a:spLocks noGrp="1"/>
              </p:cNvSpPr>
              <p:nvPr>
                <p:ph idx="1"/>
              </p:nvPr>
            </p:nvSpPr>
            <p:spPr/>
            <p:txBody>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endParaRPr lang="en-GB" dirty="0"/>
              </a:p>
            </p:txBody>
          </p:sp>
        </mc:Choice>
        <mc:Fallback xmlns="">
          <p:sp>
            <p:nvSpPr>
              <p:cNvPr id="3" name="Espace réservé du contenu 2">
                <a:extLst>
                  <a:ext uri="{FF2B5EF4-FFF2-40B4-BE49-F238E27FC236}">
                    <a16:creationId xmlns:a16="http://schemas.microsoft.com/office/drawing/2014/main" id="{27D576E3-CFEC-BCE2-A098-9DB253DE5F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0A4EEF6C-B802-D118-0B5B-13608697BB19}"/>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23417582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Final remarks</a:t>
            </a:r>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idx="1"/>
          </p:nvPr>
        </p:nvSpPr>
        <p:spPr/>
        <p:txBody>
          <a:bodyPr/>
          <a:lstStyle/>
          <a:p>
            <a:pPr algn="l"/>
            <a:r>
              <a:rPr lang="en-GB" dirty="0"/>
              <a:t>Importance of the representation in the frequency domain for series decomposition</a:t>
            </a:r>
          </a:p>
          <a:p>
            <a:pPr lvl="1"/>
            <a:r>
              <a:rPr lang="en-GB" dirty="0"/>
              <a:t>Trend ≈ low frequencies</a:t>
            </a:r>
          </a:p>
          <a:p>
            <a:pPr lvl="1"/>
            <a:r>
              <a:rPr lang="en-GB" dirty="0"/>
              <a:t>Seasonal ≈ seasonal frequencies (related to the periodicity)</a:t>
            </a:r>
          </a:p>
          <a:p>
            <a:pPr lvl="1"/>
            <a:r>
              <a:rPr lang="en-GB" dirty="0"/>
              <a:t>Irregular ≈ high-frequencies</a:t>
            </a:r>
          </a:p>
          <a:p>
            <a:pPr lvl="1"/>
            <a:endParaRPr lang="en-GB" dirty="0"/>
          </a:p>
          <a:p>
            <a:r>
              <a:rPr lang="en-GB"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11"/>
          </p:nvPr>
        </p:nvSpPr>
        <p:spPr/>
        <p:txBody>
          <a:bodyPr/>
          <a:lstStyle/>
          <a:p>
            <a:r>
              <a:rPr lang="en-GB"/>
              <a:t>Seasonality and Trading days tests</a:t>
            </a:r>
          </a:p>
        </p:txBody>
      </p:sp>
    </p:spTree>
    <p:extLst>
      <p:ext uri="{BB962C8B-B14F-4D97-AF65-F5344CB8AC3E}">
        <p14:creationId xmlns:p14="http://schemas.microsoft.com/office/powerpoint/2010/main" val="544769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3.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ESTAT PPT Template</Template>
  <TotalTime>3</TotalTime>
  <Words>893</Words>
  <Application>Microsoft Office PowerPoint</Application>
  <PresentationFormat>Grand écran</PresentationFormat>
  <Paragraphs>130</Paragraphs>
  <Slides>18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18</vt:i4>
      </vt:variant>
    </vt:vector>
  </HeadingPairs>
  <TitlesOfParts>
    <vt:vector size="23" baseType="lpstr">
      <vt:lpstr>Arial</vt:lpstr>
      <vt:lpstr>Calibri</vt:lpstr>
      <vt:lpstr>Cambria Math</vt:lpstr>
      <vt:lpstr>F17</vt:lpstr>
      <vt:lpstr>ESTAT Theme</vt:lpstr>
      <vt:lpstr>Seasonality and trading days tests in JD+</vt:lpstr>
      <vt:lpstr>1. Outline</vt:lpstr>
      <vt:lpstr>2. Time series</vt:lpstr>
      <vt:lpstr>3. Basic tools</vt:lpstr>
      <vt:lpstr>3. Basic tools (cont.)</vt:lpstr>
      <vt:lpstr>3. Linear filters</vt:lpstr>
      <vt:lpstr>3. Linear filters: properties</vt:lpstr>
      <vt:lpstr>3. Linear filters: properties</vt:lpstr>
      <vt:lpstr>4. Stationarity</vt:lpstr>
      <vt:lpstr>Stationary series</vt:lpstr>
      <vt:lpstr>Stationary series in R</vt:lpstr>
      <vt:lpstr>Arima models</vt:lpstr>
      <vt:lpstr>Arima models (definitions)</vt:lpstr>
      <vt:lpstr>Arima models (definitions)</vt:lpstr>
      <vt:lpstr>Arima model properties</vt:lpstr>
      <vt:lpstr>Présentation PowerPoint</vt:lpstr>
      <vt:lpstr>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64</cp:revision>
  <dcterms:created xsi:type="dcterms:W3CDTF">2024-11-22T11:11:00Z</dcterms:created>
  <dcterms:modified xsi:type="dcterms:W3CDTF">2026-08-27T07:17:46Z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