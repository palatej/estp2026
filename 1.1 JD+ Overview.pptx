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4"/>
  </p:sldMasterIdLst>
  <p:notesMasterIdLst>
    <p:notesMasterId r:id="rId15"/>
  </p:notesMasterIdLst>
  <p:handoutMasterIdLst>
    <p:handoutMasterId r:id="rId16"/>
  </p:handoutMasterIdLst>
  <p:sldIdLst>
    <p:sldId id="256" r:id="rId5"/>
    <p:sldId id="402" r:id="rId6"/>
    <p:sldId id="415" r:id="rId7"/>
    <p:sldId id="416" r:id="rId8"/>
    <p:sldId id="411" r:id="rId9"/>
    <p:sldId id="412" r:id="rId10"/>
    <p:sldId id="424" r:id="rId11"/>
    <p:sldId id="403" r:id="rId12"/>
    <p:sldId id="418" r:id="rId13"/>
    <p:sldId id="261" r:id="rId14"/>
  </p:sldIdLst>
  <p:sldSz cx="12192000" cy="6858000"/>
  <p:notesSz cx="6858000" cy="9144000"/>
  <p:custDataLst>
    <p:tags r:id="rId17"/>
  </p:custData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092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  <p:ext uri="http://customooxmlschemas.google.com/">
      <go:slidesCustomData xmlns=""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r:id="rId59" roundtripDataSignature="AMtx7mh3YP3xexYcFoahXa2ehi0H5V4Za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644A7"/>
    <a:srgbClr val="101010"/>
    <a:srgbClr val="F4F4F4"/>
    <a:srgbClr val="104F99"/>
    <a:srgbClr val="0E47CB"/>
    <a:srgbClr val="003180"/>
    <a:srgbClr val="0A2744"/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645" autoAdjust="0"/>
    <p:restoredTop sz="81100" autoAdjust="0"/>
  </p:normalViewPr>
  <p:slideViewPr>
    <p:cSldViewPr snapToGrid="0">
      <p:cViewPr varScale="1">
        <p:scale>
          <a:sx n="90" d="100"/>
          <a:sy n="90" d="100"/>
        </p:scale>
        <p:origin x="162" y="84"/>
      </p:cViewPr>
      <p:guideLst>
        <p:guide orient="horz" pos="2092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75" d="100"/>
          <a:sy n="75" d="100"/>
        </p:scale>
        <p:origin x="2938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3" Type="http://schemas.openxmlformats.org/officeDocument/2006/relationships/customXml" Target="../customXml/item3.xml"/><Relationship Id="rId63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gs" Target="tags/tag1.xml"/><Relationship Id="rId59" Type="http://customschemas.google.com/relationships/presentationmetadata" Target="metadata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62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61" Type="http://schemas.openxmlformats.org/officeDocument/2006/relationships/viewProps" Target="viewProps.xml"/><Relationship Id="rId10" Type="http://schemas.openxmlformats.org/officeDocument/2006/relationships/slide" Target="slides/slide6.xml"/><Relationship Id="rId6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66D6800-DB9C-EBAC-83AC-5F9D7E2C8B1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ED1430-DB1F-C50E-E2CC-369D36DF27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BFB8CE-488C-4A7E-87F2-3AF6127C51C1}" type="datetimeFigureOut">
              <a:rPr lang="en-IE" smtClean="0"/>
              <a:t>01/10/2026</a:t>
            </a:fld>
            <a:endParaRPr lang="en-I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1B46C1-E31F-1BE5-CF29-FC2D8EA3E24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A38F49-91A1-E3F0-770A-4578CF8E586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9F2F4C-E206-483F-A4B8-E82471BA527C}" type="slidenum">
              <a:rPr lang="en-IE" smtClean="0"/>
              <a:t>‹N°›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6198277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‹N°›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preserve="1" userDrawn="1">
  <p:cSld name=" Title Slide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D898605-EE7A-6AAE-447A-080B2C6D225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rcRect t="3042" b="3042"/>
          <a:stretch/>
        </p:blipFill>
        <p:spPr>
          <a:xfrm>
            <a:off x="-918" y="0"/>
            <a:ext cx="12192001" cy="6866879"/>
          </a:xfrm>
          <a:prstGeom prst="rect">
            <a:avLst/>
          </a:prstGeom>
        </p:spPr>
      </p:pic>
      <p:sp>
        <p:nvSpPr>
          <p:cNvPr id="19" name="Google Shape;19;p22"/>
          <p:cNvSpPr txBox="1">
            <a:spLocks noGrp="1"/>
          </p:cNvSpPr>
          <p:nvPr>
            <p:ph type="subTitle" idx="1"/>
          </p:nvPr>
        </p:nvSpPr>
        <p:spPr>
          <a:xfrm>
            <a:off x="1112521" y="3277775"/>
            <a:ext cx="3957106" cy="17454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 i="0">
                <a:solidFill>
                  <a:schemeClr val="bg1"/>
                </a:solidFill>
              </a:defRPr>
            </a:lvl1pPr>
            <a:lvl2pPr lvl="1" algn="ctr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09F257-77BC-80DD-CDE4-F5B22D79517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7381876" y="3596720"/>
            <a:ext cx="4224858" cy="1374485"/>
          </a:xfrm>
          <a:prstGeom prst="rect">
            <a:avLst/>
          </a:prstGeom>
        </p:spPr>
      </p:pic>
      <p:sp>
        <p:nvSpPr>
          <p:cNvPr id="16" name="Title 15">
            <a:extLst>
              <a:ext uri="{FF2B5EF4-FFF2-40B4-BE49-F238E27FC236}">
                <a16:creationId xmlns:a16="http://schemas.microsoft.com/office/drawing/2014/main" id="{784A076C-4C5D-810C-C205-F06C491692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2521" y="885018"/>
            <a:ext cx="9448800" cy="2037783"/>
          </a:xfrm>
        </p:spPr>
        <p:txBody>
          <a:bodyPr anchor="ctr"/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E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E5F2B0E4-A35A-CFA1-4E98-55EAD82CE8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307994" y="5771588"/>
            <a:ext cx="2509626" cy="777875"/>
          </a:xfrm>
        </p:spPr>
        <p:txBody>
          <a:bodyPr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594073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and Object" preserve="1" userDrawn="1">
  <p:cSld name="Content and Object"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41"/>
          <p:cNvSpPr txBox="1">
            <a:spLocks noGrp="1"/>
          </p:cNvSpPr>
          <p:nvPr>
            <p:ph type="title"/>
          </p:nvPr>
        </p:nvSpPr>
        <p:spPr>
          <a:xfrm>
            <a:off x="970722" y="413590"/>
            <a:ext cx="10515600" cy="782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rgbClr val="2644A7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cxnSp>
        <p:nvCxnSpPr>
          <p:cNvPr id="177" name="Google Shape;177;p41"/>
          <p:cNvCxnSpPr>
            <a:cxnSpLocks/>
          </p:cNvCxnSpPr>
          <p:nvPr/>
        </p:nvCxnSpPr>
        <p:spPr>
          <a:xfrm>
            <a:off x="0" y="1552418"/>
            <a:ext cx="970722" cy="0"/>
          </a:xfrm>
          <a:prstGeom prst="straightConnector1">
            <a:avLst/>
          </a:prstGeom>
          <a:noFill/>
          <a:ln w="76200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" name="Google Shape;10;p21">
            <a:extLst>
              <a:ext uri="{FF2B5EF4-FFF2-40B4-BE49-F238E27FC236}">
                <a16:creationId xmlns:a16="http://schemas.microsoft.com/office/drawing/2014/main" id="{C87DACA3-4A62-7EF9-9155-5CC0EBE6EC5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724400" y="643733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GB" smtClean="0"/>
              <a:pPr/>
              <a:t>‹N°›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F3BA733-25B6-C4BB-1150-48850654F2C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424731" y="6499013"/>
            <a:ext cx="1332000" cy="18142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BD3E27D-21BB-B8BD-0101-611C3D7A991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326539" y="5728720"/>
            <a:ext cx="1865461" cy="1130560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38CD64-6B9A-81A2-BDB2-55DA96C9E7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70722" y="1388854"/>
            <a:ext cx="10515597" cy="4707273"/>
          </a:xfrm>
        </p:spPr>
        <p:txBody>
          <a:bodyPr wrap="square">
            <a:noAutofit/>
          </a:bodyPr>
          <a:lstStyle>
            <a:lvl1pPr marL="342000" indent="-342000">
              <a:lnSpc>
                <a:spcPct val="90000"/>
              </a:lnSpc>
              <a:spcAft>
                <a:spcPts val="1000"/>
              </a:spcAft>
              <a:defRPr sz="2000">
                <a:solidFill>
                  <a:srgbClr val="101010"/>
                </a:solidFill>
              </a:defRPr>
            </a:lvl1pPr>
            <a:lvl2pPr marL="684000" indent="-342000">
              <a:spcBef>
                <a:spcPts val="0"/>
              </a:spcBef>
              <a:spcAft>
                <a:spcPts val="800"/>
              </a:spcAft>
              <a:defRPr sz="1800">
                <a:solidFill>
                  <a:srgbClr val="101010"/>
                </a:solidFill>
              </a:defRPr>
            </a:lvl2pPr>
            <a:lvl3pPr marL="97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600">
                <a:solidFill>
                  <a:srgbClr val="101010"/>
                </a:solidFill>
              </a:defRPr>
            </a:lvl3pPr>
            <a:lvl4pPr marL="1296000" indent="-34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400">
                <a:solidFill>
                  <a:srgbClr val="101010"/>
                </a:solidFill>
              </a:defRPr>
            </a:lvl4pPr>
            <a:lvl5pPr marL="1620000" indent="-34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200">
                <a:solidFill>
                  <a:srgbClr val="10101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335037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and Object" preserve="1" userDrawn="1">
  <p:cSld name="Content and Object 2"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41"/>
          <p:cNvSpPr txBox="1">
            <a:spLocks noGrp="1"/>
          </p:cNvSpPr>
          <p:nvPr>
            <p:ph type="title"/>
          </p:nvPr>
        </p:nvSpPr>
        <p:spPr>
          <a:xfrm>
            <a:off x="970722" y="413590"/>
            <a:ext cx="10515600" cy="782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rgbClr val="2644A7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cxnSp>
        <p:nvCxnSpPr>
          <p:cNvPr id="177" name="Google Shape;177;p41"/>
          <p:cNvCxnSpPr>
            <a:cxnSpLocks/>
          </p:cNvCxnSpPr>
          <p:nvPr/>
        </p:nvCxnSpPr>
        <p:spPr>
          <a:xfrm>
            <a:off x="0" y="1552418"/>
            <a:ext cx="970722" cy="0"/>
          </a:xfrm>
          <a:prstGeom prst="straightConnector1">
            <a:avLst/>
          </a:prstGeom>
          <a:noFill/>
          <a:ln w="76200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" name="Google Shape;10;p21">
            <a:extLst>
              <a:ext uri="{FF2B5EF4-FFF2-40B4-BE49-F238E27FC236}">
                <a16:creationId xmlns:a16="http://schemas.microsoft.com/office/drawing/2014/main" id="{C87DACA3-4A62-7EF9-9155-5CC0EBE6EC5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724400" y="643733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GB" smtClean="0"/>
              <a:pPr/>
              <a:t>‹N°›</a:t>
            </a:fld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0491114-E7C3-4716-7109-6FDE72E853D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424731" y="6499013"/>
            <a:ext cx="1332000" cy="18142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5C1ABAA-9559-8C24-1A56-0668CC66435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326539" y="5728720"/>
            <a:ext cx="1865461" cy="1130560"/>
          </a:xfrm>
          <a:prstGeom prst="rect">
            <a:avLst/>
          </a:prstGeom>
        </p:spPr>
      </p:pic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EBC1E451-4262-316A-7418-6EF16E0490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70723" y="1910188"/>
            <a:ext cx="5327092" cy="4240591"/>
          </a:xfrm>
        </p:spPr>
        <p:txBody>
          <a:bodyPr wrap="square">
            <a:noAutofit/>
          </a:bodyPr>
          <a:lstStyle>
            <a:lvl1pPr marL="342000" indent="-342000">
              <a:lnSpc>
                <a:spcPct val="90000"/>
              </a:lnSpc>
              <a:spcAft>
                <a:spcPts val="1000"/>
              </a:spcAft>
              <a:defRPr sz="2000">
                <a:solidFill>
                  <a:srgbClr val="101010"/>
                </a:solidFill>
              </a:defRPr>
            </a:lvl1pPr>
            <a:lvl2pPr marL="684000" indent="-342000">
              <a:spcBef>
                <a:spcPts val="0"/>
              </a:spcBef>
              <a:spcAft>
                <a:spcPts val="800"/>
              </a:spcAft>
              <a:defRPr sz="1800">
                <a:solidFill>
                  <a:srgbClr val="101010"/>
                </a:solidFill>
              </a:defRPr>
            </a:lvl2pPr>
            <a:lvl3pPr marL="97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600">
                <a:solidFill>
                  <a:srgbClr val="101010"/>
                </a:solidFill>
              </a:defRPr>
            </a:lvl3pPr>
            <a:lvl4pPr marL="1296000" indent="-34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400">
                <a:solidFill>
                  <a:srgbClr val="101010"/>
                </a:solidFill>
              </a:defRPr>
            </a:lvl4pPr>
            <a:lvl5pPr marL="1620000" indent="-34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200">
                <a:solidFill>
                  <a:srgbClr val="10101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A0B9F341-14FC-51F5-105A-E4BFB54BFEDD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6533867" y="1910188"/>
            <a:ext cx="5327092" cy="4240591"/>
          </a:xfrm>
        </p:spPr>
        <p:txBody>
          <a:bodyPr wrap="square">
            <a:noAutofit/>
          </a:bodyPr>
          <a:lstStyle>
            <a:lvl1pPr marL="342000" indent="-342000">
              <a:lnSpc>
                <a:spcPct val="90000"/>
              </a:lnSpc>
              <a:spcAft>
                <a:spcPts val="1000"/>
              </a:spcAft>
              <a:defRPr sz="2000">
                <a:solidFill>
                  <a:srgbClr val="101010"/>
                </a:solidFill>
              </a:defRPr>
            </a:lvl1pPr>
            <a:lvl2pPr marL="684000" indent="-342000">
              <a:spcBef>
                <a:spcPts val="0"/>
              </a:spcBef>
              <a:spcAft>
                <a:spcPts val="800"/>
              </a:spcAft>
              <a:defRPr sz="1800">
                <a:solidFill>
                  <a:srgbClr val="101010"/>
                </a:solidFill>
              </a:defRPr>
            </a:lvl2pPr>
            <a:lvl3pPr marL="97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600">
                <a:solidFill>
                  <a:srgbClr val="101010"/>
                </a:solidFill>
              </a:defRPr>
            </a:lvl3pPr>
            <a:lvl4pPr marL="1296000" indent="-34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400">
                <a:solidFill>
                  <a:srgbClr val="101010"/>
                </a:solidFill>
              </a:defRPr>
            </a:lvl4pPr>
            <a:lvl5pPr marL="1620000" indent="-34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200">
                <a:solidFill>
                  <a:srgbClr val="10101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282488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and Object" preserve="1" userDrawn="1">
  <p:cSld name="Content and Object 3"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41"/>
          <p:cNvSpPr txBox="1">
            <a:spLocks noGrp="1"/>
          </p:cNvSpPr>
          <p:nvPr>
            <p:ph type="title"/>
          </p:nvPr>
        </p:nvSpPr>
        <p:spPr>
          <a:xfrm>
            <a:off x="970722" y="413590"/>
            <a:ext cx="10515600" cy="782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rgbClr val="2644A7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cxnSp>
        <p:nvCxnSpPr>
          <p:cNvPr id="177" name="Google Shape;177;p41"/>
          <p:cNvCxnSpPr>
            <a:cxnSpLocks/>
          </p:cNvCxnSpPr>
          <p:nvPr/>
        </p:nvCxnSpPr>
        <p:spPr>
          <a:xfrm>
            <a:off x="0" y="1552418"/>
            <a:ext cx="970722" cy="0"/>
          </a:xfrm>
          <a:prstGeom prst="straightConnector1">
            <a:avLst/>
          </a:prstGeom>
          <a:noFill/>
          <a:ln w="76200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" name="Google Shape;10;p21">
            <a:extLst>
              <a:ext uri="{FF2B5EF4-FFF2-40B4-BE49-F238E27FC236}">
                <a16:creationId xmlns:a16="http://schemas.microsoft.com/office/drawing/2014/main" id="{C87DACA3-4A62-7EF9-9155-5CC0EBE6EC5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724400" y="643733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GB" smtClean="0"/>
              <a:pPr/>
              <a:t>‹N°›</a:t>
            </a:fld>
            <a:endParaRPr lang="en-GB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949220B6-B4CB-BA59-8F58-4304C8D422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70723" y="1894895"/>
            <a:ext cx="5157787" cy="823912"/>
          </a:xfrm>
        </p:spPr>
        <p:txBody>
          <a:bodyPr wrap="square" anchor="t">
            <a:noAutofit/>
          </a:bodyPr>
          <a:lstStyle>
            <a:lvl1pPr marL="0" indent="0">
              <a:buNone/>
              <a:defRPr sz="2400" b="0" baseline="0">
                <a:solidFill>
                  <a:srgbClr val="2644A7"/>
                </a:solidFill>
              </a:defRPr>
            </a:lvl1pPr>
            <a:lvl2pPr marL="338383" indent="0">
              <a:buNone/>
              <a:defRPr sz="1480" b="1"/>
            </a:lvl2pPr>
            <a:lvl3pPr marL="676765" indent="0">
              <a:buNone/>
              <a:defRPr sz="1332" b="1"/>
            </a:lvl3pPr>
            <a:lvl4pPr marL="1015148" indent="0">
              <a:buNone/>
              <a:defRPr sz="1184" b="1"/>
            </a:lvl4pPr>
            <a:lvl5pPr marL="1353530" indent="0">
              <a:buNone/>
              <a:defRPr sz="1184" b="1"/>
            </a:lvl5pPr>
            <a:lvl6pPr marL="1691913" indent="0">
              <a:buNone/>
              <a:defRPr sz="1184" b="1"/>
            </a:lvl6pPr>
            <a:lvl7pPr marL="2030295" indent="0">
              <a:buNone/>
              <a:defRPr sz="1184" b="1"/>
            </a:lvl7pPr>
            <a:lvl8pPr marL="2368678" indent="0">
              <a:buNone/>
              <a:defRPr sz="1184" b="1"/>
            </a:lvl8pPr>
            <a:lvl9pPr marL="2707061" indent="0">
              <a:buNone/>
              <a:defRPr sz="1184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BDB0ABC1-873A-F2DD-170F-E80FE4830D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70723" y="2725735"/>
            <a:ext cx="5157787" cy="3384119"/>
          </a:xfrm>
        </p:spPr>
        <p:txBody>
          <a:bodyPr wrap="square">
            <a:noAutofit/>
          </a:bodyPr>
          <a:lstStyle>
            <a:lvl1pPr marL="342000" indent="-342000">
              <a:lnSpc>
                <a:spcPct val="90000"/>
              </a:lnSpc>
              <a:spcAft>
                <a:spcPts val="1000"/>
              </a:spcAft>
              <a:defRPr sz="2000">
                <a:solidFill>
                  <a:srgbClr val="101010"/>
                </a:solidFill>
              </a:defRPr>
            </a:lvl1pPr>
            <a:lvl2pPr marL="684000" indent="-342000">
              <a:spcBef>
                <a:spcPts val="0"/>
              </a:spcBef>
              <a:spcAft>
                <a:spcPts val="800"/>
              </a:spcAft>
              <a:defRPr sz="1800">
                <a:solidFill>
                  <a:srgbClr val="101010"/>
                </a:solidFill>
              </a:defRPr>
            </a:lvl2pPr>
            <a:lvl3pPr marL="97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600">
                <a:solidFill>
                  <a:srgbClr val="101010"/>
                </a:solidFill>
              </a:defRPr>
            </a:lvl3pPr>
            <a:lvl4pPr marL="1296000" indent="-34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400">
                <a:solidFill>
                  <a:srgbClr val="101010"/>
                </a:solidFill>
              </a:defRPr>
            </a:lvl4pPr>
            <a:lvl5pPr marL="1620000" indent="-34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200">
                <a:solidFill>
                  <a:srgbClr val="10101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0057B6DC-82B6-DC47-2B36-FBA16BFA54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03134" y="1894895"/>
            <a:ext cx="5183188" cy="823912"/>
          </a:xfrm>
          <a:noFill/>
        </p:spPr>
        <p:txBody>
          <a:bodyPr wrap="square" anchor="t">
            <a:noAutofit/>
          </a:bodyPr>
          <a:lstStyle>
            <a:lvl1pPr marL="0" indent="0">
              <a:buNone/>
              <a:defRPr sz="2400" b="0">
                <a:solidFill>
                  <a:srgbClr val="2644A7"/>
                </a:solidFill>
              </a:defRPr>
            </a:lvl1pPr>
            <a:lvl2pPr marL="338383" indent="0">
              <a:buNone/>
              <a:defRPr sz="1480" b="1"/>
            </a:lvl2pPr>
            <a:lvl3pPr marL="676765" indent="0">
              <a:buNone/>
              <a:defRPr sz="1332" b="1"/>
            </a:lvl3pPr>
            <a:lvl4pPr marL="1015148" indent="0">
              <a:buNone/>
              <a:defRPr sz="1184" b="1"/>
            </a:lvl4pPr>
            <a:lvl5pPr marL="1353530" indent="0">
              <a:buNone/>
              <a:defRPr sz="1184" b="1"/>
            </a:lvl5pPr>
            <a:lvl6pPr marL="1691913" indent="0">
              <a:buNone/>
              <a:defRPr sz="1184" b="1"/>
            </a:lvl6pPr>
            <a:lvl7pPr marL="2030295" indent="0">
              <a:buNone/>
              <a:defRPr sz="1184" b="1"/>
            </a:lvl7pPr>
            <a:lvl8pPr marL="2368678" indent="0">
              <a:buNone/>
              <a:defRPr sz="1184" b="1"/>
            </a:lvl8pPr>
            <a:lvl9pPr marL="2707061" indent="0">
              <a:buNone/>
              <a:defRPr sz="1184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495916A-C750-070D-C528-9F655246DF5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424731" y="6499013"/>
            <a:ext cx="1332000" cy="18142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57D36BD-C483-ED07-0866-A0A591A0170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326539" y="5728720"/>
            <a:ext cx="1865461" cy="1130560"/>
          </a:xfrm>
          <a:prstGeom prst="rect">
            <a:avLst/>
          </a:prstGeom>
        </p:spPr>
      </p:pic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A623D267-A36F-1DAC-4912-F35877117825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09559" y="2725735"/>
            <a:ext cx="5183188" cy="3384119"/>
          </a:xfrm>
        </p:spPr>
        <p:txBody>
          <a:bodyPr wrap="square">
            <a:noAutofit/>
          </a:bodyPr>
          <a:lstStyle>
            <a:lvl1pPr marL="342000" indent="-342000">
              <a:lnSpc>
                <a:spcPct val="90000"/>
              </a:lnSpc>
              <a:spcAft>
                <a:spcPts val="1000"/>
              </a:spcAft>
              <a:defRPr sz="2000">
                <a:solidFill>
                  <a:srgbClr val="101010"/>
                </a:solidFill>
              </a:defRPr>
            </a:lvl1pPr>
            <a:lvl2pPr marL="684000" indent="-342000">
              <a:spcBef>
                <a:spcPts val="0"/>
              </a:spcBef>
              <a:spcAft>
                <a:spcPts val="800"/>
              </a:spcAft>
              <a:defRPr sz="1800">
                <a:solidFill>
                  <a:srgbClr val="101010"/>
                </a:solidFill>
              </a:defRPr>
            </a:lvl2pPr>
            <a:lvl3pPr marL="97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600">
                <a:solidFill>
                  <a:srgbClr val="101010"/>
                </a:solidFill>
              </a:defRPr>
            </a:lvl3pPr>
            <a:lvl4pPr marL="1296000" indent="-34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400">
                <a:solidFill>
                  <a:srgbClr val="101010"/>
                </a:solidFill>
              </a:defRPr>
            </a:lvl4pPr>
            <a:lvl5pPr marL="1620000" indent="-34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200">
                <a:solidFill>
                  <a:srgbClr val="10101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473445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st slide (option 1)" preserve="1" userDrawn="1">
  <p:cSld name="Last slide (option 1)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41;p37">
            <a:extLst>
              <a:ext uri="{FF2B5EF4-FFF2-40B4-BE49-F238E27FC236}">
                <a16:creationId xmlns:a16="http://schemas.microsoft.com/office/drawing/2014/main" id="{ACED6512-1BD5-58D6-D635-D62C0A34BF8C}"/>
              </a:ext>
            </a:extLst>
          </p:cNvPr>
          <p:cNvSpPr>
            <a:spLocks/>
          </p:cNvSpPr>
          <p:nvPr userDrawn="1"/>
        </p:nvSpPr>
        <p:spPr>
          <a:xfrm>
            <a:off x="0" y="3328560"/>
            <a:ext cx="12192000" cy="2913720"/>
          </a:xfrm>
          <a:prstGeom prst="rect">
            <a:avLst/>
          </a:prstGeom>
          <a:solidFill>
            <a:srgbClr val="2644A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37"/>
          <p:cNvSpPr txBox="1">
            <a:spLocks noGrp="1"/>
          </p:cNvSpPr>
          <p:nvPr>
            <p:ph type="body" idx="1"/>
          </p:nvPr>
        </p:nvSpPr>
        <p:spPr>
          <a:xfrm>
            <a:off x="970723" y="3777422"/>
            <a:ext cx="6865686" cy="2174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2400">
                <a:solidFill>
                  <a:srgbClr val="F4F4F4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2000"/>
              <a:buNone/>
              <a:defRPr/>
            </a:lvl2pPr>
            <a:lvl3pPr marL="1371600" lvl="2" indent="-3429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488A19F-A201-3EB2-A71E-1E51EF3E1B2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8107569" y="3538903"/>
            <a:ext cx="2931525" cy="2412704"/>
          </a:xfrm>
          <a:prstGeom prst="rect">
            <a:avLst/>
          </a:prstGeom>
        </p:spPr>
      </p:pic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9CD49B01-566F-CA34-C636-83E50BFD40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0722" y="414281"/>
            <a:ext cx="10515600" cy="2937139"/>
          </a:xfrm>
          <a:prstGeom prst="rect">
            <a:avLst/>
          </a:prstGeom>
        </p:spPr>
        <p:txBody>
          <a:bodyPr vert="horz" lIns="91440" tIns="45720" rIns="91440" bIns="0" rtlCol="0" anchor="ctr" anchorCtr="0">
            <a:noAutofit/>
          </a:bodyPr>
          <a:lstStyle>
            <a:lvl1pPr algn="ctr">
              <a:defRPr sz="4800">
                <a:solidFill>
                  <a:srgbClr val="101010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8" name="Google Shape;10;p21">
            <a:extLst>
              <a:ext uri="{FF2B5EF4-FFF2-40B4-BE49-F238E27FC236}">
                <a16:creationId xmlns:a16="http://schemas.microsoft.com/office/drawing/2014/main" id="{C209E83E-F338-C8C6-D016-6C5FE194EA8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724400" y="643733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GB" smtClean="0"/>
              <a:pPr/>
              <a:t>‹N°›</a:t>
            </a:fld>
            <a:endParaRPr lang="en-GB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36B8EBF-8A1C-818A-CBBC-1DC51D94C54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326539" y="5728720"/>
            <a:ext cx="1865461" cy="113056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8541C9F-06FD-4BC7-C438-D852985D159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424731" y="6499013"/>
            <a:ext cx="1332000" cy="181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71498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ESTP Training. JD+ Overview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CDA0C-01AE-4E2F-8829-AAF8EAAF9DB3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76432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ESTP Training. JD+ Overview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CDA0C-01AE-4E2F-8829-AAF8EAAF9DB3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88788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1"/>
          <p:cNvSpPr txBox="1">
            <a:spLocks noGrp="1"/>
          </p:cNvSpPr>
          <p:nvPr>
            <p:ph type="title"/>
          </p:nvPr>
        </p:nvSpPr>
        <p:spPr>
          <a:xfrm>
            <a:off x="838200" y="763064"/>
            <a:ext cx="10515600" cy="782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  <a:defRPr sz="4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 dirty="0"/>
          </a:p>
        </p:txBody>
      </p:sp>
      <p:sp>
        <p:nvSpPr>
          <p:cNvPr id="12" name="Google Shape;12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38819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27" r:id="rId1"/>
    <p:sldLayoutId id="2147483717" r:id="rId2"/>
    <p:sldLayoutId id="2147483724" r:id="rId3"/>
    <p:sldLayoutId id="2147483725" r:id="rId4"/>
    <p:sldLayoutId id="2147483723" r:id="rId5"/>
    <p:sldLayoutId id="2147483728" r:id="rId6"/>
    <p:sldLayoutId id="2147483729" r:id="rId7"/>
  </p:sldLayoutIdLst>
  <p:hf hd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2644A7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github.com/jdemetra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7D86E511-2A8E-CD8D-FA1D-6DDA5388CE1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E" dirty="0"/>
              <a:t>ESTP Training</a:t>
            </a:r>
          </a:p>
          <a:p>
            <a:r>
              <a:rPr lang="en-IE" dirty="0"/>
              <a:t>05-07 October 2026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2518E6D-618C-DDB2-DF84-26EB66F0C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1.1 </a:t>
            </a:r>
            <a:r>
              <a:rPr lang="fr-BE" dirty="0" err="1"/>
              <a:t>Overview</a:t>
            </a:r>
            <a:r>
              <a:rPr lang="fr-BE" dirty="0"/>
              <a:t> of JDemetra+</a:t>
            </a:r>
            <a:endParaRPr lang="en-IE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FA50BB-3958-DA6F-CD7B-74B9FFF5C40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4811535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b="0" dirty="0"/>
              <a:t>0. 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970722" y="1275907"/>
            <a:ext cx="10515597" cy="4820220"/>
          </a:xfrm>
        </p:spPr>
        <p:txBody>
          <a:bodyPr>
            <a:noAutofit/>
          </a:bodyPr>
          <a:lstStyle/>
          <a:p>
            <a:r>
              <a:rPr lang="en-GB" sz="2800" dirty="0"/>
              <a:t>Objectives of </a:t>
            </a:r>
            <a:r>
              <a:rPr lang="en-GB" sz="2800" dirty="0" err="1"/>
              <a:t>JDemetra</a:t>
            </a:r>
            <a:r>
              <a:rPr lang="en-GB" sz="2800" dirty="0"/>
              <a:t>+ (JD+)</a:t>
            </a:r>
          </a:p>
          <a:p>
            <a:pPr lvl="1"/>
            <a:r>
              <a:rPr lang="en-GB" sz="2400" dirty="0"/>
              <a:t>General</a:t>
            </a:r>
          </a:p>
          <a:p>
            <a:pPr lvl="1"/>
            <a:r>
              <a:rPr lang="en-GB" sz="2400" dirty="0"/>
              <a:t>For seasonal adjustment (SA)</a:t>
            </a:r>
          </a:p>
          <a:p>
            <a:r>
              <a:rPr lang="en-GB" sz="2800" dirty="0"/>
              <a:t>What is really JD+ ?</a:t>
            </a:r>
          </a:p>
          <a:p>
            <a:r>
              <a:rPr lang="en-GB" sz="2800" dirty="0"/>
              <a:t>Statistical content</a:t>
            </a:r>
          </a:p>
          <a:p>
            <a:r>
              <a:rPr lang="en-GB" sz="2800" dirty="0"/>
              <a:t>Seasonal adjustment framework</a:t>
            </a:r>
          </a:p>
          <a:p>
            <a:r>
              <a:rPr lang="en-GB" sz="2800" dirty="0"/>
              <a:t>Final remarks</a:t>
            </a:r>
          </a:p>
          <a:p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294967295"/>
          </p:nvPr>
        </p:nvSpPr>
        <p:spPr>
          <a:xfrm>
            <a:off x="0" y="0"/>
            <a:ext cx="0" cy="0"/>
          </a:xfrm>
        </p:spPr>
        <p:txBody>
          <a:bodyPr/>
          <a:lstStyle/>
          <a:p>
            <a:r>
              <a:rPr lang="en-US"/>
              <a:t>ESTP Training. JD+ Overview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010C725-AD92-B5FD-39E6-ADD3BD54C36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GB" smtClean="0"/>
              <a:pPr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749501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fr-BE" b="0" dirty="0"/>
              <a:t>1.1 General Objectives</a:t>
            </a:r>
            <a:endParaRPr lang="nl-BE" b="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FA7F777-FB2E-93FD-4536-DA8DEB517D2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27CDA0C-01AE-4E2F-8829-AAF8EAAF9DB3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GB" dirty="0"/>
              <a:t>Providing algorithms for the production/analysis of [official] statistics</a:t>
            </a:r>
          </a:p>
          <a:p>
            <a:pPr lvl="1"/>
            <a:r>
              <a:rPr lang="en-GB" dirty="0"/>
              <a:t>Regular time series (from monthly to yearly)</a:t>
            </a:r>
          </a:p>
          <a:p>
            <a:pPr lvl="1"/>
            <a:r>
              <a:rPr lang="en-GB" dirty="0"/>
              <a:t>Algorithms for</a:t>
            </a:r>
          </a:p>
          <a:p>
            <a:pPr lvl="2"/>
            <a:r>
              <a:rPr lang="en-GB" dirty="0"/>
              <a:t>Seasonal adjustment, business cycle analysis</a:t>
            </a:r>
          </a:p>
          <a:p>
            <a:pPr lvl="2"/>
            <a:r>
              <a:rPr lang="en-GB" dirty="0"/>
              <a:t>Benchmarking, temporal disaggregation</a:t>
            </a:r>
          </a:p>
          <a:p>
            <a:pPr lvl="2"/>
            <a:r>
              <a:rPr lang="en-GB" dirty="0"/>
              <a:t>Modelling (forecasting, estimation of missing values, outliers detection)</a:t>
            </a:r>
          </a:p>
          <a:p>
            <a:r>
              <a:rPr lang="en-GB" dirty="0"/>
              <a:t>Reusable modules, compatible with common IT infrastructure </a:t>
            </a:r>
          </a:p>
          <a:p>
            <a:pPr lvl="1"/>
            <a:r>
              <a:rPr lang="en-GB" dirty="0"/>
              <a:t>Java, R, WEB services...</a:t>
            </a:r>
          </a:p>
          <a:p>
            <a:r>
              <a:rPr lang="en-GB" dirty="0"/>
              <a:t>Designed for the whole statistical process</a:t>
            </a:r>
          </a:p>
          <a:p>
            <a:pPr lvl="1"/>
            <a:r>
              <a:rPr lang="en-GB" dirty="0"/>
              <a:t>From research to bulk production  (flexible, high-performance)</a:t>
            </a:r>
          </a:p>
          <a:p>
            <a:r>
              <a:rPr lang="en-GB" dirty="0"/>
              <a:t>Maintainable</a:t>
            </a:r>
          </a:p>
          <a:p>
            <a:pPr lvl="1"/>
            <a:r>
              <a:rPr lang="en-GB" dirty="0"/>
              <a:t>Open-source solution</a:t>
            </a:r>
          </a:p>
          <a:p>
            <a:endParaRPr lang="nl-B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294967295"/>
          </p:nvPr>
        </p:nvSpPr>
        <p:spPr>
          <a:xfrm>
            <a:off x="0" y="0"/>
            <a:ext cx="0" cy="0"/>
          </a:xfrm>
        </p:spPr>
        <p:txBody>
          <a:bodyPr/>
          <a:lstStyle/>
          <a:p>
            <a:r>
              <a:rPr lang="en-US" dirty="0"/>
              <a:t>ESTP Training. JD+ Overview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b="0" dirty="0"/>
              <a:t>1.2 Objectives for SA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218ADDD-2ED6-CCCA-441B-20C772B2CFC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27CDA0C-01AE-4E2F-8829-AAF8EAAF9DB3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sz="3100" dirty="0"/>
              <a:t>Java implementation of the leading algorithms</a:t>
            </a:r>
          </a:p>
          <a:p>
            <a:pPr lvl="1"/>
            <a:r>
              <a:rPr lang="en-GB" sz="2600" dirty="0"/>
              <a:t>TRAMO-SEATS, X12-ARIMA...</a:t>
            </a:r>
          </a:p>
          <a:p>
            <a:r>
              <a:rPr lang="en-GB" sz="3200" dirty="0"/>
              <a:t> </a:t>
            </a:r>
            <a:r>
              <a:rPr lang="en-GB" sz="3100" dirty="0"/>
              <a:t>Flexible design</a:t>
            </a:r>
          </a:p>
          <a:p>
            <a:pPr lvl="1"/>
            <a:r>
              <a:rPr lang="en-GB" sz="2600" dirty="0"/>
              <a:t>Easier modifications of the core engines</a:t>
            </a:r>
          </a:p>
          <a:p>
            <a:pPr lvl="1"/>
            <a:r>
              <a:rPr lang="en-GB" sz="2600" dirty="0"/>
              <a:t>Developments of additional tools/algorithms</a:t>
            </a:r>
          </a:p>
          <a:p>
            <a:endParaRPr lang="en-GB" sz="3000" dirty="0"/>
          </a:p>
          <a:p>
            <a:r>
              <a:rPr lang="en-GB" sz="3100" dirty="0"/>
              <a:t>Challenge</a:t>
            </a:r>
          </a:p>
          <a:p>
            <a:pPr lvl="1"/>
            <a:r>
              <a:rPr lang="en-GB" sz="2600" dirty="0"/>
              <a:t>Keeping  similar results and high performances</a:t>
            </a:r>
          </a:p>
          <a:p>
            <a:pPr lvl="1"/>
            <a:r>
              <a:rPr lang="en-GB" sz="2600" dirty="0"/>
              <a:t>with flexible (more general) design and algorithms and slower technical solution</a:t>
            </a:r>
          </a:p>
          <a:p>
            <a:pPr lvl="1"/>
            <a:endParaRPr lang="nl-B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294967295"/>
          </p:nvPr>
        </p:nvSpPr>
        <p:spPr>
          <a:xfrm>
            <a:off x="0" y="0"/>
            <a:ext cx="0" cy="0"/>
          </a:xfrm>
        </p:spPr>
        <p:txBody>
          <a:bodyPr/>
          <a:lstStyle/>
          <a:p>
            <a:r>
              <a:rPr lang="en-US" dirty="0"/>
              <a:t>ESTP Training. JD+ Overview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31506" y="2276872"/>
            <a:ext cx="4536503" cy="3960440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</p:spPr>
      </p:pic>
      <p:pic>
        <p:nvPicPr>
          <p:cNvPr id="6" name="Picture 5" descr="jd+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688037" y="1487349"/>
            <a:ext cx="4824536" cy="4392488"/>
          </a:xfrm>
          <a:prstGeom prst="rect">
            <a:avLst/>
          </a:prstGeom>
          <a:ln>
            <a:gradFill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2.1 What is JD+ (I) ?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BBFFDA69-F465-9604-9A64-EE41E32F55C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27CDA0C-01AE-4E2F-8829-AAF8EAAF9DB3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8" name="Espace réservé du contenu 7">
            <a:extLst>
              <a:ext uri="{FF2B5EF4-FFF2-40B4-BE49-F238E27FC236}">
                <a16:creationId xmlns:a16="http://schemas.microsoft.com/office/drawing/2014/main" id="{8215657A-D3BB-D3EA-2889-DB897CBDFC8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294967295"/>
          </p:nvPr>
        </p:nvSpPr>
        <p:spPr>
          <a:xfrm>
            <a:off x="0" y="0"/>
            <a:ext cx="0" cy="0"/>
          </a:xfrm>
        </p:spPr>
        <p:txBody>
          <a:bodyPr/>
          <a:lstStyle/>
          <a:p>
            <a:r>
              <a:rPr lang="en-US" dirty="0"/>
              <a:t>ESTP Training. JD+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31505" y="1772817"/>
            <a:ext cx="38164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800" dirty="0">
                <a:solidFill>
                  <a:schemeClr val="bg2">
                    <a:lumMod val="50000"/>
                  </a:schemeClr>
                </a:solidFill>
              </a:rPr>
              <a:t>Rich graphical application (end-users)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28048" y="812596"/>
            <a:ext cx="39604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1800" dirty="0">
                <a:solidFill>
                  <a:schemeClr val="bg2">
                    <a:lumMod val="50000"/>
                  </a:schemeClr>
                </a:solidFill>
              </a:rPr>
              <a:t>Advanced Java toolkit for time series (SA) processing (IT-teams, researchers)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2.2 What is JD+ ? (II)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E3CFBD3-21EF-C2D9-1BBC-B3F4A66DF79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27CDA0C-01AE-4E2F-8829-AAF8EAAF9DB3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294967295"/>
          </p:nvPr>
        </p:nvSpPr>
        <p:spPr>
          <a:xfrm>
            <a:off x="0" y="0"/>
            <a:ext cx="0" cy="0"/>
          </a:xfrm>
        </p:spPr>
        <p:txBody>
          <a:bodyPr/>
          <a:lstStyle/>
          <a:p>
            <a:r>
              <a:rPr lang="en-US" dirty="0"/>
              <a:t>ESTP Training. JD+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68208" y="1254022"/>
            <a:ext cx="2483768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>
                <a:solidFill>
                  <a:schemeClr val="bg2">
                    <a:lumMod val="50000"/>
                  </a:schemeClr>
                </a:solidFill>
              </a:rPr>
              <a:t>Open Source project</a:t>
            </a:r>
          </a:p>
          <a:p>
            <a:r>
              <a:rPr lang="en-GB" sz="2000" b="1" dirty="0">
                <a:solidFill>
                  <a:schemeClr val="bg2">
                    <a:lumMod val="50000"/>
                  </a:schemeClr>
                </a:solidFill>
              </a:rPr>
              <a:t>(EUPL license)</a:t>
            </a:r>
          </a:p>
          <a:p>
            <a:endParaRPr lang="en-GB" sz="2000" b="1" dirty="0">
              <a:solidFill>
                <a:schemeClr val="bg2">
                  <a:lumMod val="50000"/>
                </a:schemeClr>
              </a:solidFill>
            </a:endParaRPr>
          </a:p>
          <a:p>
            <a:pPr>
              <a:buFont typeface="Arial" pitchFamily="34" charset="0"/>
              <a:buChar char="•"/>
            </a:pPr>
            <a:r>
              <a:rPr lang="en-GB" sz="1800" dirty="0">
                <a:solidFill>
                  <a:schemeClr val="bg2">
                    <a:lumMod val="50000"/>
                  </a:schemeClr>
                </a:solidFill>
              </a:rPr>
              <a:t> Supported by Eurostat</a:t>
            </a:r>
          </a:p>
          <a:p>
            <a:pPr>
              <a:buFont typeface="Arial" pitchFamily="34" charset="0"/>
              <a:buChar char="•"/>
            </a:pPr>
            <a:endParaRPr lang="en-GB" sz="1800" dirty="0">
              <a:solidFill>
                <a:schemeClr val="bg2">
                  <a:lumMod val="50000"/>
                </a:schemeClr>
              </a:solidFill>
            </a:endParaRPr>
          </a:p>
          <a:p>
            <a:pPr>
              <a:buFont typeface="Arial" pitchFamily="34" charset="0"/>
              <a:buChar char="•"/>
            </a:pPr>
            <a:r>
              <a:rPr lang="en-GB" sz="1800" dirty="0">
                <a:solidFill>
                  <a:schemeClr val="bg2">
                    <a:lumMod val="50000"/>
                  </a:schemeClr>
                </a:solidFill>
              </a:rPr>
              <a:t>Developers:</a:t>
            </a:r>
          </a:p>
          <a:p>
            <a:pPr lvl="1">
              <a:buFont typeface="Arial" pitchFamily="34" charset="0"/>
              <a:buChar char="•"/>
            </a:pPr>
            <a:r>
              <a:rPr lang="en-GB" sz="1800" dirty="0">
                <a:solidFill>
                  <a:schemeClr val="bg2">
                    <a:lumMod val="50000"/>
                  </a:schemeClr>
                </a:solidFill>
              </a:rPr>
              <a:t>NBB</a:t>
            </a:r>
          </a:p>
          <a:p>
            <a:pPr lvl="1">
              <a:buFont typeface="Arial" pitchFamily="34" charset="0"/>
              <a:buChar char="•"/>
            </a:pPr>
            <a:r>
              <a:rPr lang="en-GB" sz="1800" dirty="0">
                <a:solidFill>
                  <a:schemeClr val="bg2">
                    <a:lumMod val="50000"/>
                  </a:schemeClr>
                </a:solidFill>
              </a:rPr>
              <a:t>Bundesbank</a:t>
            </a:r>
          </a:p>
          <a:p>
            <a:pPr lvl="1">
              <a:buFont typeface="Arial" pitchFamily="34" charset="0"/>
              <a:buChar char="•"/>
            </a:pPr>
            <a:r>
              <a:rPr lang="en-GB" sz="1800" dirty="0">
                <a:solidFill>
                  <a:schemeClr val="bg2">
                    <a:lumMod val="50000"/>
                  </a:schemeClr>
                </a:solidFill>
              </a:rPr>
              <a:t>INSEE</a:t>
            </a:r>
          </a:p>
          <a:p>
            <a:pPr lvl="1">
              <a:buFont typeface="Arial" pitchFamily="34" charset="0"/>
              <a:buChar char="•"/>
            </a:pPr>
            <a:r>
              <a:rPr lang="en-GB" sz="1800" dirty="0">
                <a:solidFill>
                  <a:schemeClr val="bg2">
                    <a:lumMod val="50000"/>
                  </a:schemeClr>
                </a:solidFill>
              </a:rPr>
              <a:t>...</a:t>
            </a:r>
          </a:p>
          <a:p>
            <a:pPr lvl="1">
              <a:buFont typeface="Arial" pitchFamily="34" charset="0"/>
              <a:buChar char="•"/>
            </a:pPr>
            <a:endParaRPr lang="en-GB" sz="1800" dirty="0">
              <a:solidFill>
                <a:schemeClr val="bg2">
                  <a:lumMod val="50000"/>
                </a:schemeClr>
              </a:solidFill>
            </a:endParaRPr>
          </a:p>
          <a:p>
            <a:pPr>
              <a:buFont typeface="Arial" pitchFamily="34" charset="0"/>
              <a:buChar char="•"/>
            </a:pPr>
            <a:r>
              <a:rPr lang="en-GB" sz="1800" dirty="0">
                <a:solidFill>
                  <a:schemeClr val="bg2">
                    <a:lumMod val="50000"/>
                  </a:schemeClr>
                </a:solidFill>
              </a:rPr>
              <a:t>Originally based on:</a:t>
            </a:r>
          </a:p>
          <a:p>
            <a:pPr lvl="1">
              <a:buFont typeface="Arial" pitchFamily="34" charset="0"/>
              <a:buChar char="•"/>
            </a:pPr>
            <a:r>
              <a:rPr lang="en-GB" sz="1800" dirty="0">
                <a:solidFill>
                  <a:schemeClr val="bg2">
                    <a:lumMod val="50000"/>
                  </a:schemeClr>
                </a:solidFill>
              </a:rPr>
              <a:t>Tramo-Seats (BDE)</a:t>
            </a:r>
          </a:p>
          <a:p>
            <a:pPr lvl="1">
              <a:buFont typeface="Arial" pitchFamily="34" charset="0"/>
              <a:buChar char="•"/>
            </a:pPr>
            <a:r>
              <a:rPr lang="en-GB" sz="1800" dirty="0">
                <a:solidFill>
                  <a:schemeClr val="bg2">
                    <a:lumMod val="50000"/>
                  </a:schemeClr>
                </a:solidFill>
              </a:rPr>
              <a:t>X12-Arima (USCB)</a:t>
            </a:r>
          </a:p>
          <a:p>
            <a:pPr lvl="1">
              <a:buFont typeface="Arial" pitchFamily="34" charset="0"/>
              <a:buChar char="•"/>
            </a:pPr>
            <a:endParaRPr lang="en-GB" sz="1800" dirty="0">
              <a:solidFill>
                <a:schemeClr val="accent3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847528" y="5949281"/>
            <a:ext cx="57606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2400" dirty="0">
                <a:solidFill>
                  <a:schemeClr val="accent1">
                    <a:lumMod val="60000"/>
                    <a:lumOff val="40000"/>
                  </a:schemeClr>
                </a:solidFill>
                <a:hlinkClick r:id="rId2"/>
              </a:rPr>
              <a:t>https://github.com/jdemetra</a:t>
            </a:r>
            <a:endParaRPr lang="en-US" sz="24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7BE5CE50-EE39-E9F9-2C7D-664863F401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076" y="1632637"/>
            <a:ext cx="6653846" cy="335403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fr-BE" dirty="0"/>
              <a:t>3. </a:t>
            </a:r>
            <a:r>
              <a:rPr lang="fr-BE" dirty="0" err="1"/>
              <a:t>Statistical</a:t>
            </a:r>
            <a:r>
              <a:rPr lang="fr-BE" dirty="0"/>
              <a:t> content</a:t>
            </a:r>
            <a:endParaRPr lang="en-US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36EBA0A-99E3-6302-D12E-7E43E6E04A8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27CDA0C-01AE-4E2F-8829-AAF8EAAF9DB3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27" name="Footer Placeholder 26"/>
          <p:cNvSpPr>
            <a:spLocks noGrp="1"/>
          </p:cNvSpPr>
          <p:nvPr>
            <p:ph type="ftr" sz="quarter" idx="4294967295"/>
          </p:nvPr>
        </p:nvSpPr>
        <p:spPr>
          <a:xfrm>
            <a:off x="0" y="0"/>
            <a:ext cx="0" cy="0"/>
          </a:xfrm>
        </p:spPr>
        <p:txBody>
          <a:bodyPr/>
          <a:lstStyle/>
          <a:p>
            <a:r>
              <a:rPr lang="en-US"/>
              <a:t>ESTP Training. JD+ Overview</a:t>
            </a:r>
            <a:endParaRPr lang="en-US" dirty="0"/>
          </a:p>
        </p:txBody>
      </p:sp>
      <p:sp>
        <p:nvSpPr>
          <p:cNvPr id="3" name="Rectangle 23"/>
          <p:cNvSpPr>
            <a:spLocks noChangeArrowheads="1"/>
          </p:cNvSpPr>
          <p:nvPr/>
        </p:nvSpPr>
        <p:spPr bwMode="auto">
          <a:xfrm>
            <a:off x="1676401" y="-1488"/>
            <a:ext cx="18473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A3DB1D91-E14E-4234-A2A7-0D4682F75BF2}"/>
              </a:ext>
            </a:extLst>
          </p:cNvPr>
          <p:cNvGrpSpPr/>
          <p:nvPr/>
        </p:nvGrpSpPr>
        <p:grpSpPr>
          <a:xfrm>
            <a:off x="1676401" y="1658561"/>
            <a:ext cx="8812087" cy="4501862"/>
            <a:chOff x="152400" y="1658561"/>
            <a:chExt cx="8812087" cy="4501862"/>
          </a:xfrm>
        </p:grpSpPr>
        <p:sp>
          <p:nvSpPr>
            <p:cNvPr id="5" name="AutoShape 22"/>
            <p:cNvSpPr>
              <a:spLocks noChangeAspect="1" noChangeArrowheads="1" noTextEdit="1"/>
            </p:cNvSpPr>
            <p:nvPr/>
          </p:nvSpPr>
          <p:spPr bwMode="auto">
            <a:xfrm>
              <a:off x="152400" y="1658561"/>
              <a:ext cx="8812087" cy="4501862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050"/>
            </a:p>
          </p:txBody>
        </p:sp>
        <p:sp>
          <p:nvSpPr>
            <p:cNvPr id="6" name="Rectangle 21"/>
            <p:cNvSpPr>
              <a:spLocks noChangeArrowheads="1"/>
            </p:cNvSpPr>
            <p:nvPr/>
          </p:nvSpPr>
          <p:spPr bwMode="auto">
            <a:xfrm>
              <a:off x="347095" y="2273569"/>
              <a:ext cx="2208161" cy="42221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</a:pPr>
              <a:r>
                <a:rPr lang="fr-BE" altLang="en-US" sz="1600">
                  <a:solidFill>
                    <a:schemeClr val="tx1"/>
                  </a:solidFill>
                  <a:latin typeface="Calibri" pitchFamily="34" charset="0"/>
                  <a:ea typeface="Times New Roman" pitchFamily="18" charset="0"/>
                  <a:cs typeface="Times New Roman" pitchFamily="18" charset="0"/>
                </a:rPr>
                <a:t>Matrix computation</a:t>
              </a:r>
              <a:endParaRPr lang="fr-BE" altLang="en-US" sz="2800">
                <a:solidFill>
                  <a:schemeClr val="tx1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7" name="Rectangle 20"/>
            <p:cNvSpPr>
              <a:spLocks noChangeArrowheads="1"/>
            </p:cNvSpPr>
            <p:nvPr/>
          </p:nvSpPr>
          <p:spPr bwMode="auto">
            <a:xfrm>
              <a:off x="347095" y="1740944"/>
              <a:ext cx="2208161" cy="421066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</a:pPr>
              <a:r>
                <a:rPr lang="fr-BE" altLang="en-US" sz="1600" dirty="0">
                  <a:solidFill>
                    <a:schemeClr val="tx1"/>
                  </a:solidFill>
                  <a:latin typeface="Calibri" pitchFamily="34" charset="0"/>
                  <a:ea typeface="Times New Roman" pitchFamily="18" charset="0"/>
                  <a:cs typeface="Times New Roman" pitchFamily="18" charset="0"/>
                </a:rPr>
                <a:t>Basic data handling </a:t>
              </a:r>
              <a:endParaRPr lang="fr-BE" altLang="en-US" sz="28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8" name="Rectangle 19"/>
            <p:cNvSpPr>
              <a:spLocks noChangeArrowheads="1"/>
            </p:cNvSpPr>
            <p:nvPr/>
          </p:nvSpPr>
          <p:spPr bwMode="auto">
            <a:xfrm>
              <a:off x="347095" y="2807912"/>
              <a:ext cx="2208161" cy="421066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</a:pPr>
              <a:r>
                <a:rPr lang="en-US" altLang="en-US" sz="1600" dirty="0">
                  <a:solidFill>
                    <a:schemeClr val="tx1"/>
                  </a:solidFill>
                  <a:latin typeface="Calibri" pitchFamily="34" charset="0"/>
                  <a:ea typeface="Times New Roman" pitchFamily="18" charset="0"/>
                  <a:cs typeface="Times New Roman" pitchFamily="18" charset="0"/>
                </a:rPr>
                <a:t>Complex, </a:t>
              </a:r>
              <a:r>
                <a:rPr lang="en-US" altLang="en-US" sz="1600" dirty="0" err="1">
                  <a:solidFill>
                    <a:schemeClr val="tx1"/>
                  </a:solidFill>
                  <a:latin typeface="Calibri" pitchFamily="34" charset="0"/>
                  <a:ea typeface="Times New Roman" pitchFamily="18" charset="0"/>
                  <a:cs typeface="Times New Roman" pitchFamily="18" charset="0"/>
                </a:rPr>
                <a:t>polynomi</a:t>
              </a:r>
              <a:r>
                <a:rPr lang="fr-BE" altLang="en-US" sz="1600" dirty="0" err="1">
                  <a:solidFill>
                    <a:schemeClr val="tx1"/>
                  </a:solidFill>
                  <a:latin typeface="Calibri" pitchFamily="34" charset="0"/>
                  <a:ea typeface="Times New Roman" pitchFamily="18" charset="0"/>
                  <a:cs typeface="Times New Roman" pitchFamily="18" charset="0"/>
                </a:rPr>
                <a:t>als</a:t>
              </a:r>
              <a:endParaRPr lang="fr-BE" altLang="en-US" sz="28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9" name="Rectangle 18"/>
            <p:cNvSpPr>
              <a:spLocks noChangeArrowheads="1"/>
            </p:cNvSpPr>
            <p:nvPr/>
          </p:nvSpPr>
          <p:spPr bwMode="auto">
            <a:xfrm>
              <a:off x="347095" y="3342826"/>
              <a:ext cx="2208161" cy="42049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</a:pPr>
              <a:r>
                <a:rPr lang="fr-BE" altLang="en-US" sz="1600" dirty="0" err="1">
                  <a:solidFill>
                    <a:schemeClr val="tx1"/>
                  </a:solidFill>
                  <a:latin typeface="Calibri" pitchFamily="34" charset="0"/>
                  <a:ea typeface="Times New Roman" pitchFamily="18" charset="0"/>
                  <a:cs typeface="Times New Roman" pitchFamily="18" charset="0"/>
                </a:rPr>
                <a:t>Linear</a:t>
              </a:r>
              <a:r>
                <a:rPr lang="fr-BE" altLang="en-US" sz="1600" dirty="0">
                  <a:solidFill>
                    <a:schemeClr val="tx1"/>
                  </a:solidFill>
                  <a:latin typeface="Calibri" pitchFamily="34" charset="0"/>
                  <a:ea typeface="Times New Roman" pitchFamily="18" charset="0"/>
                  <a:cs typeface="Times New Roman" pitchFamily="18" charset="0"/>
                </a:rPr>
                <a:t> </a:t>
              </a:r>
              <a:r>
                <a:rPr lang="fr-BE" altLang="en-US" sz="1600" dirty="0" err="1">
                  <a:solidFill>
                    <a:schemeClr val="tx1"/>
                  </a:solidFill>
                  <a:latin typeface="Calibri" pitchFamily="34" charset="0"/>
                  <a:ea typeface="Times New Roman" pitchFamily="18" charset="0"/>
                  <a:cs typeface="Times New Roman" pitchFamily="18" charset="0"/>
                </a:rPr>
                <a:t>filters</a:t>
              </a:r>
              <a:endParaRPr lang="fr-BE" altLang="en-US" sz="28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" name="Rectangle 17"/>
            <p:cNvSpPr>
              <a:spLocks noChangeArrowheads="1"/>
            </p:cNvSpPr>
            <p:nvPr/>
          </p:nvSpPr>
          <p:spPr bwMode="auto">
            <a:xfrm>
              <a:off x="347095" y="3875452"/>
              <a:ext cx="2208161" cy="421066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</a:pPr>
              <a:r>
                <a:rPr lang="fr-BE" altLang="en-US" sz="1600" dirty="0" err="1">
                  <a:solidFill>
                    <a:schemeClr val="tx1"/>
                  </a:solidFill>
                  <a:latin typeface="Calibri" pitchFamily="34" charset="0"/>
                  <a:ea typeface="Times New Roman" pitchFamily="18" charset="0"/>
                  <a:cs typeface="Times New Roman" pitchFamily="18" charset="0"/>
                </a:rPr>
                <a:t>Function</a:t>
              </a:r>
              <a:r>
                <a:rPr lang="fr-BE" altLang="en-US" sz="1600" dirty="0">
                  <a:solidFill>
                    <a:schemeClr val="tx1"/>
                  </a:solidFill>
                  <a:latin typeface="Calibri" pitchFamily="34" charset="0"/>
                  <a:ea typeface="Times New Roman" pitchFamily="18" charset="0"/>
                  <a:cs typeface="Times New Roman" pitchFamily="18" charset="0"/>
                </a:rPr>
                <a:t> </a:t>
              </a:r>
              <a:r>
                <a:rPr lang="fr-BE" altLang="en-US" sz="1600" dirty="0" err="1">
                  <a:solidFill>
                    <a:schemeClr val="tx1"/>
                  </a:solidFill>
                  <a:latin typeface="Calibri" pitchFamily="34" charset="0"/>
                  <a:ea typeface="Times New Roman" pitchFamily="18" charset="0"/>
                  <a:cs typeface="Times New Roman" pitchFamily="18" charset="0"/>
                </a:rPr>
                <a:t>optimization</a:t>
              </a:r>
              <a:endParaRPr lang="fr-BE" altLang="en-US" sz="28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" name="Rectangle 16"/>
            <p:cNvSpPr>
              <a:spLocks noChangeArrowheads="1"/>
            </p:cNvSpPr>
            <p:nvPr/>
          </p:nvSpPr>
          <p:spPr bwMode="auto">
            <a:xfrm>
              <a:off x="347095" y="5568871"/>
              <a:ext cx="8293302" cy="421066"/>
            </a:xfrm>
            <a:prstGeom prst="rect">
              <a:avLst/>
            </a:prstGeom>
            <a:solidFill>
              <a:srgbClr val="C98DC6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</a:pPr>
              <a:r>
                <a:rPr lang="en-US" altLang="en-US" sz="1600">
                  <a:solidFill>
                    <a:schemeClr val="tx1"/>
                  </a:solidFill>
                  <a:latin typeface="Calibri" pitchFamily="34" charset="0"/>
                  <a:ea typeface="Times New Roman" pitchFamily="18" charset="0"/>
                  <a:cs typeface="Times New Roman" pitchFamily="18" charset="0"/>
                </a:rPr>
                <a:t>Time series, calendars, regression variables... </a:t>
              </a:r>
              <a:endParaRPr lang="en-US" altLang="en-US" sz="2800">
                <a:solidFill>
                  <a:schemeClr val="tx1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2" name="Rectangle 15"/>
            <p:cNvSpPr>
              <a:spLocks noChangeArrowheads="1"/>
            </p:cNvSpPr>
            <p:nvPr/>
          </p:nvSpPr>
          <p:spPr bwMode="auto">
            <a:xfrm>
              <a:off x="347095" y="4408650"/>
              <a:ext cx="2208161" cy="421066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</a:pPr>
              <a:r>
                <a:rPr lang="fr-BE" altLang="en-US" sz="1600" dirty="0">
                  <a:solidFill>
                    <a:schemeClr val="tx1"/>
                  </a:solidFill>
                  <a:latin typeface="Calibri" pitchFamily="34" charset="0"/>
                  <a:ea typeface="Times New Roman" pitchFamily="18" charset="0"/>
                  <a:cs typeface="Times New Roman" pitchFamily="18" charset="0"/>
                </a:rPr>
                <a:t>Basic </a:t>
              </a:r>
              <a:r>
                <a:rPr lang="fr-BE" altLang="en-US" sz="1600" dirty="0" err="1">
                  <a:solidFill>
                    <a:schemeClr val="tx1"/>
                  </a:solidFill>
                  <a:latin typeface="Calibri" pitchFamily="34" charset="0"/>
                  <a:ea typeface="Times New Roman" pitchFamily="18" charset="0"/>
                  <a:cs typeface="Times New Roman" pitchFamily="18" charset="0"/>
                </a:rPr>
                <a:t>statistics</a:t>
              </a:r>
              <a:endParaRPr lang="fr-BE" altLang="en-US" sz="28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3" name="Rectangle 14"/>
            <p:cNvSpPr>
              <a:spLocks noChangeArrowheads="1"/>
            </p:cNvSpPr>
            <p:nvPr/>
          </p:nvSpPr>
          <p:spPr bwMode="auto">
            <a:xfrm>
              <a:off x="347095" y="4941848"/>
              <a:ext cx="2208161" cy="419922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</a:pPr>
              <a:r>
                <a:rPr lang="fr-BE" altLang="en-US" sz="1600">
                  <a:solidFill>
                    <a:schemeClr val="tx1"/>
                  </a:solidFill>
                  <a:latin typeface="Calibri" pitchFamily="34" charset="0"/>
                  <a:ea typeface="Times New Roman" pitchFamily="18" charset="0"/>
                  <a:cs typeface="Times New Roman" pitchFamily="18" charset="0"/>
                </a:rPr>
                <a:t>Utilities...</a:t>
              </a:r>
              <a:endParaRPr lang="fr-BE" altLang="en-US" sz="2800">
                <a:solidFill>
                  <a:schemeClr val="tx1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4" name="Rectangle 13"/>
            <p:cNvSpPr>
              <a:spLocks noChangeArrowheads="1"/>
            </p:cNvSpPr>
            <p:nvPr/>
          </p:nvSpPr>
          <p:spPr bwMode="auto">
            <a:xfrm>
              <a:off x="2725766" y="1742088"/>
              <a:ext cx="1782492" cy="419922"/>
            </a:xfrm>
            <a:prstGeom prst="rect">
              <a:avLst/>
            </a:prstGeom>
            <a:solidFill>
              <a:srgbClr val="33CC33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</a:pPr>
              <a:r>
                <a:rPr lang="fr-BE" altLang="en-US" sz="1600" dirty="0">
                  <a:solidFill>
                    <a:schemeClr val="tx1"/>
                  </a:solidFill>
                  <a:latin typeface="Calibri" pitchFamily="34" charset="0"/>
                  <a:ea typeface="Times New Roman" pitchFamily="18" charset="0"/>
                  <a:cs typeface="Times New Roman" pitchFamily="18" charset="0"/>
                </a:rPr>
                <a:t>Basic </a:t>
              </a:r>
              <a:r>
                <a:rPr lang="fr-BE" altLang="en-US" sz="1600" dirty="0" err="1">
                  <a:solidFill>
                    <a:schemeClr val="tx1"/>
                  </a:solidFill>
                  <a:latin typeface="Calibri" pitchFamily="34" charset="0"/>
                  <a:ea typeface="Times New Roman" pitchFamily="18" charset="0"/>
                  <a:cs typeface="Times New Roman" pitchFamily="18" charset="0"/>
                </a:rPr>
                <a:t>econometrics</a:t>
              </a:r>
              <a:endParaRPr lang="fr-BE" altLang="en-US" sz="28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5" name="Rectangle 12"/>
            <p:cNvSpPr>
              <a:spLocks noChangeArrowheads="1"/>
            </p:cNvSpPr>
            <p:nvPr/>
          </p:nvSpPr>
          <p:spPr bwMode="auto">
            <a:xfrm>
              <a:off x="2725766" y="4232443"/>
              <a:ext cx="1782492" cy="487430"/>
            </a:xfrm>
            <a:prstGeom prst="rect">
              <a:avLst/>
            </a:prstGeom>
            <a:solidFill>
              <a:srgbClr val="33CC33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</a:pPr>
              <a:r>
                <a:rPr lang="fr-BE" altLang="en-US" sz="1600">
                  <a:solidFill>
                    <a:schemeClr val="tx1"/>
                  </a:solidFill>
                  <a:latin typeface="Calibri" pitchFamily="34" charset="0"/>
                  <a:ea typeface="Times New Roman" pitchFamily="18" charset="0"/>
                  <a:cs typeface="Times New Roman" pitchFamily="18" charset="0"/>
                </a:rPr>
                <a:t>Arima, Ucarima</a:t>
              </a:r>
              <a:endParaRPr lang="fr-BE" altLang="en-US" sz="2800">
                <a:solidFill>
                  <a:schemeClr val="tx1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6" name="Rectangle 11"/>
            <p:cNvSpPr>
              <a:spLocks noChangeArrowheads="1"/>
            </p:cNvSpPr>
            <p:nvPr/>
          </p:nvSpPr>
          <p:spPr bwMode="auto">
            <a:xfrm>
              <a:off x="6842184" y="2786317"/>
              <a:ext cx="1782492" cy="772946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</a:pPr>
              <a:r>
                <a:rPr lang="fr-BE" altLang="en-US" sz="1600" dirty="0">
                  <a:solidFill>
                    <a:schemeClr val="tx1"/>
                  </a:solidFill>
                  <a:latin typeface="Calibri" pitchFamily="34" charset="0"/>
                  <a:ea typeface="Times New Roman" pitchFamily="18" charset="0"/>
                  <a:cs typeface="Times New Roman" pitchFamily="18" charset="0"/>
                </a:rPr>
                <a:t>VAR,</a:t>
              </a:r>
              <a:endParaRPr lang="fr-BE" altLang="en-US" sz="1050" dirty="0">
                <a:solidFill>
                  <a:schemeClr val="tx1"/>
                </a:solidFill>
                <a:latin typeface="Arial" pitchFamily="34" charset="0"/>
                <a:cs typeface="Arial" pitchFamily="34" charset="0"/>
              </a:endParaRPr>
            </a:p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</a:pPr>
              <a:r>
                <a:rPr lang="fr-BE" altLang="en-US" sz="1600" dirty="0" err="1">
                  <a:solidFill>
                    <a:schemeClr val="tx1"/>
                  </a:solidFill>
                  <a:latin typeface="Calibri" pitchFamily="34" charset="0"/>
                  <a:ea typeface="Times New Roman" pitchFamily="18" charset="0"/>
                  <a:cs typeface="Times New Roman" pitchFamily="18" charset="0"/>
                </a:rPr>
                <a:t>Dynamic</a:t>
              </a:r>
              <a:r>
                <a:rPr lang="fr-BE" altLang="en-US" sz="1600" dirty="0">
                  <a:solidFill>
                    <a:schemeClr val="tx1"/>
                  </a:solidFill>
                  <a:latin typeface="Calibri" pitchFamily="34" charset="0"/>
                  <a:ea typeface="Times New Roman" pitchFamily="18" charset="0"/>
                  <a:cs typeface="Times New Roman" pitchFamily="18" charset="0"/>
                </a:rPr>
                <a:t> factor model</a:t>
              </a:r>
              <a:endParaRPr lang="fr-BE" altLang="en-US" sz="28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7" name="Rectangle 10"/>
            <p:cNvSpPr>
              <a:spLocks noChangeArrowheads="1"/>
            </p:cNvSpPr>
            <p:nvPr/>
          </p:nvSpPr>
          <p:spPr bwMode="auto">
            <a:xfrm>
              <a:off x="4678768" y="3805656"/>
              <a:ext cx="1919141" cy="386740"/>
            </a:xfrm>
            <a:prstGeom prst="rect">
              <a:avLst/>
            </a:prstGeom>
            <a:solidFill>
              <a:srgbClr val="FFFF66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</a:pPr>
              <a:r>
                <a:rPr lang="fr-BE" altLang="en-US" sz="1600" dirty="0" err="1">
                  <a:solidFill>
                    <a:schemeClr val="tx1"/>
                  </a:solidFill>
                  <a:latin typeface="Calibri" pitchFamily="34" charset="0"/>
                  <a:ea typeface="Times New Roman" pitchFamily="18" charset="0"/>
                  <a:cs typeface="Times New Roman" pitchFamily="18" charset="0"/>
                </a:rPr>
                <a:t>Seats</a:t>
              </a:r>
              <a:endParaRPr lang="fr-BE" altLang="en-US" sz="28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8" name="Rectangle 9"/>
            <p:cNvSpPr>
              <a:spLocks noChangeArrowheads="1"/>
            </p:cNvSpPr>
            <p:nvPr/>
          </p:nvSpPr>
          <p:spPr bwMode="auto">
            <a:xfrm>
              <a:off x="4716256" y="3290765"/>
              <a:ext cx="1919141" cy="385596"/>
            </a:xfrm>
            <a:prstGeom prst="rect">
              <a:avLst/>
            </a:prstGeom>
            <a:solidFill>
              <a:srgbClr val="FFFF66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</a:pPr>
              <a:r>
                <a:rPr lang="fr-BE" altLang="en-US" sz="1600">
                  <a:solidFill>
                    <a:schemeClr val="tx1"/>
                  </a:solidFill>
                  <a:latin typeface="Calibri" pitchFamily="34" charset="0"/>
                  <a:ea typeface="Times New Roman" pitchFamily="18" charset="0"/>
                  <a:cs typeface="Times New Roman" pitchFamily="18" charset="0"/>
                </a:rPr>
                <a:t>X11</a:t>
              </a:r>
              <a:endParaRPr lang="fr-BE" altLang="en-US" sz="2800">
                <a:solidFill>
                  <a:schemeClr val="tx1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9" name="Rectangle 8"/>
            <p:cNvSpPr>
              <a:spLocks noChangeArrowheads="1"/>
            </p:cNvSpPr>
            <p:nvPr/>
          </p:nvSpPr>
          <p:spPr bwMode="auto">
            <a:xfrm>
              <a:off x="2718511" y="4941848"/>
              <a:ext cx="5914631" cy="419922"/>
            </a:xfrm>
            <a:prstGeom prst="rect">
              <a:avLst/>
            </a:prstGeom>
            <a:solidFill>
              <a:srgbClr val="00B0F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</a:pPr>
              <a:r>
                <a:rPr lang="fr-BE" altLang="en-US" sz="1600">
                  <a:solidFill>
                    <a:schemeClr val="tx1"/>
                  </a:solidFill>
                  <a:latin typeface="Calibri" pitchFamily="34" charset="0"/>
                  <a:ea typeface="Times New Roman" pitchFamily="18" charset="0"/>
                  <a:cs typeface="Times New Roman" pitchFamily="18" charset="0"/>
                </a:rPr>
                <a:t>State space framework</a:t>
              </a:r>
              <a:endParaRPr lang="fr-BE" altLang="en-US" sz="2800">
                <a:solidFill>
                  <a:schemeClr val="tx1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0" name="Rectangle 7"/>
            <p:cNvSpPr>
              <a:spLocks noChangeArrowheads="1"/>
            </p:cNvSpPr>
            <p:nvPr/>
          </p:nvSpPr>
          <p:spPr bwMode="auto">
            <a:xfrm>
              <a:off x="2725766" y="2288444"/>
              <a:ext cx="1782492" cy="840988"/>
            </a:xfrm>
            <a:prstGeom prst="rect">
              <a:avLst/>
            </a:prstGeom>
            <a:solidFill>
              <a:srgbClr val="33CC33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</a:pPr>
              <a:r>
                <a:rPr lang="fr-BE" altLang="en-US" sz="1600" dirty="0" err="1">
                  <a:solidFill>
                    <a:schemeClr val="tx1"/>
                  </a:solidFill>
                  <a:latin typeface="Calibri" pitchFamily="34" charset="0"/>
                  <a:ea typeface="Times New Roman" pitchFamily="18" charset="0"/>
                  <a:cs typeface="Times New Roman" pitchFamily="18" charset="0"/>
                </a:rPr>
                <a:t>Arima</a:t>
              </a:r>
              <a:r>
                <a:rPr lang="fr-BE" altLang="en-US" sz="1600" dirty="0">
                  <a:solidFill>
                    <a:schemeClr val="tx1"/>
                  </a:solidFill>
                  <a:latin typeface="Calibri" pitchFamily="34" charset="0"/>
                  <a:ea typeface="Times New Roman" pitchFamily="18" charset="0"/>
                  <a:cs typeface="Times New Roman" pitchFamily="18" charset="0"/>
                </a:rPr>
                <a:t> </a:t>
              </a:r>
              <a:r>
                <a:rPr lang="fr-BE" altLang="en-US" sz="1600" dirty="0" err="1">
                  <a:solidFill>
                    <a:schemeClr val="tx1"/>
                  </a:solidFill>
                  <a:latin typeface="Calibri" pitchFamily="34" charset="0"/>
                  <a:ea typeface="Times New Roman" pitchFamily="18" charset="0"/>
                  <a:cs typeface="Times New Roman" pitchFamily="18" charset="0"/>
                </a:rPr>
                <a:t>modelling</a:t>
              </a:r>
              <a:endParaRPr lang="fr-BE" altLang="en-US" sz="28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1" name="Rectangle 6"/>
            <p:cNvSpPr>
              <a:spLocks noChangeArrowheads="1"/>
            </p:cNvSpPr>
            <p:nvPr/>
          </p:nvSpPr>
          <p:spPr bwMode="auto">
            <a:xfrm>
              <a:off x="4731976" y="2345082"/>
              <a:ext cx="1919141" cy="317516"/>
            </a:xfrm>
            <a:prstGeom prst="rect">
              <a:avLst/>
            </a:prstGeom>
            <a:solidFill>
              <a:srgbClr val="FFFF66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</a:pPr>
              <a:r>
                <a:rPr lang="fr-BE" altLang="en-US" sz="1600">
                  <a:solidFill>
                    <a:schemeClr val="tx1"/>
                  </a:solidFill>
                  <a:latin typeface="Calibri" pitchFamily="34" charset="0"/>
                  <a:ea typeface="Times New Roman" pitchFamily="18" charset="0"/>
                  <a:cs typeface="Times New Roman" pitchFamily="18" charset="0"/>
                </a:rPr>
                <a:t>RegArima</a:t>
              </a:r>
              <a:endParaRPr lang="fr-BE" altLang="en-US" sz="2800">
                <a:solidFill>
                  <a:schemeClr val="tx1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2" name="Rectangle 5"/>
            <p:cNvSpPr>
              <a:spLocks noChangeArrowheads="1"/>
            </p:cNvSpPr>
            <p:nvPr/>
          </p:nvSpPr>
          <p:spPr bwMode="auto">
            <a:xfrm>
              <a:off x="4731976" y="1866234"/>
              <a:ext cx="1919141" cy="316944"/>
            </a:xfrm>
            <a:prstGeom prst="rect">
              <a:avLst/>
            </a:prstGeom>
            <a:solidFill>
              <a:srgbClr val="FFFF66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</a:pPr>
              <a:r>
                <a:rPr lang="fr-BE" altLang="en-US" sz="1600" dirty="0" err="1">
                  <a:solidFill>
                    <a:schemeClr val="tx1"/>
                  </a:solidFill>
                  <a:latin typeface="Calibri" pitchFamily="34" charset="0"/>
                  <a:ea typeface="Times New Roman" pitchFamily="18" charset="0"/>
                  <a:cs typeface="Times New Roman" pitchFamily="18" charset="0"/>
                </a:rPr>
                <a:t>Tramo</a:t>
              </a:r>
              <a:endParaRPr lang="fr-BE" altLang="en-US" sz="28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3" name="Rectangle 4"/>
            <p:cNvSpPr>
              <a:spLocks noChangeArrowheads="1"/>
            </p:cNvSpPr>
            <p:nvPr/>
          </p:nvSpPr>
          <p:spPr bwMode="auto">
            <a:xfrm>
              <a:off x="2725766" y="3228978"/>
              <a:ext cx="1782492" cy="867877"/>
            </a:xfrm>
            <a:prstGeom prst="rect">
              <a:avLst/>
            </a:prstGeom>
            <a:solidFill>
              <a:srgbClr val="33CC33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</a:pPr>
              <a:r>
                <a:rPr lang="fr-BE" altLang="en-US" sz="1600">
                  <a:solidFill>
                    <a:schemeClr val="tx1"/>
                  </a:solidFill>
                  <a:latin typeface="Calibri" pitchFamily="34" charset="0"/>
                  <a:ea typeface="Times New Roman" pitchFamily="18" charset="0"/>
                  <a:cs typeface="Times New Roman" pitchFamily="18" charset="0"/>
                </a:rPr>
                <a:t>Seasonal adjustment</a:t>
              </a:r>
              <a:endParaRPr lang="fr-BE" altLang="en-US" sz="2800">
                <a:solidFill>
                  <a:schemeClr val="tx1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4" name="Rectangle 3"/>
            <p:cNvSpPr>
              <a:spLocks noChangeArrowheads="1"/>
            </p:cNvSpPr>
            <p:nvPr/>
          </p:nvSpPr>
          <p:spPr bwMode="auto">
            <a:xfrm>
              <a:off x="4716256" y="2803335"/>
              <a:ext cx="1919141" cy="339256"/>
            </a:xfrm>
            <a:prstGeom prst="rect">
              <a:avLst/>
            </a:prstGeom>
            <a:solidFill>
              <a:srgbClr val="FFFF66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</a:pPr>
              <a:r>
                <a:rPr lang="fr-BE" altLang="en-US" sz="1600">
                  <a:solidFill>
                    <a:schemeClr val="tx1"/>
                  </a:solidFill>
                  <a:latin typeface="Calibri" pitchFamily="34" charset="0"/>
                  <a:ea typeface="Times New Roman" pitchFamily="18" charset="0"/>
                  <a:cs typeface="Times New Roman" pitchFamily="18" charset="0"/>
                </a:rPr>
                <a:t>Structural models...</a:t>
              </a:r>
              <a:endParaRPr lang="fr-BE" altLang="en-US" sz="2800">
                <a:solidFill>
                  <a:schemeClr val="tx1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5" name="Rectangle 2"/>
            <p:cNvSpPr>
              <a:spLocks noChangeArrowheads="1"/>
            </p:cNvSpPr>
            <p:nvPr/>
          </p:nvSpPr>
          <p:spPr bwMode="auto">
            <a:xfrm>
              <a:off x="6850649" y="1866234"/>
              <a:ext cx="1774027" cy="796365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</a:pPr>
              <a:r>
                <a:rPr lang="fr-BE" altLang="en-US" sz="1600" dirty="0" err="1">
                  <a:solidFill>
                    <a:schemeClr val="tx1"/>
                  </a:solidFill>
                  <a:latin typeface="Calibri" pitchFamily="34" charset="0"/>
                  <a:ea typeface="Times New Roman" pitchFamily="18" charset="0"/>
                  <a:cs typeface="Times New Roman" pitchFamily="18" charset="0"/>
                </a:rPr>
                <a:t>Benchmarking</a:t>
              </a:r>
              <a:r>
                <a:rPr lang="fr-BE" altLang="en-US" sz="1600" dirty="0">
                  <a:solidFill>
                    <a:schemeClr val="tx1"/>
                  </a:solidFill>
                  <a:latin typeface="Calibri" pitchFamily="34" charset="0"/>
                  <a:ea typeface="Times New Roman" pitchFamily="18" charset="0"/>
                  <a:cs typeface="Times New Roman" pitchFamily="18" charset="0"/>
                </a:rPr>
                <a:t>, temporal </a:t>
              </a:r>
              <a:r>
                <a:rPr lang="fr-BE" altLang="en-US" sz="1600" dirty="0" err="1">
                  <a:solidFill>
                    <a:schemeClr val="tx1"/>
                  </a:solidFill>
                  <a:latin typeface="Calibri" pitchFamily="34" charset="0"/>
                  <a:ea typeface="Times New Roman" pitchFamily="18" charset="0"/>
                  <a:cs typeface="Times New Roman" pitchFamily="18" charset="0"/>
                </a:rPr>
                <a:t>disaggregation</a:t>
              </a:r>
              <a:endParaRPr lang="fr-BE" altLang="en-US" sz="28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9" name="Rectangle 10">
              <a:extLst>
                <a:ext uri="{FF2B5EF4-FFF2-40B4-BE49-F238E27FC236}">
                  <a16:creationId xmlns:a16="http://schemas.microsoft.com/office/drawing/2014/main" id="{60E6EABA-5613-4BB8-AB1C-3564D1BC9E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5211" y="4330273"/>
              <a:ext cx="1919141" cy="386740"/>
            </a:xfrm>
            <a:prstGeom prst="rect">
              <a:avLst/>
            </a:prstGeom>
            <a:solidFill>
              <a:srgbClr val="FFFF66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</a:pPr>
              <a:r>
                <a:rPr lang="fr-BE" altLang="en-US" sz="1600" dirty="0">
                  <a:solidFill>
                    <a:schemeClr val="tx1"/>
                  </a:solidFill>
                  <a:latin typeface="Calibri" pitchFamily="34" charset="0"/>
                  <a:ea typeface="Times New Roman" pitchFamily="18" charset="0"/>
                  <a:cs typeface="Times New Roman" pitchFamily="18" charset="0"/>
                </a:rPr>
                <a:t>STL</a:t>
              </a:r>
              <a:endParaRPr lang="fr-BE" altLang="en-US" sz="28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1" name="Rectangle 11">
              <a:extLst>
                <a:ext uri="{FF2B5EF4-FFF2-40B4-BE49-F238E27FC236}">
                  <a16:creationId xmlns:a16="http://schemas.microsoft.com/office/drawing/2014/main" id="{E36948B1-784E-4F8F-808F-ABDA8C5269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27767" y="3697825"/>
              <a:ext cx="1782492" cy="47848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</a:pPr>
              <a:r>
                <a:rPr lang="fr-BE" altLang="en-US" sz="1600" dirty="0">
                  <a:solidFill>
                    <a:schemeClr val="tx1"/>
                  </a:solidFill>
                  <a:latin typeface="Calibri" pitchFamily="34" charset="0"/>
                  <a:cs typeface="Times New Roman" pitchFamily="18" charset="0"/>
                </a:rPr>
                <a:t>High </a:t>
              </a:r>
              <a:r>
                <a:rPr lang="fr-BE" altLang="en-US" sz="1600" dirty="0" err="1">
                  <a:solidFill>
                    <a:schemeClr val="tx1"/>
                  </a:solidFill>
                  <a:latin typeface="Calibri" pitchFamily="34" charset="0"/>
                  <a:cs typeface="Times New Roman" pitchFamily="18" charset="0"/>
                </a:rPr>
                <a:t>frequency</a:t>
              </a:r>
              <a:endParaRPr lang="fr-BE" altLang="en-US" sz="28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3" name="Rectangle 11">
              <a:extLst>
                <a:ext uri="{FF2B5EF4-FFF2-40B4-BE49-F238E27FC236}">
                  <a16:creationId xmlns:a16="http://schemas.microsoft.com/office/drawing/2014/main" id="{038E247E-D602-4E21-86E0-C5F045C538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15538" y="4308715"/>
              <a:ext cx="1782492" cy="47848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</a:pPr>
              <a:r>
                <a:rPr lang="fr-BE" altLang="en-US" sz="1600" dirty="0" err="1">
                  <a:solidFill>
                    <a:schemeClr val="tx1"/>
                  </a:solidFill>
                  <a:latin typeface="Calibri" pitchFamily="34" charset="0"/>
                  <a:cs typeface="Times New Roman" pitchFamily="18" charset="0"/>
                </a:rPr>
                <a:t>Revisions</a:t>
              </a:r>
              <a:r>
                <a:rPr lang="fr-BE" altLang="en-US" sz="1600" dirty="0">
                  <a:solidFill>
                    <a:schemeClr val="tx1"/>
                  </a:solidFill>
                  <a:latin typeface="Calibri" pitchFamily="34" charset="0"/>
                  <a:cs typeface="Times New Roman" pitchFamily="18" charset="0"/>
                </a:rPr>
                <a:t> </a:t>
              </a:r>
              <a:r>
                <a:rPr lang="fr-BE" altLang="en-US" sz="1600" dirty="0" err="1">
                  <a:solidFill>
                    <a:schemeClr val="tx1"/>
                  </a:solidFill>
                  <a:latin typeface="Calibri" pitchFamily="34" charset="0"/>
                  <a:cs typeface="Times New Roman" pitchFamily="18" charset="0"/>
                </a:rPr>
                <a:t>analysis</a:t>
              </a:r>
              <a:endParaRPr lang="fr-BE" altLang="en-US" sz="28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256367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b="0" dirty="0"/>
              <a:t>4. Seasonal adjustment framework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E3635438-27DE-EEBE-837C-53640DA3FD9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27CDA0C-01AE-4E2F-8829-AAF8EAAF9DB3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294967295"/>
          </p:nvPr>
        </p:nvSpPr>
        <p:spPr>
          <a:xfrm>
            <a:off x="0" y="0"/>
            <a:ext cx="0" cy="0"/>
          </a:xfrm>
        </p:spPr>
        <p:txBody>
          <a:bodyPr/>
          <a:lstStyle/>
          <a:p>
            <a:r>
              <a:rPr lang="en-US"/>
              <a:t>ESTP Training. JD+ Overview</a:t>
            </a:r>
          </a:p>
        </p:txBody>
      </p:sp>
      <p:sp>
        <p:nvSpPr>
          <p:cNvPr id="4" name="Rounded Rectangle 3"/>
          <p:cNvSpPr/>
          <p:nvPr/>
        </p:nvSpPr>
        <p:spPr bwMode="auto">
          <a:xfrm>
            <a:off x="3143672" y="2312876"/>
            <a:ext cx="4752528" cy="4104456"/>
          </a:xfrm>
          <a:prstGeom prst="roundRect">
            <a:avLst/>
          </a:prstGeom>
          <a:solidFill>
            <a:schemeClr val="tx2">
              <a:lumMod val="90000"/>
            </a:schemeClr>
          </a:solidFill>
          <a:ln w="38100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fr-BE" sz="2000" dirty="0">
                <a:solidFill>
                  <a:schemeClr val="bg2"/>
                </a:solidFill>
                <a:latin typeface="Times New Roman" pitchFamily="18" charset="0"/>
              </a:rPr>
              <a:t>SA </a:t>
            </a:r>
            <a:r>
              <a:rPr lang="fr-BE" sz="2000" dirty="0" err="1">
                <a:solidFill>
                  <a:schemeClr val="bg2"/>
                </a:solidFill>
                <a:latin typeface="Times New Roman" pitchFamily="18" charset="0"/>
              </a:rPr>
              <a:t>methods</a:t>
            </a:r>
            <a:endParaRPr lang="en-GB" sz="2000" dirty="0">
              <a:solidFill>
                <a:schemeClr val="bg2"/>
              </a:solidFill>
              <a:latin typeface="Times New Roman" pitchFamily="18" charset="0"/>
            </a:endParaRPr>
          </a:p>
        </p:txBody>
      </p:sp>
      <p:sp>
        <p:nvSpPr>
          <p:cNvPr id="5" name="Rectangle 4"/>
          <p:cNvSpPr/>
          <p:nvPr/>
        </p:nvSpPr>
        <p:spPr bwMode="auto">
          <a:xfrm>
            <a:off x="9138742" y="993334"/>
            <a:ext cx="2232248" cy="20882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GB" sz="16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</a:rPr>
              <a:t>Generic modules:</a:t>
            </a:r>
            <a:endParaRPr lang="en-GB" dirty="0">
              <a:solidFill>
                <a:schemeClr val="accent1">
                  <a:lumMod val="75000"/>
                </a:schemeClr>
              </a:solidFill>
              <a:latin typeface="Times New Roman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itchFamily="34" charset="0"/>
              <a:buChar char="•"/>
            </a:pPr>
            <a:r>
              <a:rPr lang="en-GB" dirty="0">
                <a:solidFill>
                  <a:schemeClr val="accent1">
                    <a:lumMod val="75000"/>
                  </a:schemeClr>
                </a:solidFill>
              </a:rPr>
              <a:t>Analysis </a:t>
            </a:r>
          </a:p>
          <a:p>
            <a:pPr lvl="1">
              <a:buFont typeface="Arial" pitchFamily="34" charset="0"/>
              <a:buChar char="•"/>
            </a:pPr>
            <a:r>
              <a:rPr lang="en-GB" dirty="0">
                <a:solidFill>
                  <a:schemeClr val="accent1">
                    <a:lumMod val="75000"/>
                  </a:schemeClr>
                </a:solidFill>
              </a:rPr>
              <a:t>Seasonality tests</a:t>
            </a:r>
          </a:p>
          <a:p>
            <a:pPr lvl="1">
              <a:buFont typeface="Arial" pitchFamily="34" charset="0"/>
              <a:buChar char="•"/>
            </a:pPr>
            <a:r>
              <a:rPr lang="en-GB" dirty="0">
                <a:solidFill>
                  <a:schemeClr val="accent1">
                    <a:lumMod val="75000"/>
                  </a:schemeClr>
                </a:solidFill>
              </a:rPr>
              <a:t>Revision analysis</a:t>
            </a:r>
          </a:p>
          <a:p>
            <a:pPr lvl="1">
              <a:buFont typeface="Arial" pitchFamily="34" charset="0"/>
              <a:buChar char="•"/>
            </a:pPr>
            <a:r>
              <a:rPr lang="en-GB" dirty="0">
                <a:solidFill>
                  <a:schemeClr val="accent1">
                    <a:lumMod val="75000"/>
                  </a:schemeClr>
                </a:solidFill>
              </a:rPr>
              <a:t>Sliding spans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itchFamily="34" charset="0"/>
              <a:buChar char="•"/>
            </a:pPr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</a:rPr>
              <a:t>I/O (common xml schema)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itchFamily="34" charset="0"/>
              <a:buChar char="•"/>
            </a:pPr>
            <a:r>
              <a:rPr lang="en-GB" dirty="0">
                <a:solidFill>
                  <a:schemeClr val="accent1">
                    <a:lumMod val="75000"/>
                  </a:schemeClr>
                </a:solidFill>
              </a:rPr>
              <a:t>Graphical components</a:t>
            </a:r>
          </a:p>
          <a:p>
            <a:pPr lvl="1">
              <a:buFont typeface="Arial" pitchFamily="34" charset="0"/>
              <a:buChar char="•"/>
            </a:pPr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</a:rPr>
              <a:t>Charts</a:t>
            </a:r>
          </a:p>
          <a:p>
            <a:pPr lvl="1">
              <a:buFont typeface="Arial" pitchFamily="34" charset="0"/>
              <a:buChar char="•"/>
            </a:pPr>
            <a:r>
              <a:rPr lang="en-GB" dirty="0">
                <a:solidFill>
                  <a:schemeClr val="accent1">
                    <a:lumMod val="75000"/>
                  </a:schemeClr>
                </a:solidFill>
              </a:rPr>
              <a:t>SI ratios...</a:t>
            </a:r>
            <a:endParaRPr lang="en-GB" dirty="0">
              <a:solidFill>
                <a:schemeClr val="accent1">
                  <a:lumMod val="75000"/>
                </a:schemeClr>
              </a:solidFill>
              <a:latin typeface="Times New Roman" pitchFamily="18" charset="0"/>
            </a:endParaRPr>
          </a:p>
        </p:txBody>
      </p:sp>
      <p:cxnSp>
        <p:nvCxnSpPr>
          <p:cNvPr id="15" name="Elbow Connector 14"/>
          <p:cNvCxnSpPr>
            <a:stCxn id="5" idx="1"/>
            <a:endCxn id="4" idx="0"/>
          </p:cNvCxnSpPr>
          <p:nvPr/>
        </p:nvCxnSpPr>
        <p:spPr bwMode="auto">
          <a:xfrm rot="10800000" flipV="1">
            <a:off x="5519936" y="2037450"/>
            <a:ext cx="3618806" cy="275426"/>
          </a:xfrm>
          <a:prstGeom prst="bentConnector2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8" name="Rounded Rectangle 17"/>
          <p:cNvSpPr/>
          <p:nvPr/>
        </p:nvSpPr>
        <p:spPr bwMode="auto">
          <a:xfrm>
            <a:off x="3359696" y="2960948"/>
            <a:ext cx="2448272" cy="3096344"/>
          </a:xfrm>
          <a:prstGeom prst="roundRect">
            <a:avLst/>
          </a:prstGeom>
          <a:noFill/>
          <a:ln w="38100" cap="flat" cmpd="sng" algn="ctr">
            <a:solidFill>
              <a:schemeClr val="accent5">
                <a:lumMod val="40000"/>
                <a:lumOff val="60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fr-BE" sz="1200" dirty="0" err="1">
                <a:solidFill>
                  <a:schemeClr val="bg2"/>
                </a:solidFill>
                <a:latin typeface="Times New Roman" pitchFamily="18" charset="0"/>
              </a:rPr>
              <a:t>Tramo-Seats</a:t>
            </a:r>
            <a:r>
              <a:rPr lang="fr-BE" sz="1200" dirty="0">
                <a:solidFill>
                  <a:schemeClr val="bg2"/>
                </a:solidFill>
                <a:latin typeface="Times New Roman" pitchFamily="18" charset="0"/>
              </a:rPr>
              <a:t>, X12-Arima...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GB" sz="1200" dirty="0">
              <a:solidFill>
                <a:schemeClr val="accent3"/>
              </a:solidFill>
              <a:latin typeface="Times New Roman" pitchFamily="18" charset="0"/>
            </a:endParaRPr>
          </a:p>
        </p:txBody>
      </p:sp>
      <p:sp>
        <p:nvSpPr>
          <p:cNvPr id="19" name="Rounded Rectangle 18"/>
          <p:cNvSpPr/>
          <p:nvPr/>
        </p:nvSpPr>
        <p:spPr bwMode="auto">
          <a:xfrm>
            <a:off x="4655840" y="4833156"/>
            <a:ext cx="3024336" cy="1080120"/>
          </a:xfrm>
          <a:prstGeom prst="roundRect">
            <a:avLst/>
          </a:prstGeom>
          <a:noFill/>
          <a:ln w="38100" cap="flat" cmpd="sng" algn="ctr">
            <a:solidFill>
              <a:srgbClr val="33CC33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r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fr-BE" sz="1200" dirty="0">
                <a:solidFill>
                  <a:schemeClr val="bg2"/>
                </a:solidFill>
                <a:latin typeface="Times New Roman" pitchFamily="18" charset="0"/>
              </a:rPr>
              <a:t>Model-</a:t>
            </a:r>
            <a:r>
              <a:rPr lang="fr-BE" sz="1200" dirty="0" err="1">
                <a:solidFill>
                  <a:schemeClr val="bg2"/>
                </a:solidFill>
                <a:latin typeface="Times New Roman" pitchFamily="18" charset="0"/>
              </a:rPr>
              <a:t>based</a:t>
            </a:r>
            <a:r>
              <a:rPr lang="fr-BE" sz="1200" dirty="0">
                <a:solidFill>
                  <a:schemeClr val="bg2"/>
                </a:solidFill>
                <a:latin typeface="Times New Roman" pitchFamily="18" charset="0"/>
              </a:rPr>
              <a:t> </a:t>
            </a:r>
            <a:r>
              <a:rPr lang="fr-BE" sz="1200" dirty="0" err="1">
                <a:solidFill>
                  <a:schemeClr val="bg2"/>
                </a:solidFill>
                <a:latin typeface="Times New Roman" pitchFamily="18" charset="0"/>
              </a:rPr>
              <a:t>decomposition</a:t>
            </a:r>
            <a:endParaRPr lang="fr-BE" sz="1200" dirty="0">
              <a:solidFill>
                <a:schemeClr val="bg2"/>
              </a:solidFill>
              <a:latin typeface="Times New Roman" pitchFamily="18" charset="0"/>
            </a:endParaRPr>
          </a:p>
          <a:p>
            <a:pPr algn="r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fr-BE" sz="1200" dirty="0">
                <a:solidFill>
                  <a:schemeClr val="bg2"/>
                </a:solidFill>
              </a:rPr>
              <a:t>(canonical </a:t>
            </a:r>
            <a:r>
              <a:rPr lang="fr-BE" sz="1200" dirty="0" err="1">
                <a:solidFill>
                  <a:schemeClr val="bg2"/>
                </a:solidFill>
              </a:rPr>
              <a:t>decomposition</a:t>
            </a:r>
            <a:r>
              <a:rPr lang="fr-BE" sz="1200" dirty="0">
                <a:solidFill>
                  <a:schemeClr val="bg2"/>
                </a:solidFill>
              </a:rPr>
              <a:t>, </a:t>
            </a:r>
          </a:p>
          <a:p>
            <a:pPr algn="r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fr-BE" sz="1200" dirty="0">
                <a:solidFill>
                  <a:schemeClr val="bg2"/>
                </a:solidFill>
              </a:rPr>
              <a:t>structural </a:t>
            </a:r>
            <a:r>
              <a:rPr lang="fr-BE" sz="1200" dirty="0" err="1">
                <a:solidFill>
                  <a:schemeClr val="bg2"/>
                </a:solidFill>
              </a:rPr>
              <a:t>models</a:t>
            </a:r>
            <a:r>
              <a:rPr lang="fr-BE" sz="1200" dirty="0">
                <a:solidFill>
                  <a:schemeClr val="bg2"/>
                </a:solidFill>
              </a:rPr>
              <a:t>...)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GB" sz="1200" dirty="0">
              <a:solidFill>
                <a:schemeClr val="bg2"/>
              </a:solidFill>
              <a:latin typeface="Times New Roman" pitchFamily="18" charset="0"/>
            </a:endParaRPr>
          </a:p>
        </p:txBody>
      </p:sp>
      <p:sp>
        <p:nvSpPr>
          <p:cNvPr id="32" name="Rectangle 31"/>
          <p:cNvSpPr/>
          <p:nvPr/>
        </p:nvSpPr>
        <p:spPr bwMode="auto">
          <a:xfrm>
            <a:off x="9142857" y="5229200"/>
            <a:ext cx="2245791" cy="100811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GB" sz="16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</a:rPr>
              <a:t>Signal extraction tools:</a:t>
            </a:r>
            <a:endParaRPr lang="en-GB" dirty="0">
              <a:solidFill>
                <a:schemeClr val="accent1">
                  <a:lumMod val="75000"/>
                </a:schemeClr>
              </a:solidFill>
              <a:latin typeface="Times New Roman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itchFamily="34" charset="0"/>
              <a:buChar char="•"/>
            </a:pPr>
            <a:r>
              <a:rPr lang="en-GB" dirty="0">
                <a:solidFill>
                  <a:schemeClr val="accent1">
                    <a:lumMod val="75000"/>
                  </a:schemeClr>
                </a:solidFill>
              </a:rPr>
              <a:t>Estimation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itchFamily="34" charset="0"/>
              <a:buChar char="•"/>
            </a:pPr>
            <a:r>
              <a:rPr lang="en-GB" dirty="0">
                <a:solidFill>
                  <a:schemeClr val="accent1">
                    <a:lumMod val="75000"/>
                  </a:schemeClr>
                </a:solidFill>
              </a:rPr>
              <a:t>Analysis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itchFamily="34" charset="0"/>
              <a:buChar char="•"/>
            </a:pPr>
            <a:r>
              <a:rPr lang="en-GB" dirty="0">
                <a:solidFill>
                  <a:schemeClr val="accent1">
                    <a:lumMod val="75000"/>
                  </a:schemeClr>
                </a:solidFill>
              </a:rPr>
              <a:t>Graphical components</a:t>
            </a:r>
          </a:p>
        </p:txBody>
      </p:sp>
      <p:cxnSp>
        <p:nvCxnSpPr>
          <p:cNvPr id="34" name="Elbow Connector 33"/>
          <p:cNvCxnSpPr>
            <a:cxnSpLocks/>
            <a:stCxn id="32" idx="1"/>
            <a:endCxn id="19" idx="3"/>
          </p:cNvCxnSpPr>
          <p:nvPr/>
        </p:nvCxnSpPr>
        <p:spPr bwMode="auto">
          <a:xfrm rot="10800000">
            <a:off x="7680177" y="5373216"/>
            <a:ext cx="1462681" cy="360040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38100" cap="flat" cmpd="sng" algn="ctr">
            <a:solidFill>
              <a:srgbClr val="33CC33"/>
            </a:solidFill>
            <a:prstDash val="sysDot"/>
            <a:round/>
            <a:headEnd type="none" w="med" len="med"/>
            <a:tailEnd type="arrow"/>
          </a:ln>
          <a:effectLst/>
        </p:spPr>
      </p:cxnSp>
      <p:sp>
        <p:nvSpPr>
          <p:cNvPr id="47" name="Rectangle 46"/>
          <p:cNvSpPr/>
          <p:nvPr/>
        </p:nvSpPr>
        <p:spPr bwMode="auto">
          <a:xfrm>
            <a:off x="1703512" y="2816932"/>
            <a:ext cx="1224136" cy="309634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GB" sz="16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</a:rPr>
              <a:t>Specific modules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GB" sz="1600" dirty="0">
              <a:solidFill>
                <a:schemeClr val="accent1">
                  <a:lumMod val="75000"/>
                </a:schemeClr>
              </a:solidFill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GB" sz="1600" dirty="0">
                <a:solidFill>
                  <a:schemeClr val="accent1">
                    <a:lumMod val="75000"/>
                  </a:schemeClr>
                </a:solidFill>
              </a:rPr>
              <a:t>(X11, STL..</a:t>
            </a:r>
            <a:r>
              <a:rPr lang="fr-BE" sz="1600" dirty="0">
                <a:solidFill>
                  <a:schemeClr val="accent1">
                    <a:lumMod val="75000"/>
                  </a:schemeClr>
                </a:solidFill>
              </a:rPr>
              <a:t>.)</a:t>
            </a:r>
            <a:endParaRPr lang="fr-BE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8" name="Rounded Rectangle 47"/>
          <p:cNvSpPr/>
          <p:nvPr/>
        </p:nvSpPr>
        <p:spPr bwMode="auto">
          <a:xfrm>
            <a:off x="3431704" y="4833156"/>
            <a:ext cx="1152128" cy="1080120"/>
          </a:xfrm>
          <a:prstGeom prst="roundRect">
            <a:avLst/>
          </a:prstGeom>
          <a:noFill/>
          <a:ln w="38100" cap="flat" cmpd="sng" algn="ctr">
            <a:solidFill>
              <a:srgbClr val="33CC33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fr-BE" sz="1200" dirty="0" err="1">
                <a:solidFill>
                  <a:schemeClr val="bg2"/>
                </a:solidFill>
                <a:latin typeface="Times New Roman" pitchFamily="18" charset="0"/>
              </a:rPr>
              <a:t>Other</a:t>
            </a:r>
            <a:r>
              <a:rPr lang="fr-BE" sz="1200" dirty="0">
                <a:solidFill>
                  <a:schemeClr val="bg2"/>
                </a:solidFill>
                <a:latin typeface="Times New Roman" pitchFamily="18" charset="0"/>
              </a:rPr>
              <a:t> </a:t>
            </a:r>
            <a:r>
              <a:rPr lang="fr-BE" sz="1200" dirty="0" err="1">
                <a:solidFill>
                  <a:schemeClr val="bg2"/>
                </a:solidFill>
                <a:latin typeface="Times New Roman" pitchFamily="18" charset="0"/>
              </a:rPr>
              <a:t>filters</a:t>
            </a:r>
            <a:r>
              <a:rPr lang="fr-BE" sz="1200" dirty="0">
                <a:solidFill>
                  <a:schemeClr val="bg2"/>
                </a:solidFill>
                <a:latin typeface="Times New Roman" pitchFamily="18" charset="0"/>
              </a:rPr>
              <a:t> (X11, STL...)</a:t>
            </a:r>
            <a:endParaRPr lang="en-GB" sz="1200" dirty="0">
              <a:solidFill>
                <a:schemeClr val="bg2"/>
              </a:solidFill>
              <a:latin typeface="Times New Roman" pitchFamily="18" charset="0"/>
            </a:endParaRPr>
          </a:p>
        </p:txBody>
      </p:sp>
      <p:cxnSp>
        <p:nvCxnSpPr>
          <p:cNvPr id="49" name="Elbow Connector 48"/>
          <p:cNvCxnSpPr>
            <a:stCxn id="47" idx="3"/>
            <a:endCxn id="48" idx="1"/>
          </p:cNvCxnSpPr>
          <p:nvPr/>
        </p:nvCxnSpPr>
        <p:spPr bwMode="auto">
          <a:xfrm>
            <a:off x="2927648" y="4365104"/>
            <a:ext cx="504056" cy="1008112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38100" cap="flat" cmpd="sng" algn="ctr">
            <a:solidFill>
              <a:srgbClr val="33CC33"/>
            </a:solidFill>
            <a:prstDash val="sysDot"/>
            <a:round/>
            <a:headEnd type="none" w="med" len="med"/>
            <a:tailEnd type="arrow"/>
          </a:ln>
          <a:effectLst/>
        </p:spPr>
      </p:cxnSp>
      <p:sp>
        <p:nvSpPr>
          <p:cNvPr id="64" name="Rounded Rectangle 63"/>
          <p:cNvSpPr/>
          <p:nvPr/>
        </p:nvSpPr>
        <p:spPr bwMode="auto">
          <a:xfrm>
            <a:off x="3431704" y="3563846"/>
            <a:ext cx="2304256" cy="1152128"/>
          </a:xfrm>
          <a:prstGeom prst="roundRect">
            <a:avLst/>
          </a:prstGeom>
          <a:noFill/>
          <a:ln w="38100" cap="flat" cmpd="sng" algn="ctr">
            <a:solidFill>
              <a:schemeClr val="accent5">
                <a:lumMod val="40000"/>
                <a:lumOff val="60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fr-BE" sz="1200" dirty="0">
                <a:solidFill>
                  <a:schemeClr val="bg2"/>
                </a:solidFill>
                <a:latin typeface="Times New Roman" pitchFamily="18" charset="0"/>
              </a:rPr>
              <a:t>REGARIMA </a:t>
            </a:r>
            <a:r>
              <a:rPr lang="fr-BE" sz="1200" dirty="0" err="1">
                <a:solidFill>
                  <a:schemeClr val="bg2"/>
                </a:solidFill>
                <a:latin typeface="Times New Roman" pitchFamily="18" charset="0"/>
              </a:rPr>
              <a:t>pre</a:t>
            </a:r>
            <a:r>
              <a:rPr lang="fr-BE" sz="1200" dirty="0">
                <a:solidFill>
                  <a:schemeClr val="bg2"/>
                </a:solidFill>
                <a:latin typeface="Times New Roman" pitchFamily="18" charset="0"/>
              </a:rPr>
              <a:t>-</a:t>
            </a:r>
            <a:r>
              <a:rPr lang="fr-BE" sz="1200" dirty="0" err="1">
                <a:solidFill>
                  <a:schemeClr val="bg2"/>
                </a:solidFill>
                <a:latin typeface="Times New Roman" pitchFamily="18" charset="0"/>
              </a:rPr>
              <a:t>processing</a:t>
            </a:r>
            <a:endParaRPr lang="en-GB" sz="1200" dirty="0">
              <a:solidFill>
                <a:schemeClr val="bg2"/>
              </a:solidFill>
              <a:latin typeface="Times New Roman" pitchFamily="18" charset="0"/>
            </a:endParaRPr>
          </a:p>
        </p:txBody>
      </p:sp>
      <p:sp>
        <p:nvSpPr>
          <p:cNvPr id="65" name="Rectangle 64"/>
          <p:cNvSpPr/>
          <p:nvPr/>
        </p:nvSpPr>
        <p:spPr bwMode="auto">
          <a:xfrm>
            <a:off x="9156401" y="3185805"/>
            <a:ext cx="2232248" cy="190821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GB" sz="16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</a:rPr>
              <a:t>REGARIMA modules:</a:t>
            </a:r>
            <a:endParaRPr lang="en-GB" dirty="0">
              <a:solidFill>
                <a:schemeClr val="accent1">
                  <a:lumMod val="75000"/>
                </a:schemeClr>
              </a:solidFill>
              <a:latin typeface="Times New Roman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itchFamily="34" charset="0"/>
              <a:buChar char="•"/>
            </a:pPr>
            <a:r>
              <a:rPr lang="en-GB" dirty="0">
                <a:solidFill>
                  <a:schemeClr val="accent1">
                    <a:lumMod val="75000"/>
                  </a:schemeClr>
                </a:solidFill>
              </a:rPr>
              <a:t>Common model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itchFamily="34" charset="0"/>
              <a:buChar char="•"/>
            </a:pPr>
            <a:r>
              <a:rPr lang="en-GB" dirty="0">
                <a:solidFill>
                  <a:schemeClr val="accent1">
                    <a:lumMod val="75000"/>
                  </a:schemeClr>
                </a:solidFill>
              </a:rPr>
              <a:t>Estimation tools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itchFamily="34" charset="0"/>
              <a:buChar char="•"/>
            </a:pPr>
            <a:r>
              <a:rPr lang="en-GB" dirty="0">
                <a:solidFill>
                  <a:schemeClr val="accent1">
                    <a:lumMod val="75000"/>
                  </a:schemeClr>
                </a:solidFill>
              </a:rPr>
              <a:t>Automatic modelling routines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itchFamily="34" charset="0"/>
              <a:buChar char="•"/>
            </a:pPr>
            <a:r>
              <a:rPr lang="en-GB" dirty="0">
                <a:solidFill>
                  <a:schemeClr val="accent1">
                    <a:lumMod val="75000"/>
                  </a:schemeClr>
                </a:solidFill>
              </a:rPr>
              <a:t>Analysis tools (residuals, forecasts...)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itchFamily="34" charset="0"/>
              <a:buChar char="•"/>
            </a:pPr>
            <a:r>
              <a:rPr lang="en-GB" dirty="0">
                <a:solidFill>
                  <a:schemeClr val="accent1">
                    <a:lumMod val="75000"/>
                  </a:schemeClr>
                </a:solidFill>
              </a:rPr>
              <a:t>Graphical components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itchFamily="34" charset="0"/>
              <a:buChar char="•"/>
            </a:pPr>
            <a:endParaRPr lang="fr-BE" sz="1200" dirty="0">
              <a:solidFill>
                <a:schemeClr val="accent1">
                  <a:lumMod val="75000"/>
                </a:schemeClr>
              </a:solidFill>
            </a:endParaRPr>
          </a:p>
        </p:txBody>
      </p:sp>
      <p:cxnSp>
        <p:nvCxnSpPr>
          <p:cNvPr id="69" name="Elbow Connector 68"/>
          <p:cNvCxnSpPr>
            <a:stCxn id="65" idx="1"/>
            <a:endCxn id="64" idx="3"/>
          </p:cNvCxnSpPr>
          <p:nvPr/>
        </p:nvCxnSpPr>
        <p:spPr bwMode="auto">
          <a:xfrm rot="10800000">
            <a:off x="5735961" y="4139911"/>
            <a:ext cx="3420441" cy="1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38100" cap="flat" cmpd="sng" algn="ctr">
            <a:solidFill>
              <a:schemeClr val="accent1">
                <a:lumMod val="40000"/>
                <a:lumOff val="60000"/>
              </a:schemeClr>
            </a:solidFill>
            <a:prstDash val="sysDot"/>
            <a:round/>
            <a:headEnd type="none" w="med" len="med"/>
            <a:tailEnd type="arrow"/>
          </a:ln>
          <a:effectLst/>
        </p:spPr>
      </p:cxnSp>
    </p:spTree>
    <p:extLst>
      <p:ext uri="{BB962C8B-B14F-4D97-AF65-F5344CB8AC3E}">
        <p14:creationId xmlns:p14="http://schemas.microsoft.com/office/powerpoint/2010/main" val="35046877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18" grpId="0" animBg="1"/>
      <p:bldP spid="19" grpId="0" animBg="1"/>
      <p:bldP spid="32" grpId="0" animBg="1"/>
      <p:bldP spid="47" grpId="0" animBg="1"/>
      <p:bldP spid="48" grpId="0" animBg="1"/>
      <p:bldP spid="64" grpId="0" animBg="1"/>
      <p:bldP spid="6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b="0" dirty="0"/>
              <a:t>5. Final remarks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FEE7FC5-426E-3588-D14D-4D17FC4B3AD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27CDA0C-01AE-4E2F-8829-AAF8EAAF9DB3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GB" sz="2400" dirty="0"/>
              <a:t>JD+ is a complete re-factoring of </a:t>
            </a:r>
            <a:r>
              <a:rPr lang="en-GB" sz="2400" dirty="0" err="1"/>
              <a:t>Tramo</a:t>
            </a:r>
            <a:r>
              <a:rPr lang="en-GB" sz="2400" dirty="0"/>
              <a:t>-Seats and of X12-Arima in an open OO framework. In some cases, the new algorithms may lead to (usually slightly) different results .</a:t>
            </a:r>
          </a:p>
          <a:p>
            <a:endParaRPr lang="en-GB" sz="2400" dirty="0"/>
          </a:p>
          <a:p>
            <a:r>
              <a:rPr lang="en-GB" sz="2400" dirty="0"/>
              <a:t>JD+ is also designed for the handling of related time series problems, especially through a rich state space library.</a:t>
            </a:r>
          </a:p>
          <a:p>
            <a:endParaRPr lang="en-GB" sz="2400" dirty="0"/>
          </a:p>
          <a:p>
            <a:r>
              <a:rPr lang="en-GB" sz="2400" dirty="0"/>
              <a:t>By developing it as an open-source solution, we have tried to create an environment appropriate to external collaborations.</a:t>
            </a:r>
          </a:p>
          <a:p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294967295"/>
          </p:nvPr>
        </p:nvSpPr>
        <p:spPr>
          <a:xfrm>
            <a:off x="0" y="0"/>
            <a:ext cx="0" cy="0"/>
          </a:xfrm>
        </p:spPr>
        <p:txBody>
          <a:bodyPr/>
          <a:lstStyle/>
          <a:p>
            <a:r>
              <a:rPr lang="en-US" dirty="0"/>
              <a:t>ESTP Training. JD+ Overview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39CC45C-6ECF-1414-149F-897E6C1744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0CA729C-10AD-F90E-DB78-5A4E0B79E3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E66203B-D61A-917C-CB80-1D87AD330CA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GB" smtClean="0"/>
              <a:pPr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7884383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APP_VERSION" val="1.5.3.3511"/>
  <p:tag name="SLIDO_PRESENTATION_ID" val="00000000-0000-0000-0000-000000000000"/>
  <p:tag name="SLIDO_EVENT_UUID" val="d5f05ec8-edda-47a7-a42e-90bbfcebfc5f"/>
  <p:tag name="SLIDO_EVENT_SECTION_UUID" val="71a6711e-5d0b-4e9f-9223-093e31161b77"/>
</p:tagLst>
</file>

<file path=ppt/theme/theme1.xml><?xml version="1.0" encoding="utf-8"?>
<a:theme xmlns:a="http://schemas.openxmlformats.org/drawingml/2006/main" name="ESTAT Theme">
  <a:themeElements>
    <a:clrScheme name="EC colour scheme">
      <a:dk1>
        <a:srgbClr val="4D4D4D"/>
      </a:dk1>
      <a:lt1>
        <a:srgbClr val="FFFFFF"/>
      </a:lt1>
      <a:dk2>
        <a:srgbClr val="034EA2"/>
      </a:dk2>
      <a:lt2>
        <a:srgbClr val="D3E8F9"/>
      </a:lt2>
      <a:accent1>
        <a:srgbClr val="1E858B"/>
      </a:accent1>
      <a:accent2>
        <a:srgbClr val="4BC5DE"/>
      </a:accent2>
      <a:accent3>
        <a:srgbClr val="1EC08A"/>
      </a:accent3>
      <a:accent4>
        <a:srgbClr val="ED8D2F"/>
      </a:accent4>
      <a:accent5>
        <a:srgbClr val="FFC000"/>
      </a:accent5>
      <a:accent6>
        <a:srgbClr val="E76C53"/>
      </a:accent6>
      <a:hlink>
        <a:srgbClr val="0563C1"/>
      </a:hlink>
      <a:folHlink>
        <a:srgbClr val="24337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STAT PPT Template.potx" id="{44100892-7769-4A20-A750-3553371E0F2E}" vid="{905E760A-09FE-4DBA-89B6-DF3A5D6D095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6AA5C57F8EADE4E9CD6BB064C0C3195" ma:contentTypeVersion="16" ma:contentTypeDescription="Create a new document." ma:contentTypeScope="" ma:versionID="bb51c19a58f458ddcddd050a07659236">
  <xsd:schema xmlns:xsd="http://www.w3.org/2001/XMLSchema" xmlns:xs="http://www.w3.org/2001/XMLSchema" xmlns:p="http://schemas.microsoft.com/office/2006/metadata/properties" xmlns:ns2="0e422b70-e85d-4377-8ee0-b6227433d381" xmlns:ns3="199f642e-5af9-486c-ac06-f366742ef41a" targetNamespace="http://schemas.microsoft.com/office/2006/metadata/properties" ma:root="true" ma:fieldsID="0ee7a3bac0352a48a43420936abd968a" ns2:_="" ns3:_="">
    <xsd:import namespace="0e422b70-e85d-4377-8ee0-b6227433d381"/>
    <xsd:import namespace="199f642e-5af9-486c-ac06-f366742ef41a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DateTaken" minOccurs="0"/>
                <xsd:element ref="ns2:MediaLengthInSeconds" minOccurs="0"/>
                <xsd:element ref="ns2:MediaServiceSearchProperties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e422b70-e85d-4377-8ee0-b6227433d381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22b2fad6-9d2c-441c-a321-3f5f1e9bd92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99f642e-5af9-486c-ac06-f366742ef41a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22defd33-e0ca-4991-a4bb-5bf1ac0b491c}" ma:internalName="TaxCatchAll" ma:showField="CatchAllData" ma:web="199f642e-5af9-486c-ac06-f366742ef41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e422b70-e85d-4377-8ee0-b6227433d381">
      <Terms xmlns="http://schemas.microsoft.com/office/infopath/2007/PartnerControls"/>
    </lcf76f155ced4ddcb4097134ff3c332f>
    <TaxCatchAll xmlns="199f642e-5af9-486c-ac06-f366742ef41a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4B464EA-1576-49DD-9675-1E3399D4D19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e422b70-e85d-4377-8ee0-b6227433d381"/>
    <ds:schemaRef ds:uri="199f642e-5af9-486c-ac06-f366742ef41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D6C293B-B8B4-4284-A17E-9F9E4C32B25A}">
  <ds:schemaRefs>
    <ds:schemaRef ds:uri="http://schemas.microsoft.com/office/2006/documentManagement/types"/>
    <ds:schemaRef ds:uri="http://purl.org/dc/elements/1.1/"/>
    <ds:schemaRef ds:uri="http://purl.org/dc/terms/"/>
    <ds:schemaRef ds:uri="http://purl.org/dc/dcmitype/"/>
    <ds:schemaRef ds:uri="0e422b70-e85d-4377-8ee0-b6227433d381"/>
    <ds:schemaRef ds:uri="http://schemas.microsoft.com/office/infopath/2007/PartnerControls"/>
    <ds:schemaRef ds:uri="199f642e-5af9-486c-ac06-f366742ef41a"/>
    <ds:schemaRef ds:uri="http://schemas.openxmlformats.org/package/2006/metadata/core-properties"/>
    <ds:schemaRef ds:uri="http://schemas.microsoft.com/office/2006/metadata/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67DD9E9F-9EEB-4105-B29B-819486C2855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ESTAT PPT Template</Template>
  <TotalTime>20</TotalTime>
  <Words>533</Words>
  <Application>Microsoft Office PowerPoint</Application>
  <PresentationFormat>Grand écran</PresentationFormat>
  <Paragraphs>131</Paragraphs>
  <Slides>10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4" baseType="lpstr">
      <vt:lpstr>Arial</vt:lpstr>
      <vt:lpstr>Calibri</vt:lpstr>
      <vt:lpstr>Times New Roman</vt:lpstr>
      <vt:lpstr>ESTAT Theme</vt:lpstr>
      <vt:lpstr>1.1 Overview of JDemetra+</vt:lpstr>
      <vt:lpstr>0. Outline</vt:lpstr>
      <vt:lpstr>1.1 General Objectives</vt:lpstr>
      <vt:lpstr>1.2 Objectives for SA</vt:lpstr>
      <vt:lpstr>2.1 What is JD+ (I) ?</vt:lpstr>
      <vt:lpstr>2.2 What is JD+ ? (II)</vt:lpstr>
      <vt:lpstr>3. Statistical content</vt:lpstr>
      <vt:lpstr>4. Seasonal adjustment framework</vt:lpstr>
      <vt:lpstr>5. Final remarks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title title title title title title title title title title title title</dc:title>
  <dc:creator>HANZEVACKI Andrej (ESTAT)</dc:creator>
  <cp:lastModifiedBy>Jean Palate</cp:lastModifiedBy>
  <cp:revision>69</cp:revision>
  <dcterms:created xsi:type="dcterms:W3CDTF">2024-11-22T11:11:00Z</dcterms:created>
  <dcterms:modified xsi:type="dcterms:W3CDTF">2026-10-01T08:07:18Z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0x010100E6AA5C57F8EADE4E9CD6BB064C0C3195</vt:lpwstr>
  </property>
  <property fmtid="{D5CDD505-2E9C-101B-9397-08002B2CF9AE}" pid="3" name="MSIP_Label_6bd9ddd1-4d20-43f6-abfa-fc3c07406f94_Enabled">
    <vt:lpwstr>true</vt:lpwstr>
  </property>
  <property fmtid="{D5CDD505-2E9C-101B-9397-08002B2CF9AE}" pid="4" name="MSIP_Label_6bd9ddd1-4d20-43f6-abfa-fc3c07406f94_SetDate">
    <vt:lpwstr>2023-09-26T10:27:54Z</vt:lpwstr>
  </property>
  <property fmtid="{D5CDD505-2E9C-101B-9397-08002B2CF9AE}" pid="5" name="MSIP_Label_6bd9ddd1-4d20-43f6-abfa-fc3c07406f94_Method">
    <vt:lpwstr>Standard</vt:lpwstr>
  </property>
  <property fmtid="{D5CDD505-2E9C-101B-9397-08002B2CF9AE}" pid="6" name="MSIP_Label_6bd9ddd1-4d20-43f6-abfa-fc3c07406f94_Name">
    <vt:lpwstr>Commission Use</vt:lpwstr>
  </property>
  <property fmtid="{D5CDD505-2E9C-101B-9397-08002B2CF9AE}" pid="7" name="MSIP_Label_6bd9ddd1-4d20-43f6-abfa-fc3c07406f94_SiteId">
    <vt:lpwstr>b24c8b06-522c-46fe-9080-70926f8dddb1</vt:lpwstr>
  </property>
  <property fmtid="{D5CDD505-2E9C-101B-9397-08002B2CF9AE}" pid="8" name="MSIP_Label_6bd9ddd1-4d20-43f6-abfa-fc3c07406f94_ActionId">
    <vt:lpwstr>5f9041e0-26c3-439f-9557-91c751557f9e</vt:lpwstr>
  </property>
  <property fmtid="{D5CDD505-2E9C-101B-9397-08002B2CF9AE}" pid="9" name="MSIP_Label_6bd9ddd1-4d20-43f6-abfa-fc3c07406f94_ContentBits">
    <vt:lpwstr>0</vt:lpwstr>
  </property>
  <property fmtid="{D5CDD505-2E9C-101B-9397-08002B2CF9AE}" pid="10" name="SlidoAppVersion">
    <vt:lpwstr>1.5.3.3511</vt:lpwstr>
  </property>
  <property fmtid="{D5CDD505-2E9C-101B-9397-08002B2CF9AE}" pid="11" name="MediaServiceImageTags">
    <vt:lpwstr/>
  </property>
</Properties>
</file>