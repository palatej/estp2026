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402" r:id="rId6"/>
    <p:sldId id="415" r:id="rId7"/>
    <p:sldId id="416" r:id="rId8"/>
    <p:sldId id="411" r:id="rId9"/>
    <p:sldId id="412" r:id="rId10"/>
    <p:sldId id="424" r:id="rId11"/>
    <p:sldId id="403" r:id="rId12"/>
    <p:sldId id="418" r:id="rId13"/>
    <p:sldId id="261" r:id="rId14"/>
  </p:sldIdLst>
  <p:sldSz cx="12192000" cy="6858000"/>
  <p:notesSz cx="6858000" cy="9144000"/>
  <p:custDataLst>
    <p:tags r:id="rId17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78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gs" Target="tags/tag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27/08/2026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ESTP Training. JD+ Overview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7643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ESTP Training. JD+ Overview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878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  <p:sldLayoutId id="2147483729" r:id="rId7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github.com/jdemetra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 dirty="0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Overview</a:t>
            </a:r>
            <a:r>
              <a:rPr lang="fr-BE" dirty="0"/>
              <a:t> of JDemetra+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b="0" dirty="0"/>
              <a:t>0.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63552" y="1556792"/>
            <a:ext cx="8229600" cy="5112568"/>
          </a:xfrm>
        </p:spPr>
        <p:txBody>
          <a:bodyPr>
            <a:noAutofit/>
          </a:bodyPr>
          <a:lstStyle/>
          <a:p>
            <a:r>
              <a:rPr lang="en-GB" dirty="0"/>
              <a:t>Objectives of </a:t>
            </a:r>
            <a:r>
              <a:rPr lang="en-GB" dirty="0" err="1"/>
              <a:t>JDemetra</a:t>
            </a:r>
            <a:r>
              <a:rPr lang="en-GB" dirty="0"/>
              <a:t>+ (JD+)</a:t>
            </a:r>
          </a:p>
          <a:p>
            <a:pPr lvl="1"/>
            <a:r>
              <a:rPr lang="en-GB" sz="2400" dirty="0"/>
              <a:t>General</a:t>
            </a:r>
          </a:p>
          <a:p>
            <a:pPr lvl="1"/>
            <a:r>
              <a:rPr lang="en-GB" sz="2400" dirty="0"/>
              <a:t>For seasonal adjustment (SA)</a:t>
            </a:r>
          </a:p>
          <a:p>
            <a:r>
              <a:rPr lang="en-GB" dirty="0"/>
              <a:t>What is really JD+ ?</a:t>
            </a:r>
          </a:p>
          <a:p>
            <a:r>
              <a:rPr lang="en-GB" dirty="0"/>
              <a:t>Statistical content</a:t>
            </a:r>
          </a:p>
          <a:p>
            <a:r>
              <a:rPr lang="en-GB" dirty="0"/>
              <a:t>Seasonal adjustment framework</a:t>
            </a:r>
          </a:p>
          <a:p>
            <a:r>
              <a:rPr lang="en-GB" dirty="0"/>
              <a:t>Final remarks</a:t>
            </a:r>
          </a:p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ESTP Training. JD+ Overview</a:t>
            </a:r>
          </a:p>
        </p:txBody>
      </p:sp>
    </p:spTree>
    <p:extLst>
      <p:ext uri="{BB962C8B-B14F-4D97-AF65-F5344CB8AC3E}">
        <p14:creationId xmlns:p14="http://schemas.microsoft.com/office/powerpoint/2010/main" val="2574950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fr-BE" b="0" dirty="0"/>
              <a:t>1.1 General Objectives</a:t>
            </a:r>
            <a:endParaRPr lang="nl-BE" b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35560" y="1700809"/>
            <a:ext cx="8229600" cy="4525963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Providing algorithms for the production/analysis of [official] statistics</a:t>
            </a:r>
          </a:p>
          <a:p>
            <a:pPr lvl="1"/>
            <a:r>
              <a:rPr lang="en-GB" dirty="0"/>
              <a:t>Regular time series (from monthly to yearly)</a:t>
            </a:r>
          </a:p>
          <a:p>
            <a:pPr lvl="1"/>
            <a:r>
              <a:rPr lang="en-GB" dirty="0"/>
              <a:t>Algorithms for</a:t>
            </a:r>
          </a:p>
          <a:p>
            <a:pPr lvl="2"/>
            <a:r>
              <a:rPr lang="en-GB" dirty="0"/>
              <a:t>Seasonal adjustment, business cycle analysis</a:t>
            </a:r>
          </a:p>
          <a:p>
            <a:pPr lvl="2"/>
            <a:r>
              <a:rPr lang="en-GB" dirty="0"/>
              <a:t>Benchmarking, temporal disaggregation</a:t>
            </a:r>
          </a:p>
          <a:p>
            <a:pPr lvl="2"/>
            <a:r>
              <a:rPr lang="en-GB" dirty="0"/>
              <a:t>Modelling (forecasting, estimation of missing values, outliers detection)</a:t>
            </a:r>
          </a:p>
          <a:p>
            <a:r>
              <a:rPr lang="en-GB" dirty="0"/>
              <a:t>Reusable modules, compatible with common IT infrastructure </a:t>
            </a:r>
          </a:p>
          <a:p>
            <a:pPr lvl="1"/>
            <a:r>
              <a:rPr lang="en-GB" dirty="0"/>
              <a:t>Java, R, WEB services...</a:t>
            </a:r>
          </a:p>
          <a:p>
            <a:r>
              <a:rPr lang="en-GB" dirty="0"/>
              <a:t>Designed for the whole statistical process</a:t>
            </a:r>
          </a:p>
          <a:p>
            <a:pPr lvl="1"/>
            <a:r>
              <a:rPr lang="en-GB" dirty="0"/>
              <a:t>From research to bulk production  (flexible, high-performance)</a:t>
            </a:r>
          </a:p>
          <a:p>
            <a:r>
              <a:rPr lang="en-GB" dirty="0"/>
              <a:t>Maintainable</a:t>
            </a:r>
          </a:p>
          <a:p>
            <a:pPr lvl="1"/>
            <a:r>
              <a:rPr lang="en-GB" dirty="0"/>
              <a:t>Open source solution</a:t>
            </a:r>
          </a:p>
          <a:p>
            <a:endParaRPr lang="nl-B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ESTP Training. JD+ Overview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b="0" dirty="0"/>
              <a:t>1.2 Objectives for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Java implementation of the leading algorithms</a:t>
            </a:r>
          </a:p>
          <a:p>
            <a:pPr lvl="1"/>
            <a:r>
              <a:rPr lang="en-GB" dirty="0" err="1"/>
              <a:t>Tramo</a:t>
            </a:r>
            <a:r>
              <a:rPr lang="en-GB" dirty="0"/>
              <a:t>-Seats, X12-ARIMA...</a:t>
            </a:r>
          </a:p>
          <a:p>
            <a:r>
              <a:rPr lang="en-GB" dirty="0"/>
              <a:t> Flexible design</a:t>
            </a:r>
          </a:p>
          <a:p>
            <a:pPr lvl="1"/>
            <a:r>
              <a:rPr lang="en-GB" dirty="0"/>
              <a:t>Easier modifications of the core engines</a:t>
            </a:r>
          </a:p>
          <a:p>
            <a:pPr lvl="1"/>
            <a:r>
              <a:rPr lang="en-GB" dirty="0"/>
              <a:t>Developments of additional tools/algorithms</a:t>
            </a:r>
          </a:p>
          <a:p>
            <a:endParaRPr lang="en-GB" dirty="0"/>
          </a:p>
          <a:p>
            <a:r>
              <a:rPr lang="en-GB" dirty="0"/>
              <a:t>Challenge</a:t>
            </a:r>
          </a:p>
          <a:p>
            <a:pPr lvl="1"/>
            <a:r>
              <a:rPr lang="en-GB" dirty="0"/>
              <a:t>Keeping</a:t>
            </a:r>
          </a:p>
          <a:p>
            <a:pPr lvl="2"/>
            <a:r>
              <a:rPr lang="en-GB" dirty="0"/>
              <a:t> similar results</a:t>
            </a:r>
          </a:p>
          <a:p>
            <a:pPr lvl="2"/>
            <a:r>
              <a:rPr lang="en-GB" dirty="0"/>
              <a:t>high performances</a:t>
            </a:r>
          </a:p>
          <a:p>
            <a:pPr lvl="1"/>
            <a:r>
              <a:rPr lang="en-GB" dirty="0"/>
              <a:t>with </a:t>
            </a:r>
          </a:p>
          <a:p>
            <a:pPr lvl="2"/>
            <a:r>
              <a:rPr lang="en-GB" dirty="0"/>
              <a:t>flexible (more general) design and algorithms</a:t>
            </a:r>
          </a:p>
          <a:p>
            <a:pPr lvl="2"/>
            <a:r>
              <a:rPr lang="en-GB" dirty="0"/>
              <a:t>slower technical solution</a:t>
            </a:r>
          </a:p>
          <a:p>
            <a:pPr lvl="1"/>
            <a:endParaRPr lang="nl-B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ESTP Training. JD+ Overview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31506" y="2276872"/>
            <a:ext cx="4536503" cy="3960440"/>
          </a:xfrm>
          <a:prstGeom prst="rect">
            <a:avLst/>
          </a:prstGeom>
          <a:noFill/>
          <a:ln w="9525">
            <a:solidFill>
              <a:schemeClr val="accent1"/>
            </a:solidFill>
            <a:miter lim="800000"/>
            <a:headEnd/>
            <a:tailEnd/>
          </a:ln>
        </p:spPr>
      </p:pic>
      <p:pic>
        <p:nvPicPr>
          <p:cNvPr id="6" name="Picture 5" descr="jd+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688037" y="1487349"/>
            <a:ext cx="4824536" cy="4392488"/>
          </a:xfrm>
          <a:prstGeom prst="rect">
            <a:avLst/>
          </a:prstGeom>
          <a:ln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5520" y="188641"/>
            <a:ext cx="4320480" cy="663575"/>
          </a:xfrm>
        </p:spPr>
        <p:txBody>
          <a:bodyPr>
            <a:normAutofit fontScale="90000"/>
          </a:bodyPr>
          <a:lstStyle/>
          <a:p>
            <a:r>
              <a:rPr lang="en-GB" dirty="0"/>
              <a:t>2.1 What is JD+ (I)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31505" y="1772817"/>
            <a:ext cx="38164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Rich graphical application (end-users)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28048" y="812596"/>
            <a:ext cx="39604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Advanced Java toolkit for time series (SA) processing (IT-teams, researchers)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ESTP Training. JD+ Overview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20900" y="284164"/>
            <a:ext cx="4839196" cy="663575"/>
          </a:xfrm>
        </p:spPr>
        <p:txBody>
          <a:bodyPr>
            <a:normAutofit fontScale="90000"/>
          </a:bodyPr>
          <a:lstStyle/>
          <a:p>
            <a:r>
              <a:rPr lang="en-GB" dirty="0"/>
              <a:t>2.2 What is JD+ ? (II)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68208" y="1254022"/>
            <a:ext cx="2483768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bg2">
                    <a:lumMod val="50000"/>
                  </a:schemeClr>
                </a:solidFill>
              </a:rPr>
              <a:t>Open Source project</a:t>
            </a:r>
          </a:p>
          <a:p>
            <a:r>
              <a:rPr lang="en-GB" sz="2000" b="1" dirty="0">
                <a:solidFill>
                  <a:schemeClr val="bg2">
                    <a:lumMod val="50000"/>
                  </a:schemeClr>
                </a:solidFill>
              </a:rPr>
              <a:t>(EUPL license)</a:t>
            </a:r>
          </a:p>
          <a:p>
            <a:endParaRPr lang="en-GB" sz="2000" b="1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 Supported by </a:t>
            </a:r>
            <a:r>
              <a:rPr lang="en-GB" sz="1800" dirty="0" err="1">
                <a:solidFill>
                  <a:schemeClr val="bg2">
                    <a:lumMod val="50000"/>
                  </a:schemeClr>
                </a:solidFill>
              </a:rPr>
              <a:t>Eurostat</a:t>
            </a:r>
            <a:endParaRPr lang="en-GB" sz="18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Font typeface="Arial" pitchFamily="34" charset="0"/>
              <a:buChar char="•"/>
            </a:pPr>
            <a:endParaRPr lang="en-GB" sz="18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Developers:</a:t>
            </a:r>
          </a:p>
          <a:p>
            <a:pPr lvl="1">
              <a:buFont typeface="Arial" pitchFamily="34" charset="0"/>
              <a:buChar char="•"/>
            </a:pP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NBB</a:t>
            </a:r>
          </a:p>
          <a:p>
            <a:pPr lvl="1">
              <a:buFont typeface="Arial" pitchFamily="34" charset="0"/>
              <a:buChar char="•"/>
            </a:pP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Bundesbank</a:t>
            </a:r>
          </a:p>
          <a:p>
            <a:pPr lvl="1">
              <a:buFont typeface="Arial" pitchFamily="34" charset="0"/>
              <a:buChar char="•"/>
            </a:pP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INSEE</a:t>
            </a:r>
          </a:p>
          <a:p>
            <a:pPr lvl="1">
              <a:buFont typeface="Arial" pitchFamily="34" charset="0"/>
              <a:buChar char="•"/>
            </a:pP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...</a:t>
            </a:r>
          </a:p>
          <a:p>
            <a:pPr lvl="1">
              <a:buFont typeface="Arial" pitchFamily="34" charset="0"/>
              <a:buChar char="•"/>
            </a:pPr>
            <a:endParaRPr lang="en-GB" sz="18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Originally based on:</a:t>
            </a:r>
          </a:p>
          <a:p>
            <a:pPr lvl="1">
              <a:buFont typeface="Arial" pitchFamily="34" charset="0"/>
              <a:buChar char="•"/>
            </a:pPr>
            <a:r>
              <a:rPr lang="en-GB" sz="1800" dirty="0" err="1">
                <a:solidFill>
                  <a:schemeClr val="bg2">
                    <a:lumMod val="50000"/>
                  </a:schemeClr>
                </a:solidFill>
              </a:rPr>
              <a:t>Tramo</a:t>
            </a: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-Seats (BDE)</a:t>
            </a:r>
          </a:p>
          <a:p>
            <a:pPr lvl="1">
              <a:buFont typeface="Arial" pitchFamily="34" charset="0"/>
              <a:buChar char="•"/>
            </a:pP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X12-Arima (USCB)</a:t>
            </a:r>
          </a:p>
          <a:p>
            <a:pPr lvl="1">
              <a:buFont typeface="Arial" pitchFamily="34" charset="0"/>
              <a:buChar char="•"/>
            </a:pPr>
            <a:endParaRPr lang="en-GB" sz="1800" dirty="0">
              <a:solidFill>
                <a:schemeClr val="accent3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847528" y="5949281"/>
            <a:ext cx="5760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>
                <a:solidFill>
                  <a:schemeClr val="accent1">
                    <a:lumMod val="60000"/>
                    <a:lumOff val="40000"/>
                  </a:schemeClr>
                </a:solidFill>
                <a:hlinkClick r:id="rId2"/>
              </a:rPr>
              <a:t>https://github.com/jdemetra</a:t>
            </a:r>
            <a:endParaRPr lang="en-US" sz="24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ESTP Training. JD+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912689C-90CC-756F-0DF8-D42C9146B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8250" y="1556793"/>
            <a:ext cx="5542296" cy="324158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fr-BE" dirty="0"/>
              <a:t>3. </a:t>
            </a:r>
            <a:r>
              <a:rPr lang="fr-BE" dirty="0" err="1"/>
              <a:t>Statistical</a:t>
            </a:r>
            <a:r>
              <a:rPr lang="fr-BE" dirty="0"/>
              <a:t> content</a:t>
            </a:r>
            <a:endParaRPr lang="en-US" dirty="0"/>
          </a:p>
        </p:txBody>
      </p:sp>
      <p:sp>
        <p:nvSpPr>
          <p:cNvPr id="3" name="Rectangle 23"/>
          <p:cNvSpPr>
            <a:spLocks noChangeArrowheads="1"/>
          </p:cNvSpPr>
          <p:nvPr/>
        </p:nvSpPr>
        <p:spPr bwMode="auto">
          <a:xfrm>
            <a:off x="1676401" y="-1488"/>
            <a:ext cx="18473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7" name="Footer Placeholder 2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ESTP Training. JD+ Overview</a:t>
            </a:r>
            <a:endParaRPr lang="en-US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3DB1D91-E14E-4234-A2A7-0D4682F75BF2}"/>
              </a:ext>
            </a:extLst>
          </p:cNvPr>
          <p:cNvGrpSpPr/>
          <p:nvPr/>
        </p:nvGrpSpPr>
        <p:grpSpPr>
          <a:xfrm>
            <a:off x="1676401" y="1658561"/>
            <a:ext cx="8812087" cy="4501862"/>
            <a:chOff x="152400" y="1658561"/>
            <a:chExt cx="8812087" cy="4501862"/>
          </a:xfrm>
        </p:grpSpPr>
        <p:sp>
          <p:nvSpPr>
            <p:cNvPr id="5" name="AutoShape 22"/>
            <p:cNvSpPr>
              <a:spLocks noChangeAspect="1" noChangeArrowheads="1" noTextEdit="1"/>
            </p:cNvSpPr>
            <p:nvPr/>
          </p:nvSpPr>
          <p:spPr bwMode="auto">
            <a:xfrm>
              <a:off x="152400" y="1658561"/>
              <a:ext cx="8812087" cy="450186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050"/>
            </a:p>
          </p:txBody>
        </p:sp>
        <p:sp>
          <p:nvSpPr>
            <p:cNvPr id="6" name="Rectangle 21"/>
            <p:cNvSpPr>
              <a:spLocks noChangeArrowheads="1"/>
            </p:cNvSpPr>
            <p:nvPr/>
          </p:nvSpPr>
          <p:spPr bwMode="auto">
            <a:xfrm>
              <a:off x="347095" y="2273569"/>
              <a:ext cx="2208161" cy="42221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Matrix computation</a:t>
              </a:r>
              <a:endParaRPr lang="fr-BE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" name="Rectangle 20"/>
            <p:cNvSpPr>
              <a:spLocks noChangeArrowheads="1"/>
            </p:cNvSpPr>
            <p:nvPr/>
          </p:nvSpPr>
          <p:spPr bwMode="auto">
            <a:xfrm>
              <a:off x="347095" y="1740944"/>
              <a:ext cx="2208161" cy="42106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Basic data handling 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" name="Rectangle 19"/>
            <p:cNvSpPr>
              <a:spLocks noChangeArrowheads="1"/>
            </p:cNvSpPr>
            <p:nvPr/>
          </p:nvSpPr>
          <p:spPr bwMode="auto">
            <a:xfrm>
              <a:off x="347095" y="2807912"/>
              <a:ext cx="2208161" cy="42106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en-US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Complex, </a:t>
              </a:r>
              <a:r>
                <a:rPr lang="en-US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polynomi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als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" name="Rectangle 18"/>
            <p:cNvSpPr>
              <a:spLocks noChangeArrowheads="1"/>
            </p:cNvSpPr>
            <p:nvPr/>
          </p:nvSpPr>
          <p:spPr bwMode="auto">
            <a:xfrm>
              <a:off x="347095" y="3342826"/>
              <a:ext cx="2208161" cy="42049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Linear</a:t>
              </a: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 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filters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0" name="Rectangle 17"/>
            <p:cNvSpPr>
              <a:spLocks noChangeArrowheads="1"/>
            </p:cNvSpPr>
            <p:nvPr/>
          </p:nvSpPr>
          <p:spPr bwMode="auto">
            <a:xfrm>
              <a:off x="347095" y="3875452"/>
              <a:ext cx="2208161" cy="42106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Function</a:t>
              </a: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 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optimization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1" name="Rectangle 16"/>
            <p:cNvSpPr>
              <a:spLocks noChangeArrowheads="1"/>
            </p:cNvSpPr>
            <p:nvPr/>
          </p:nvSpPr>
          <p:spPr bwMode="auto">
            <a:xfrm>
              <a:off x="347095" y="5568871"/>
              <a:ext cx="8293302" cy="421066"/>
            </a:xfrm>
            <a:prstGeom prst="rect">
              <a:avLst/>
            </a:prstGeom>
            <a:solidFill>
              <a:srgbClr val="C98DC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en-US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Time series, calendars, regression variables... </a:t>
              </a:r>
              <a:endParaRPr lang="en-US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" name="Rectangle 15"/>
            <p:cNvSpPr>
              <a:spLocks noChangeArrowheads="1"/>
            </p:cNvSpPr>
            <p:nvPr/>
          </p:nvSpPr>
          <p:spPr bwMode="auto">
            <a:xfrm>
              <a:off x="347095" y="4408650"/>
              <a:ext cx="2208161" cy="42106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Basic 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statistics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3" name="Rectangle 14"/>
            <p:cNvSpPr>
              <a:spLocks noChangeArrowheads="1"/>
            </p:cNvSpPr>
            <p:nvPr/>
          </p:nvSpPr>
          <p:spPr bwMode="auto">
            <a:xfrm>
              <a:off x="347095" y="4941848"/>
              <a:ext cx="2208161" cy="41992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Utilities...</a:t>
              </a:r>
              <a:endParaRPr lang="fr-BE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4" name="Rectangle 13"/>
            <p:cNvSpPr>
              <a:spLocks noChangeArrowheads="1"/>
            </p:cNvSpPr>
            <p:nvPr/>
          </p:nvSpPr>
          <p:spPr bwMode="auto">
            <a:xfrm>
              <a:off x="2725766" y="1742088"/>
              <a:ext cx="1782492" cy="419922"/>
            </a:xfrm>
            <a:prstGeom prst="rect">
              <a:avLst/>
            </a:prstGeom>
            <a:solidFill>
              <a:srgbClr val="33CC33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Basic 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econometrics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5" name="Rectangle 12"/>
            <p:cNvSpPr>
              <a:spLocks noChangeArrowheads="1"/>
            </p:cNvSpPr>
            <p:nvPr/>
          </p:nvSpPr>
          <p:spPr bwMode="auto">
            <a:xfrm>
              <a:off x="2725766" y="4232443"/>
              <a:ext cx="1782492" cy="487430"/>
            </a:xfrm>
            <a:prstGeom prst="rect">
              <a:avLst/>
            </a:prstGeom>
            <a:solidFill>
              <a:srgbClr val="33CC33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Arima, Ucarima</a:t>
              </a:r>
              <a:endParaRPr lang="fr-BE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6" name="Rectangle 11"/>
            <p:cNvSpPr>
              <a:spLocks noChangeArrowheads="1"/>
            </p:cNvSpPr>
            <p:nvPr/>
          </p:nvSpPr>
          <p:spPr bwMode="auto">
            <a:xfrm>
              <a:off x="6842184" y="2786317"/>
              <a:ext cx="1782492" cy="772946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VAR,</a:t>
              </a:r>
              <a:endParaRPr lang="fr-BE" altLang="en-US" sz="105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Dynamic</a:t>
              </a: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 factor model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7" name="Rectangle 10"/>
            <p:cNvSpPr>
              <a:spLocks noChangeArrowheads="1"/>
            </p:cNvSpPr>
            <p:nvPr/>
          </p:nvSpPr>
          <p:spPr bwMode="auto">
            <a:xfrm>
              <a:off x="4678768" y="3805656"/>
              <a:ext cx="1919141" cy="386740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Seats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" name="Rectangle 9"/>
            <p:cNvSpPr>
              <a:spLocks noChangeArrowheads="1"/>
            </p:cNvSpPr>
            <p:nvPr/>
          </p:nvSpPr>
          <p:spPr bwMode="auto">
            <a:xfrm>
              <a:off x="4716256" y="3290765"/>
              <a:ext cx="1919141" cy="385596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X11</a:t>
              </a:r>
              <a:endParaRPr lang="fr-BE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9" name="Rectangle 8"/>
            <p:cNvSpPr>
              <a:spLocks noChangeArrowheads="1"/>
            </p:cNvSpPr>
            <p:nvPr/>
          </p:nvSpPr>
          <p:spPr bwMode="auto">
            <a:xfrm>
              <a:off x="2718511" y="4941848"/>
              <a:ext cx="5914631" cy="419922"/>
            </a:xfrm>
            <a:prstGeom prst="rect">
              <a:avLst/>
            </a:prstGeom>
            <a:solidFill>
              <a:srgbClr val="00B0F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State space framework</a:t>
              </a:r>
              <a:endParaRPr lang="fr-BE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" name="Rectangle 7"/>
            <p:cNvSpPr>
              <a:spLocks noChangeArrowheads="1"/>
            </p:cNvSpPr>
            <p:nvPr/>
          </p:nvSpPr>
          <p:spPr bwMode="auto">
            <a:xfrm>
              <a:off x="2725766" y="2288444"/>
              <a:ext cx="1782492" cy="840988"/>
            </a:xfrm>
            <a:prstGeom prst="rect">
              <a:avLst/>
            </a:prstGeom>
            <a:solidFill>
              <a:srgbClr val="33CC33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Arima</a:t>
              </a: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 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modelling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1" name="Rectangle 6"/>
            <p:cNvSpPr>
              <a:spLocks noChangeArrowheads="1"/>
            </p:cNvSpPr>
            <p:nvPr/>
          </p:nvSpPr>
          <p:spPr bwMode="auto">
            <a:xfrm>
              <a:off x="4731976" y="2345082"/>
              <a:ext cx="1919141" cy="317516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RegArima</a:t>
              </a:r>
              <a:endParaRPr lang="fr-BE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2" name="Rectangle 5"/>
            <p:cNvSpPr>
              <a:spLocks noChangeArrowheads="1"/>
            </p:cNvSpPr>
            <p:nvPr/>
          </p:nvSpPr>
          <p:spPr bwMode="auto">
            <a:xfrm>
              <a:off x="4731976" y="1866234"/>
              <a:ext cx="1919141" cy="316944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Tramo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3" name="Rectangle 4"/>
            <p:cNvSpPr>
              <a:spLocks noChangeArrowheads="1"/>
            </p:cNvSpPr>
            <p:nvPr/>
          </p:nvSpPr>
          <p:spPr bwMode="auto">
            <a:xfrm>
              <a:off x="2725766" y="3228978"/>
              <a:ext cx="1782492" cy="867877"/>
            </a:xfrm>
            <a:prstGeom prst="rect">
              <a:avLst/>
            </a:prstGeom>
            <a:solidFill>
              <a:srgbClr val="33CC33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Seasonal adjustment</a:t>
              </a:r>
              <a:endParaRPr lang="fr-BE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4" name="Rectangle 3"/>
            <p:cNvSpPr>
              <a:spLocks noChangeArrowheads="1"/>
            </p:cNvSpPr>
            <p:nvPr/>
          </p:nvSpPr>
          <p:spPr bwMode="auto">
            <a:xfrm>
              <a:off x="4716256" y="2803335"/>
              <a:ext cx="1919141" cy="339256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Structural models...</a:t>
              </a:r>
              <a:endParaRPr lang="fr-BE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5" name="Rectangle 2"/>
            <p:cNvSpPr>
              <a:spLocks noChangeArrowheads="1"/>
            </p:cNvSpPr>
            <p:nvPr/>
          </p:nvSpPr>
          <p:spPr bwMode="auto">
            <a:xfrm>
              <a:off x="6850649" y="1866234"/>
              <a:ext cx="1774027" cy="796365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Benchmarking</a:t>
              </a: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, temporal 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disaggregation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9" name="Rectangle 10">
              <a:extLst>
                <a:ext uri="{FF2B5EF4-FFF2-40B4-BE49-F238E27FC236}">
                  <a16:creationId xmlns:a16="http://schemas.microsoft.com/office/drawing/2014/main" id="{60E6EABA-5613-4BB8-AB1C-3564D1BC9E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5211" y="4330273"/>
              <a:ext cx="1919141" cy="386740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STL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1" name="Rectangle 11">
              <a:extLst>
                <a:ext uri="{FF2B5EF4-FFF2-40B4-BE49-F238E27FC236}">
                  <a16:creationId xmlns:a16="http://schemas.microsoft.com/office/drawing/2014/main" id="{E36948B1-784E-4F8F-808F-ABDA8C5269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27767" y="3697825"/>
              <a:ext cx="1782492" cy="47848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cs typeface="Times New Roman" pitchFamily="18" charset="0"/>
                </a:rPr>
                <a:t>High 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cs typeface="Times New Roman" pitchFamily="18" charset="0"/>
                </a:rPr>
                <a:t>frequency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3" name="Rectangle 11">
              <a:extLst>
                <a:ext uri="{FF2B5EF4-FFF2-40B4-BE49-F238E27FC236}">
                  <a16:creationId xmlns:a16="http://schemas.microsoft.com/office/drawing/2014/main" id="{038E247E-D602-4E21-86E0-C5F045C538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15538" y="4308715"/>
              <a:ext cx="1782492" cy="47848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cs typeface="Times New Roman" pitchFamily="18" charset="0"/>
                </a:rPr>
                <a:t>Revisions</a:t>
              </a: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cs typeface="Times New Roman" pitchFamily="18" charset="0"/>
                </a:rPr>
                <a:t> 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cs typeface="Times New Roman" pitchFamily="18" charset="0"/>
                </a:rPr>
                <a:t>analysis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5636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3512" y="28384"/>
            <a:ext cx="8229600" cy="1143000"/>
          </a:xfrm>
        </p:spPr>
        <p:txBody>
          <a:bodyPr/>
          <a:lstStyle/>
          <a:p>
            <a:pPr algn="l"/>
            <a:r>
              <a:rPr lang="en-GB" b="0" dirty="0"/>
              <a:t>4. Seasonal adjustment framework</a:t>
            </a:r>
          </a:p>
        </p:txBody>
      </p:sp>
      <p:sp>
        <p:nvSpPr>
          <p:cNvPr id="4" name="Rounded Rectangle 3"/>
          <p:cNvSpPr/>
          <p:nvPr/>
        </p:nvSpPr>
        <p:spPr bwMode="auto">
          <a:xfrm>
            <a:off x="3143672" y="2312876"/>
            <a:ext cx="4752528" cy="4104456"/>
          </a:xfrm>
          <a:prstGeom prst="roundRect">
            <a:avLst/>
          </a:prstGeom>
          <a:solidFill>
            <a:schemeClr val="accent1"/>
          </a:solidFill>
          <a:ln w="381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BE" sz="2000" dirty="0">
                <a:solidFill>
                  <a:schemeClr val="bg2"/>
                </a:solidFill>
                <a:latin typeface="Times New Roman" pitchFamily="18" charset="0"/>
              </a:rPr>
              <a:t>SA </a:t>
            </a:r>
            <a:r>
              <a:rPr lang="fr-BE" sz="2000" dirty="0" err="1">
                <a:solidFill>
                  <a:schemeClr val="bg2"/>
                </a:solidFill>
                <a:latin typeface="Times New Roman" pitchFamily="18" charset="0"/>
              </a:rPr>
              <a:t>methods</a:t>
            </a:r>
            <a:endParaRPr lang="en-GB" sz="2000" dirty="0">
              <a:solidFill>
                <a:schemeClr val="bg2"/>
              </a:solidFill>
              <a:latin typeface="Times New Roman" pitchFamily="18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8256240" y="993334"/>
            <a:ext cx="2232248" cy="20882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GB" sz="1600" dirty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</a:rPr>
              <a:t>Generic modules:</a:t>
            </a:r>
            <a:endParaRPr lang="en-GB" dirty="0">
              <a:solidFill>
                <a:schemeClr val="accent1">
                  <a:lumMod val="75000"/>
                </a:schemeClr>
              </a:solidFill>
              <a:latin typeface="Times New Roman" pitchFamily="18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Analysis </a:t>
            </a:r>
          </a:p>
          <a:p>
            <a:pPr lvl="1"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Seasonality tests</a:t>
            </a:r>
          </a:p>
          <a:p>
            <a:pPr lvl="1"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Revision analysis</a:t>
            </a:r>
          </a:p>
          <a:p>
            <a:pPr lvl="1"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Sliding spans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</a:rPr>
              <a:t>I/O (common xml schema)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Graphical components</a:t>
            </a:r>
          </a:p>
          <a:p>
            <a:pPr lvl="1"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</a:rPr>
              <a:t>Charts</a:t>
            </a:r>
          </a:p>
          <a:p>
            <a:pPr lvl="1"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SI ratios...</a:t>
            </a:r>
            <a:endParaRPr lang="en-GB" dirty="0">
              <a:solidFill>
                <a:schemeClr val="accent1">
                  <a:lumMod val="75000"/>
                </a:schemeClr>
              </a:solidFill>
              <a:latin typeface="Times New Roman" pitchFamily="18" charset="0"/>
            </a:endParaRPr>
          </a:p>
        </p:txBody>
      </p:sp>
      <p:cxnSp>
        <p:nvCxnSpPr>
          <p:cNvPr id="15" name="Elbow Connector 14"/>
          <p:cNvCxnSpPr>
            <a:stCxn id="5" idx="1"/>
            <a:endCxn id="4" idx="0"/>
          </p:cNvCxnSpPr>
          <p:nvPr/>
        </p:nvCxnSpPr>
        <p:spPr bwMode="auto">
          <a:xfrm rot="10800000" flipV="1">
            <a:off x="5519936" y="2037450"/>
            <a:ext cx="2736304" cy="275426"/>
          </a:xfrm>
          <a:prstGeom prst="bentConnector2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18" name="Rounded Rectangle 17"/>
          <p:cNvSpPr/>
          <p:nvPr/>
        </p:nvSpPr>
        <p:spPr bwMode="auto">
          <a:xfrm>
            <a:off x="3359696" y="2960948"/>
            <a:ext cx="2448272" cy="3096344"/>
          </a:xfrm>
          <a:prstGeom prst="roundRect">
            <a:avLst/>
          </a:prstGeom>
          <a:noFill/>
          <a:ln w="38100" cap="flat" cmpd="sng" algn="ctr">
            <a:solidFill>
              <a:schemeClr val="accent5">
                <a:lumMod val="40000"/>
                <a:lumOff val="60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BE" sz="1200" dirty="0" err="1">
                <a:solidFill>
                  <a:schemeClr val="bg2"/>
                </a:solidFill>
                <a:latin typeface="Times New Roman" pitchFamily="18" charset="0"/>
              </a:rPr>
              <a:t>Tramo-Seats</a:t>
            </a:r>
            <a:r>
              <a:rPr lang="fr-BE" sz="1200" dirty="0">
                <a:solidFill>
                  <a:schemeClr val="bg2"/>
                </a:solidFill>
                <a:latin typeface="Times New Roman" pitchFamily="18" charset="0"/>
              </a:rPr>
              <a:t>, X12-Arima...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GB" sz="1200" dirty="0">
              <a:solidFill>
                <a:schemeClr val="accent3"/>
              </a:solidFill>
              <a:latin typeface="Times New Roman" pitchFamily="18" charset="0"/>
            </a:endParaRPr>
          </a:p>
        </p:txBody>
      </p:sp>
      <p:sp>
        <p:nvSpPr>
          <p:cNvPr id="19" name="Rounded Rectangle 18"/>
          <p:cNvSpPr/>
          <p:nvPr/>
        </p:nvSpPr>
        <p:spPr bwMode="auto">
          <a:xfrm>
            <a:off x="4655840" y="4833156"/>
            <a:ext cx="3024336" cy="1080120"/>
          </a:xfrm>
          <a:prstGeom prst="roundRect">
            <a:avLst/>
          </a:prstGeom>
          <a:noFill/>
          <a:ln w="38100" cap="flat" cmpd="sng" algn="ctr">
            <a:solidFill>
              <a:srgbClr val="33CC33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BE" sz="1200" dirty="0">
                <a:solidFill>
                  <a:schemeClr val="bg2"/>
                </a:solidFill>
                <a:latin typeface="Times New Roman" pitchFamily="18" charset="0"/>
              </a:rPr>
              <a:t>Model-</a:t>
            </a:r>
            <a:r>
              <a:rPr lang="fr-BE" sz="1200" dirty="0" err="1">
                <a:solidFill>
                  <a:schemeClr val="bg2"/>
                </a:solidFill>
                <a:latin typeface="Times New Roman" pitchFamily="18" charset="0"/>
              </a:rPr>
              <a:t>based</a:t>
            </a:r>
            <a:r>
              <a:rPr lang="fr-BE" sz="12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BE" sz="1200" dirty="0" err="1">
                <a:solidFill>
                  <a:schemeClr val="bg2"/>
                </a:solidFill>
                <a:latin typeface="Times New Roman" pitchFamily="18" charset="0"/>
              </a:rPr>
              <a:t>decomposition</a:t>
            </a:r>
            <a:endParaRPr lang="fr-BE" sz="1200" dirty="0">
              <a:solidFill>
                <a:schemeClr val="bg2"/>
              </a:solidFill>
              <a:latin typeface="Times New Roman" pitchFamily="18" charset="0"/>
            </a:endParaRPr>
          </a:p>
          <a:p>
            <a:pPr algn="r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BE" sz="1200" dirty="0">
                <a:solidFill>
                  <a:schemeClr val="bg2"/>
                </a:solidFill>
              </a:rPr>
              <a:t>(canonical </a:t>
            </a:r>
            <a:r>
              <a:rPr lang="fr-BE" sz="1200" dirty="0" err="1">
                <a:solidFill>
                  <a:schemeClr val="bg2"/>
                </a:solidFill>
              </a:rPr>
              <a:t>decomposition</a:t>
            </a:r>
            <a:r>
              <a:rPr lang="fr-BE" sz="1200" dirty="0">
                <a:solidFill>
                  <a:schemeClr val="bg2"/>
                </a:solidFill>
              </a:rPr>
              <a:t>, </a:t>
            </a:r>
          </a:p>
          <a:p>
            <a:pPr algn="r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BE" sz="1200" dirty="0">
                <a:solidFill>
                  <a:schemeClr val="bg2"/>
                </a:solidFill>
              </a:rPr>
              <a:t>structural </a:t>
            </a:r>
            <a:r>
              <a:rPr lang="fr-BE" sz="1200" dirty="0" err="1">
                <a:solidFill>
                  <a:schemeClr val="bg2"/>
                </a:solidFill>
              </a:rPr>
              <a:t>models</a:t>
            </a:r>
            <a:r>
              <a:rPr lang="fr-BE" sz="1200" dirty="0">
                <a:solidFill>
                  <a:schemeClr val="bg2"/>
                </a:solidFill>
              </a:rPr>
              <a:t>...)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GB" sz="1200" dirty="0">
              <a:solidFill>
                <a:schemeClr val="bg2"/>
              </a:solidFill>
              <a:latin typeface="Times New Roman" pitchFamily="18" charset="0"/>
            </a:endParaRPr>
          </a:p>
        </p:txBody>
      </p:sp>
      <p:sp>
        <p:nvSpPr>
          <p:cNvPr id="32" name="Rectangle 31"/>
          <p:cNvSpPr/>
          <p:nvPr/>
        </p:nvSpPr>
        <p:spPr bwMode="auto">
          <a:xfrm>
            <a:off x="8260356" y="5229200"/>
            <a:ext cx="2160240" cy="10081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GB" sz="1600" dirty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</a:rPr>
              <a:t>Signal extraction tools:</a:t>
            </a:r>
            <a:endParaRPr lang="en-GB" dirty="0">
              <a:solidFill>
                <a:schemeClr val="accent1">
                  <a:lumMod val="75000"/>
                </a:schemeClr>
              </a:solidFill>
              <a:latin typeface="Times New Roman" pitchFamily="18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Estimation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Analysis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Graphical components</a:t>
            </a:r>
          </a:p>
        </p:txBody>
      </p:sp>
      <p:cxnSp>
        <p:nvCxnSpPr>
          <p:cNvPr id="34" name="Elbow Connector 33"/>
          <p:cNvCxnSpPr>
            <a:stCxn id="32" idx="1"/>
            <a:endCxn id="19" idx="3"/>
          </p:cNvCxnSpPr>
          <p:nvPr/>
        </p:nvCxnSpPr>
        <p:spPr bwMode="auto">
          <a:xfrm rot="10800000">
            <a:off x="7680176" y="5373216"/>
            <a:ext cx="580180" cy="360040"/>
          </a:xfrm>
          <a:prstGeom prst="bentConnector3">
            <a:avLst>
              <a:gd name="adj1" fmla="val 50000"/>
            </a:avLst>
          </a:prstGeom>
          <a:solidFill>
            <a:schemeClr val="accent1"/>
          </a:solidFill>
          <a:ln w="38100" cap="flat" cmpd="sng" algn="ctr">
            <a:solidFill>
              <a:srgbClr val="33CC33"/>
            </a:solidFill>
            <a:prstDash val="sysDot"/>
            <a:round/>
            <a:headEnd type="none" w="med" len="med"/>
            <a:tailEnd type="arrow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1703512" y="2816932"/>
            <a:ext cx="1224136" cy="30963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GB" sz="1600" dirty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</a:rPr>
              <a:t>Specific modules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GB" sz="1600" dirty="0">
              <a:solidFill>
                <a:schemeClr val="accent1">
                  <a:lumMod val="75000"/>
                </a:schemeClr>
              </a:solidFill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GB" sz="1600" dirty="0">
                <a:solidFill>
                  <a:schemeClr val="accent1">
                    <a:lumMod val="75000"/>
                  </a:schemeClr>
                </a:solidFill>
              </a:rPr>
              <a:t>(X11, STL..</a:t>
            </a:r>
            <a:r>
              <a:rPr lang="fr-BE" sz="1600" dirty="0">
                <a:solidFill>
                  <a:schemeClr val="accent1">
                    <a:lumMod val="75000"/>
                  </a:schemeClr>
                </a:solidFill>
              </a:rPr>
              <a:t>.)</a:t>
            </a:r>
            <a:endParaRPr lang="fr-BE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8" name="Rounded Rectangle 47"/>
          <p:cNvSpPr/>
          <p:nvPr/>
        </p:nvSpPr>
        <p:spPr bwMode="auto">
          <a:xfrm>
            <a:off x="3431704" y="4833156"/>
            <a:ext cx="1152128" cy="1080120"/>
          </a:xfrm>
          <a:prstGeom prst="roundRect">
            <a:avLst/>
          </a:prstGeom>
          <a:noFill/>
          <a:ln w="38100" cap="flat" cmpd="sng" algn="ctr">
            <a:solidFill>
              <a:srgbClr val="33CC33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BE" sz="1200" dirty="0" err="1">
                <a:solidFill>
                  <a:schemeClr val="bg2"/>
                </a:solidFill>
                <a:latin typeface="Times New Roman" pitchFamily="18" charset="0"/>
              </a:rPr>
              <a:t>Other</a:t>
            </a:r>
            <a:r>
              <a:rPr lang="fr-BE" sz="12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BE" sz="1200" dirty="0" err="1">
                <a:solidFill>
                  <a:schemeClr val="bg2"/>
                </a:solidFill>
                <a:latin typeface="Times New Roman" pitchFamily="18" charset="0"/>
              </a:rPr>
              <a:t>filters</a:t>
            </a:r>
            <a:r>
              <a:rPr lang="fr-BE" sz="1200" dirty="0">
                <a:solidFill>
                  <a:schemeClr val="bg2"/>
                </a:solidFill>
                <a:latin typeface="Times New Roman" pitchFamily="18" charset="0"/>
              </a:rPr>
              <a:t> (X11, STL...)</a:t>
            </a:r>
            <a:endParaRPr lang="en-GB" sz="1200" dirty="0">
              <a:solidFill>
                <a:schemeClr val="bg2"/>
              </a:solidFill>
              <a:latin typeface="Times New Roman" pitchFamily="18" charset="0"/>
            </a:endParaRPr>
          </a:p>
        </p:txBody>
      </p:sp>
      <p:cxnSp>
        <p:nvCxnSpPr>
          <p:cNvPr id="49" name="Elbow Connector 48"/>
          <p:cNvCxnSpPr>
            <a:stCxn id="47" idx="3"/>
            <a:endCxn id="48" idx="1"/>
          </p:cNvCxnSpPr>
          <p:nvPr/>
        </p:nvCxnSpPr>
        <p:spPr bwMode="auto">
          <a:xfrm>
            <a:off x="2927648" y="4365104"/>
            <a:ext cx="504056" cy="1008112"/>
          </a:xfrm>
          <a:prstGeom prst="bentConnector3">
            <a:avLst>
              <a:gd name="adj1" fmla="val 50000"/>
            </a:avLst>
          </a:prstGeom>
          <a:solidFill>
            <a:schemeClr val="accent1"/>
          </a:solidFill>
          <a:ln w="38100" cap="flat" cmpd="sng" algn="ctr">
            <a:solidFill>
              <a:srgbClr val="33CC33"/>
            </a:solidFill>
            <a:prstDash val="sysDot"/>
            <a:round/>
            <a:headEnd type="none" w="med" len="med"/>
            <a:tailEnd type="arrow"/>
          </a:ln>
          <a:effectLst/>
        </p:spPr>
      </p:cxnSp>
      <p:sp>
        <p:nvSpPr>
          <p:cNvPr id="64" name="Rounded Rectangle 63"/>
          <p:cNvSpPr/>
          <p:nvPr/>
        </p:nvSpPr>
        <p:spPr bwMode="auto">
          <a:xfrm>
            <a:off x="3431704" y="3563846"/>
            <a:ext cx="2304256" cy="1152128"/>
          </a:xfrm>
          <a:prstGeom prst="roundRect">
            <a:avLst/>
          </a:prstGeom>
          <a:noFill/>
          <a:ln w="38100" cap="flat" cmpd="sng" algn="ctr">
            <a:solidFill>
              <a:schemeClr val="accent5">
                <a:lumMod val="40000"/>
                <a:lumOff val="60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BE" sz="1200" dirty="0">
                <a:solidFill>
                  <a:schemeClr val="bg2"/>
                </a:solidFill>
                <a:latin typeface="Times New Roman" pitchFamily="18" charset="0"/>
              </a:rPr>
              <a:t>REGARIMA </a:t>
            </a:r>
            <a:r>
              <a:rPr lang="fr-BE" sz="1200" dirty="0" err="1">
                <a:solidFill>
                  <a:schemeClr val="bg2"/>
                </a:solidFill>
                <a:latin typeface="Times New Roman" pitchFamily="18" charset="0"/>
              </a:rPr>
              <a:t>pre</a:t>
            </a:r>
            <a:r>
              <a:rPr lang="fr-BE" sz="1200" dirty="0">
                <a:solidFill>
                  <a:schemeClr val="bg2"/>
                </a:solidFill>
                <a:latin typeface="Times New Roman" pitchFamily="18" charset="0"/>
              </a:rPr>
              <a:t>-</a:t>
            </a:r>
            <a:r>
              <a:rPr lang="fr-BE" sz="1200" dirty="0" err="1">
                <a:solidFill>
                  <a:schemeClr val="bg2"/>
                </a:solidFill>
                <a:latin typeface="Times New Roman" pitchFamily="18" charset="0"/>
              </a:rPr>
              <a:t>processing</a:t>
            </a:r>
            <a:endParaRPr lang="en-GB" sz="1200" dirty="0">
              <a:solidFill>
                <a:schemeClr val="bg2"/>
              </a:solidFill>
              <a:latin typeface="Times New Roman" pitchFamily="18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8273899" y="3185805"/>
            <a:ext cx="2232248" cy="190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GB" sz="1600" dirty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</a:rPr>
              <a:t>REGARIMA modules:</a:t>
            </a:r>
            <a:endParaRPr lang="en-GB" dirty="0">
              <a:solidFill>
                <a:schemeClr val="accent1">
                  <a:lumMod val="75000"/>
                </a:schemeClr>
              </a:solidFill>
              <a:latin typeface="Times New Roman" pitchFamily="18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Common model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Estimation tools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Automatic modelling routines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Analysis tools (residuals, forecasts...)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Graphical components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endParaRPr lang="fr-BE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69" name="Elbow Connector 68"/>
          <p:cNvCxnSpPr>
            <a:stCxn id="65" idx="1"/>
            <a:endCxn id="64" idx="3"/>
          </p:cNvCxnSpPr>
          <p:nvPr/>
        </p:nvCxnSpPr>
        <p:spPr bwMode="auto">
          <a:xfrm rot="10800000">
            <a:off x="5735962" y="4139912"/>
            <a:ext cx="2537939" cy="1"/>
          </a:xfrm>
          <a:prstGeom prst="bentConnector3">
            <a:avLst>
              <a:gd name="adj1" fmla="val 50000"/>
            </a:avLst>
          </a:prstGeom>
          <a:solidFill>
            <a:schemeClr val="accent1"/>
          </a:solidFill>
          <a:ln w="38100" cap="flat" cmpd="sng" algn="ctr">
            <a:solidFill>
              <a:schemeClr val="accent1">
                <a:lumMod val="40000"/>
                <a:lumOff val="60000"/>
              </a:schemeClr>
            </a:solidFill>
            <a:prstDash val="sysDot"/>
            <a:round/>
            <a:headEnd type="none" w="med" len="med"/>
            <a:tailEnd type="arrow"/>
          </a:ln>
          <a:effectLst/>
        </p:spPr>
      </p:cxn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ESTP Training. JD+ Overview</a:t>
            </a:r>
          </a:p>
        </p:txBody>
      </p:sp>
    </p:spTree>
    <p:extLst>
      <p:ext uri="{BB962C8B-B14F-4D97-AF65-F5344CB8AC3E}">
        <p14:creationId xmlns:p14="http://schemas.microsoft.com/office/powerpoint/2010/main" val="3504687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8" grpId="0" animBg="1"/>
      <p:bldP spid="19" grpId="0" animBg="1"/>
      <p:bldP spid="32" grpId="0" animBg="1"/>
      <p:bldP spid="47" grpId="0" animBg="1"/>
      <p:bldP spid="48" grpId="0" animBg="1"/>
      <p:bldP spid="64" grpId="0" animBg="1"/>
      <p:bldP spid="6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b="0" dirty="0"/>
              <a:t>5. Final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JD+ is a complete re-factoring of </a:t>
            </a:r>
            <a:r>
              <a:rPr lang="en-GB" dirty="0" err="1"/>
              <a:t>Tramo</a:t>
            </a:r>
            <a:r>
              <a:rPr lang="en-GB" dirty="0"/>
              <a:t>-Seats and of X12-Arima in an open OO framework. In some cases, the new algorithms may lead to (usually slightly) different results .</a:t>
            </a:r>
          </a:p>
          <a:p>
            <a:endParaRPr lang="en-GB" dirty="0"/>
          </a:p>
          <a:p>
            <a:r>
              <a:rPr lang="en-GB" dirty="0"/>
              <a:t>JD+ is also designed for the handling of related time series problems, especially through a rich state space library.</a:t>
            </a:r>
          </a:p>
          <a:p>
            <a:endParaRPr lang="en-GB" dirty="0"/>
          </a:p>
          <a:p>
            <a:r>
              <a:rPr lang="en-GB" dirty="0"/>
              <a:t>By developing it as an open-source solution, we have tried to create an environment appropriate to external collaborations.</a:t>
            </a:r>
          </a:p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ESTP Training. JD+ Overview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7</TotalTime>
  <Words>523</Words>
  <Application>Microsoft Office PowerPoint</Application>
  <PresentationFormat>Grand écran</PresentationFormat>
  <Paragraphs>126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Times New Roman</vt:lpstr>
      <vt:lpstr>ESTAT Theme</vt:lpstr>
      <vt:lpstr>Overview of JDemetra+</vt:lpstr>
      <vt:lpstr>0. Outline</vt:lpstr>
      <vt:lpstr>1.1 General Objectives</vt:lpstr>
      <vt:lpstr>1.2 Objectives for SA</vt:lpstr>
      <vt:lpstr>2.1 What is JD+ (I) ?</vt:lpstr>
      <vt:lpstr>2.2 What is JD+ ? (II)</vt:lpstr>
      <vt:lpstr>3. Statistical content</vt:lpstr>
      <vt:lpstr>4. Seasonal adjustment framework</vt:lpstr>
      <vt:lpstr>5. Final remarks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63</cp:revision>
  <dcterms:created xsi:type="dcterms:W3CDTF">2024-11-22T11:11:00Z</dcterms:created>
  <dcterms:modified xsi:type="dcterms:W3CDTF">2026-08-27T06:49:08Z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