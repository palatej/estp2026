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2" r:id="rId6"/>
    <p:sldId id="263" r:id="rId7"/>
    <p:sldId id="264" r:id="rId8"/>
    <p:sldId id="265" r:id="rId9"/>
    <p:sldId id="261" r:id="rId10"/>
  </p:sldIdLst>
  <p:sldSz cx="12192000" cy="6858000"/>
  <p:notesSz cx="6858000" cy="9144000"/>
  <p:custDataLst>
    <p:tags r:id="rId1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7CB"/>
    <a:srgbClr val="2644A7"/>
    <a:srgbClr val="101010"/>
    <a:srgbClr val="F4F4F4"/>
    <a:srgbClr val="104F99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81100" autoAdjust="0"/>
  </p:normalViewPr>
  <p:slideViewPr>
    <p:cSldViewPr snapToGrid="0">
      <p:cViewPr varScale="1">
        <p:scale>
          <a:sx n="90" d="100"/>
          <a:sy n="90" d="100"/>
        </p:scale>
        <p:origin x="1122" y="78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0519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901951"/>
            <a:ext cx="10515597" cy="4194176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ESTP Training</a:t>
            </a:r>
          </a:p>
          <a:p>
            <a:r>
              <a:rPr lang="en-IE" dirty="0"/>
              <a:t>05-07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0 </a:t>
            </a:r>
            <a:r>
              <a:rPr lang="en-GB" dirty="0"/>
              <a:t>Advanced Seasonal</a:t>
            </a:r>
            <a:br>
              <a:rPr lang="en-GB" dirty="0"/>
            </a:br>
            <a:r>
              <a:rPr lang="en-GB" dirty="0"/>
              <a:t>Adjustment with </a:t>
            </a:r>
            <a:r>
              <a:rPr lang="en-GB" dirty="0" err="1"/>
              <a:t>RJDemetra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45FB7-A568-40B4-F10D-7B302401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chemeClr val="bg1">
                    <a:lumMod val="75000"/>
                  </a:schemeClr>
                </a:solidFill>
              </a:rPr>
              <a:t>Advanced </a:t>
            </a:r>
            <a:r>
              <a:rPr lang="en-GB" sz="3600" dirty="0">
                <a:solidFill>
                  <a:srgbClr val="0E47CB"/>
                </a:solidFill>
              </a:rPr>
              <a:t>Seasonal Adjustment </a:t>
            </a:r>
            <a:r>
              <a:rPr lang="en-GB" sz="3600" dirty="0">
                <a:solidFill>
                  <a:schemeClr val="bg1">
                    <a:lumMod val="75000"/>
                  </a:schemeClr>
                </a:solidFill>
              </a:rPr>
              <a:t>with </a:t>
            </a:r>
            <a:r>
              <a:rPr lang="en-GB" sz="3600" dirty="0" err="1">
                <a:solidFill>
                  <a:schemeClr val="bg1">
                    <a:lumMod val="75000"/>
                  </a:schemeClr>
                </a:solidFill>
              </a:rPr>
              <a:t>RJDemetra</a:t>
            </a:r>
            <a:endParaRPr lang="en-GB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5EEC2B-6B2D-251E-1D41-763E847AE2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Seasonal adjustment</a:t>
            </a:r>
          </a:p>
          <a:p>
            <a:pPr lvl="1"/>
            <a:r>
              <a:rPr lang="en-GB" dirty="0"/>
              <a:t>The training is organized around Tramo-Seats and X12-Arima / X13.</a:t>
            </a:r>
          </a:p>
          <a:p>
            <a:pPr lvl="1"/>
            <a:r>
              <a:rPr lang="en-GB" dirty="0"/>
              <a:t>Some other methods will be shortly discussed</a:t>
            </a:r>
          </a:p>
        </p:txBody>
      </p:sp>
    </p:spTree>
    <p:extLst>
      <p:ext uri="{BB962C8B-B14F-4D97-AF65-F5344CB8AC3E}">
        <p14:creationId xmlns:p14="http://schemas.microsoft.com/office/powerpoint/2010/main" val="2539398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4E557D-CC1E-74A2-F546-488D5449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0E47CB"/>
                </a:solidFill>
              </a:rPr>
              <a:t>Advanced</a:t>
            </a:r>
            <a:r>
              <a:rPr lang="en-GB" sz="3600" dirty="0">
                <a:solidFill>
                  <a:schemeClr val="bg1">
                    <a:lumMod val="75000"/>
                  </a:schemeClr>
                </a:solidFill>
              </a:rPr>
              <a:t> Seasonal Adjustment with </a:t>
            </a:r>
            <a:r>
              <a:rPr lang="en-GB" sz="3600" dirty="0" err="1">
                <a:solidFill>
                  <a:schemeClr val="bg1">
                    <a:lumMod val="75000"/>
                  </a:schemeClr>
                </a:solidFill>
              </a:rPr>
              <a:t>RJDemetra</a:t>
            </a:r>
            <a:endParaRPr lang="en-GB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24894C-922B-6E25-B84D-08AA739CBA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Seasonal adjustment</a:t>
            </a:r>
          </a:p>
          <a:p>
            <a:pPr lvl="1"/>
            <a:r>
              <a:rPr lang="en-GB" dirty="0"/>
              <a:t>The training is organized around Tramo-Seats and X12-Arima / X13.</a:t>
            </a:r>
          </a:p>
          <a:p>
            <a:pPr lvl="1"/>
            <a:r>
              <a:rPr lang="en-GB" dirty="0"/>
              <a:t>Some other methods will be shortly discussed</a:t>
            </a:r>
          </a:p>
          <a:p>
            <a:r>
              <a:rPr lang="en-GB" dirty="0"/>
              <a:t>Advanced seasonal adjustment</a:t>
            </a:r>
          </a:p>
          <a:p>
            <a:pPr lvl="1"/>
            <a:r>
              <a:rPr lang="en-GB" dirty="0"/>
              <a:t>Not a “push button” approach. </a:t>
            </a:r>
          </a:p>
          <a:p>
            <a:pPr lvl="1"/>
            <a:r>
              <a:rPr lang="en-GB" dirty="0"/>
              <a:t>Some advanced topics will be introduced (without too technical details)</a:t>
            </a:r>
          </a:p>
        </p:txBody>
      </p:sp>
    </p:spTree>
    <p:extLst>
      <p:ext uri="{BB962C8B-B14F-4D97-AF65-F5344CB8AC3E}">
        <p14:creationId xmlns:p14="http://schemas.microsoft.com/office/powerpoint/2010/main" val="1845636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3BBC01-922B-15A9-F826-CDC17A15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chemeClr val="bg1">
                    <a:lumMod val="75000"/>
                  </a:schemeClr>
                </a:solidFill>
              </a:rPr>
              <a:t>Advanced Seasonal Adjustment with </a:t>
            </a:r>
            <a:r>
              <a:rPr lang="en-GB" sz="3600" dirty="0" err="1">
                <a:solidFill>
                  <a:schemeClr val="bg1">
                    <a:lumMod val="75000"/>
                  </a:schemeClr>
                </a:solidFill>
              </a:rPr>
              <a:t>R</a:t>
            </a:r>
            <a:r>
              <a:rPr lang="en-GB" sz="3600" dirty="0" err="1">
                <a:solidFill>
                  <a:srgbClr val="0E47CB"/>
                </a:solidFill>
              </a:rPr>
              <a:t>JDemetra</a:t>
            </a:r>
            <a:endParaRPr lang="en-GB" sz="3600" dirty="0">
              <a:solidFill>
                <a:srgbClr val="0E47CB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FEC36E-46F6-3E86-82C1-15CFCDE43E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>
                <a:solidFill>
                  <a:srgbClr val="0E47CB"/>
                </a:solidFill>
              </a:rPr>
              <a:t>Seasonal adjustment</a:t>
            </a:r>
          </a:p>
          <a:p>
            <a:pPr lvl="1"/>
            <a:r>
              <a:rPr lang="en-GB" dirty="0"/>
              <a:t>The training is organized around Tramo-Seats and X12-Arima / X13.</a:t>
            </a:r>
          </a:p>
          <a:p>
            <a:pPr lvl="1"/>
            <a:r>
              <a:rPr lang="en-GB" dirty="0"/>
              <a:t>Some other methods will be shortly discussed</a:t>
            </a:r>
          </a:p>
          <a:p>
            <a:r>
              <a:rPr lang="en-GB" dirty="0">
                <a:solidFill>
                  <a:srgbClr val="0E47CB"/>
                </a:solidFill>
              </a:rPr>
              <a:t>Advanced seasonal adjustment</a:t>
            </a:r>
          </a:p>
          <a:p>
            <a:pPr lvl="1"/>
            <a:r>
              <a:rPr lang="en-GB" dirty="0"/>
              <a:t>Not a “push button” approach. </a:t>
            </a:r>
          </a:p>
          <a:p>
            <a:pPr lvl="1"/>
            <a:r>
              <a:rPr lang="en-GB" dirty="0"/>
              <a:t>Some advanced topics will be introduced (without too technical details)</a:t>
            </a:r>
          </a:p>
          <a:p>
            <a:r>
              <a:rPr lang="en-GB" dirty="0">
                <a:solidFill>
                  <a:srgbClr val="0E47CB"/>
                </a:solidFill>
              </a:rPr>
              <a:t>JDemetra (JD+)</a:t>
            </a:r>
          </a:p>
          <a:p>
            <a:pPr lvl="1"/>
            <a:r>
              <a:rPr lang="en-GB" dirty="0"/>
              <a:t>Recommended by Eurostat </a:t>
            </a:r>
            <a:r>
              <a:rPr lang="en-GB"/>
              <a:t>since 2015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5655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A9B2-727F-35E1-5F18-3840E35C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83B998-BB13-DDD8-B5F9-48C51D85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chemeClr val="bg1">
                    <a:lumMod val="75000"/>
                  </a:schemeClr>
                </a:solidFill>
              </a:rPr>
              <a:t>Advanced Seasonal Adjustment with </a:t>
            </a:r>
            <a:r>
              <a:rPr lang="en-GB" sz="3600" dirty="0" err="1">
                <a:solidFill>
                  <a:srgbClr val="0E47CB"/>
                </a:solidFill>
              </a:rPr>
              <a:t>R</a:t>
            </a:r>
            <a:r>
              <a:rPr lang="en-GB" sz="3600" dirty="0" err="1">
                <a:solidFill>
                  <a:schemeClr val="bg1">
                    <a:lumMod val="75000"/>
                  </a:schemeClr>
                </a:solidFill>
              </a:rPr>
              <a:t>JDemetra</a:t>
            </a:r>
            <a:endParaRPr lang="en-GB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CB0040-1749-2DB4-1A1D-E586D1D012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>
                <a:solidFill>
                  <a:srgbClr val="0E47CB"/>
                </a:solidFill>
              </a:rPr>
              <a:t>Seasonal adjustment</a:t>
            </a:r>
          </a:p>
          <a:p>
            <a:pPr lvl="1"/>
            <a:r>
              <a:rPr lang="en-GB" dirty="0"/>
              <a:t>The training is organized around Tramo-Seats and X12-Arima / X13.</a:t>
            </a:r>
          </a:p>
          <a:p>
            <a:pPr lvl="1"/>
            <a:r>
              <a:rPr lang="en-GB" dirty="0"/>
              <a:t>Some other methods will be shortly discussed</a:t>
            </a:r>
          </a:p>
          <a:p>
            <a:r>
              <a:rPr lang="en-GB" dirty="0">
                <a:solidFill>
                  <a:srgbClr val="0E47CB"/>
                </a:solidFill>
              </a:rPr>
              <a:t>Advanced seasonal adjustment</a:t>
            </a:r>
          </a:p>
          <a:p>
            <a:pPr lvl="1"/>
            <a:r>
              <a:rPr lang="en-GB" dirty="0"/>
              <a:t>Not a “push button” approach. </a:t>
            </a:r>
          </a:p>
          <a:p>
            <a:pPr lvl="1"/>
            <a:r>
              <a:rPr lang="en-GB" dirty="0"/>
              <a:t>Some advanced topics will be introduced (without too technical details)</a:t>
            </a:r>
          </a:p>
          <a:p>
            <a:r>
              <a:rPr lang="en-GB" dirty="0">
                <a:solidFill>
                  <a:srgbClr val="0E47CB"/>
                </a:solidFill>
              </a:rPr>
              <a:t>JDemetra (JD+)</a:t>
            </a:r>
          </a:p>
          <a:p>
            <a:pPr lvl="1"/>
            <a:r>
              <a:rPr lang="en-GB" dirty="0"/>
              <a:t>Recommended by Eurostat since 2015</a:t>
            </a:r>
          </a:p>
          <a:p>
            <a:r>
              <a:rPr lang="en-GB" dirty="0">
                <a:solidFill>
                  <a:srgbClr val="0E47CB"/>
                </a:solidFill>
              </a:rPr>
              <a:t>R</a:t>
            </a:r>
          </a:p>
          <a:p>
            <a:pPr lvl="1"/>
            <a:r>
              <a:rPr lang="en-GB" dirty="0"/>
              <a:t>Flexible tool used in many institutions</a:t>
            </a:r>
          </a:p>
        </p:txBody>
      </p:sp>
    </p:spTree>
    <p:extLst>
      <p:ext uri="{BB962C8B-B14F-4D97-AF65-F5344CB8AC3E}">
        <p14:creationId xmlns:p14="http://schemas.microsoft.com/office/powerpoint/2010/main" val="58323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38</TotalTime>
  <Words>207</Words>
  <Application>Microsoft Office PowerPoint</Application>
  <PresentationFormat>Grand écran</PresentationFormat>
  <Paragraphs>35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ESTAT Theme</vt:lpstr>
      <vt:lpstr>0 Advanced Seasonal Adjustment with RJDemetra</vt:lpstr>
      <vt:lpstr>Advanced Seasonal Adjustment with RJDemetra</vt:lpstr>
      <vt:lpstr>Advanced Seasonal Adjustment with RJDemetra</vt:lpstr>
      <vt:lpstr>Advanced Seasonal Adjustment with RJDemetra</vt:lpstr>
      <vt:lpstr>Advanced Seasonal Adjustment with RJDemetra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Jean Palate</cp:lastModifiedBy>
  <cp:revision>67</cp:revision>
  <dcterms:created xsi:type="dcterms:W3CDTF">2024-11-22T11:11:00Z</dcterms:created>
  <dcterms:modified xsi:type="dcterms:W3CDTF">2026-10-01T08:03:31Z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