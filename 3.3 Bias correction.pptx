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0" r:id="rId6"/>
    <p:sldId id="271" r:id="rId7"/>
    <p:sldId id="273" r:id="rId8"/>
    <p:sldId id="272" r:id="rId9"/>
    <p:sldId id="261" r:id="rId10"/>
  </p:sldIdLst>
  <p:sldSz cx="12192000" cy="6858000"/>
  <p:notesSz cx="6858000" cy="9144000"/>
  <p:custDataLst>
    <p:tags r:id="rId1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258" y="84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6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28/09/2026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6329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406106"/>
            <a:ext cx="10515597" cy="469002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B82F-E4E9-499C-A3B0-E04168F3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67AF5-E0C2-47E6-AB94-5E43118EB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147C7-776B-43C1-808E-05CD7A9F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15-17/10/2024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C3660-C619-4C12-8055-D9486A63B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Bias correction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5454B-64B8-4D5C-A120-D28F5A09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ECB9-9B3C-426C-83E6-F290771ACE5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60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9BC9D-39EE-4E11-B03A-D5961C2A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15-17/10/2024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12516-7CDB-4AE0-9772-58E2D4012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Bias correction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5A197-1B19-4A79-8F96-F1C48DAC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ECB9-9B3C-426C-83E6-F290771ACE5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827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  <p:sldLayoutId id="2147483729" r:id="rId7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ESTP Training</a:t>
            </a:r>
          </a:p>
          <a:p>
            <a:r>
              <a:rPr lang="en-IE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3.3 Addendum: bias correction in SA algorithms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57B7B4-740A-149F-F044-2686E786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Description of the </a:t>
            </a:r>
            <a:r>
              <a:rPr lang="fr-BE" dirty="0" err="1"/>
              <a:t>problem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CAB4412-9C77-F8EA-802D-124FF63E502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GB" sz="2800" dirty="0"/>
                  <a:t>Log-additive decompositions</a:t>
                </a:r>
              </a:p>
              <a:p>
                <a:pPr lvl="1"/>
                <a:r>
                  <a:rPr lang="en-GB" sz="2400" dirty="0"/>
                  <a:t>SEATS with log transformation, X11 with log-additive mode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400" dirty="0"/>
                  <a:t> 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GB" sz="240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GB" sz="240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func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GB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𝑒𝑎𝑟𝑙𝑦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0↔</m:t>
                    </m:r>
                    <m:rad>
                      <m:rad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g>
                      <m:e>
                        <m:func>
                          <m:funcPr>
                            <m:ctrlPr>
                              <a:rPr lang="en-GB" sz="240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</m:e>
                    </m:rad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GB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𝑒𝑎𝑟𝑙𝑦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pPr marL="457200" lvl="1" indent="0" algn="ctr">
                  <a:buNone/>
                </a:pPr>
                <a:r>
                  <a:rPr lang="en-GB" sz="2000" dirty="0"/>
                  <a:t>(the arithmetic mean is always higher than the geometric mean)</a:t>
                </a:r>
                <a:endParaRPr lang="en-GB" sz="240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𝑒𝑎𝑟𝑙𝑦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𝑆𝐴</m:t>
                              </m:r>
                            </m:e>
                            <m:sub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𝑒𝑎𝑟𝑙𝑦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CAB4412-9C77-F8EA-802D-124FF63E50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2FD034-386A-2630-5453-BBFD802CC96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Bias correction</a:t>
            </a:r>
          </a:p>
        </p:txBody>
      </p:sp>
    </p:spTree>
    <p:extLst>
      <p:ext uri="{BB962C8B-B14F-4D97-AF65-F5344CB8AC3E}">
        <p14:creationId xmlns:p14="http://schemas.microsoft.com/office/powerpoint/2010/main" val="21336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06658-95F9-4FAB-9E9D-AA22B6641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Possible solutions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35BBF6-5417-25AF-0283-6226308A7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406106"/>
            <a:ext cx="6436861" cy="4690021"/>
          </a:xfrm>
        </p:spPr>
        <p:txBody>
          <a:bodyPr/>
          <a:lstStyle/>
          <a:p>
            <a:r>
              <a:rPr lang="en-GB" sz="2400" dirty="0"/>
              <a:t>Avoid log transformations (multiplicative X11)</a:t>
            </a:r>
          </a:p>
          <a:p>
            <a:r>
              <a:rPr lang="en-GB" sz="2400" dirty="0"/>
              <a:t>Correct S, I and T for their average bias on the whole series (</a:t>
            </a:r>
            <a:r>
              <a:rPr lang="en-GB" sz="2400" dirty="0" err="1"/>
              <a:t>Tramo</a:t>
            </a:r>
            <a:r>
              <a:rPr lang="en-GB" sz="2400" dirty="0"/>
              <a:t>)</a:t>
            </a:r>
          </a:p>
          <a:p>
            <a:pPr lvl="1"/>
            <a:r>
              <a:rPr lang="en-GB" sz="2000" dirty="0"/>
              <a:t>But…</a:t>
            </a:r>
          </a:p>
          <a:p>
            <a:pPr lvl="1"/>
            <a:endParaRPr lang="en-GB" sz="2000" dirty="0"/>
          </a:p>
          <a:p>
            <a:r>
              <a:rPr lang="en-GB" sz="2400" dirty="0"/>
              <a:t>Don’t correct the bias</a:t>
            </a:r>
          </a:p>
          <a:p>
            <a:r>
              <a:rPr lang="en-GB" sz="2400" dirty="0"/>
              <a:t>Experimental options (X12): smooth correction</a:t>
            </a:r>
          </a:p>
          <a:p>
            <a:endParaRPr lang="en-GB" sz="2400" dirty="0"/>
          </a:p>
          <a:p>
            <a:r>
              <a:rPr lang="en-GB" sz="2400" dirty="0"/>
              <a:t>Don’t correct and apply benchmarking</a:t>
            </a:r>
          </a:p>
          <a:p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01C036-F06B-EB84-D6B9-54C41D74850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Bias correction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FDA2E57-D75D-E439-324C-04BD0BD16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849526"/>
            <a:ext cx="3349106" cy="155839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3D3ED46-B407-7DF2-4B14-A123824A2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29259"/>
            <a:ext cx="3349105" cy="165939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AB5F1BA-3EA9-F669-163B-B5A41944C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61" y="4626280"/>
            <a:ext cx="3257645" cy="1666702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C0EEE718-838B-3065-7596-B2FADEDBED71}"/>
              </a:ext>
            </a:extLst>
          </p:cNvPr>
          <p:cNvCxnSpPr>
            <a:cxnSpLocks/>
          </p:cNvCxnSpPr>
          <p:nvPr/>
        </p:nvCxnSpPr>
        <p:spPr>
          <a:xfrm flipV="1">
            <a:off x="4607095" y="2388655"/>
            <a:ext cx="4885588" cy="8122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7BF1FB8-E54E-00B9-1101-559902113F22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784651" y="3628725"/>
            <a:ext cx="2987749" cy="3265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62B06804-679F-E925-E8A2-77098F92326C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6826102" y="5459631"/>
            <a:ext cx="1037759" cy="1756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655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0DB2F5-6F04-8BA4-B00B-684F72A8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Bias correction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995EBC-55B5-0114-871F-FEFFE832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" y="0"/>
            <a:ext cx="1116330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54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12816-01EA-AF56-D770-19BCA10C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Additional</a:t>
            </a:r>
            <a:r>
              <a:rPr lang="fr-BE" dirty="0"/>
              <a:t> </a:t>
            </a:r>
            <a:r>
              <a:rPr lang="fr-BE" dirty="0" err="1"/>
              <a:t>remarks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7A574E-3CFA-446C-EBCB-07198D1B32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dirty="0"/>
              <a:t>Bias correction will generate some revisions (constant factor)</a:t>
            </a:r>
          </a:p>
          <a:p>
            <a:r>
              <a:rPr lang="en-GB" sz="2400" dirty="0"/>
              <a:t>Currently no good solution in JD+ if the seasonal factors highly differ following the periods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275EEA-CA5A-BD31-F867-A63EAD4E4A8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Bias correction</a:t>
            </a:r>
          </a:p>
        </p:txBody>
      </p:sp>
    </p:spTree>
    <p:extLst>
      <p:ext uri="{BB962C8B-B14F-4D97-AF65-F5344CB8AC3E}">
        <p14:creationId xmlns:p14="http://schemas.microsoft.com/office/powerpoint/2010/main" val="648431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Props1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70</TotalTime>
  <Words>159</Words>
  <Application>Microsoft Office PowerPoint</Application>
  <PresentationFormat>Grand écran</PresentationFormat>
  <Paragraphs>28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ESTAT Theme</vt:lpstr>
      <vt:lpstr>3.3 Addendum: bias correction in SA algorithms</vt:lpstr>
      <vt:lpstr>Description of the problem</vt:lpstr>
      <vt:lpstr>Possible solutions</vt:lpstr>
      <vt:lpstr>Présentation PowerPoint</vt:lpstr>
      <vt:lpstr>Additional remarks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68</cp:revision>
  <dcterms:created xsi:type="dcterms:W3CDTF">2024-11-22T11:11:00Z</dcterms:created>
  <dcterms:modified xsi:type="dcterms:W3CDTF">2026-09-28T10:36:23Z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