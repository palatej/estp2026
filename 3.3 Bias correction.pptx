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4"/>
  </p:sldMasterIdLst>
  <p:notesMasterIdLst>
    <p:notesMasterId r:id="rId11"/>
  </p:notesMasterIdLst>
  <p:handoutMasterIdLst>
    <p:handoutMasterId r:id="rId12"/>
  </p:handoutMasterIdLst>
  <p:sldIdLst>
    <p:sldId id="256" r:id="rId5"/>
    <p:sldId id="270" r:id="rId6"/>
    <p:sldId id="271" r:id="rId7"/>
    <p:sldId id="273" r:id="rId8"/>
    <p:sldId id="272" r:id="rId9"/>
    <p:sldId id="261" r:id="rId10"/>
  </p:sldIdLst>
  <p:sldSz cx="12192000" cy="6858000"/>
  <p:notesSz cx="6858000" cy="9144000"/>
  <p:custDataLst>
    <p:tags r:id="rId13"/>
  </p:custData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092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  <p:ext uri="http://customooxmlschemas.google.com/">
      <go:slidesCustomData xmlns=""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r:id="rId59" roundtripDataSignature="AMtx7mh3YP3xexYcFoahXa2ehi0H5V4Z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644A7"/>
    <a:srgbClr val="101010"/>
    <a:srgbClr val="F4F4F4"/>
    <a:srgbClr val="104F99"/>
    <a:srgbClr val="0E47CB"/>
    <a:srgbClr val="003180"/>
    <a:srgbClr val="0A2744"/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0AA4A9A-08D4-41EC-A222-5D5926BFFED6}" v="2" dt="2025-07-04T13:46:36.31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645" autoAdjust="0"/>
    <p:restoredTop sz="81100" autoAdjust="0"/>
  </p:normalViewPr>
  <p:slideViewPr>
    <p:cSldViewPr snapToGrid="0">
      <p:cViewPr varScale="1">
        <p:scale>
          <a:sx n="90" d="100"/>
          <a:sy n="90" d="100"/>
        </p:scale>
        <p:origin x="1122" y="78"/>
      </p:cViewPr>
      <p:guideLst>
        <p:guide orient="horz" pos="2092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75" d="100"/>
          <a:sy n="75" d="100"/>
        </p:scale>
        <p:origin x="2938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ags" Target="tags/tag1.xml"/><Relationship Id="rId3" Type="http://schemas.openxmlformats.org/officeDocument/2006/relationships/customXml" Target="../customXml/item3.xml"/><Relationship Id="rId63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handoutMaster" Target="handoutMasters/handoutMaster1.xml"/><Relationship Id="rId59" Type="http://customschemas.google.com/relationships/presentationmetadata" Target="metadata"/><Relationship Id="rId2" Type="http://schemas.openxmlformats.org/officeDocument/2006/relationships/customXml" Target="../customXml/item2.xml"/><Relationship Id="rId62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1" Type="http://schemas.openxmlformats.org/officeDocument/2006/relationships/viewProps" Target="viewProps.xml"/><Relationship Id="rId10" Type="http://schemas.openxmlformats.org/officeDocument/2006/relationships/slide" Target="slides/slide6.xml"/><Relationship Id="rId6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64" Type="http://schemas.microsoft.com/office/2015/10/relationships/revisionInfo" Target="revisionInfo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66D6800-DB9C-EBAC-83AC-5F9D7E2C8B1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DED1430-DB1F-C50E-E2CC-369D36DF276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BFB8CE-488C-4A7E-87F2-3AF6127C51C1}" type="datetimeFigureOut">
              <a:rPr lang="en-IE" smtClean="0"/>
              <a:t>17/09/2026</a:t>
            </a:fld>
            <a:endParaRPr lang="en-I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41B46C1-E31F-1BE5-CF29-FC2D8EA3E24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A38F49-91A1-E3F0-770A-4578CF8E586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9F2F4C-E206-483F-A4B8-E82471BA527C}" type="slidenum">
              <a:rPr lang="en-IE" smtClean="0"/>
              <a:t>‹N°›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61982775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‹N°›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lang="en-GB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1363291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preserve="1" userDrawn="1">
  <p:cSld name=" Title Slid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D898605-EE7A-6AAE-447A-080B2C6D225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rcRect t="3042" b="3042"/>
          <a:stretch/>
        </p:blipFill>
        <p:spPr>
          <a:xfrm>
            <a:off x="-918" y="0"/>
            <a:ext cx="12192001" cy="6866879"/>
          </a:xfrm>
          <a:prstGeom prst="rect">
            <a:avLst/>
          </a:prstGeom>
        </p:spPr>
      </p:pic>
      <p:sp>
        <p:nvSpPr>
          <p:cNvPr id="19" name="Google Shape;19;p22"/>
          <p:cNvSpPr txBox="1">
            <a:spLocks noGrp="1"/>
          </p:cNvSpPr>
          <p:nvPr>
            <p:ph type="subTitle" idx="1"/>
          </p:nvPr>
        </p:nvSpPr>
        <p:spPr>
          <a:xfrm>
            <a:off x="1112521" y="3277775"/>
            <a:ext cx="3957106" cy="17454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 i="0">
                <a:solidFill>
                  <a:schemeClr val="bg1"/>
                </a:solidFill>
              </a:defRPr>
            </a:lvl1pPr>
            <a:lvl2pPr lvl="1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09F257-77BC-80DD-CDE4-F5B22D79517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381876" y="3596720"/>
            <a:ext cx="4224858" cy="1374485"/>
          </a:xfrm>
          <a:prstGeom prst="rect">
            <a:avLst/>
          </a:prstGeo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784A076C-4C5D-810C-C205-F06C491692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2521" y="885018"/>
            <a:ext cx="9448800" cy="2037783"/>
          </a:xfrm>
        </p:spPr>
        <p:txBody>
          <a:bodyPr anchor="ctr"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IE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E5F2B0E4-A35A-CFA1-4E98-55EAD82CE82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307994" y="5771588"/>
            <a:ext cx="2509626" cy="777875"/>
          </a:xfrm>
        </p:spPr>
        <p:txBody>
          <a:bodyPr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594073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Object" preserve="1" userDrawn="1">
  <p:cSld name="Content and Object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1"/>
          <p:cNvSpPr txBox="1">
            <a:spLocks noGrp="1"/>
          </p:cNvSpPr>
          <p:nvPr>
            <p:ph type="title"/>
          </p:nvPr>
        </p:nvSpPr>
        <p:spPr>
          <a:xfrm>
            <a:off x="970722" y="413590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solidFill>
                  <a:srgbClr val="2644A7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cxnSp>
        <p:nvCxnSpPr>
          <p:cNvPr id="177" name="Google Shape;177;p41"/>
          <p:cNvCxnSpPr>
            <a:cxnSpLocks/>
          </p:cNvCxnSpPr>
          <p:nvPr/>
        </p:nvCxnSpPr>
        <p:spPr>
          <a:xfrm>
            <a:off x="0" y="1552418"/>
            <a:ext cx="970722" cy="0"/>
          </a:xfrm>
          <a:prstGeom prst="straightConnector1">
            <a:avLst/>
          </a:prstGeom>
          <a:noFill/>
          <a:ln w="762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Google Shape;10;p21">
            <a:extLst>
              <a:ext uri="{FF2B5EF4-FFF2-40B4-BE49-F238E27FC236}">
                <a16:creationId xmlns:a16="http://schemas.microsoft.com/office/drawing/2014/main" id="{C87DACA3-4A62-7EF9-9155-5CC0EBE6EC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3BA733-25B6-C4BB-1150-48850654F2C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BD3E27D-21BB-B8BD-0101-611C3D7A991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38CD64-6B9A-81A2-BDB2-55DA96C9E7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2" y="1901951"/>
            <a:ext cx="10515597" cy="4194176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335037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Object" preserve="1" userDrawn="1">
  <p:cSld name="Content and Object 2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1"/>
          <p:cNvSpPr txBox="1">
            <a:spLocks noGrp="1"/>
          </p:cNvSpPr>
          <p:nvPr>
            <p:ph type="title"/>
          </p:nvPr>
        </p:nvSpPr>
        <p:spPr>
          <a:xfrm>
            <a:off x="970722" y="413590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solidFill>
                  <a:srgbClr val="2644A7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cxnSp>
        <p:nvCxnSpPr>
          <p:cNvPr id="177" name="Google Shape;177;p41"/>
          <p:cNvCxnSpPr>
            <a:cxnSpLocks/>
          </p:cNvCxnSpPr>
          <p:nvPr/>
        </p:nvCxnSpPr>
        <p:spPr>
          <a:xfrm>
            <a:off x="0" y="1552418"/>
            <a:ext cx="970722" cy="0"/>
          </a:xfrm>
          <a:prstGeom prst="straightConnector1">
            <a:avLst/>
          </a:prstGeom>
          <a:noFill/>
          <a:ln w="762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Google Shape;10;p21">
            <a:extLst>
              <a:ext uri="{FF2B5EF4-FFF2-40B4-BE49-F238E27FC236}">
                <a16:creationId xmlns:a16="http://schemas.microsoft.com/office/drawing/2014/main" id="{C87DACA3-4A62-7EF9-9155-5CC0EBE6EC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0491114-E7C3-4716-7109-6FDE72E853D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5C1ABAA-9559-8C24-1A56-0668CC6643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EBC1E451-4262-316A-7418-6EF16E0490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3" y="1910188"/>
            <a:ext cx="5327092" cy="4240591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A0B9F341-14FC-51F5-105A-E4BFB54BFEDD}"/>
              </a:ext>
            </a:extLst>
          </p:cNvPr>
          <p:cNvSpPr>
            <a:spLocks noGrp="1"/>
          </p:cNvSpPr>
          <p:nvPr>
            <p:ph sz="half" idx="16"/>
          </p:nvPr>
        </p:nvSpPr>
        <p:spPr>
          <a:xfrm>
            <a:off x="6533867" y="1910188"/>
            <a:ext cx="5327092" cy="4240591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282488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Object" preserve="1" userDrawn="1">
  <p:cSld name="Content and Object 3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1"/>
          <p:cNvSpPr txBox="1">
            <a:spLocks noGrp="1"/>
          </p:cNvSpPr>
          <p:nvPr>
            <p:ph type="title"/>
          </p:nvPr>
        </p:nvSpPr>
        <p:spPr>
          <a:xfrm>
            <a:off x="970722" y="413590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solidFill>
                  <a:srgbClr val="2644A7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cxnSp>
        <p:nvCxnSpPr>
          <p:cNvPr id="177" name="Google Shape;177;p41"/>
          <p:cNvCxnSpPr>
            <a:cxnSpLocks/>
          </p:cNvCxnSpPr>
          <p:nvPr/>
        </p:nvCxnSpPr>
        <p:spPr>
          <a:xfrm>
            <a:off x="0" y="1552418"/>
            <a:ext cx="970722" cy="0"/>
          </a:xfrm>
          <a:prstGeom prst="straightConnector1">
            <a:avLst/>
          </a:prstGeom>
          <a:noFill/>
          <a:ln w="762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Google Shape;10;p21">
            <a:extLst>
              <a:ext uri="{FF2B5EF4-FFF2-40B4-BE49-F238E27FC236}">
                <a16:creationId xmlns:a16="http://schemas.microsoft.com/office/drawing/2014/main" id="{C87DACA3-4A62-7EF9-9155-5CC0EBE6EC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949220B6-B4CB-BA59-8F58-4304C8D422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70723" y="1894895"/>
            <a:ext cx="5157787" cy="823912"/>
          </a:xfrm>
        </p:spPr>
        <p:txBody>
          <a:bodyPr wrap="square" anchor="t">
            <a:noAutofit/>
          </a:bodyPr>
          <a:lstStyle>
            <a:lvl1pPr marL="0" indent="0">
              <a:buNone/>
              <a:defRPr sz="2400" b="0" baseline="0">
                <a:solidFill>
                  <a:srgbClr val="2644A7"/>
                </a:solidFill>
              </a:defRPr>
            </a:lvl1pPr>
            <a:lvl2pPr marL="338383" indent="0">
              <a:buNone/>
              <a:defRPr sz="1480" b="1"/>
            </a:lvl2pPr>
            <a:lvl3pPr marL="676765" indent="0">
              <a:buNone/>
              <a:defRPr sz="1332" b="1"/>
            </a:lvl3pPr>
            <a:lvl4pPr marL="1015148" indent="0">
              <a:buNone/>
              <a:defRPr sz="1184" b="1"/>
            </a:lvl4pPr>
            <a:lvl5pPr marL="1353530" indent="0">
              <a:buNone/>
              <a:defRPr sz="1184" b="1"/>
            </a:lvl5pPr>
            <a:lvl6pPr marL="1691913" indent="0">
              <a:buNone/>
              <a:defRPr sz="1184" b="1"/>
            </a:lvl6pPr>
            <a:lvl7pPr marL="2030295" indent="0">
              <a:buNone/>
              <a:defRPr sz="1184" b="1"/>
            </a:lvl7pPr>
            <a:lvl8pPr marL="2368678" indent="0">
              <a:buNone/>
              <a:defRPr sz="1184" b="1"/>
            </a:lvl8pPr>
            <a:lvl9pPr marL="2707061" indent="0">
              <a:buNone/>
              <a:defRPr sz="1184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BDB0ABC1-873A-F2DD-170F-E80FE4830D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3" y="2725735"/>
            <a:ext cx="5157787" cy="3384119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0057B6DC-82B6-DC47-2B36-FBA16BFA54D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03134" y="1894895"/>
            <a:ext cx="5183188" cy="823912"/>
          </a:xfrm>
          <a:noFill/>
        </p:spPr>
        <p:txBody>
          <a:bodyPr wrap="square" anchor="t">
            <a:noAutofit/>
          </a:bodyPr>
          <a:lstStyle>
            <a:lvl1pPr marL="0" indent="0">
              <a:buNone/>
              <a:defRPr sz="2400" b="0">
                <a:solidFill>
                  <a:srgbClr val="2644A7"/>
                </a:solidFill>
              </a:defRPr>
            </a:lvl1pPr>
            <a:lvl2pPr marL="338383" indent="0">
              <a:buNone/>
              <a:defRPr sz="1480" b="1"/>
            </a:lvl2pPr>
            <a:lvl3pPr marL="676765" indent="0">
              <a:buNone/>
              <a:defRPr sz="1332" b="1"/>
            </a:lvl3pPr>
            <a:lvl4pPr marL="1015148" indent="0">
              <a:buNone/>
              <a:defRPr sz="1184" b="1"/>
            </a:lvl4pPr>
            <a:lvl5pPr marL="1353530" indent="0">
              <a:buNone/>
              <a:defRPr sz="1184" b="1"/>
            </a:lvl5pPr>
            <a:lvl6pPr marL="1691913" indent="0">
              <a:buNone/>
              <a:defRPr sz="1184" b="1"/>
            </a:lvl6pPr>
            <a:lvl7pPr marL="2030295" indent="0">
              <a:buNone/>
              <a:defRPr sz="1184" b="1"/>
            </a:lvl7pPr>
            <a:lvl8pPr marL="2368678" indent="0">
              <a:buNone/>
              <a:defRPr sz="1184" b="1"/>
            </a:lvl8pPr>
            <a:lvl9pPr marL="2707061" indent="0">
              <a:buNone/>
              <a:defRPr sz="1184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495916A-C750-070D-C528-9F655246DF5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57D36BD-C483-ED07-0866-A0A591A0170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sp>
        <p:nvSpPr>
          <p:cNvPr id="2" name="Content Placeholder 3">
            <a:extLst>
              <a:ext uri="{FF2B5EF4-FFF2-40B4-BE49-F238E27FC236}">
                <a16:creationId xmlns:a16="http://schemas.microsoft.com/office/drawing/2014/main" id="{A623D267-A36F-1DAC-4912-F35877117825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309559" y="2725735"/>
            <a:ext cx="5183188" cy="3384119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473445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ast slide (option 1)" preserve="1" userDrawn="1">
  <p:cSld name="Last slide (option 1)"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141;p37">
            <a:extLst>
              <a:ext uri="{FF2B5EF4-FFF2-40B4-BE49-F238E27FC236}">
                <a16:creationId xmlns:a16="http://schemas.microsoft.com/office/drawing/2014/main" id="{ACED6512-1BD5-58D6-D635-D62C0A34BF8C}"/>
              </a:ext>
            </a:extLst>
          </p:cNvPr>
          <p:cNvSpPr>
            <a:spLocks/>
          </p:cNvSpPr>
          <p:nvPr userDrawn="1"/>
        </p:nvSpPr>
        <p:spPr>
          <a:xfrm>
            <a:off x="0" y="3328560"/>
            <a:ext cx="12192000" cy="2913720"/>
          </a:xfrm>
          <a:prstGeom prst="rect">
            <a:avLst/>
          </a:prstGeom>
          <a:solidFill>
            <a:srgbClr val="2644A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37"/>
          <p:cNvSpPr txBox="1">
            <a:spLocks noGrp="1"/>
          </p:cNvSpPr>
          <p:nvPr>
            <p:ph type="body" idx="1"/>
          </p:nvPr>
        </p:nvSpPr>
        <p:spPr>
          <a:xfrm>
            <a:off x="970723" y="3777422"/>
            <a:ext cx="6865686" cy="2174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 sz="2400">
                <a:solidFill>
                  <a:srgbClr val="F4F4F4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2000"/>
              <a:buNone/>
              <a:defRPr/>
            </a:lvl2pPr>
            <a:lvl3pPr marL="1371600" lvl="2" indent="-3429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88A19F-A201-3EB2-A71E-1E51EF3E1B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8107569" y="3538903"/>
            <a:ext cx="2931525" cy="2412704"/>
          </a:xfrm>
          <a:prstGeom prst="rect">
            <a:avLst/>
          </a:prstGeom>
        </p:spPr>
      </p:pic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9CD49B01-566F-CA34-C636-83E50BFD4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0722" y="414281"/>
            <a:ext cx="10515600" cy="2937139"/>
          </a:xfrm>
          <a:prstGeom prst="rect">
            <a:avLst/>
          </a:prstGeom>
        </p:spPr>
        <p:txBody>
          <a:bodyPr vert="horz" lIns="91440" tIns="45720" rIns="91440" bIns="0" rtlCol="0" anchor="ctr" anchorCtr="0">
            <a:noAutofit/>
          </a:bodyPr>
          <a:lstStyle>
            <a:lvl1pPr algn="ctr">
              <a:defRPr sz="4800">
                <a:solidFill>
                  <a:srgbClr val="101010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8" name="Google Shape;10;p21">
            <a:extLst>
              <a:ext uri="{FF2B5EF4-FFF2-40B4-BE49-F238E27FC236}">
                <a16:creationId xmlns:a16="http://schemas.microsoft.com/office/drawing/2014/main" id="{C209E83E-F338-C8C6-D016-6C5FE194EA8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36B8EBF-8A1C-818A-CBBC-1DC51D94C54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8541C9F-06FD-4BC7-C438-D852985D159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1498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17B82F-E4E9-499C-A3B0-E04168F36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D67AF5-E0C2-47E6-AB94-5E43118EB7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6147C7-776B-43C1-808E-05CD7A9FA0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15-17/10/2024</a:t>
            </a:r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CC3660-C619-4C12-8055-D9486A63B2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Bias correction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55454B-64B8-4D5C-A120-D28F5A09B3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1BECB9-9B3C-426C-83E6-F290771ACE55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26022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1D9BC9D-39EE-4E11-B03A-D5961C2A9F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15-17/10/2024</a:t>
            </a:r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AE12516-7CDB-4AE0-9772-58E2D4012E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Bias correction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E5A197-1B19-4A79-8F96-F1C48DAC43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1BECB9-9B3C-426C-83E6-F290771ACE55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788271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1"/>
          <p:cNvSpPr txBox="1">
            <a:spLocks noGrp="1"/>
          </p:cNvSpPr>
          <p:nvPr>
            <p:ph type="title"/>
          </p:nvPr>
        </p:nvSpPr>
        <p:spPr>
          <a:xfrm>
            <a:off x="838200" y="763064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  <a:defRPr sz="4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 dirty="0"/>
          </a:p>
        </p:txBody>
      </p:sp>
      <p:sp>
        <p:nvSpPr>
          <p:cNvPr id="12" name="Google Shape;12;p2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38819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556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27" r:id="rId1"/>
    <p:sldLayoutId id="2147483717" r:id="rId2"/>
    <p:sldLayoutId id="2147483724" r:id="rId3"/>
    <p:sldLayoutId id="2147483725" r:id="rId4"/>
    <p:sldLayoutId id="2147483723" r:id="rId5"/>
    <p:sldLayoutId id="2147483728" r:id="rId6"/>
    <p:sldLayoutId id="2147483729" r:id="rId7"/>
  </p:sldLayoutIdLst>
  <p:hf sldNum="0" hd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2644A7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D86E511-2A8E-CD8D-FA1D-6DDA5388CE1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E" dirty="0"/>
              <a:t>ESTP Training</a:t>
            </a:r>
          </a:p>
          <a:p>
            <a:r>
              <a:rPr lang="en-IE"/>
              <a:t>05-07 October 2026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2518E6D-618C-DDB2-DF84-26EB66F0C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3.3 Addendum: bias correction in SA algorithms</a:t>
            </a:r>
            <a:endParaRPr lang="en-I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FA50BB-3958-DA6F-CD7B-74B9FFF5C40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4811535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C57B7B4-740A-149F-F044-2686E786CE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Description of the </a:t>
            </a:r>
            <a:r>
              <a:rPr lang="fr-BE" dirty="0" err="1"/>
              <a:t>problem</a:t>
            </a:r>
            <a:endParaRPr lang="en-GB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FCAB4412-9C77-F8EA-802D-124FF63E502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dirty="0"/>
                  <a:t>Log-additive decompositions</a:t>
                </a:r>
              </a:p>
              <a:p>
                <a:pPr lvl="1"/>
                <a:r>
                  <a:rPr lang="en-GB" dirty="0"/>
                  <a:t>SEATS with log transformation, X11 with log-additive mode</a:t>
                </a:r>
              </a:p>
              <a:p>
                <a:pPr marL="457200" lvl="1" indent="0" algn="ctr">
                  <a:buNone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en-GB" b="0" i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func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GB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GB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GB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GB" dirty="0"/>
                  <a:t> </a:t>
                </a:r>
              </a:p>
              <a:p>
                <a:pPr marL="457200" lvl="1" indent="0" algn="ctr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GB" b="0" i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GB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sSub>
                            <m:sSubPr>
                              <m:ctrlPr>
                                <a:rPr lang="en-GB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GB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func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func>
                        <m:funcPr>
                          <m:ctrlPr>
                            <a:rPr lang="en-GB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GB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GB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func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func>
                        <m:funcPr>
                          <m:ctrlPr>
                            <a:rPr lang="en-GB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GB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func>
                      <m:r>
                        <a:rPr lang="en-GB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GB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GB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GB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  <a:p>
                <a:pPr marL="457200" lvl="1" indent="0" algn="ctr">
                  <a:buNone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GB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𝑒𝑎𝑟𝑙𝑦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nary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≡</m:t>
                    </m:r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0↔</m:t>
                    </m:r>
                    <m:rad>
                      <m:radPr>
                        <m:ctrlP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radPr>
                      <m:deg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deg>
                      <m:e>
                        <m:func>
                          <m:funcPr>
                            <m:ctrlPr>
                              <a:rPr lang="en-GB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GB" smtClean="0">
                                <a:latin typeface="Cambria Math" panose="02040503050406030204" pitchFamily="18" charset="0"/>
                              </a:rPr>
                              <m:t>exp</m:t>
                            </m:r>
                          </m:fName>
                          <m:e>
                            <m:sSub>
                              <m:sSubPr>
                                <m:ctrlPr>
                                  <a:rPr lang="en-GB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GB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func>
                      </m:e>
                    </m:rad>
                    <m:r>
                      <a:rPr lang="en-GB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≡</m:t>
                    </m:r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↔</m:t>
                    </m:r>
                    <m:f>
                      <m:fPr>
                        <m:ctrlP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den>
                    </m:f>
                    <m:nary>
                      <m:naryPr>
                        <m:chr m:val="∑"/>
                        <m:supHide m:val="on"/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GB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GB" i="1" smtClean="0">
                            <a:latin typeface="Cambria Math" panose="02040503050406030204" pitchFamily="18" charset="0"/>
                          </a:rPr>
                          <m:t>𝑒𝑎𝑟𝑙𝑦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GB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nary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GB" dirty="0"/>
                  <a:t> </a:t>
                </a:r>
              </a:p>
              <a:p>
                <a:pPr marL="457200" lvl="1" indent="0" algn="ctr">
                  <a:buNone/>
                </a:pPr>
                <a:r>
                  <a:rPr lang="en-GB" sz="1600" dirty="0"/>
                  <a:t>(the arithmetic mean is always higher than the geometric mean)</a:t>
                </a:r>
                <a:endParaRPr lang="en-GB" dirty="0"/>
              </a:p>
              <a:p>
                <a:pPr marL="457200" lvl="1" indent="0" algn="ctr">
                  <a:buNone/>
                </a:pPr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GB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GB" i="1" smtClean="0">
                              <a:latin typeface="Cambria Math" panose="02040503050406030204" pitchFamily="18" charset="0"/>
                            </a:rPr>
                            <m:t>𝑒𝑎𝑟𝑙𝑦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𝑆𝐴</m:t>
                              </m:r>
                            </m:e>
                            <m:sub>
                              <m:r>
                                <a:rPr lang="en-GB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nary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</m:t>
                      </m:r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GB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GB" i="1" smtClean="0">
                              <a:latin typeface="Cambria Math" panose="02040503050406030204" pitchFamily="18" charset="0"/>
                            </a:rPr>
                            <m:t>𝑒𝑎𝑟𝑙𝑦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GB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GB" dirty="0"/>
              </a:p>
              <a:p>
                <a:pPr marL="0" indent="0" algn="ctr">
                  <a:buNone/>
                </a:pPr>
                <a:endParaRPr lang="en-GB" dirty="0"/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FCAB4412-9C77-F8EA-802D-124FF63E502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8" t="-109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F2FD034-386A-2630-5453-BBFD802CC9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Bias correction</a:t>
            </a:r>
          </a:p>
        </p:txBody>
      </p:sp>
    </p:spTree>
    <p:extLst>
      <p:ext uri="{BB962C8B-B14F-4D97-AF65-F5344CB8AC3E}">
        <p14:creationId xmlns:p14="http://schemas.microsoft.com/office/powerpoint/2010/main" val="2133642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1706658-95F9-4FAB-9E9D-AA22B66418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Possible solutions</a:t>
            </a:r>
            <a:endParaRPr lang="en-GB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635BBF6-5417-25AF-0283-6226308A76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Avoid log transformations (multiplicative X11)</a:t>
            </a:r>
          </a:p>
          <a:p>
            <a:r>
              <a:rPr lang="en-GB" dirty="0"/>
              <a:t>Correct S, I and T for their average bias on the whole series (</a:t>
            </a:r>
            <a:r>
              <a:rPr lang="en-GB" dirty="0" err="1"/>
              <a:t>Tramo</a:t>
            </a:r>
            <a:r>
              <a:rPr lang="en-GB" dirty="0"/>
              <a:t>)</a:t>
            </a:r>
          </a:p>
          <a:p>
            <a:pPr lvl="1"/>
            <a:r>
              <a:rPr lang="en-GB" dirty="0"/>
              <a:t>But…</a:t>
            </a:r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r>
              <a:rPr lang="en-GB" dirty="0"/>
              <a:t>Don’t correct the bias (SA below the raw figures)</a:t>
            </a:r>
          </a:p>
          <a:p>
            <a:r>
              <a:rPr lang="en-GB" dirty="0"/>
              <a:t>Experimental options (X12): smooth correction</a:t>
            </a:r>
          </a:p>
          <a:p>
            <a:r>
              <a:rPr lang="en-GB" dirty="0"/>
              <a:t>Don’t correct and apply benchmarking</a:t>
            </a:r>
          </a:p>
          <a:p>
            <a:endParaRPr lang="en-GB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B01C036-F06B-EB84-D6B9-54C41D748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Bias correction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DFDA2E57-D75D-E439-324C-04BD0BD16D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2866" y="3877578"/>
            <a:ext cx="2789270" cy="1297897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83D3ED46-B407-7DF2-4B14-A123824A26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5233" y="2941184"/>
            <a:ext cx="2658641" cy="1313953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0AB5F1BA-3EA9-F669-163B-B5A41944C4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62865" y="5282512"/>
            <a:ext cx="2743199" cy="14034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86556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50DB2F5-6F04-8BA4-B00B-684F72A88D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Bias correction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E7995EBC-55B5-0114-871F-FEFFE8323E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502" y="0"/>
            <a:ext cx="11163300" cy="5886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41545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1B12816-01EA-AF56-D770-19BCA10C35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 err="1"/>
              <a:t>Additional</a:t>
            </a:r>
            <a:r>
              <a:rPr lang="fr-BE" dirty="0"/>
              <a:t> </a:t>
            </a:r>
            <a:r>
              <a:rPr lang="fr-BE" dirty="0" err="1"/>
              <a:t>remarks</a:t>
            </a:r>
            <a:endParaRPr lang="en-GB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97A574E-3CFA-446C-EBCB-07198D1B32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Bias correction will generate some revisions (constant factor)</a:t>
            </a:r>
          </a:p>
          <a:p>
            <a:r>
              <a:rPr lang="en-GB" dirty="0"/>
              <a:t>Currently no good solution in JD+ if the seasonal factors highly differ following the periods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7275EEA-CA5A-BD31-F867-A63EAD4E4A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Bias correction</a:t>
            </a:r>
          </a:p>
        </p:txBody>
      </p:sp>
    </p:spTree>
    <p:extLst>
      <p:ext uri="{BB962C8B-B14F-4D97-AF65-F5344CB8AC3E}">
        <p14:creationId xmlns:p14="http://schemas.microsoft.com/office/powerpoint/2010/main" val="6484310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39CC45C-6ECF-1414-149F-897E6C1744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0CA729C-10AD-F90E-DB78-5A4E0B79E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17884383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APP_VERSION" val="1.5.3.3511"/>
  <p:tag name="SLIDO_PRESENTATION_ID" val="00000000-0000-0000-0000-000000000000"/>
  <p:tag name="SLIDO_EVENT_UUID" val="d5f05ec8-edda-47a7-a42e-90bbfcebfc5f"/>
  <p:tag name="SLIDO_EVENT_SECTION_UUID" val="71a6711e-5d0b-4e9f-9223-093e31161b77"/>
</p:tagLst>
</file>

<file path=ppt/theme/theme1.xml><?xml version="1.0" encoding="utf-8"?>
<a:theme xmlns:a="http://schemas.openxmlformats.org/drawingml/2006/main" name="ESTAT Theme">
  <a:themeElements>
    <a:clrScheme name="EC colour scheme">
      <a:dk1>
        <a:srgbClr val="4D4D4D"/>
      </a:dk1>
      <a:lt1>
        <a:srgbClr val="FFFFFF"/>
      </a:lt1>
      <a:dk2>
        <a:srgbClr val="034EA2"/>
      </a:dk2>
      <a:lt2>
        <a:srgbClr val="D3E8F9"/>
      </a:lt2>
      <a:accent1>
        <a:srgbClr val="1E858B"/>
      </a:accent1>
      <a:accent2>
        <a:srgbClr val="4BC5DE"/>
      </a:accent2>
      <a:accent3>
        <a:srgbClr val="1EC08A"/>
      </a:accent3>
      <a:accent4>
        <a:srgbClr val="ED8D2F"/>
      </a:accent4>
      <a:accent5>
        <a:srgbClr val="FFC000"/>
      </a:accent5>
      <a:accent6>
        <a:srgbClr val="E76C53"/>
      </a:accent6>
      <a:hlink>
        <a:srgbClr val="0563C1"/>
      </a:hlink>
      <a:folHlink>
        <a:srgbClr val="24337E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ESTAT PPT Template.potx" id="{44100892-7769-4A20-A750-3553371E0F2E}" vid="{905E760A-09FE-4DBA-89B6-DF3A5D6D095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6AA5C57F8EADE4E9CD6BB064C0C3195" ma:contentTypeVersion="16" ma:contentTypeDescription="Create a new document." ma:contentTypeScope="" ma:versionID="bb51c19a58f458ddcddd050a07659236">
  <xsd:schema xmlns:xsd="http://www.w3.org/2001/XMLSchema" xmlns:xs="http://www.w3.org/2001/XMLSchema" xmlns:p="http://schemas.microsoft.com/office/2006/metadata/properties" xmlns:ns2="0e422b70-e85d-4377-8ee0-b6227433d381" xmlns:ns3="199f642e-5af9-486c-ac06-f366742ef41a" targetNamespace="http://schemas.microsoft.com/office/2006/metadata/properties" ma:root="true" ma:fieldsID="0ee7a3bac0352a48a43420936abd968a" ns2:_="" ns3:_="">
    <xsd:import namespace="0e422b70-e85d-4377-8ee0-b6227433d381"/>
    <xsd:import namespace="199f642e-5af9-486c-ac06-f366742ef41a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e422b70-e85d-4377-8ee0-b6227433d381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Image Tags" ma:readOnly="false" ma:fieldId="{5cf76f15-5ced-4ddc-b409-7134ff3c332f}" ma:taxonomyMulti="true" ma:sspId="22b2fad6-9d2c-441c-a321-3f5f1e9bd92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ObjectDetectorVersions" ma:index="18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99f642e-5af9-486c-ac06-f366742ef41a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22defd33-e0ca-4991-a4bb-5bf1ac0b491c}" ma:internalName="TaxCatchAll" ma:showField="CatchAllData" ma:web="199f642e-5af9-486c-ac06-f366742ef41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0e422b70-e85d-4377-8ee0-b6227433d381">
      <Terms xmlns="http://schemas.microsoft.com/office/infopath/2007/PartnerControls"/>
    </lcf76f155ced4ddcb4097134ff3c332f>
    <TaxCatchAll xmlns="199f642e-5af9-486c-ac06-f366742ef41a"/>
  </documentManagement>
</p:properties>
</file>

<file path=customXml/itemProps1.xml><?xml version="1.0" encoding="utf-8"?>
<ds:datastoreItem xmlns:ds="http://schemas.openxmlformats.org/officeDocument/2006/customXml" ds:itemID="{67DD9E9F-9EEB-4105-B29B-819486C2855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4B464EA-1576-49DD-9675-1E3399D4D19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e422b70-e85d-4377-8ee0-b6227433d381"/>
    <ds:schemaRef ds:uri="199f642e-5af9-486c-ac06-f366742ef41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2D6C293B-B8B4-4284-A17E-9F9E4C32B25A}">
  <ds:schemaRefs>
    <ds:schemaRef ds:uri="http://schemas.microsoft.com/office/2006/documentManagement/types"/>
    <ds:schemaRef ds:uri="http://purl.org/dc/elements/1.1/"/>
    <ds:schemaRef ds:uri="http://purl.org/dc/terms/"/>
    <ds:schemaRef ds:uri="http://purl.org/dc/dcmitype/"/>
    <ds:schemaRef ds:uri="0e422b70-e85d-4377-8ee0-b6227433d381"/>
    <ds:schemaRef ds:uri="http://schemas.microsoft.com/office/infopath/2007/PartnerControls"/>
    <ds:schemaRef ds:uri="199f642e-5af9-486c-ac06-f366742ef41a"/>
    <ds:schemaRef ds:uri="http://schemas.openxmlformats.org/package/2006/metadata/core-properties"/>
    <ds:schemaRef ds:uri="http://schemas.microsoft.com/office/2006/metadata/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ESTAT PPT Template</Template>
  <TotalTime>62</TotalTime>
  <Words>166</Words>
  <Application>Microsoft Office PowerPoint</Application>
  <PresentationFormat>Grand écran</PresentationFormat>
  <Paragraphs>29</Paragraphs>
  <Slides>6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Cambria Math</vt:lpstr>
      <vt:lpstr>ESTAT Theme</vt:lpstr>
      <vt:lpstr>3.3 Addendum: bias correction in SA algorithms</vt:lpstr>
      <vt:lpstr>Description of the problem</vt:lpstr>
      <vt:lpstr>Possible solutions</vt:lpstr>
      <vt:lpstr>Présentation PowerPoint</vt:lpstr>
      <vt:lpstr>Additional remarks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title title title title title title title title title title title title</dc:title>
  <dc:creator>HANZEVACKI Andrej (ESTAT)</dc:creator>
  <cp:lastModifiedBy>Jean Palate</cp:lastModifiedBy>
  <cp:revision>66</cp:revision>
  <dcterms:created xsi:type="dcterms:W3CDTF">2024-11-22T11:11:00Z</dcterms:created>
  <dcterms:modified xsi:type="dcterms:W3CDTF">2026-09-17T16:32:44Z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0x010100E6AA5C57F8EADE4E9CD6BB064C0C3195</vt:lpwstr>
  </property>
  <property fmtid="{D5CDD505-2E9C-101B-9397-08002B2CF9AE}" pid="3" name="MSIP_Label_6bd9ddd1-4d20-43f6-abfa-fc3c07406f94_Enabled">
    <vt:lpwstr>true</vt:lpwstr>
  </property>
  <property fmtid="{D5CDD505-2E9C-101B-9397-08002B2CF9AE}" pid="4" name="MSIP_Label_6bd9ddd1-4d20-43f6-abfa-fc3c07406f94_SetDate">
    <vt:lpwstr>2023-09-26T10:27:54Z</vt:lpwstr>
  </property>
  <property fmtid="{D5CDD505-2E9C-101B-9397-08002B2CF9AE}" pid="5" name="MSIP_Label_6bd9ddd1-4d20-43f6-abfa-fc3c07406f94_Method">
    <vt:lpwstr>Standard</vt:lpwstr>
  </property>
  <property fmtid="{D5CDD505-2E9C-101B-9397-08002B2CF9AE}" pid="6" name="MSIP_Label_6bd9ddd1-4d20-43f6-abfa-fc3c07406f94_Name">
    <vt:lpwstr>Commission Use</vt:lpwstr>
  </property>
  <property fmtid="{D5CDD505-2E9C-101B-9397-08002B2CF9AE}" pid="7" name="MSIP_Label_6bd9ddd1-4d20-43f6-abfa-fc3c07406f94_SiteId">
    <vt:lpwstr>b24c8b06-522c-46fe-9080-70926f8dddb1</vt:lpwstr>
  </property>
  <property fmtid="{D5CDD505-2E9C-101B-9397-08002B2CF9AE}" pid="8" name="MSIP_Label_6bd9ddd1-4d20-43f6-abfa-fc3c07406f94_ActionId">
    <vt:lpwstr>5f9041e0-26c3-439f-9557-91c751557f9e</vt:lpwstr>
  </property>
  <property fmtid="{D5CDD505-2E9C-101B-9397-08002B2CF9AE}" pid="9" name="MSIP_Label_6bd9ddd1-4d20-43f6-abfa-fc3c07406f94_ContentBits">
    <vt:lpwstr>0</vt:lpwstr>
  </property>
  <property fmtid="{D5CDD505-2E9C-101B-9397-08002B2CF9AE}" pid="10" name="SlidoAppVersion">
    <vt:lpwstr>1.5.3.3511</vt:lpwstr>
  </property>
  <property fmtid="{D5CDD505-2E9C-101B-9397-08002B2CF9AE}" pid="11" name="MediaServiceImageTags">
    <vt:lpwstr/>
  </property>
</Properties>
</file>