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56" r:id="rId5"/>
    <p:sldId id="262" r:id="rId6"/>
    <p:sldId id="260" r:id="rId7"/>
    <p:sldId id="263" r:id="rId8"/>
    <p:sldId id="264" r:id="rId9"/>
    <p:sldId id="266" r:id="rId10"/>
    <p:sldId id="261" r:id="rId11"/>
  </p:sldIdLst>
  <p:sldSz cx="12192000" cy="6858000"/>
  <p:notesSz cx="6858000" cy="9144000"/>
  <p:custDataLst>
    <p:tags r:id="rId14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84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gs" Target="tags/tag1.xml"/><Relationship Id="rId6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01/10/2026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388854"/>
            <a:ext cx="10515597" cy="4707273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Decomposition model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25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Decomposition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489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  <p:sldLayoutId id="2147483729" r:id="rId7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2.1 Decomposition model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Regression</a:t>
            </a:r>
            <a:r>
              <a:rPr lang="fr-BE" dirty="0"/>
              <a:t> model </a:t>
            </a:r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97E3325-CA6D-D4C7-2841-D3CEAFF46B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fr-BE" i="1" dirty="0"/>
                  <a:t>Additive case: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̅"/>
                          <m:ctrlP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</m:acc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𝑟𝑒𝑔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𝑓𝑖𝑥𝑒𝑑</m:t>
                          </m:r>
                        </m:sub>
                      </m:sSub>
                    </m:oMath>
                  </m:oMathPara>
                </a14:m>
                <a:endParaRPr lang="en-US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𝛼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𝑐𝑎𝑙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𝛽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𝑜𝑢𝑡</m:t>
                      </m:r>
                      <m:r>
                        <a:rPr lang="en-US" i="1">
                          <a:latin typeface="Cambria Math"/>
                        </a:rPr>
                        <m:t>+ </m:t>
                      </m:r>
                      <m:r>
                        <a:rPr lang="en-US" i="1">
                          <a:latin typeface="Cambria Math"/>
                        </a:rPr>
                        <m:t>𝛾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𝑟𝑒𝑔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𝜇</m:t>
                      </m:r>
                    </m:oMath>
                  </m:oMathPara>
                </a14:m>
                <a:endParaRPr lang="en-US" dirty="0"/>
              </a:p>
              <a:p>
                <a:r>
                  <a:rPr lang="fr-BE" i="1" dirty="0"/>
                  <a:t>Multiplicative case: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≡</m:t>
                      </m:r>
                      <m:func>
                        <m:funcPr>
                          <m:ctrlPr>
                            <a:rPr lang="fr-BE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BE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func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̅"/>
                          <m:ctrlP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</m:acc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𝑟𝑒𝑔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𝑓𝑖𝑥𝑒𝑑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[−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𝑙𝑝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>
                              <a:latin typeface="Cambria Math"/>
                            </a:rPr>
                          </m:ctrlPr>
                        </m:funcPr>
                        <m:fName>
                          <m:r>
                            <a:rPr lang="en-US" i="1">
                              <a:latin typeface="Cambria Math"/>
                            </a:rPr>
                            <m:t>𝑙𝑛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𝛼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𝑐𝑎𝑙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𝛽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𝑜𝑢𝑡</m:t>
                      </m:r>
                      <m:r>
                        <a:rPr lang="en-US" i="1">
                          <a:latin typeface="Cambria Math"/>
                        </a:rPr>
                        <m:t>+ </m:t>
                      </m:r>
                      <m:r>
                        <a:rPr lang="en-US" i="1">
                          <a:latin typeface="Cambria Math"/>
                        </a:rPr>
                        <m:t>𝛾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𝑟𝑒𝑔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𝜇</m:t>
                      </m:r>
                    </m:oMath>
                  </m:oMathPara>
                </a14:m>
                <a:endParaRPr lang="en-US" dirty="0"/>
              </a:p>
              <a:p>
                <a:endParaRPr lang="fr-BE" dirty="0"/>
              </a:p>
              <a:p>
                <a:endParaRPr lang="fr-BE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𝑐𝑎𝑙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𝑡𝑑𝑒</m:t>
                              </m:r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𝑒𝑒</m:t>
                              </m:r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𝑜𝑚ℎ𝑒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  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𝑜𝑢𝑡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𝑜𝑢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𝑜𝑢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𝑜𝑢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𝑟𝑒𝑔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6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𝑠𝑎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</a:rPr>
                      <m:t>𝜇</m:t>
                    </m:r>
                    <m:r>
                      <a:rPr lang="fr-BE" b="0" i="1" smtClean="0">
                        <a:latin typeface="Cambria Math"/>
                      </a:rPr>
                      <m:t>=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𝑠𝑡𝑜𝑐ℎ𝑎𝑠𝑡𝑖𝑐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𝑐𝑜𝑚𝑝𝑜𝑛𝑒𝑛𝑡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9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Decomposition model</a:t>
            </a:r>
          </a:p>
        </p:txBody>
      </p:sp>
    </p:spTree>
    <p:extLst>
      <p:ext uri="{BB962C8B-B14F-4D97-AF65-F5344CB8AC3E}">
        <p14:creationId xmlns:p14="http://schemas.microsoft.com/office/powerpoint/2010/main" val="3887769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dirty="0"/>
              <a:t>Handling of the </a:t>
            </a:r>
            <a:r>
              <a:rPr lang="fr-BE" dirty="0" err="1"/>
              <a:t>regression</a:t>
            </a:r>
            <a:r>
              <a:rPr lang="fr-BE" dirty="0"/>
              <a:t> variables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7EC902F-173B-84FB-0061-ED5D71A0FD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3</a:t>
            </a:fld>
            <a:endParaRPr lang="en-GB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636678214"/>
              </p:ext>
            </p:extLst>
          </p:nvPr>
        </p:nvGraphicFramePr>
        <p:xfrm>
          <a:off x="969963" y="1389063"/>
          <a:ext cx="10515598" cy="5009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3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311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28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99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156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62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5912">
                <a:tc>
                  <a:txBody>
                    <a:bodyPr/>
                    <a:lstStyle/>
                    <a:p>
                      <a:r>
                        <a:rPr lang="fr-BE" sz="1400" dirty="0"/>
                        <a:t>Code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/>
                        <a:t>Description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SA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 err="1"/>
                        <a:t>tde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/>
                        <a:t>Trading </a:t>
                      </a:r>
                      <a:r>
                        <a:rPr lang="fr-BE" sz="1400" dirty="0" err="1"/>
                        <a:t>days</a:t>
                      </a:r>
                      <a:r>
                        <a:rPr lang="fr-BE" sz="1400" dirty="0"/>
                        <a:t>  (default,</a:t>
                      </a:r>
                      <a:r>
                        <a:rPr lang="fr-BE" sz="1400" baseline="0" dirty="0"/>
                        <a:t> </a:t>
                      </a:r>
                      <a:r>
                        <a:rPr lang="fr-BE" sz="1400" baseline="0" dirty="0" err="1"/>
                        <a:t>holidays</a:t>
                      </a:r>
                      <a:r>
                        <a:rPr lang="fr-BE" sz="1400" baseline="0" dirty="0"/>
                        <a:t>, user-</a:t>
                      </a:r>
                      <a:r>
                        <a:rPr lang="fr-BE" sz="1400" baseline="0" dirty="0" err="1"/>
                        <a:t>defined</a:t>
                      </a:r>
                      <a:r>
                        <a:rPr lang="fr-BE" sz="1400" baseline="0" dirty="0"/>
                        <a:t>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 err="1"/>
                        <a:t>ee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 err="1"/>
                        <a:t>Easter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 err="1"/>
                        <a:t>omhe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 err="1"/>
                        <a:t>Other</a:t>
                      </a:r>
                      <a:r>
                        <a:rPr lang="fr-BE" sz="1400" dirty="0"/>
                        <a:t> </a:t>
                      </a:r>
                      <a:r>
                        <a:rPr lang="fr-BE" sz="1400" dirty="0" err="1"/>
                        <a:t>moving</a:t>
                      </a:r>
                      <a:r>
                        <a:rPr lang="fr-BE" sz="1400" dirty="0"/>
                        <a:t> </a:t>
                      </a:r>
                      <a:r>
                        <a:rPr lang="fr-BE" sz="1400" dirty="0" err="1"/>
                        <a:t>holidays</a:t>
                      </a:r>
                      <a:r>
                        <a:rPr lang="fr-BE" sz="1400" dirty="0"/>
                        <a:t> (TODO: Ramadan…)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/>
                        <a:t>AO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/>
                        <a:t>Additive </a:t>
                      </a:r>
                      <a:r>
                        <a:rPr lang="fr-BE" sz="1400" dirty="0" err="1"/>
                        <a:t>outlier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/>
                        <a:t>TC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 err="1"/>
                        <a:t>Transitory</a:t>
                      </a:r>
                      <a:r>
                        <a:rPr lang="fr-BE" sz="1400" dirty="0"/>
                        <a:t> change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/>
                        <a:t>LS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 err="1"/>
                        <a:t>Level</a:t>
                      </a:r>
                      <a:r>
                        <a:rPr lang="fr-BE" sz="1400" dirty="0"/>
                        <a:t> shift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/>
                        <a:t>SO, SLS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/>
                        <a:t>Seasonal </a:t>
                      </a:r>
                      <a:r>
                        <a:rPr lang="fr-BE" sz="1400" dirty="0" err="1"/>
                        <a:t>outlier</a:t>
                      </a:r>
                      <a:r>
                        <a:rPr lang="fr-BE" sz="1400" dirty="0"/>
                        <a:t> / </a:t>
                      </a:r>
                      <a:r>
                        <a:rPr lang="fr-BE" sz="1400" dirty="0" err="1"/>
                        <a:t>seasonal</a:t>
                      </a:r>
                      <a:r>
                        <a:rPr lang="fr-BE" sz="1400" dirty="0"/>
                        <a:t> </a:t>
                      </a:r>
                      <a:r>
                        <a:rPr lang="fr-BE" sz="1400" dirty="0" err="1"/>
                        <a:t>level</a:t>
                      </a:r>
                      <a:r>
                        <a:rPr lang="fr-BE" sz="1400" dirty="0"/>
                        <a:t> shift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dirty="0" err="1"/>
                        <a:t>Regression</a:t>
                      </a:r>
                      <a:r>
                        <a:rPr lang="fr-BE" sz="1400" baseline="0" dirty="0"/>
                        <a:t> variables </a:t>
                      </a:r>
                      <a:r>
                        <a:rPr lang="fr-BE" sz="1400" baseline="0" dirty="0" err="1"/>
                        <a:t>allocated</a:t>
                      </a:r>
                      <a:r>
                        <a:rPr lang="fr-BE" sz="1400" baseline="0" dirty="0"/>
                        <a:t> to </a:t>
                      </a:r>
                      <a:r>
                        <a:rPr lang="fr-BE" sz="1400" baseline="0" dirty="0" err="1"/>
                        <a:t>irregular</a:t>
                      </a:r>
                      <a:r>
                        <a:rPr lang="fr-BE" sz="1400" baseline="0" dirty="0"/>
                        <a:t>, IV (p)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37009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dirty="0" err="1"/>
                        <a:t>Regression</a:t>
                      </a:r>
                      <a:r>
                        <a:rPr lang="fr-BE" sz="1400" baseline="0" dirty="0"/>
                        <a:t> variables </a:t>
                      </a:r>
                      <a:r>
                        <a:rPr lang="fr-BE" sz="1400" baseline="0" dirty="0" err="1"/>
                        <a:t>allocated</a:t>
                      </a:r>
                      <a:r>
                        <a:rPr lang="fr-BE" sz="1400" baseline="0" dirty="0"/>
                        <a:t> to trend, </a:t>
                      </a:r>
                      <a:r>
                        <a:rPr lang="fr-BE" sz="1400" baseline="0" dirty="0" err="1"/>
                        <a:t>ramps</a:t>
                      </a:r>
                      <a:r>
                        <a:rPr lang="fr-BE" sz="1400" baseline="0" dirty="0"/>
                        <a:t>, IV (p)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dirty="0" err="1"/>
                        <a:t>Regression</a:t>
                      </a:r>
                      <a:r>
                        <a:rPr lang="fr-BE" sz="1400" baseline="0" dirty="0"/>
                        <a:t> variables </a:t>
                      </a:r>
                      <a:r>
                        <a:rPr lang="fr-BE" sz="1400" baseline="0" dirty="0" err="1"/>
                        <a:t>allocated</a:t>
                      </a:r>
                      <a:r>
                        <a:rPr lang="fr-BE" sz="1400" baseline="0" dirty="0"/>
                        <a:t> to </a:t>
                      </a:r>
                      <a:r>
                        <a:rPr lang="fr-BE" sz="1400" baseline="0" dirty="0" err="1"/>
                        <a:t>seasonal</a:t>
                      </a:r>
                      <a:r>
                        <a:rPr lang="fr-BE" sz="1400" baseline="0" dirty="0"/>
                        <a:t>, IV (p)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Reg_sa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dirty="0" err="1"/>
                        <a:t>Regression</a:t>
                      </a:r>
                      <a:r>
                        <a:rPr lang="fr-BE" sz="1400" baseline="0" dirty="0"/>
                        <a:t> variables </a:t>
                      </a:r>
                      <a:r>
                        <a:rPr lang="fr-BE" sz="1400" baseline="0" dirty="0" err="1"/>
                        <a:t>allocated</a:t>
                      </a:r>
                      <a:r>
                        <a:rPr lang="fr-BE" sz="1400" baseline="0" dirty="0"/>
                        <a:t> to </a:t>
                      </a:r>
                      <a:r>
                        <a:rPr lang="fr-BE" sz="1400" baseline="0" dirty="0" err="1"/>
                        <a:t>seas</a:t>
                      </a:r>
                      <a:r>
                        <a:rPr lang="fr-BE" sz="1400" baseline="0" dirty="0"/>
                        <a:t>.</a:t>
                      </a:r>
                      <a:r>
                        <a:rPr lang="en-US" sz="1400" baseline="0" dirty="0"/>
                        <a:t> adjusted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dirty="0" err="1"/>
                        <a:t>Regression</a:t>
                      </a:r>
                      <a:r>
                        <a:rPr lang="fr-BE" sz="1400" baseline="0" dirty="0"/>
                        <a:t> variables </a:t>
                      </a:r>
                      <a:r>
                        <a:rPr lang="fr-BE" sz="1400" baseline="0" dirty="0" err="1"/>
                        <a:t>removed</a:t>
                      </a:r>
                      <a:r>
                        <a:rPr lang="fr-BE" sz="1400" baseline="0" dirty="0"/>
                        <a:t> </a:t>
                      </a:r>
                      <a:r>
                        <a:rPr lang="fr-BE" sz="1400" baseline="0" dirty="0" err="1"/>
                        <a:t>before</a:t>
                      </a:r>
                      <a:r>
                        <a:rPr lang="fr-BE" sz="1400" baseline="0" dirty="0"/>
                        <a:t> </a:t>
                      </a:r>
                      <a:r>
                        <a:rPr lang="fr-BE" sz="1400" baseline="0" dirty="0" err="1"/>
                        <a:t>decomposition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5912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Reg_u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/>
                        <a:t>Regression</a:t>
                      </a:r>
                      <a:r>
                        <a:rPr lang="en-US" sz="1400" baseline="0" noProof="0" dirty="0"/>
                        <a:t> variables unallocated to a component</a:t>
                      </a:r>
                      <a:endParaRPr lang="en-US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p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6" name="Footer Placeholder 5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Decomposition model</a:t>
            </a:r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2207568" y="6048574"/>
            <a:ext cx="42792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BE" dirty="0"/>
              <a:t>p stands for </a:t>
            </a:r>
            <a:r>
              <a:rPr lang="fr-BE" dirty="0" err="1"/>
              <a:t>partially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437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Decomposition</a:t>
            </a:r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F15B58-F279-AFB1-58A0-43CFF5F272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sz="2800" dirty="0"/>
                  <a:t>Additive case: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∙</m:t>
                      </m:r>
                      <m:r>
                        <a:rPr lang="en-US" sz="2800" i="1">
                          <a:latin typeface="Cambria Math"/>
                        </a:rPr>
                        <m:t>𝑟𝑒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+</m:t>
                      </m:r>
                      <m:r>
                        <a:rPr lang="en-US" sz="2800" i="1">
                          <a:latin typeface="Cambria Math"/>
                        </a:rPr>
                        <m:t>𝜇</m:t>
                      </m:r>
                      <m:r>
                        <a:rPr lang="en-US" sz="2800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  <a:p>
                <a:endParaRPr lang="en-US" sz="2800" dirty="0"/>
              </a:p>
              <a:p>
                <a:r>
                  <a:rPr lang="en-US" sz="2800" dirty="0"/>
                  <a:t>Multiplicative case: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∙</m:t>
                      </m:r>
                      <m:r>
                        <a:rPr lang="en-US" sz="2800" i="1">
                          <a:latin typeface="Cambria Math"/>
                        </a:rPr>
                        <m:t>𝑟𝑒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+</m:t>
                      </m:r>
                      <m:r>
                        <a:rPr lang="en-US" sz="2800" i="1">
                          <a:latin typeface="Cambria Math"/>
                        </a:rPr>
                        <m:t>𝜇</m:t>
                      </m:r>
                      <m:r>
                        <a:rPr lang="en-US" sz="2800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𝑙𝑖𝑛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𝑙𝑖𝑛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𝑙𝑖𝑛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𝑙𝑖𝑛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𝑒𝑥𝑝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𝑢</m:t>
                              </m:r>
                            </m:sub>
                          </m:sSub>
                          <m:r>
                            <a:rPr lang="en-US" sz="2800" i="1">
                              <a:latin typeface="Cambria Math"/>
                            </a:rPr>
                            <m:t>∙</m:t>
                          </m:r>
                          <m:r>
                            <a:rPr lang="en-US" sz="2800" i="1">
                              <a:latin typeface="Cambria Math"/>
                            </a:rPr>
                            <m:t>𝑟𝑒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𝑢</m:t>
                              </m:r>
                            </m:sub>
                          </m:sSub>
                          <m:r>
                            <a:rPr lang="en-US" sz="2800" i="1">
                              <a:latin typeface="Cambria Math"/>
                            </a:rPr>
                            <m:t>+</m:t>
                          </m:r>
                          <m:r>
                            <a:rPr lang="en-US" sz="2800" i="1">
                              <a:latin typeface="Cambria Math"/>
                            </a:rPr>
                            <m:t>𝜇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sz="2800" i="1">
                          <a:latin typeface="Cambria Math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800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3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Decomposition model</a:t>
            </a:r>
          </a:p>
        </p:txBody>
      </p:sp>
    </p:spTree>
    <p:extLst>
      <p:ext uri="{BB962C8B-B14F-4D97-AF65-F5344CB8AC3E}">
        <p14:creationId xmlns:p14="http://schemas.microsoft.com/office/powerpoint/2010/main" val="289984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dirty="0"/>
              <a:t>Final </a:t>
            </a:r>
            <a:r>
              <a:rPr lang="fr-BE" dirty="0" err="1"/>
              <a:t>decomposition</a:t>
            </a:r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C1BBC5E-ECDB-9D35-4EA1-1E6E9E7EECB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sz="3000" b="1" dirty="0"/>
                  <a:t>Additive case:</a:t>
                </a:r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200" i="1">
                            <a:latin typeface="Cambria Math"/>
                          </a:rPr>
                          <m:t>𝑢𝑡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𝑡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𝑡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𝑠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fr-BE" sz="22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200" i="1">
                        <a:latin typeface="Cambria Math"/>
                      </a:rPr>
                      <m:t>𝑎𝑙</m:t>
                    </m:r>
                    <m:r>
                      <a:rPr lang="en-US" sz="2200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200" i="1">
                            <a:latin typeface="Cambria Math"/>
                          </a:rPr>
                          <m:t>𝑢𝑡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𝑖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200" i="1">
                            <a:latin typeface="Cambria Math"/>
                          </a:rPr>
                          <m:t>𝑢𝑡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𝑖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𝑠𝑎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+</m:t>
                    </m:r>
                    <m:r>
                      <a:rPr lang="en-US" sz="2200" i="1">
                        <a:latin typeface="Cambria Math"/>
                      </a:rPr>
                      <m:t>𝑖</m:t>
                    </m:r>
                    <m:r>
                      <a:rPr lang="en-US" sz="2200" i="1">
                        <a:latin typeface="Cambria Math"/>
                      </a:rPr>
                      <m:t>+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𝑠𝑎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−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𝑦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−</m:t>
                    </m:r>
                    <m:r>
                      <a:rPr lang="en-US" sz="2200" i="1">
                        <a:latin typeface="Cambria Math"/>
                      </a:rPr>
                      <m:t>𝑠</m:t>
                    </m:r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𝑠</m:t>
                    </m:r>
                    <m:r>
                      <a:rPr lang="en-US" sz="2200" i="1">
                        <a:latin typeface="Cambria Math"/>
                      </a:rPr>
                      <m:t>+</m:t>
                    </m:r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+</m:t>
                    </m:r>
                    <m:r>
                      <a:rPr lang="en-US" sz="2200" i="1">
                        <a:latin typeface="Cambria Math"/>
                      </a:rPr>
                      <m:t>𝑖</m:t>
                    </m:r>
                    <m:r>
                      <a:rPr lang="en-US" sz="2200" i="1">
                        <a:latin typeface="Cambria Math"/>
                      </a:rPr>
                      <m:t>+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𝑦</m:t>
                        </m:r>
                      </m:sub>
                    </m:sSub>
                  </m:oMath>
                </a14:m>
                <a:endParaRPr lang="en-US" sz="2600" dirty="0"/>
              </a:p>
              <a:p>
                <a:r>
                  <a:rPr lang="en-US" sz="3000" b="1" dirty="0"/>
                  <a:t>Multiplicative case:</a:t>
                </a:r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d>
                      <m:d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𝑢𝑡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𝑡</m:t>
                            </m:r>
                          </m:sub>
                        </m:sSub>
                        <m:r>
                          <a:rPr lang="en-US" sz="2200" i="1">
                            <a:latin typeface="Cambria Math"/>
                          </a:rPr>
                          <m:t>∙ 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𝑒𝑔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∙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𝑠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d>
                      <m:dPr>
                        <m:ctrlPr>
                          <a:rPr lang="en-US" sz="2200" i="1">
                            <a:latin typeface="Cambria Math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/>
                          </a:rPr>
                          <m:t>𝑙𝑝</m:t>
                        </m:r>
                        <m:r>
                          <a:rPr lang="en-US" sz="2200" i="1">
                            <a:latin typeface="Cambria Math"/>
                          </a:rPr>
                          <m:t>∙</m:t>
                        </m:r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2200" i="1">
                            <a:latin typeface="Cambria Math"/>
                          </a:rPr>
                          <m:t>𝑎𝑙</m:t>
                        </m:r>
                        <m:r>
                          <a:rPr lang="en-US" sz="2200" i="1">
                            <a:latin typeface="Cambria Math"/>
                          </a:rPr>
                          <m:t>∙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𝑢𝑡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sz="2200" i="1">
                            <a:latin typeface="Cambria Math"/>
                          </a:rPr>
                          <m:t>∙ 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𝑒𝑔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∙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d>
                      <m:d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̃"/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𝑎𝑙</m:t>
                            </m:r>
                          </m:e>
                        </m:acc>
                        <m:r>
                          <a:rPr lang="en-US" sz="2200" i="1">
                            <a:latin typeface="Cambria Math"/>
                          </a:rPr>
                          <m:t>∙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𝑢𝑡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sz="2200" i="1">
                            <a:latin typeface="Cambria Math"/>
                          </a:rPr>
                          <m:t>∙ 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𝑒𝑔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∙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𝑖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d>
                      <m:d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𝑢𝑡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en-US" sz="2200" i="1">
                            <a:latin typeface="Cambria Math"/>
                          </a:rPr>
                          <m:t>∙ 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𝑅𝑒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∙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𝑖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𝑠𝑎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∙</m:t>
                    </m:r>
                    <m:r>
                      <a:rPr lang="en-US" sz="2200" i="1">
                        <a:latin typeface="Cambria Math"/>
                      </a:rPr>
                      <m:t>𝑖</m:t>
                    </m:r>
                    <m:r>
                      <a:rPr lang="en-US" sz="2200" i="1">
                        <a:latin typeface="Cambria Math"/>
                      </a:rPr>
                      <m:t>∙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r>
                      <a:rPr lang="en-US" sz="2200" i="1">
                        <a:latin typeface="Cambria Math"/>
                      </a:rPr>
                      <m:t> </m:t>
                    </m:r>
                    <m:d>
                      <m:d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𝑒𝑔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𝑠𝑎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=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>
                                <a:latin typeface="Cambria Math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𝑐</m:t>
                            </m:r>
                          </m:sub>
                        </m:sSub>
                        <m:r>
                          <a:rPr lang="en-US" sz="2200" i="1">
                            <a:latin typeface="Cambria Math"/>
                          </a:rPr>
                          <m:t>/</m:t>
                        </m:r>
                        <m:r>
                          <a:rPr lang="en-US" sz="2200" i="1">
                            <a:latin typeface="Cambria Math"/>
                          </a:rPr>
                          <m:t>𝑒𝑥𝑝</m:t>
                        </m:r>
                        <m:d>
                          <m:d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BE" sz="2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BE" sz="22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sz="2200" i="1">
                                    <a:latin typeface="Cambria Math"/>
                                  </a:rPr>
                                  <m:t>𝑒𝑔</m:t>
                                </m:r>
                              </m:e>
                              <m:sub>
                                <m:r>
                                  <a:rPr lang="en-US" sz="2200" i="1">
                                    <a:latin typeface="Cambria Math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200" i="1">
                        <a:latin typeface="Cambria Math"/>
                      </a:rPr>
                      <m:t>/</m:t>
                    </m:r>
                    <m:r>
                      <a:rPr lang="en-US" sz="2200" i="1">
                        <a:latin typeface="Cambria Math"/>
                      </a:rPr>
                      <m:t>𝑠</m:t>
                    </m:r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/ 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d>
                      <m:d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𝑒𝑔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𝑦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𝑠</m:t>
                    </m:r>
                    <m:r>
                      <a:rPr lang="en-US" sz="2200" i="1">
                        <a:latin typeface="Cambria Math"/>
                      </a:rPr>
                      <m:t>∙</m:t>
                    </m:r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∙</m:t>
                    </m:r>
                    <m:r>
                      <a:rPr lang="en-US" sz="2200" i="1">
                        <a:latin typeface="Cambria Math"/>
                      </a:rPr>
                      <m:t>𝑖</m:t>
                    </m:r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sz="22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𝑉𝑎𝑟</m:t>
                          </m:r>
                        </m:e>
                        <m:sub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fr-BE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B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fr-B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𝑣𝑎𝑟</m:t>
                          </m:r>
                        </m:e>
                        <m:sub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fr-BE" sz="22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fr-BE" sz="2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acc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𝑣𝑎𝑟</m:t>
                          </m:r>
                        </m:e>
                        <m:sub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𝑥𝑓𝑖𝑥𝑒𝑑</m:t>
                          </m:r>
                        </m:sub>
                      </m:sSub>
                      <m:r>
                        <a:rPr lang="fr-BE" sz="2200" i="1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𝑜𝑢𝑡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𝑟𝑒𝑔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𝑐𝑎𝑙</m:t>
                      </m:r>
                    </m:oMath>
                  </m:oMathPara>
                </a14:m>
                <a:endParaRPr lang="en-US" sz="2200" dirty="0"/>
              </a:p>
              <a:p>
                <a:pPr marL="57150" indent="0">
                  <a:buNone/>
                </a:pPr>
                <a:endParaRPr lang="en-US" sz="2600" dirty="0"/>
              </a:p>
              <a:p>
                <a:pPr marL="57150" indent="0">
                  <a:buNone/>
                </a:pPr>
                <a:endParaRPr lang="en-US" sz="26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sz="26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sz="26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sz="26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dirty="0"/>
              </a:p>
              <a:p>
                <a:pPr>
                  <a:buFont typeface="Wingdings" panose="05000000000000000000" pitchFamily="2" charset="2"/>
                  <a:buChar char="ü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310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Decomposition model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086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07568" y="1430683"/>
            <a:ext cx="2880320" cy="1080120"/>
          </a:xfrm>
          <a:prstGeom prst="rect">
            <a:avLst/>
          </a:prstGeom>
          <a:pattFill prst="pct30">
            <a:fgClr>
              <a:schemeClr val="accent3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>
                <a:solidFill>
                  <a:schemeClr val="tx1"/>
                </a:solidFill>
              </a:rPr>
              <a:t>LS </a:t>
            </a:r>
          </a:p>
          <a:p>
            <a:pPr algn="ctr"/>
            <a:r>
              <a:rPr lang="fr-BE" dirty="0" err="1">
                <a:solidFill>
                  <a:schemeClr val="tx1"/>
                </a:solidFill>
              </a:rPr>
              <a:t>reg_trend</a:t>
            </a:r>
            <a:r>
              <a:rPr lang="fr-BE" dirty="0">
                <a:solidFill>
                  <a:schemeClr val="tx1"/>
                </a:solidFill>
              </a:rPr>
              <a:t>, </a:t>
            </a:r>
            <a:r>
              <a:rPr lang="fr-BE" dirty="0" err="1">
                <a:solidFill>
                  <a:schemeClr val="tx1"/>
                </a:solidFill>
              </a:rPr>
              <a:t>ramps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207568" y="2510803"/>
            <a:ext cx="2880320" cy="1080120"/>
          </a:xfrm>
          <a:prstGeom prst="rect">
            <a:avLst/>
          </a:prstGeom>
          <a:pattFill prst="pct30">
            <a:fgClr>
              <a:schemeClr val="accent4">
                <a:lumMod val="40000"/>
                <a:lumOff val="60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>
                <a:solidFill>
                  <a:schemeClr val="tx1"/>
                </a:solidFill>
              </a:rPr>
              <a:t>AO + TC </a:t>
            </a:r>
          </a:p>
          <a:p>
            <a:pPr algn="ctr"/>
            <a:r>
              <a:rPr lang="fr-BE" dirty="0" err="1">
                <a:solidFill>
                  <a:schemeClr val="tx1"/>
                </a:solidFill>
              </a:rPr>
              <a:t>reg_i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207568" y="3590923"/>
            <a:ext cx="2880320" cy="1080120"/>
          </a:xfrm>
          <a:prstGeom prst="rect">
            <a:avLst/>
          </a:prstGeom>
          <a:pattFill prst="pct30">
            <a:fgClr>
              <a:schemeClr val="tx2">
                <a:lumMod val="40000"/>
                <a:lumOff val="60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>
                <a:solidFill>
                  <a:srgbClr val="0070C0"/>
                </a:solidFill>
              </a:rPr>
              <a:t>TD + </a:t>
            </a:r>
            <a:r>
              <a:rPr lang="fr-BE" b="1" dirty="0" err="1">
                <a:solidFill>
                  <a:srgbClr val="0070C0"/>
                </a:solidFill>
              </a:rPr>
              <a:t>Hol</a:t>
            </a:r>
            <a:r>
              <a:rPr lang="fr-BE" b="1" dirty="0">
                <a:solidFill>
                  <a:srgbClr val="0070C0"/>
                </a:solidFill>
              </a:rPr>
              <a:t> </a:t>
            </a:r>
          </a:p>
          <a:p>
            <a:pPr algn="ctr"/>
            <a:r>
              <a:rPr lang="fr-BE" b="1" dirty="0">
                <a:solidFill>
                  <a:schemeClr val="tx1"/>
                </a:solidFill>
              </a:rPr>
              <a:t>SO [+ SLS] </a:t>
            </a:r>
          </a:p>
          <a:p>
            <a:pPr algn="ctr"/>
            <a:r>
              <a:rPr lang="fr-BE" dirty="0" err="1">
                <a:solidFill>
                  <a:srgbClr val="002060"/>
                </a:solidFill>
              </a:rPr>
              <a:t>reg_s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87889" y="1430683"/>
            <a:ext cx="2959503" cy="108012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T_lin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5087889" y="2510803"/>
            <a:ext cx="2959503" cy="108012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I_lin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5087889" y="3590923"/>
            <a:ext cx="2959147" cy="108012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>
                <a:solidFill>
                  <a:schemeClr val="bg1"/>
                </a:solidFill>
              </a:rPr>
              <a:t>S_lin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79517" y="1770688"/>
            <a:ext cx="3372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b="1" dirty="0"/>
              <a:t>T</a:t>
            </a:r>
            <a:endParaRPr lang="en-US" sz="2000" b="1" dirty="0"/>
          </a:p>
        </p:txBody>
      </p:sp>
      <p:sp>
        <p:nvSpPr>
          <p:cNvPr id="11" name="Right Brace 10"/>
          <p:cNvSpPr/>
          <p:nvPr/>
        </p:nvSpPr>
        <p:spPr>
          <a:xfrm>
            <a:off x="8852857" y="1417902"/>
            <a:ext cx="504056" cy="2173021"/>
          </a:xfrm>
          <a:prstGeom prst="rightBrace">
            <a:avLst>
              <a:gd name="adj1" fmla="val 28489"/>
              <a:gd name="adj2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446749" y="2326137"/>
            <a:ext cx="5421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2000" b="1" dirty="0"/>
              <a:t>SA</a:t>
            </a:r>
            <a:endParaRPr lang="en-US" sz="2000" b="1" dirty="0"/>
          </a:p>
        </p:txBody>
      </p:sp>
      <p:sp>
        <p:nvSpPr>
          <p:cNvPr id="13" name="TextBox 12"/>
          <p:cNvSpPr txBox="1"/>
          <p:nvPr/>
        </p:nvSpPr>
        <p:spPr>
          <a:xfrm>
            <a:off x="8488119" y="2850808"/>
            <a:ext cx="3484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b="1" dirty="0"/>
              <a:t>I</a:t>
            </a:r>
            <a:endParaRPr lang="en-US" sz="2000" b="1" dirty="0"/>
          </a:p>
        </p:txBody>
      </p:sp>
      <p:sp>
        <p:nvSpPr>
          <p:cNvPr id="14" name="TextBox 13"/>
          <p:cNvSpPr txBox="1"/>
          <p:nvPr/>
        </p:nvSpPr>
        <p:spPr>
          <a:xfrm>
            <a:off x="8488118" y="3946317"/>
            <a:ext cx="3673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b="1" dirty="0"/>
              <a:t>S</a:t>
            </a:r>
            <a:endParaRPr lang="en-US" sz="2000" b="1" dirty="0"/>
          </a:p>
        </p:txBody>
      </p:sp>
      <p:sp>
        <p:nvSpPr>
          <p:cNvPr id="16" name="Right Brace 15"/>
          <p:cNvSpPr/>
          <p:nvPr/>
        </p:nvSpPr>
        <p:spPr>
          <a:xfrm rot="5400000">
            <a:off x="3403657" y="3806410"/>
            <a:ext cx="443480" cy="2712996"/>
          </a:xfrm>
          <a:prstGeom prst="rightBrace">
            <a:avLst>
              <a:gd name="adj1" fmla="val 33326"/>
              <a:gd name="adj2" fmla="val 50000"/>
            </a:avLst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711625" y="5548591"/>
            <a:ext cx="17972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/>
              <a:t>Deterministic</a:t>
            </a:r>
            <a:r>
              <a:rPr lang="fr-BE" dirty="0"/>
              <a:t> </a:t>
            </a:r>
            <a:r>
              <a:rPr lang="fr-BE" dirty="0" err="1"/>
              <a:t>effects</a:t>
            </a:r>
            <a:endParaRPr lang="en-US" dirty="0"/>
          </a:p>
        </p:txBody>
      </p:sp>
      <p:sp>
        <p:nvSpPr>
          <p:cNvPr id="18" name="Right Brace 17"/>
          <p:cNvSpPr/>
          <p:nvPr/>
        </p:nvSpPr>
        <p:spPr>
          <a:xfrm rot="5400000">
            <a:off x="6320870" y="3742100"/>
            <a:ext cx="443480" cy="2887495"/>
          </a:xfrm>
          <a:prstGeom prst="rightBrace">
            <a:avLst>
              <a:gd name="adj1" fmla="val 39574"/>
              <a:gd name="adj2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5847332" y="5548591"/>
            <a:ext cx="20361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/>
              <a:t>Stochastic</a:t>
            </a:r>
            <a:r>
              <a:rPr lang="fr-BE" dirty="0"/>
              <a:t> components</a:t>
            </a:r>
            <a:endParaRPr lang="en-US" dirty="0"/>
          </a:p>
        </p:txBody>
      </p:sp>
      <p:sp>
        <p:nvSpPr>
          <p:cNvPr id="20" name="Rounded Rectangle 19"/>
          <p:cNvSpPr/>
          <p:nvPr/>
        </p:nvSpPr>
        <p:spPr>
          <a:xfrm>
            <a:off x="5015881" y="1340769"/>
            <a:ext cx="3168351" cy="2376263"/>
          </a:xfrm>
          <a:prstGeom prst="roundRect">
            <a:avLst/>
          </a:prstGeom>
          <a:noFill/>
          <a:ln w="38100"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185195" y="938905"/>
            <a:ext cx="7040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/>
              <a:t>SA_lin</a:t>
            </a:r>
            <a:endParaRPr lang="en-US" dirty="0"/>
          </a:p>
        </p:txBody>
      </p:sp>
      <p:cxnSp>
        <p:nvCxnSpPr>
          <p:cNvPr id="23" name="Straight Connector 22"/>
          <p:cNvCxnSpPr/>
          <p:nvPr/>
        </p:nvCxnSpPr>
        <p:spPr>
          <a:xfrm>
            <a:off x="2207569" y="2510803"/>
            <a:ext cx="661776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2207568" y="3590923"/>
            <a:ext cx="661776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re 14">
            <a:extLst>
              <a:ext uri="{FF2B5EF4-FFF2-40B4-BE49-F238E27FC236}">
                <a16:creationId xmlns:a16="http://schemas.microsoft.com/office/drawing/2014/main" id="{06014D69-5B0E-7D21-1694-C41BE2EE2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C91D182-3198-315D-F8E0-8EB1AFE557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Decomposition model</a:t>
            </a:r>
          </a:p>
        </p:txBody>
      </p:sp>
    </p:spTree>
    <p:extLst>
      <p:ext uri="{BB962C8B-B14F-4D97-AF65-F5344CB8AC3E}">
        <p14:creationId xmlns:p14="http://schemas.microsoft.com/office/powerpoint/2010/main" val="3375368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37D8F2C-7E10-AE24-00F5-419C724371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Props1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8</TotalTime>
  <Words>436</Words>
  <Application>Microsoft Office PowerPoint</Application>
  <PresentationFormat>Grand écran</PresentationFormat>
  <Paragraphs>126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 Math</vt:lpstr>
      <vt:lpstr>Wingdings</vt:lpstr>
      <vt:lpstr>ESTAT Theme</vt:lpstr>
      <vt:lpstr>2.1 Decomposition model</vt:lpstr>
      <vt:lpstr>Regression model </vt:lpstr>
      <vt:lpstr>Handling of the regression variables</vt:lpstr>
      <vt:lpstr>Decomposition</vt:lpstr>
      <vt:lpstr>Final decomposition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66</cp:revision>
  <dcterms:created xsi:type="dcterms:W3CDTF">2024-11-22T11:11:00Z</dcterms:created>
  <dcterms:modified xsi:type="dcterms:W3CDTF">2026-10-01T08:28:06Z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