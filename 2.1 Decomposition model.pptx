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9" r:id="rId6"/>
    <p:sldId id="268" r:id="rId7"/>
    <p:sldId id="264" r:id="rId8"/>
    <p:sldId id="266" r:id="rId9"/>
    <p:sldId id="261" r:id="rId10"/>
  </p:sldIdLst>
  <p:sldSz cx="12192000" cy="6858000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>
        <p:scale>
          <a:sx n="66" d="100"/>
          <a:sy n="66" d="100"/>
        </p:scale>
        <p:origin x="894" y="162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05/10/2026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88854"/>
            <a:ext cx="10515597" cy="4707273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Decomposition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2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Decomposition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8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2.1 Decomposition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3913A-0FCE-85CF-0156-DFFC6DEB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 Two-steps models (Tramo-Seats, X12)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315251D-465E-08C9-D5B6-5C1BA423BA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341D43BD-D4E0-C71E-1D18-7A04FF8D8FA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sz="3200" dirty="0"/>
                  <a:t>1 Regression</a:t>
                </a:r>
                <a:r>
                  <a:rPr lang="en-GB" sz="2400" dirty="0"/>
                  <a:t> model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BE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fr-BE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𝜇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𝐶𝑎</m:t>
                    </m:r>
                    <m:r>
                      <a:rPr lang="fr-BE" sz="28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BE" sz="2800" i="1">
                            <a:latin typeface="Cambria Math" panose="02040503050406030204" pitchFamily="18" charset="0"/>
                          </a:rPr>
                          <m:t>𝑐𝑎𝑙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fr-B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BE" sz="28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fr-BE" sz="2800" b="0" i="1" smtClean="0">
                            <a:latin typeface="Cambria Math" panose="02040503050406030204" pitchFamily="18" charset="0"/>
                          </a:rPr>
                          <m:t>𝑢𝑡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BE" sz="2800" b="0" i="1" smtClean="0">
                        <a:latin typeface="Cambria Math" panose="02040503050406030204" pitchFamily="18" charset="0"/>
                      </a:rPr>
                      <m:t>𝑒𝑔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fr-BE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fr-BE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𝑒𝑔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𝜇</m:t>
                    </m:r>
                  </m:oMath>
                </a14:m>
                <a:endParaRPr lang="fr-BE" sz="2800" i="1" dirty="0">
                  <a:latin typeface="Cambria Math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𝐴𝑅𝐼𝑀𝐴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𝑎𝑛𝑜𝑡ℎ𝑒𝑟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𝑠𝑡𝑜𝑐ℎ𝑎𝑠𝑡𝑖𝑐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𝑐𝑜𝑚𝑝𝑜𝑛𝑒𝑛𝑡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     </m:t>
                    </m:r>
                  </m:oMath>
                </a14:m>
                <a:endParaRPr lang="en-US" sz="2400" dirty="0"/>
              </a:p>
              <a:p>
                <a:pPr lvl="2"/>
                <a:r>
                  <a:rPr lang="en-US" sz="2000" dirty="0"/>
                  <a:t>Additive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BE" sz="180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BE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BE" sz="18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fr-BE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BE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sz="2000" dirty="0"/>
              </a:p>
              <a:p>
                <a:pPr lvl="2"/>
                <a:r>
                  <a:rPr lang="en-US" sz="2000" dirty="0"/>
                  <a:t>Multiplicative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fr-BE" sz="1800" i="1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fr-BE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BE" sz="18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fr-B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B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fr-BE" sz="180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fr-BE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BE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fr-BE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BE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fr-BE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fr-BE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𝑙𝑝</m:t>
                    </m:r>
                    <m:r>
                      <a:rPr lang="fr-BE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800" dirty="0"/>
                  <a:t>Linearized series: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800" i="1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fr-BE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BE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fr-BE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800" dirty="0"/>
              </a:p>
              <a:p>
                <a:pPr lvl="2"/>
                <a:endParaRPr lang="en-US" sz="1800" dirty="0"/>
              </a:p>
              <a:p>
                <a:pPr lvl="1"/>
                <a:endParaRPr lang="en-US" sz="200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341D43BD-D4E0-C71E-1D18-7A04FF8D8F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7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64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ACFA-A85E-C05F-7567-72CFB803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CE5CC-4DA6-A9DA-507B-A27933E3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 Two-steps models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D3D49AE-C51B-9B76-4C34-1F36F0989E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E9D06A12-2B4B-ADB9-C45C-6DB3B319508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035424" y="1388854"/>
                <a:ext cx="10450895" cy="4707273"/>
              </a:xfrm>
            </p:spPr>
            <p:txBody>
              <a:bodyPr/>
              <a:lstStyle/>
              <a:p>
                <a:r>
                  <a:rPr lang="en-GB" sz="3200" dirty="0"/>
                  <a:t>2 Decomposition: </a:t>
                </a:r>
              </a:p>
              <a:p>
                <a:pPr lvl="1"/>
                <a:r>
                  <a:rPr lang="en-US" sz="2400" dirty="0"/>
                  <a:t>Additive case: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Multiplicative case:</a:t>
                </a:r>
                <a:endParaRPr lang="fr-BE" sz="2800" b="0" i="0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24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BE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BE" sz="24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  <m:r>
                      <a:rPr lang="fr-B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  <m:r>
                      <a:rPr lang="fr-B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16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(X11)</a:t>
                </a: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240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BE" sz="24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fr-BE" sz="2400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fr-BE" sz="2400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BE" sz="24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BE" sz="24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BE" sz="24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BE" sz="24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BE" sz="24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𝑏𝑖𝑎𝑠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𝑐𝑜𝑟𝑟</m:t>
                    </m:r>
                    <m:r>
                      <a:rPr lang="fr-B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fr-B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  <m:r>
                      <a:rPr lang="fr-B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B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BE" sz="2400" i="1"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</m:oMath>
                </a14:m>
                <a:r>
                  <a:rPr lang="en-US" sz="1100" dirty="0"/>
                  <a:t> </a:t>
                </a:r>
                <a:r>
                  <a:rPr lang="en-US" sz="16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(SEATS…)</a:t>
                </a:r>
              </a:p>
              <a:p>
                <a:pPr lvl="2"/>
                <a:endParaRPr lang="en-US" sz="2400" dirty="0"/>
              </a:p>
              <a:p>
                <a:pPr lvl="2"/>
                <a:endParaRPr lang="en-US" sz="2400" dirty="0"/>
              </a:p>
              <a:p>
                <a:r>
                  <a:rPr lang="en-US" sz="24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Note on bias correction: annual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40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BE" sz="240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  <m:r>
                      <a:rPr lang="fr-BE" sz="24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BE" sz="24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400" b="0" i="1" smtClean="0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BE" sz="2400" i="1">
                            <a:solidFill>
                              <a:schemeClr val="bg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𝑐𝑚𝑝</m:t>
                        </m:r>
                      </m:sub>
                    </m:sSub>
                    <m:r>
                      <a:rPr lang="fr-BE" sz="2400" b="0" i="1" smtClean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60000"/>
                        <a:lumOff val="40000"/>
                      </a:schemeClr>
                    </a:solidFill>
                  </a:rPr>
                  <a:t>(see later)</a:t>
                </a:r>
              </a:p>
              <a:p>
                <a:endParaRPr lang="en-US" sz="1600" dirty="0">
                  <a:solidFill>
                    <a:schemeClr val="bg2">
                      <a:lumMod val="60000"/>
                      <a:lumOff val="40000"/>
                    </a:schemeClr>
                  </a:solidFill>
                </a:endParaRPr>
              </a:p>
              <a:p>
                <a:pPr lvl="3"/>
                <a:endParaRPr lang="en-US" sz="2000" dirty="0"/>
              </a:p>
              <a:p>
                <a:endParaRPr lang="en-US" sz="1600" dirty="0"/>
              </a:p>
              <a:p>
                <a:pPr lvl="3"/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E9D06A12-2B4B-ADB9-C45C-6DB3B31950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035424" y="1388854"/>
                <a:ext cx="10450895" cy="4707273"/>
              </a:xfrm>
              <a:blipFill>
                <a:blip r:embed="rId2"/>
                <a:stretch>
                  <a:fillRect l="-817" t="-27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22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2 Final </a:t>
            </a:r>
            <a:r>
              <a:rPr lang="fr-BE" dirty="0" err="1"/>
              <a:t>decomposition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1BBC5E-ECDB-9D35-4EA1-1E6E9E7EEC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000" b="1" dirty="0"/>
                  <a:t>Additive case: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i="1">
                            <a:latin typeface="Cambria Math"/>
                          </a:rPr>
                          <m:t>𝑢𝑡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i="1">
                            <a:latin typeface="Cambria Math"/>
                          </a:rPr>
                          <m:t>𝑒𝑔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𝑠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BE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/>
                      </a:rPr>
                      <m:t>𝑎𝑙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i="1">
                            <a:latin typeface="Cambria Math"/>
                          </a:rPr>
                          <m:t>𝑢𝑡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i="1">
                            <a:latin typeface="Cambria Math"/>
                          </a:rPr>
                          <m:t>𝑒𝑔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𝑙𝑖𝑛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000" i="1">
                            <a:latin typeface="Cambria Math"/>
                          </a:rPr>
                          <m:t>𝑢𝑡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+ </m:t>
                    </m:r>
                    <m:sSub>
                      <m:sSub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i="1">
                            <a:latin typeface="Cambria Math"/>
                          </a:rPr>
                          <m:t>𝑒𝑔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𝑠𝑎</m:t>
                    </m:r>
                    <m:r>
                      <a:rPr lang="en-US" sz="2200" i="1">
                        <a:latin typeface="Cambria Math"/>
                      </a:rPr>
                      <m:t>=</m:t>
                    </m:r>
                    <m:r>
                      <a:rPr lang="en-US" sz="2200" i="1">
                        <a:latin typeface="Cambria Math"/>
                      </a:rPr>
                      <m:t>𝑡</m:t>
                    </m:r>
                    <m:r>
                      <a:rPr lang="en-US" sz="2200" i="1">
                        <a:latin typeface="Cambria Math"/>
                      </a:rPr>
                      <m:t>+</m:t>
                    </m:r>
                    <m:r>
                      <a:rPr lang="en-US" sz="2200" i="1">
                        <a:latin typeface="Cambria Math"/>
                      </a:rPr>
                      <m:t>𝑖</m:t>
                    </m:r>
                    <m:r>
                      <a:rPr lang="en-US" sz="2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200" i="1" smtClean="0">
                        <a:latin typeface="Cambria Math"/>
                      </a:rPr>
                      <m:t>−</m:t>
                    </m:r>
                    <m:r>
                      <a:rPr lang="en-US" sz="2200" i="1">
                        <a:latin typeface="Cambria Math"/>
                      </a:rPr>
                      <m:t>𝑠</m:t>
                    </m:r>
                  </m:oMath>
                </a14:m>
                <a:endParaRPr lang="en-US" sz="2200" dirty="0"/>
              </a:p>
              <a:p>
                <a:r>
                  <a:rPr lang="en-US" sz="3000" b="1" dirty="0"/>
                  <a:t>Multiplicative case: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𝑐𝑚𝑝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/>
                      </a:rPr>
                      <m:t>𝑒𝑥𝑝</m:t>
                    </m:r>
                    <m:d>
                      <m:d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𝑢𝑡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∙ </m:t>
                        </m:r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𝑒𝑔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𝑠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𝑐𝑚𝑝</m:t>
                        </m:r>
                      </m:sub>
                    </m:sSub>
                    <m:r>
                      <a:rPr lang="fr-B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/>
                      </a:rPr>
                      <m:t>𝑒𝑥𝑝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𝑙𝑝</m:t>
                        </m:r>
                        <m:r>
                          <a:rPr lang="en-US" sz="2000" i="1">
                            <a:latin typeface="Cambria Math"/>
                          </a:rPr>
                          <m:t>∙</m:t>
                        </m:r>
                        <m:r>
                          <a:rPr lang="fr-BE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latin typeface="Cambria Math"/>
                          </a:rPr>
                          <m:t>𝑎𝑙</m:t>
                        </m:r>
                        <m:r>
                          <a:rPr lang="en-US" sz="2000" i="1">
                            <a:latin typeface="Cambria Math"/>
                          </a:rPr>
                          <m:t>∙</m:t>
                        </m:r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𝑢𝑡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∙ </m:t>
                        </m:r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𝑒𝑔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𝑐𝑚𝑝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/>
                      </a:rPr>
                      <m:t>𝑒𝑥𝑝</m:t>
                    </m:r>
                    <m:d>
                      <m:dPr>
                        <m:ctrlPr>
                          <a:rPr lang="fr-B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𝑢𝑡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∙ </m:t>
                        </m:r>
                        <m:sSub>
                          <m:sSubPr>
                            <m:ctrlPr>
                              <a:rPr lang="fr-B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BE" sz="2000" i="1">
                                <a:latin typeface="Cambria Math" panose="02040503050406030204" pitchFamily="18" charset="0"/>
                              </a:rPr>
                              <m:t>𝑅𝑒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𝑠𝑎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∙</m:t>
                    </m:r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/</m:t>
                    </m:r>
                    <m:r>
                      <a:rPr lang="en-US" sz="2000" i="1">
                        <a:latin typeface="Cambria Math"/>
                      </a:rPr>
                      <m:t>𝑠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sz="2200" dirty="0"/>
              </a:p>
              <a:p>
                <a:pPr marL="57150" indent="0">
                  <a:buNone/>
                </a:pPr>
                <a:endParaRPr lang="en-US" sz="2600" dirty="0"/>
              </a:p>
              <a:p>
                <a:pPr marL="57150" indent="0">
                  <a:buNone/>
                </a:pPr>
                <a:endParaRPr lang="en-US" sz="26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sz="26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sz="26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sz="26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7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Decomposition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8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7568" y="1430683"/>
            <a:ext cx="2880320" cy="1080120"/>
          </a:xfrm>
          <a:prstGeom prst="rect">
            <a:avLst/>
          </a:prstGeom>
          <a:pattFill prst="pct30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LS </a:t>
            </a:r>
          </a:p>
          <a:p>
            <a:pPr algn="ctr"/>
            <a:r>
              <a:rPr lang="fr-BE" dirty="0" err="1">
                <a:solidFill>
                  <a:schemeClr val="tx1"/>
                </a:solidFill>
              </a:rPr>
              <a:t>reg_trend</a:t>
            </a:r>
            <a:r>
              <a:rPr lang="fr-BE" dirty="0">
                <a:solidFill>
                  <a:schemeClr val="tx1"/>
                </a:solidFill>
              </a:rPr>
              <a:t>, </a:t>
            </a:r>
            <a:r>
              <a:rPr lang="fr-BE" dirty="0" err="1">
                <a:solidFill>
                  <a:schemeClr val="tx1"/>
                </a:solidFill>
              </a:rPr>
              <a:t>ramps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7568" y="2510803"/>
            <a:ext cx="2880320" cy="1080120"/>
          </a:xfrm>
          <a:prstGeom prst="rect">
            <a:avLst/>
          </a:prstGeom>
          <a:pattFill prst="pct30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AO + TC </a:t>
            </a:r>
          </a:p>
          <a:p>
            <a:pPr algn="ctr"/>
            <a:r>
              <a:rPr lang="fr-BE" dirty="0" err="1">
                <a:solidFill>
                  <a:schemeClr val="tx1"/>
                </a:solidFill>
              </a:rPr>
              <a:t>reg_i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7568" y="3590923"/>
            <a:ext cx="2880320" cy="1080120"/>
          </a:xfrm>
          <a:prstGeom prst="rect">
            <a:avLst/>
          </a:prstGeom>
          <a:pattFill prst="pct30">
            <a:fgClr>
              <a:schemeClr val="tx2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rgbClr val="0070C0"/>
                </a:solidFill>
              </a:rPr>
              <a:t>TD + </a:t>
            </a:r>
            <a:r>
              <a:rPr lang="fr-BE" b="1" dirty="0" err="1">
                <a:solidFill>
                  <a:srgbClr val="0070C0"/>
                </a:solidFill>
              </a:rPr>
              <a:t>Hol</a:t>
            </a:r>
            <a:r>
              <a:rPr lang="fr-BE" b="1" dirty="0">
                <a:solidFill>
                  <a:srgbClr val="0070C0"/>
                </a:solidFill>
              </a:rPr>
              <a:t> </a:t>
            </a:r>
          </a:p>
          <a:p>
            <a:pPr algn="ctr"/>
            <a:r>
              <a:rPr lang="fr-BE" b="1" dirty="0">
                <a:solidFill>
                  <a:schemeClr val="tx1"/>
                </a:solidFill>
              </a:rPr>
              <a:t>SO [+ SLS] </a:t>
            </a:r>
          </a:p>
          <a:p>
            <a:pPr algn="ctr"/>
            <a:r>
              <a:rPr lang="fr-BE" dirty="0" err="1">
                <a:solidFill>
                  <a:srgbClr val="002060"/>
                </a:solidFill>
              </a:rPr>
              <a:t>reg_s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7889" y="1430683"/>
            <a:ext cx="2959503" cy="10801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T_lin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087889" y="2510803"/>
            <a:ext cx="2959503" cy="10801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I_lin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087889" y="3590923"/>
            <a:ext cx="2959147" cy="10801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>
                <a:solidFill>
                  <a:schemeClr val="bg1"/>
                </a:solidFill>
              </a:rPr>
              <a:t>S_lin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9517" y="1770688"/>
            <a:ext cx="337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T</a:t>
            </a:r>
            <a:endParaRPr lang="en-US" sz="2000" b="1" dirty="0"/>
          </a:p>
        </p:txBody>
      </p:sp>
      <p:sp>
        <p:nvSpPr>
          <p:cNvPr id="11" name="Right Brace 10"/>
          <p:cNvSpPr/>
          <p:nvPr/>
        </p:nvSpPr>
        <p:spPr>
          <a:xfrm>
            <a:off x="8852857" y="1417902"/>
            <a:ext cx="504056" cy="2173021"/>
          </a:xfrm>
          <a:prstGeom prst="rightBrace">
            <a:avLst>
              <a:gd name="adj1" fmla="val 28489"/>
              <a:gd name="adj2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446749" y="2326137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2000" b="1" dirty="0"/>
              <a:t>SA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488119" y="2850808"/>
            <a:ext cx="348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I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8488118" y="3946317"/>
            <a:ext cx="367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S</a:t>
            </a:r>
            <a:endParaRPr lang="en-US" sz="2000" b="1" dirty="0"/>
          </a:p>
        </p:txBody>
      </p:sp>
      <p:sp>
        <p:nvSpPr>
          <p:cNvPr id="16" name="Right Brace 15"/>
          <p:cNvSpPr/>
          <p:nvPr/>
        </p:nvSpPr>
        <p:spPr>
          <a:xfrm rot="5400000">
            <a:off x="3403657" y="3806410"/>
            <a:ext cx="443480" cy="2712996"/>
          </a:xfrm>
          <a:prstGeom prst="rightBrace">
            <a:avLst>
              <a:gd name="adj1" fmla="val 33326"/>
              <a:gd name="adj2" fmla="val 50000"/>
            </a:avLst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711625" y="5548591"/>
            <a:ext cx="17972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Deterministic</a:t>
            </a:r>
            <a:r>
              <a:rPr lang="fr-BE" dirty="0"/>
              <a:t> </a:t>
            </a:r>
            <a:r>
              <a:rPr lang="fr-BE" dirty="0" err="1"/>
              <a:t>effects</a:t>
            </a:r>
            <a:endParaRPr lang="en-US" dirty="0"/>
          </a:p>
        </p:txBody>
      </p:sp>
      <p:sp>
        <p:nvSpPr>
          <p:cNvPr id="18" name="Right Brace 17"/>
          <p:cNvSpPr/>
          <p:nvPr/>
        </p:nvSpPr>
        <p:spPr>
          <a:xfrm rot="5400000">
            <a:off x="6320870" y="3742100"/>
            <a:ext cx="443480" cy="2887495"/>
          </a:xfrm>
          <a:prstGeom prst="rightBrace">
            <a:avLst>
              <a:gd name="adj1" fmla="val 39574"/>
              <a:gd name="adj2" fmla="val 5000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847332" y="5548591"/>
            <a:ext cx="20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Stochastic</a:t>
            </a:r>
            <a:r>
              <a:rPr lang="fr-BE" dirty="0"/>
              <a:t> components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5015881" y="1340769"/>
            <a:ext cx="3168351" cy="2376263"/>
          </a:xfrm>
          <a:prstGeom prst="round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185195" y="938905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SA_lin</a:t>
            </a:r>
            <a:endParaRPr lang="en-US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2207569" y="2510803"/>
            <a:ext cx="661776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07568" y="3590923"/>
            <a:ext cx="661776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re 14">
            <a:extLst>
              <a:ext uri="{FF2B5EF4-FFF2-40B4-BE49-F238E27FC236}">
                <a16:creationId xmlns:a16="http://schemas.microsoft.com/office/drawing/2014/main" id="{06014D69-5B0E-7D21-1694-C41BE2EE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91D182-3198-315D-F8E0-8EB1AFE557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7CDA0C-01AE-4E2F-8829-AAF8EAAF9DB3}" type="slidenum">
              <a:rPr lang="en-US" smtClean="0"/>
              <a:t>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Decomposition model</a:t>
            </a:r>
          </a:p>
        </p:txBody>
      </p:sp>
    </p:spTree>
    <p:extLst>
      <p:ext uri="{BB962C8B-B14F-4D97-AF65-F5344CB8AC3E}">
        <p14:creationId xmlns:p14="http://schemas.microsoft.com/office/powerpoint/2010/main" val="33753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7D8F2C-7E10-AE24-00F5-419C724371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99</TotalTime>
  <Words>271</Words>
  <Application>Microsoft Office PowerPoint</Application>
  <PresentationFormat>Grand écran</PresentationFormat>
  <Paragraphs>66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Wingdings</vt:lpstr>
      <vt:lpstr>ESTAT Theme</vt:lpstr>
      <vt:lpstr>2.1 Decomposition model</vt:lpstr>
      <vt:lpstr>1 Two-steps models (Tramo-Seats, X12)</vt:lpstr>
      <vt:lpstr>1 Two-steps models</vt:lpstr>
      <vt:lpstr>2 Final decomposition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69</cp:revision>
  <dcterms:created xsi:type="dcterms:W3CDTF">2024-11-22T11:11:00Z</dcterms:created>
  <dcterms:modified xsi:type="dcterms:W3CDTF">2026-10-05T20:38:28Z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