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4"/>
  </p:sldMasterIdLst>
  <p:notesMasterIdLst>
    <p:notesMasterId r:id="rId12"/>
  </p:notesMasterIdLst>
  <p:handoutMasterIdLst>
    <p:handoutMasterId r:id="rId13"/>
  </p:handoutMasterIdLst>
  <p:sldIdLst>
    <p:sldId id="256" r:id="rId5"/>
    <p:sldId id="262" r:id="rId6"/>
    <p:sldId id="260" r:id="rId7"/>
    <p:sldId id="263" r:id="rId8"/>
    <p:sldId id="264" r:id="rId9"/>
    <p:sldId id="266" r:id="rId10"/>
    <p:sldId id="261" r:id="rId11"/>
  </p:sldIdLst>
  <p:sldSz cx="12192000" cy="6858000"/>
  <p:notesSz cx="6858000" cy="9144000"/>
  <p:custDataLst>
    <p:tags r:id="rId14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092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9" roundtripDataSignature="AMtx7mh3YP3xexYcFoahXa2ehi0H5V4Za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44A7"/>
    <a:srgbClr val="101010"/>
    <a:srgbClr val="F4F4F4"/>
    <a:srgbClr val="104F99"/>
    <a:srgbClr val="0E47CB"/>
    <a:srgbClr val="003180"/>
    <a:srgbClr val="0A2744"/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0AA4A9A-08D4-41EC-A222-5D5926BFFED6}" v="2" dt="2025-07-04T13:46:36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645" autoAdjust="0"/>
    <p:restoredTop sz="81100" autoAdjust="0"/>
  </p:normalViewPr>
  <p:slideViewPr>
    <p:cSldViewPr snapToGrid="0">
      <p:cViewPr varScale="1">
        <p:scale>
          <a:sx n="90" d="100"/>
          <a:sy n="90" d="100"/>
        </p:scale>
        <p:origin x="1122" y="78"/>
      </p:cViewPr>
      <p:guideLst>
        <p:guide orient="horz" pos="2092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5" d="100"/>
          <a:sy n="75" d="100"/>
        </p:scale>
        <p:origin x="2938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63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59" Type="http://customschemas.google.com/relationships/presentationmetadata" Target="metadata"/><Relationship Id="rId2" Type="http://schemas.openxmlformats.org/officeDocument/2006/relationships/customXml" Target="../customXml/item2.xml"/><Relationship Id="rId62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61" Type="http://schemas.openxmlformats.org/officeDocument/2006/relationships/viewProps" Target="viewProps.xml"/><Relationship Id="rId10" Type="http://schemas.openxmlformats.org/officeDocument/2006/relationships/slide" Target="slides/slide6.xml"/><Relationship Id="rId6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gs" Target="tags/tag1.xml"/><Relationship Id="rId64" Type="http://schemas.microsoft.com/office/2015/10/relationships/revisionInfo" Target="revisionInfo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66D6800-DB9C-EBAC-83AC-5F9D7E2C8B1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ED1430-DB1F-C50E-E2CC-369D36DF27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FB8CE-488C-4A7E-87F2-3AF6127C51C1}" type="datetimeFigureOut">
              <a:rPr lang="en-IE" smtClean="0"/>
              <a:t>28/08/2026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41B46C1-E31F-1BE5-CF29-FC2D8EA3E2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A38F49-91A1-E3F0-770A-4578CF8E586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9F2F4C-E206-483F-A4B8-E82471BA527C}" type="slidenum">
              <a:rPr lang="en-IE" smtClean="0"/>
              <a:t>‹N°›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1982775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‹N°›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 Title Slid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D898605-EE7A-6AAE-447A-080B2C6D225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rcRect t="3042" b="3042"/>
          <a:stretch/>
        </p:blipFill>
        <p:spPr>
          <a:xfrm>
            <a:off x="-918" y="0"/>
            <a:ext cx="12192001" cy="6866879"/>
          </a:xfrm>
          <a:prstGeom prst="rect">
            <a:avLst/>
          </a:prstGeom>
        </p:spPr>
      </p:pic>
      <p:sp>
        <p:nvSpPr>
          <p:cNvPr id="19" name="Google Shape;19;p22"/>
          <p:cNvSpPr txBox="1">
            <a:spLocks noGrp="1"/>
          </p:cNvSpPr>
          <p:nvPr>
            <p:ph type="subTitle" idx="1"/>
          </p:nvPr>
        </p:nvSpPr>
        <p:spPr>
          <a:xfrm>
            <a:off x="1112521" y="3277775"/>
            <a:ext cx="3957106" cy="17454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 i="0">
                <a:solidFill>
                  <a:schemeClr val="bg1"/>
                </a:solidFill>
              </a:defRPr>
            </a:lvl1pPr>
            <a:lvl2pPr lvl="1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09F257-77BC-80DD-CDE4-F5B22D7951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381876" y="3596720"/>
            <a:ext cx="4224858" cy="1374485"/>
          </a:xfrm>
          <a:prstGeom prst="rect">
            <a:avLst/>
          </a:prstGeom>
        </p:spPr>
      </p:pic>
      <p:sp>
        <p:nvSpPr>
          <p:cNvPr id="16" name="Title 15">
            <a:extLst>
              <a:ext uri="{FF2B5EF4-FFF2-40B4-BE49-F238E27FC236}">
                <a16:creationId xmlns:a16="http://schemas.microsoft.com/office/drawing/2014/main" id="{784A076C-4C5D-810C-C205-F06C49169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2521" y="885018"/>
            <a:ext cx="9448800" cy="2037783"/>
          </a:xfrm>
        </p:spPr>
        <p:txBody>
          <a:bodyPr anchor="ctr"/>
          <a:lstStyle>
            <a:lvl1pPr>
              <a:defRPr sz="48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IE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E5F2B0E4-A35A-CFA1-4E98-55EAD82CE82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307994" y="5771588"/>
            <a:ext cx="2509626" cy="777875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59407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3BA733-25B6-C4BB-1150-48850654F2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D3E27D-21BB-B8BD-0101-611C3D7A991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38CD64-6B9A-81A2-BDB2-55DA96C9E7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2" y="1901951"/>
            <a:ext cx="10515597" cy="4194176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3503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2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491114-E7C3-4716-7109-6FDE72E853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C1ABAA-9559-8C24-1A56-0668CC66435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EBC1E451-4262-316A-7418-6EF16E0490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A0B9F341-14FC-51F5-105A-E4BFB54BFEDD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6533867" y="1910188"/>
            <a:ext cx="5327092" cy="4240591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28248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Object" preserve="1" userDrawn="1">
  <p:cSld name="Content and Object 3"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41"/>
          <p:cNvSpPr txBox="1">
            <a:spLocks noGrp="1"/>
          </p:cNvSpPr>
          <p:nvPr>
            <p:ph type="title"/>
          </p:nvPr>
        </p:nvSpPr>
        <p:spPr>
          <a:xfrm>
            <a:off x="970722" y="413590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>
                <a:solidFill>
                  <a:srgbClr val="2644A7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cxnSp>
        <p:nvCxnSpPr>
          <p:cNvPr id="177" name="Google Shape;177;p41"/>
          <p:cNvCxnSpPr>
            <a:cxnSpLocks/>
          </p:cNvCxnSpPr>
          <p:nvPr/>
        </p:nvCxnSpPr>
        <p:spPr>
          <a:xfrm>
            <a:off x="0" y="1552418"/>
            <a:ext cx="970722" cy="0"/>
          </a:xfrm>
          <a:prstGeom prst="straightConnector1">
            <a:avLst/>
          </a:prstGeom>
          <a:noFill/>
          <a:ln w="76200" cap="flat" cmpd="sng">
            <a:solidFill>
              <a:schemeClr val="accent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3" name="Google Shape;10;p21">
            <a:extLst>
              <a:ext uri="{FF2B5EF4-FFF2-40B4-BE49-F238E27FC236}">
                <a16:creationId xmlns:a16="http://schemas.microsoft.com/office/drawing/2014/main" id="{C87DACA3-4A62-7EF9-9155-5CC0EBE6EC5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949220B6-B4CB-BA59-8F58-4304C8D42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70723" y="1894895"/>
            <a:ext cx="5157787" cy="823912"/>
          </a:xfrm>
        </p:spPr>
        <p:txBody>
          <a:bodyPr wrap="square" anchor="t">
            <a:noAutofit/>
          </a:bodyPr>
          <a:lstStyle>
            <a:lvl1pPr marL="0" indent="0">
              <a:buNone/>
              <a:defRPr sz="2400" b="0" baseline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DB0ABC1-873A-F2DD-170F-E80FE4830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70723" y="2725735"/>
            <a:ext cx="5157787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0057B6DC-82B6-DC47-2B36-FBA16BFA54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03134" y="1894895"/>
            <a:ext cx="5183188" cy="823912"/>
          </a:xfrm>
          <a:noFill/>
        </p:spPr>
        <p:txBody>
          <a:bodyPr wrap="square" anchor="t">
            <a:noAutofit/>
          </a:bodyPr>
          <a:lstStyle>
            <a:lvl1pPr marL="0" indent="0">
              <a:buNone/>
              <a:defRPr sz="2400" b="0">
                <a:solidFill>
                  <a:srgbClr val="2644A7"/>
                </a:solidFill>
              </a:defRPr>
            </a:lvl1pPr>
            <a:lvl2pPr marL="338383" indent="0">
              <a:buNone/>
              <a:defRPr sz="1480" b="1"/>
            </a:lvl2pPr>
            <a:lvl3pPr marL="676765" indent="0">
              <a:buNone/>
              <a:defRPr sz="1332" b="1"/>
            </a:lvl3pPr>
            <a:lvl4pPr marL="1015148" indent="0">
              <a:buNone/>
              <a:defRPr sz="1184" b="1"/>
            </a:lvl4pPr>
            <a:lvl5pPr marL="1353530" indent="0">
              <a:buNone/>
              <a:defRPr sz="1184" b="1"/>
            </a:lvl5pPr>
            <a:lvl6pPr marL="1691913" indent="0">
              <a:buNone/>
              <a:defRPr sz="1184" b="1"/>
            </a:lvl6pPr>
            <a:lvl7pPr marL="2030295" indent="0">
              <a:buNone/>
              <a:defRPr sz="1184" b="1"/>
            </a:lvl7pPr>
            <a:lvl8pPr marL="2368678" indent="0">
              <a:buNone/>
              <a:defRPr sz="1184" b="1"/>
            </a:lvl8pPr>
            <a:lvl9pPr marL="2707061" indent="0">
              <a:buNone/>
              <a:defRPr sz="1184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95916A-C750-070D-C528-9F655246DF5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57D36BD-C483-ED07-0866-A0A591A0170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sp>
        <p:nvSpPr>
          <p:cNvPr id="2" name="Content Placeholder 3">
            <a:extLst>
              <a:ext uri="{FF2B5EF4-FFF2-40B4-BE49-F238E27FC236}">
                <a16:creationId xmlns:a16="http://schemas.microsoft.com/office/drawing/2014/main" id="{A623D267-A36F-1DAC-4912-F35877117825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309559" y="2725735"/>
            <a:ext cx="5183188" cy="3384119"/>
          </a:xfrm>
        </p:spPr>
        <p:txBody>
          <a:bodyPr wrap="square">
            <a:noAutofit/>
          </a:bodyPr>
          <a:lstStyle>
            <a:lvl1pPr marL="342000" indent="-342000">
              <a:lnSpc>
                <a:spcPct val="90000"/>
              </a:lnSpc>
              <a:spcAft>
                <a:spcPts val="1000"/>
              </a:spcAft>
              <a:defRPr sz="2000">
                <a:solidFill>
                  <a:srgbClr val="101010"/>
                </a:solidFill>
              </a:defRPr>
            </a:lvl1pPr>
            <a:lvl2pPr marL="684000" indent="-342000">
              <a:spcBef>
                <a:spcPts val="0"/>
              </a:spcBef>
              <a:spcAft>
                <a:spcPts val="800"/>
              </a:spcAft>
              <a:defRPr sz="1800">
                <a:solidFill>
                  <a:srgbClr val="101010"/>
                </a:solidFill>
              </a:defRPr>
            </a:lvl2pPr>
            <a:lvl3pPr marL="97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600">
                <a:solidFill>
                  <a:srgbClr val="101010"/>
                </a:solidFill>
              </a:defRPr>
            </a:lvl3pPr>
            <a:lvl4pPr marL="1296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400">
                <a:solidFill>
                  <a:srgbClr val="101010"/>
                </a:solidFill>
              </a:defRPr>
            </a:lvl4pPr>
            <a:lvl5pPr marL="1620000" indent="-342000">
              <a:lnSpc>
                <a:spcPct val="90000"/>
              </a:lnSpc>
              <a:spcBef>
                <a:spcPts val="0"/>
              </a:spcBef>
              <a:spcAft>
                <a:spcPts val="1000"/>
              </a:spcAft>
              <a:defRPr sz="1200">
                <a:solidFill>
                  <a:srgbClr val="10101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47344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st slide (option 1)" preserve="1" userDrawn="1">
  <p:cSld name="Last slide (option 1)"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41;p37">
            <a:extLst>
              <a:ext uri="{FF2B5EF4-FFF2-40B4-BE49-F238E27FC236}">
                <a16:creationId xmlns:a16="http://schemas.microsoft.com/office/drawing/2014/main" id="{ACED6512-1BD5-58D6-D635-D62C0A34BF8C}"/>
              </a:ext>
            </a:extLst>
          </p:cNvPr>
          <p:cNvSpPr>
            <a:spLocks/>
          </p:cNvSpPr>
          <p:nvPr userDrawn="1"/>
        </p:nvSpPr>
        <p:spPr>
          <a:xfrm>
            <a:off x="0" y="3328560"/>
            <a:ext cx="12192000" cy="2913720"/>
          </a:xfrm>
          <a:prstGeom prst="rect">
            <a:avLst/>
          </a:prstGeom>
          <a:solidFill>
            <a:srgbClr val="2644A7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37"/>
          <p:cNvSpPr txBox="1">
            <a:spLocks noGrp="1"/>
          </p:cNvSpPr>
          <p:nvPr>
            <p:ph type="body" idx="1"/>
          </p:nvPr>
        </p:nvSpPr>
        <p:spPr>
          <a:xfrm>
            <a:off x="970723" y="3777422"/>
            <a:ext cx="6865686" cy="2174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sz="2400">
                <a:solidFill>
                  <a:srgbClr val="F4F4F4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88A19F-A201-3EB2-A71E-1E51EF3E1B2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107569" y="3538903"/>
            <a:ext cx="2931525" cy="2412704"/>
          </a:xfrm>
          <a:prstGeom prst="rect">
            <a:avLst/>
          </a:prstGeom>
        </p:spPr>
      </p:pic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9CD49B01-566F-CA34-C636-83E50BFD4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0722" y="414281"/>
            <a:ext cx="10515600" cy="2937139"/>
          </a:xfrm>
          <a:prstGeom prst="rect">
            <a:avLst/>
          </a:prstGeom>
        </p:spPr>
        <p:txBody>
          <a:bodyPr vert="horz" lIns="91440" tIns="45720" rIns="91440" bIns="0" rtlCol="0" anchor="ctr" anchorCtr="0">
            <a:noAutofit/>
          </a:bodyPr>
          <a:lstStyle>
            <a:lvl1pPr algn="ctr">
              <a:defRPr sz="4800">
                <a:solidFill>
                  <a:srgbClr val="101010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8" name="Google Shape;10;p21">
            <a:extLst>
              <a:ext uri="{FF2B5EF4-FFF2-40B4-BE49-F238E27FC236}">
                <a16:creationId xmlns:a16="http://schemas.microsoft.com/office/drawing/2014/main" id="{C209E83E-F338-C8C6-D016-6C5FE194EA8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4724400" y="64373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rgbClr val="767676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GB" smtClean="0"/>
              <a:pPr/>
              <a:t>‹N°›</a:t>
            </a:fld>
            <a:endParaRPr lang="en-GB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36B8EBF-8A1C-818A-CBBC-1DC51D94C5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0326539" y="5728720"/>
            <a:ext cx="1865461" cy="113056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8541C9F-06FD-4BC7-C438-D852985D159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424731" y="6499013"/>
            <a:ext cx="1332000" cy="181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1498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25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7CDA0C-01AE-4E2F-8829-AAF8EAAF9DB3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4898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1"/>
          <p:cNvSpPr txBox="1">
            <a:spLocks noGrp="1"/>
          </p:cNvSpPr>
          <p:nvPr>
            <p:ph type="title"/>
          </p:nvPr>
        </p:nvSpPr>
        <p:spPr>
          <a:xfrm>
            <a:off x="838200" y="763064"/>
            <a:ext cx="10515600" cy="782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0" anchor="b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Arial"/>
              <a:buNone/>
              <a:defRPr sz="4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2" name="Google Shape;12;p2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3881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556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27" r:id="rId1"/>
    <p:sldLayoutId id="2147483717" r:id="rId2"/>
    <p:sldLayoutId id="2147483724" r:id="rId3"/>
    <p:sldLayoutId id="2147483725" r:id="rId4"/>
    <p:sldLayoutId id="2147483723" r:id="rId5"/>
    <p:sldLayoutId id="2147483728" r:id="rId6"/>
    <p:sldLayoutId id="2147483729" r:id="rId7"/>
  </p:sldLayoutIdLst>
  <p:hf sldNum="0"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2644A7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7D86E511-2A8E-CD8D-FA1D-6DDA5388CE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ESTP Training</a:t>
            </a:r>
          </a:p>
          <a:p>
            <a:r>
              <a:rPr lang="en-IE"/>
              <a:t>05-07 October 2026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2518E6D-618C-DDB2-DF84-26EB66F0C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Decomposition model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FA50BB-3958-DA6F-CD7B-74B9FFF5C40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11535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Regression</a:t>
            </a:r>
            <a:r>
              <a:rPr lang="fr-BE" dirty="0"/>
              <a:t> model 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fr-BE" i="1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r>
                  <a:rPr lang="fr-BE" i="1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BE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BE" b="0" i="0" smtClean="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BE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func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−</m:t>
                      </m:r>
                      <m:acc>
                        <m:accPr>
                          <m:chr m:val="̅"/>
                          <m:ctrlP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</m:acc>
                      <m:r>
                        <a:rPr lang="fr-B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fr-BE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𝑟𝑒𝑔</m:t>
                          </m:r>
                        </m:e>
                        <m:sub>
                          <m:r>
                            <a:rPr lang="fr-BE" b="0" i="1" smtClean="0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[−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𝑙𝑝</m:t>
                      </m:r>
                      <m:r>
                        <a:rPr lang="fr-BE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i="1">
                              <a:latin typeface="Cambria Math"/>
                            </a:rPr>
                          </m:ctrlPr>
                        </m:funcPr>
                        <m:fName>
                          <m:r>
                            <a:rPr lang="en-US" i="1">
                              <a:latin typeface="Cambria Math"/>
                            </a:rPr>
                            <m:t>𝑙𝑛</m:t>
                          </m:r>
                        </m:fName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𝛼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𝑐𝑎𝑙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𝛽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𝑜𝑢𝑡</m:t>
                      </m:r>
                      <m:r>
                        <a:rPr lang="en-US" i="1">
                          <a:latin typeface="Cambria Math"/>
                        </a:rPr>
                        <m:t>+ </m:t>
                      </m:r>
                      <m:r>
                        <a:rPr lang="en-US" i="1">
                          <a:latin typeface="Cambria Math"/>
                        </a:rPr>
                        <m:t>𝛾</m:t>
                      </m:r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𝑟𝑒𝑔</m:t>
                      </m:r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endParaRPr lang="fr-BE" dirty="0"/>
              </a:p>
              <a:p>
                <a:endParaRPr lang="fr-BE" i="1" dirty="0">
                  <a:latin typeface="Cambria Math"/>
                </a:endParaRP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𝑐𝑎𝑙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𝑡𝑑𝑒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𝑒𝑒</m:t>
                              </m:r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𝑜𝑚ℎ𝑒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  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𝑜𝑢𝑡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𝑜𝑢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/>
                      </a:rPr>
                      <m:t>𝑟𝑒𝑔</m:t>
                    </m:r>
                    <m:r>
                      <a:rPr lang="en-US" i="1">
                        <a:latin typeface="Cambria Math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6"/>
                                  <m:mcJc m:val="center"/>
                                </m:mcPr>
                              </m:mc>
                            </m:mcs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𝑠𝑎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𝑦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𝑟𝑒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/>
                                    </a:rPr>
                                    <m:t>𝑔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/>
                                    </a:rPr>
                                    <m:t>𝑢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/>
                      </a:rPr>
                      <m:t>𝜇</m:t>
                    </m:r>
                    <m:r>
                      <a:rPr lang="fr-BE" b="0" i="1" smtClean="0">
                        <a:latin typeface="Cambria Math"/>
                      </a:rPr>
                      <m:t>=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𝑠𝑡𝑜𝑐ℎ𝑎𝑠𝑡𝑖𝑐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BE" b="0" i="1" smtClean="0">
                        <a:latin typeface="Cambria Math" panose="02040503050406030204" pitchFamily="18" charset="0"/>
                      </a:rPr>
                      <m:t>𝑐𝑜𝑚𝑝𝑜𝑛𝑒𝑛𝑡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8" t="-2826" b="-298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887769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91544" y="188640"/>
            <a:ext cx="8229600" cy="778098"/>
          </a:xfrm>
        </p:spPr>
        <p:txBody>
          <a:bodyPr>
            <a:normAutofit fontScale="90000"/>
          </a:bodyPr>
          <a:lstStyle/>
          <a:p>
            <a:r>
              <a:rPr lang="fr-BE" dirty="0"/>
              <a:t>Handling of the </a:t>
            </a:r>
            <a:r>
              <a:rPr lang="fr-BE" dirty="0" err="1"/>
              <a:t>regression</a:t>
            </a:r>
            <a:r>
              <a:rPr lang="fr-BE" dirty="0"/>
              <a:t> variables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2207569" y="984191"/>
          <a:ext cx="7288035" cy="50924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3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571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42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577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692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63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57322">
                <a:tc>
                  <a:txBody>
                    <a:bodyPr/>
                    <a:lstStyle/>
                    <a:p>
                      <a:r>
                        <a:rPr lang="fr-BE" sz="1400" dirty="0"/>
                        <a:t>Code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Description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SA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tde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Trading </a:t>
                      </a:r>
                      <a:r>
                        <a:rPr lang="fr-BE" sz="1400" dirty="0" err="1"/>
                        <a:t>days</a:t>
                      </a:r>
                      <a:r>
                        <a:rPr lang="fr-BE" sz="1400" dirty="0"/>
                        <a:t>  (default,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holidays</a:t>
                      </a:r>
                      <a:r>
                        <a:rPr lang="fr-BE" sz="1400" baseline="0" dirty="0"/>
                        <a:t>, user-</a:t>
                      </a:r>
                      <a:r>
                        <a:rPr lang="fr-BE" sz="1400" baseline="0" dirty="0" err="1"/>
                        <a:t>defined</a:t>
                      </a:r>
                      <a:r>
                        <a:rPr lang="fr-BE" sz="1400" baseline="0" dirty="0"/>
                        <a:t>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ee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Easter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omhe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Other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moving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holidays</a:t>
                      </a:r>
                      <a:r>
                        <a:rPr lang="fr-BE" sz="1400" dirty="0"/>
                        <a:t> (TODO: Ramadan…)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/>
                        <a:t>AO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Additive </a:t>
                      </a:r>
                      <a:r>
                        <a:rPr lang="fr-BE" sz="1400" dirty="0" err="1"/>
                        <a:t>outlier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/>
                        <a:t>TC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Transitory</a:t>
                      </a:r>
                      <a:r>
                        <a:rPr lang="fr-BE" sz="1400" dirty="0"/>
                        <a:t> change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/>
                        <a:t>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/>
                        <a:t>SO, SLS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BE" sz="1400" dirty="0"/>
                        <a:t>Seasonal </a:t>
                      </a:r>
                      <a:r>
                        <a:rPr lang="fr-BE" sz="1400" dirty="0" err="1"/>
                        <a:t>outlier</a:t>
                      </a:r>
                      <a:r>
                        <a:rPr lang="fr-BE" sz="1400" dirty="0"/>
                        <a:t> / </a:t>
                      </a:r>
                      <a:r>
                        <a:rPr lang="fr-BE" sz="1400" dirty="0" err="1"/>
                        <a:t>seasonal</a:t>
                      </a:r>
                      <a:r>
                        <a:rPr lang="fr-BE" sz="1400" dirty="0"/>
                        <a:t> </a:t>
                      </a:r>
                      <a:r>
                        <a:rPr lang="fr-BE" sz="1400" dirty="0" err="1"/>
                        <a:t>level</a:t>
                      </a:r>
                      <a:r>
                        <a:rPr lang="fr-BE" sz="1400" dirty="0"/>
                        <a:t> shift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Reg_i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irregular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520493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Reg_t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trend, </a:t>
                      </a:r>
                      <a:r>
                        <a:rPr lang="fr-BE" sz="1400" baseline="0" dirty="0" err="1"/>
                        <a:t>ramps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seasonal</a:t>
                      </a:r>
                      <a:r>
                        <a:rPr lang="fr-BE" sz="1400" baseline="0" dirty="0"/>
                        <a:t>, IV (p)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Reg_sa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allocated</a:t>
                      </a:r>
                      <a:r>
                        <a:rPr lang="fr-BE" sz="1400" baseline="0" dirty="0"/>
                        <a:t> to </a:t>
                      </a:r>
                      <a:r>
                        <a:rPr lang="fr-BE" sz="1400" baseline="0" dirty="0" err="1"/>
                        <a:t>seas</a:t>
                      </a:r>
                      <a:r>
                        <a:rPr lang="fr-BE" sz="1400" baseline="0" dirty="0"/>
                        <a:t>.</a:t>
                      </a:r>
                      <a:r>
                        <a:rPr lang="en-US" sz="1400" baseline="0" dirty="0"/>
                        <a:t> adjusted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x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Reg_y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dirty="0" err="1"/>
                        <a:t>Regression</a:t>
                      </a:r>
                      <a:r>
                        <a:rPr lang="fr-BE" sz="1400" baseline="0" dirty="0"/>
                        <a:t> variables </a:t>
                      </a:r>
                      <a:r>
                        <a:rPr lang="fr-BE" sz="1400" baseline="0" dirty="0" err="1"/>
                        <a:t>removed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before</a:t>
                      </a:r>
                      <a:r>
                        <a:rPr lang="fr-BE" sz="1400" baseline="0" dirty="0"/>
                        <a:t> </a:t>
                      </a:r>
                      <a:r>
                        <a:rPr lang="fr-BE" sz="1400" baseline="0" dirty="0" err="1"/>
                        <a:t>decomposition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01338">
                <a:tc>
                  <a:txBody>
                    <a:bodyPr/>
                    <a:lstStyle/>
                    <a:p>
                      <a:r>
                        <a:rPr lang="fr-BE" sz="1400" dirty="0" err="1"/>
                        <a:t>Reg_u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noProof="0" dirty="0"/>
                        <a:t>Regression</a:t>
                      </a:r>
                      <a:r>
                        <a:rPr lang="en-US" sz="1400" baseline="0" noProof="0" dirty="0"/>
                        <a:t> variables unallocated to a component</a:t>
                      </a:r>
                      <a:endParaRPr lang="en-US" sz="1400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BE" sz="1400" dirty="0"/>
                        <a:t>p</a:t>
                      </a:r>
                      <a:endParaRPr 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2207568" y="6048574"/>
            <a:ext cx="427925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fr-BE" dirty="0"/>
              <a:t>p stands for </a:t>
            </a:r>
            <a:r>
              <a:rPr lang="fr-BE" dirty="0" err="1"/>
              <a:t>partially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14379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BE" dirty="0" err="1"/>
              <a:t>Decomposition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Additive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Multiplicative case: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𝛾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</a:rPr>
                        <m:t>𝑟𝑒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𝑢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</a:rPr>
                        <m:t>𝜇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𝑙𝑖𝑛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𝑒𝑥𝑝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∙</m:t>
                          </m:r>
                          <m:r>
                            <a:rPr lang="en-US" i="1">
                              <a:latin typeface="Cambria Math"/>
                            </a:rPr>
                            <m:t>𝑟𝑒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en-US" i="1">
                                  <a:latin typeface="Cambria Math"/>
                                </a:rPr>
                                <m:t>𝑢</m:t>
                              </m:r>
                            </m:sub>
                          </m:sSub>
                          <m:r>
                            <a:rPr lang="en-US" i="1">
                              <a:latin typeface="Cambria Math"/>
                            </a:rPr>
                            <m:t>+</m:t>
                          </m:r>
                          <m:r>
                            <a:rPr lang="en-US" i="1">
                              <a:latin typeface="Cambria Math"/>
                            </a:rPr>
                            <m:t>𝜇</m:t>
                          </m:r>
                        </m:e>
                      </m:d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𝑦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𝑡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𝑠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∙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𝑐𝑚𝑝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289984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706090"/>
          </a:xfrm>
        </p:spPr>
        <p:txBody>
          <a:bodyPr>
            <a:normAutofit/>
          </a:bodyPr>
          <a:lstStyle/>
          <a:p>
            <a:r>
              <a:rPr lang="fr-BE" dirty="0"/>
              <a:t>Final </a:t>
            </a:r>
            <a:r>
              <a:rPr lang="fr-BE" dirty="0" err="1"/>
              <a:t>decomposition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631504" y="1196752"/>
                <a:ext cx="8856984" cy="5256584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sz="3000" b="1" dirty="0"/>
                  <a:t>Additive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fr-BE" sz="22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200" i="1">
                        <a:latin typeface="Cambria Math"/>
                      </a:rPr>
                      <m:t>𝑎𝑙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sz="2200" i="1">
                            <a:latin typeface="Cambria Math"/>
                          </a:rPr>
                          <m:t>𝑢𝑡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+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𝑠𝑎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−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+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+ </m:t>
                    </m:r>
                    <m:sSub>
                      <m:sSubPr>
                        <m:ctrlPr>
                          <a:rPr lang="fr-BE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2200" i="1">
                            <a:latin typeface="Cambria Math"/>
                          </a:rPr>
                          <m:t>𝑒𝑔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sub>
                    </m:sSub>
                  </m:oMath>
                </a14:m>
                <a:endParaRPr lang="en-US" sz="2600" dirty="0"/>
              </a:p>
              <a:p>
                <a:r>
                  <a:rPr lang="en-US" sz="3000" b="1" dirty="0"/>
                  <a:t>Multiplicative case:</a:t>
                </a:r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𝑡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𝑡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/>
                          </a:rPr>
                        </m:ctrlPr>
                      </m:dPr>
                      <m:e>
                        <m:r>
                          <a:rPr lang="en-US" sz="2200" i="1">
                            <a:latin typeface="Cambria Math"/>
                          </a:rPr>
                          <m:t>𝑙𝑝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r>
                          <a:rPr lang="fr-BE" sz="2200" i="1"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en-US" sz="2200" i="1">
                            <a:latin typeface="Cambria Math"/>
                          </a:rPr>
                          <m:t>𝑎𝑙</m:t>
                        </m:r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̃"/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𝑎𝑙</m:t>
                            </m:r>
                          </m:e>
                        </m:acc>
                        <m:r>
                          <a:rPr lang="en-US" sz="2200" i="1">
                            <a:latin typeface="Cambria Math"/>
                          </a:rPr>
                          <m:t>∙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𝑠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𝑢𝑡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∙ </m:t>
                        </m:r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𝑅𝑒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∙</m:t>
                    </m:r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𝑖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𝑐𝑚𝑝</m:t>
                        </m:r>
                      </m:sub>
                    </m:sSub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sz="2200" i="1">
                        <a:latin typeface="Cambria Math"/>
                      </a:rPr>
                      <m:t>𝑠𝑎</m:t>
                    </m:r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r>
                      <a:rPr lang="en-US" sz="2200" i="1">
                        <a:latin typeface="Cambria Math"/>
                      </a:rPr>
                      <m:t> 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𝑠𝑎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200" i="1">
                                <a:latin typeface="Cambria Math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𝑐</m:t>
                            </m:r>
                          </m:sub>
                        </m:sSub>
                        <m:r>
                          <a:rPr lang="en-US" sz="2200" i="1">
                            <a:latin typeface="Cambria Math"/>
                          </a:rPr>
                          <m:t>/</m:t>
                        </m:r>
                        <m:r>
                          <a:rPr lang="en-US" sz="2200" i="1">
                            <a:latin typeface="Cambria Math"/>
                          </a:rPr>
                          <m:t>𝑒𝑥𝑝</m:t>
                        </m:r>
                        <m:d>
                          <m:d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BE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BE" sz="2200" i="1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  <m:r>
                                  <a:rPr lang="en-US" sz="2200" i="1">
                                    <a:latin typeface="Cambria Math"/>
                                  </a:rPr>
                                  <m:t>𝑒𝑔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sz="2200" i="1">
                        <a:latin typeface="Cambria Math"/>
                      </a:rPr>
                      <m:t>/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/>
                          </a:rPr>
                          <m:t>𝑦</m:t>
                        </m:r>
                      </m:e>
                      <m:sub>
                        <m:r>
                          <a:rPr lang="en-US" sz="2200" i="1">
                            <a:latin typeface="Cambria Math"/>
                          </a:rPr>
                          <m:t>𝑐</m:t>
                        </m:r>
                      </m:sub>
                    </m:sSub>
                    <m:r>
                      <a:rPr lang="en-US" sz="2200" i="1">
                        <a:latin typeface="Cambria Math"/>
                      </a:rPr>
                      <m:t>/ </m:t>
                    </m:r>
                    <m:r>
                      <a:rPr lang="en-US" sz="2200" i="1">
                        <a:latin typeface="Cambria Math"/>
                      </a:rPr>
                      <m:t>𝑒𝑥𝑝</m:t>
                    </m:r>
                    <m:d>
                      <m:d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BE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BE" sz="2200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sz="2200" i="1">
                                <a:latin typeface="Cambria Math"/>
                              </a:rPr>
                              <m:t>𝑒𝑔</m:t>
                            </m:r>
                          </m:e>
                          <m:sub>
                            <m:r>
                              <a:rPr lang="en-US" sz="2200" i="1">
                                <a:latin typeface="Cambria Math"/>
                              </a:rPr>
                              <m:t>𝑦</m:t>
                            </m:r>
                          </m:sub>
                        </m:sSub>
                      </m:e>
                    </m:d>
                    <m:r>
                      <a:rPr lang="en-US" sz="2200" i="1">
                        <a:latin typeface="Cambria Math"/>
                      </a:rPr>
                      <m:t>=</m:t>
                    </m:r>
                    <m:r>
                      <a:rPr lang="en-US" sz="2200" i="1">
                        <a:latin typeface="Cambria Math"/>
                      </a:rPr>
                      <m:t>𝑠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𝑡</m:t>
                    </m:r>
                    <m:r>
                      <a:rPr lang="en-US" sz="2200" i="1">
                        <a:latin typeface="Cambria Math"/>
                      </a:rPr>
                      <m:t>∙</m:t>
                    </m:r>
                    <m:r>
                      <a:rPr lang="en-US" sz="2200" i="1">
                        <a:latin typeface="Cambria Math"/>
                      </a:rPr>
                      <m:t>𝑖</m:t>
                    </m:r>
                  </m:oMath>
                </a14:m>
                <a:endParaRPr lang="en-US" sz="22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2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𝑉𝑎𝑟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fr-BE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fr-BE" sz="22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fr-BE" sz="2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e>
                          </m:acc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𝑣𝑎𝑟</m:t>
                          </m:r>
                        </m:e>
                        <m:sub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BE" sz="2200" i="1">
                              <a:latin typeface="Cambria Math" panose="02040503050406030204" pitchFamily="18" charset="0"/>
                            </a:rPr>
                            <m:t>𝑓𝑖𝑥𝑒𝑑</m:t>
                          </m:r>
                        </m:sub>
                      </m:sSub>
                      <m:r>
                        <a:rPr lang="fr-BE" sz="2200" i="1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𝑣𝑎𝑟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𝑜𝑢𝑡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𝑟𝑒𝑔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BE" sz="2200" i="1">
                          <a:latin typeface="Cambria Math" panose="02040503050406030204" pitchFamily="18" charset="0"/>
                        </a:rPr>
                        <m:t>𝑐𝑎𝑙</m:t>
                      </m:r>
                    </m:oMath>
                  </m:oMathPara>
                </a14:m>
                <a:endParaRPr lang="en-US" sz="22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marL="57150" indent="0">
                  <a:buNone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sz="2600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 lvl="1">
                  <a:buFont typeface="Wingdings" panose="05000000000000000000" pitchFamily="2" charset="2"/>
                  <a:buChar char="ü"/>
                </a:pPr>
                <a:endParaRPr lang="en-US" dirty="0"/>
              </a:p>
              <a:p>
                <a:pPr>
                  <a:buFont typeface="Wingdings" panose="05000000000000000000" pitchFamily="2" charset="2"/>
                  <a:buChar char="ü"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31504" y="1196752"/>
                <a:ext cx="8856984" cy="5256584"/>
              </a:xfrm>
              <a:blipFill>
                <a:blip r:embed="rId2"/>
                <a:stretch>
                  <a:fillRect l="-69" t="-301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1086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207568" y="1430683"/>
            <a:ext cx="2880320" cy="1080120"/>
          </a:xfrm>
          <a:prstGeom prst="rect">
            <a:avLst/>
          </a:prstGeom>
          <a:pattFill prst="pct30">
            <a:fgClr>
              <a:schemeClr val="accent3">
                <a:lumMod val="60000"/>
                <a:lumOff val="4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LS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reg_trend</a:t>
            </a:r>
            <a:r>
              <a:rPr lang="fr-BE" dirty="0">
                <a:solidFill>
                  <a:schemeClr val="tx1"/>
                </a:solidFill>
              </a:rPr>
              <a:t>, </a:t>
            </a:r>
            <a:r>
              <a:rPr lang="fr-BE" dirty="0" err="1">
                <a:solidFill>
                  <a:schemeClr val="tx1"/>
                </a:solidFill>
              </a:rPr>
              <a:t>ramps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2207568" y="2510803"/>
            <a:ext cx="2880320" cy="1080120"/>
          </a:xfrm>
          <a:prstGeom prst="rect">
            <a:avLst/>
          </a:prstGeom>
          <a:pattFill prst="pct30">
            <a:fgClr>
              <a:schemeClr val="accent4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chemeClr val="tx1"/>
                </a:solidFill>
              </a:rPr>
              <a:t>AO + TC </a:t>
            </a:r>
          </a:p>
          <a:p>
            <a:pPr algn="ctr"/>
            <a:r>
              <a:rPr lang="fr-BE" dirty="0" err="1">
                <a:solidFill>
                  <a:schemeClr val="tx1"/>
                </a:solidFill>
              </a:rPr>
              <a:t>reg_i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207568" y="3590923"/>
            <a:ext cx="2880320" cy="1080120"/>
          </a:xfrm>
          <a:prstGeom prst="rect">
            <a:avLst/>
          </a:prstGeom>
          <a:pattFill prst="pct30">
            <a:fgClr>
              <a:schemeClr val="tx2">
                <a:lumMod val="40000"/>
                <a:lumOff val="60000"/>
              </a:schemeClr>
            </a:fgClr>
            <a:bgClr>
              <a:schemeClr val="bg1"/>
            </a:bgClr>
          </a:patt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b="1" dirty="0">
                <a:solidFill>
                  <a:srgbClr val="0070C0"/>
                </a:solidFill>
              </a:rPr>
              <a:t>TD + </a:t>
            </a:r>
            <a:r>
              <a:rPr lang="fr-BE" b="1" dirty="0" err="1">
                <a:solidFill>
                  <a:srgbClr val="0070C0"/>
                </a:solidFill>
              </a:rPr>
              <a:t>Hol</a:t>
            </a:r>
            <a:r>
              <a:rPr lang="fr-BE" b="1" dirty="0">
                <a:solidFill>
                  <a:srgbClr val="0070C0"/>
                </a:solidFill>
              </a:rPr>
              <a:t> </a:t>
            </a:r>
          </a:p>
          <a:p>
            <a:pPr algn="ctr"/>
            <a:r>
              <a:rPr lang="fr-BE" b="1" dirty="0">
                <a:solidFill>
                  <a:schemeClr val="tx1"/>
                </a:solidFill>
              </a:rPr>
              <a:t>SO [+ SLS] </a:t>
            </a:r>
          </a:p>
          <a:p>
            <a:pPr algn="ctr"/>
            <a:r>
              <a:rPr lang="fr-BE" dirty="0" err="1">
                <a:solidFill>
                  <a:srgbClr val="002060"/>
                </a:solidFill>
              </a:rPr>
              <a:t>reg_s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087889" y="1430683"/>
            <a:ext cx="2959503" cy="10801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T_lin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5087889" y="2510803"/>
            <a:ext cx="2959503" cy="10801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/>
              <a:t>I_lin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5087889" y="3590923"/>
            <a:ext cx="2959147" cy="1080120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BE" dirty="0" err="1">
                <a:solidFill>
                  <a:schemeClr val="bg1"/>
                </a:solidFill>
              </a:rPr>
              <a:t>S_lin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479517" y="1770688"/>
            <a:ext cx="33721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T</a:t>
            </a:r>
            <a:endParaRPr lang="en-US" sz="2000" b="1" dirty="0"/>
          </a:p>
        </p:txBody>
      </p:sp>
      <p:sp>
        <p:nvSpPr>
          <p:cNvPr id="11" name="Right Brace 10"/>
          <p:cNvSpPr/>
          <p:nvPr/>
        </p:nvSpPr>
        <p:spPr>
          <a:xfrm>
            <a:off x="8852857" y="1417902"/>
            <a:ext cx="504056" cy="2173021"/>
          </a:xfrm>
          <a:prstGeom prst="rightBrace">
            <a:avLst>
              <a:gd name="adj1" fmla="val 28489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446749" y="2326137"/>
            <a:ext cx="5421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2000" b="1" dirty="0"/>
              <a:t>SA</a:t>
            </a:r>
            <a:endParaRPr lang="en-US" sz="2000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8488119" y="2850808"/>
            <a:ext cx="3484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I</a:t>
            </a:r>
            <a:endParaRPr lang="en-US" sz="2000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8488118" y="3946317"/>
            <a:ext cx="3673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000" b="1" dirty="0"/>
              <a:t>S</a:t>
            </a:r>
            <a:endParaRPr lang="en-US" sz="2000" b="1" dirty="0"/>
          </a:p>
        </p:txBody>
      </p:sp>
      <p:sp>
        <p:nvSpPr>
          <p:cNvPr id="16" name="Right Brace 15"/>
          <p:cNvSpPr/>
          <p:nvPr/>
        </p:nvSpPr>
        <p:spPr>
          <a:xfrm rot="5400000">
            <a:off x="3403657" y="3806410"/>
            <a:ext cx="443480" cy="2712996"/>
          </a:xfrm>
          <a:prstGeom prst="rightBrace">
            <a:avLst>
              <a:gd name="adj1" fmla="val 33326"/>
              <a:gd name="adj2" fmla="val 50000"/>
            </a:avLst>
          </a:prstGeom>
          <a:ln w="3810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711625" y="5548591"/>
            <a:ext cx="17972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Deterministic</a:t>
            </a:r>
            <a:r>
              <a:rPr lang="fr-BE" dirty="0"/>
              <a:t> </a:t>
            </a:r>
            <a:r>
              <a:rPr lang="fr-BE" dirty="0" err="1"/>
              <a:t>effects</a:t>
            </a:r>
            <a:endParaRPr lang="en-US" dirty="0"/>
          </a:p>
        </p:txBody>
      </p:sp>
      <p:sp>
        <p:nvSpPr>
          <p:cNvPr id="18" name="Right Brace 17"/>
          <p:cNvSpPr/>
          <p:nvPr/>
        </p:nvSpPr>
        <p:spPr>
          <a:xfrm rot="5400000">
            <a:off x="6320870" y="3742100"/>
            <a:ext cx="443480" cy="2887495"/>
          </a:xfrm>
          <a:prstGeom prst="rightBrace">
            <a:avLst>
              <a:gd name="adj1" fmla="val 39574"/>
              <a:gd name="adj2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5847332" y="5548591"/>
            <a:ext cx="203613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Stochastic</a:t>
            </a:r>
            <a:r>
              <a:rPr lang="fr-BE" dirty="0"/>
              <a:t> components</a:t>
            </a:r>
            <a:endParaRPr lang="en-US" dirty="0"/>
          </a:p>
        </p:txBody>
      </p:sp>
      <p:sp>
        <p:nvSpPr>
          <p:cNvPr id="20" name="Rounded Rectangle 19"/>
          <p:cNvSpPr/>
          <p:nvPr/>
        </p:nvSpPr>
        <p:spPr>
          <a:xfrm>
            <a:off x="5015881" y="1340769"/>
            <a:ext cx="3168351" cy="2376263"/>
          </a:xfrm>
          <a:prstGeom prst="roundRect">
            <a:avLst/>
          </a:prstGeom>
          <a:noFill/>
          <a:ln w="38100"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185195" y="938905"/>
            <a:ext cx="7040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dirty="0" err="1"/>
              <a:t>SA_lin</a:t>
            </a:r>
            <a:endParaRPr lang="en-US" dirty="0"/>
          </a:p>
        </p:txBody>
      </p:sp>
      <p:cxnSp>
        <p:nvCxnSpPr>
          <p:cNvPr id="23" name="Straight Connector 22"/>
          <p:cNvCxnSpPr/>
          <p:nvPr/>
        </p:nvCxnSpPr>
        <p:spPr>
          <a:xfrm>
            <a:off x="2207569" y="251080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>
            <a:off x="2207568" y="3590923"/>
            <a:ext cx="6617761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Decomposition model</a:t>
            </a:r>
          </a:p>
        </p:txBody>
      </p:sp>
    </p:spTree>
    <p:extLst>
      <p:ext uri="{BB962C8B-B14F-4D97-AF65-F5344CB8AC3E}">
        <p14:creationId xmlns:p14="http://schemas.microsoft.com/office/powerpoint/2010/main" val="3375368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39CC45C-6ECF-1414-149F-897E6C1744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0CA729C-10AD-F90E-DB78-5A4E0B79E3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884383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d5f05ec8-edda-47a7-a42e-90bbfcebfc5f"/>
  <p:tag name="SLIDO_EVENT_SECTION_UUID" val="71a6711e-5d0b-4e9f-9223-093e31161b77"/>
</p:tagLst>
</file>

<file path=ppt/theme/theme1.xml><?xml version="1.0" encoding="utf-8"?>
<a:theme xmlns:a="http://schemas.openxmlformats.org/drawingml/2006/main" name="ESTAT Theme">
  <a:themeElements>
    <a:clrScheme name="EC colour scheme">
      <a:dk1>
        <a:srgbClr val="4D4D4D"/>
      </a:dk1>
      <a:lt1>
        <a:srgbClr val="FFFFFF"/>
      </a:lt1>
      <a:dk2>
        <a:srgbClr val="034EA2"/>
      </a:dk2>
      <a:lt2>
        <a:srgbClr val="D3E8F9"/>
      </a:lt2>
      <a:accent1>
        <a:srgbClr val="1E858B"/>
      </a:accent1>
      <a:accent2>
        <a:srgbClr val="4BC5DE"/>
      </a:accent2>
      <a:accent3>
        <a:srgbClr val="1EC08A"/>
      </a:accent3>
      <a:accent4>
        <a:srgbClr val="ED8D2F"/>
      </a:accent4>
      <a:accent5>
        <a:srgbClr val="FFC000"/>
      </a:accent5>
      <a:accent6>
        <a:srgbClr val="E76C53"/>
      </a:accent6>
      <a:hlink>
        <a:srgbClr val="0563C1"/>
      </a:hlink>
      <a:folHlink>
        <a:srgbClr val="24337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STAT PPT Template.potx" id="{44100892-7769-4A20-A750-3553371E0F2E}" vid="{905E760A-09FE-4DBA-89B6-DF3A5D6D095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AA5C57F8EADE4E9CD6BB064C0C3195" ma:contentTypeVersion="16" ma:contentTypeDescription="Create a new document." ma:contentTypeScope="" ma:versionID="bb51c19a58f458ddcddd050a07659236">
  <xsd:schema xmlns:xsd="http://www.w3.org/2001/XMLSchema" xmlns:xs="http://www.w3.org/2001/XMLSchema" xmlns:p="http://schemas.microsoft.com/office/2006/metadata/properties" xmlns:ns2="0e422b70-e85d-4377-8ee0-b6227433d381" xmlns:ns3="199f642e-5af9-486c-ac06-f366742ef41a" targetNamespace="http://schemas.microsoft.com/office/2006/metadata/properties" ma:root="true" ma:fieldsID="0ee7a3bac0352a48a43420936abd968a" ns2:_="" ns3:_="">
    <xsd:import namespace="0e422b70-e85d-4377-8ee0-b6227433d381"/>
    <xsd:import namespace="199f642e-5af9-486c-ac06-f366742ef41a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2b70-e85d-4377-8ee0-b6227433d381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22b2fad6-9d2c-441c-a321-3f5f1e9bd92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9f642e-5af9-486c-ac06-f366742ef41a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22defd33-e0ca-4991-a4bb-5bf1ac0b491c}" ma:internalName="TaxCatchAll" ma:showField="CatchAllData" ma:web="199f642e-5af9-486c-ac06-f366742ef41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0e422b70-e85d-4377-8ee0-b6227433d381">
      <Terms xmlns="http://schemas.microsoft.com/office/infopath/2007/PartnerControls"/>
    </lcf76f155ced4ddcb4097134ff3c332f>
    <TaxCatchAll xmlns="199f642e-5af9-486c-ac06-f366742ef41a"/>
  </documentManagement>
</p:properties>
</file>

<file path=customXml/itemProps1.xml><?xml version="1.0" encoding="utf-8"?>
<ds:datastoreItem xmlns:ds="http://schemas.openxmlformats.org/officeDocument/2006/customXml" ds:itemID="{04B464EA-1576-49DD-9675-1E3399D4D19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22b70-e85d-4377-8ee0-b6227433d381"/>
    <ds:schemaRef ds:uri="199f642e-5af9-486c-ac06-f366742ef41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7DD9E9F-9EEB-4105-B29B-819486C2855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D6C293B-B8B4-4284-A17E-9F9E4C32B25A}">
  <ds:schemaRefs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0e422b70-e85d-4377-8ee0-b6227433d381"/>
    <ds:schemaRef ds:uri="http://schemas.microsoft.com/office/infopath/2007/PartnerControls"/>
    <ds:schemaRef ds:uri="199f642e-5af9-486c-ac06-f366742ef41a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ESTAT PPT Template</Template>
  <TotalTime>2</TotalTime>
  <Words>429</Words>
  <Application>Microsoft Office PowerPoint</Application>
  <PresentationFormat>Grand écran</PresentationFormat>
  <Paragraphs>120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Cambria Math</vt:lpstr>
      <vt:lpstr>Wingdings</vt:lpstr>
      <vt:lpstr>ESTAT Theme</vt:lpstr>
      <vt:lpstr>Decomposition model</vt:lpstr>
      <vt:lpstr>Regression model </vt:lpstr>
      <vt:lpstr>Handling of the regression variables</vt:lpstr>
      <vt:lpstr>Decomposition</vt:lpstr>
      <vt:lpstr>Final decomposition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title title title title title title title title title title title title</dc:title>
  <dc:creator>HANZEVACKI Andrej (ESTAT)</dc:creator>
  <cp:lastModifiedBy>Jean Palate</cp:lastModifiedBy>
  <cp:revision>63</cp:revision>
  <dcterms:created xsi:type="dcterms:W3CDTF">2024-11-22T11:11:00Z</dcterms:created>
  <dcterms:modified xsi:type="dcterms:W3CDTF">2026-08-28T08:36:28Z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0x010100E6AA5C57F8EADE4E9CD6BB064C0C3195</vt:lpwstr>
  </property>
  <property fmtid="{D5CDD505-2E9C-101B-9397-08002B2CF9AE}" pid="3" name="MSIP_Label_6bd9ddd1-4d20-43f6-abfa-fc3c07406f94_Enabled">
    <vt:lpwstr>true</vt:lpwstr>
  </property>
  <property fmtid="{D5CDD505-2E9C-101B-9397-08002B2CF9AE}" pid="4" name="MSIP_Label_6bd9ddd1-4d20-43f6-abfa-fc3c07406f94_SetDate">
    <vt:lpwstr>2023-09-26T10:27:54Z</vt:lpwstr>
  </property>
  <property fmtid="{D5CDD505-2E9C-101B-9397-08002B2CF9AE}" pid="5" name="MSIP_Label_6bd9ddd1-4d20-43f6-abfa-fc3c07406f94_Method">
    <vt:lpwstr>Standard</vt:lpwstr>
  </property>
  <property fmtid="{D5CDD505-2E9C-101B-9397-08002B2CF9AE}" pid="6" name="MSIP_Label_6bd9ddd1-4d20-43f6-abfa-fc3c07406f94_Name">
    <vt:lpwstr>Commission Use</vt:lpwstr>
  </property>
  <property fmtid="{D5CDD505-2E9C-101B-9397-08002B2CF9AE}" pid="7" name="MSIP_Label_6bd9ddd1-4d20-43f6-abfa-fc3c07406f94_SiteId">
    <vt:lpwstr>b24c8b06-522c-46fe-9080-70926f8dddb1</vt:lpwstr>
  </property>
  <property fmtid="{D5CDD505-2E9C-101B-9397-08002B2CF9AE}" pid="8" name="MSIP_Label_6bd9ddd1-4d20-43f6-abfa-fc3c07406f94_ActionId">
    <vt:lpwstr>5f9041e0-26c3-439f-9557-91c751557f9e</vt:lpwstr>
  </property>
  <property fmtid="{D5CDD505-2E9C-101B-9397-08002B2CF9AE}" pid="9" name="MSIP_Label_6bd9ddd1-4d20-43f6-abfa-fc3c07406f94_ContentBits">
    <vt:lpwstr>0</vt:lpwstr>
  </property>
  <property fmtid="{D5CDD505-2E9C-101B-9397-08002B2CF9AE}" pid="10" name="SlidoAppVersion">
    <vt:lpwstr>1.5.3.3511</vt:lpwstr>
  </property>
  <property fmtid="{D5CDD505-2E9C-101B-9397-08002B2CF9AE}" pid="11" name="MediaServiceImageTags">
    <vt:lpwstr/>
  </property>
</Properties>
</file>