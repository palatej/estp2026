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56" r:id="rId5"/>
    <p:sldId id="262" r:id="rId6"/>
    <p:sldId id="264" r:id="rId7"/>
    <p:sldId id="258" r:id="rId8"/>
    <p:sldId id="263" r:id="rId9"/>
    <p:sldId id="279" r:id="rId10"/>
    <p:sldId id="259" r:id="rId11"/>
    <p:sldId id="260" r:id="rId12"/>
    <p:sldId id="280" r:id="rId13"/>
    <p:sldId id="281" r:id="rId14"/>
    <p:sldId id="265" r:id="rId15"/>
    <p:sldId id="261" r:id="rId16"/>
  </p:sldIdLst>
  <p:sldSz cx="12192000" cy="6858000"/>
  <p:notesSz cx="6858000" cy="9144000"/>
  <p:custDataLst>
    <p:tags r:id="rId19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4A7"/>
    <a:srgbClr val="101010"/>
    <a:srgbClr val="F4F4F4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AA4A9A-08D4-41EC-A222-5D5926BFFED6}" v="2" dt="2025-07-04T13:46:36.3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45" autoAdjust="0"/>
    <p:restoredTop sz="81100" autoAdjust="0"/>
  </p:normalViewPr>
  <p:slideViewPr>
    <p:cSldViewPr snapToGrid="0">
      <p:cViewPr varScale="1">
        <p:scale>
          <a:sx n="90" d="100"/>
          <a:sy n="90" d="100"/>
        </p:scale>
        <p:origin x="1122" y="84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59" Type="http://customschemas.google.com/relationships/presentationmetadata" Target="meta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tags" Target="tags/tag1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64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28/08/2026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901951"/>
            <a:ext cx="10515597" cy="4194176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3AEAC0-5B23-41FC-B9A5-2681735F7C6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0153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</p:sldLayoutIdLst>
  <p:hf sldNum="0"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ESTP Training</a:t>
            </a:r>
          </a:p>
          <a:p>
            <a:r>
              <a:rPr lang="en-IE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Routine SA processing with JD+</a:t>
            </a:r>
            <a:endParaRPr lang="en-I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In-house </a:t>
            </a:r>
            <a:r>
              <a:rPr lang="fr-BE" dirty="0" err="1"/>
              <a:t>developments</a:t>
            </a:r>
            <a:endParaRPr lang="en-US" dirty="0"/>
          </a:p>
        </p:txBody>
      </p:sp>
      <p:sp>
        <p:nvSpPr>
          <p:cNvPr id="4" name="Flowchart: Process 3"/>
          <p:cNvSpPr/>
          <p:nvPr/>
        </p:nvSpPr>
        <p:spPr>
          <a:xfrm>
            <a:off x="4971938" y="1484784"/>
            <a:ext cx="2376264" cy="936104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Retrieve</a:t>
            </a:r>
            <a:r>
              <a:rPr lang="fr-BE" dirty="0"/>
              <a:t> data/</a:t>
            </a:r>
            <a:r>
              <a:rPr lang="fr-BE" dirty="0" err="1"/>
              <a:t>models</a:t>
            </a:r>
            <a:r>
              <a:rPr lang="fr-BE" dirty="0"/>
              <a:t> </a:t>
            </a:r>
            <a:r>
              <a:rPr lang="fr-BE" dirty="0" err="1"/>
              <a:t>from</a:t>
            </a:r>
            <a:r>
              <a:rPr lang="fr-BE" dirty="0"/>
              <a:t> user </a:t>
            </a:r>
            <a:r>
              <a:rPr lang="fr-BE" dirty="0" err="1"/>
              <a:t>environment</a:t>
            </a:r>
            <a:endParaRPr lang="en-US" dirty="0"/>
          </a:p>
        </p:txBody>
      </p:sp>
      <p:sp>
        <p:nvSpPr>
          <p:cNvPr id="5" name="Flowchart: Magnetic Disk 4"/>
          <p:cNvSpPr/>
          <p:nvPr/>
        </p:nvSpPr>
        <p:spPr>
          <a:xfrm>
            <a:off x="2206258" y="1484784"/>
            <a:ext cx="1296144" cy="936104"/>
          </a:xfrm>
          <a:prstGeom prst="flowChartMagneticDisk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DB</a:t>
            </a:r>
            <a:endParaRPr lang="en-US" dirty="0"/>
          </a:p>
        </p:txBody>
      </p:sp>
      <p:cxnSp>
        <p:nvCxnSpPr>
          <p:cNvPr id="7" name="Straight Arrow Connector 6"/>
          <p:cNvCxnSpPr>
            <a:stCxn id="4" idx="1"/>
            <a:endCxn id="5" idx="4"/>
          </p:cNvCxnSpPr>
          <p:nvPr/>
        </p:nvCxnSpPr>
        <p:spPr>
          <a:xfrm flipH="1">
            <a:off x="3502402" y="1952836"/>
            <a:ext cx="146953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lowchart: Process 7"/>
          <p:cNvSpPr/>
          <p:nvPr/>
        </p:nvSpPr>
        <p:spPr>
          <a:xfrm>
            <a:off x="4971937" y="2801532"/>
            <a:ext cx="2376264" cy="68288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Create</a:t>
            </a:r>
            <a:r>
              <a:rPr lang="fr-BE" dirty="0"/>
              <a:t> </a:t>
            </a:r>
            <a:r>
              <a:rPr lang="fr-BE" dirty="0" err="1"/>
              <a:t>ts</a:t>
            </a:r>
            <a:r>
              <a:rPr lang="fr-BE" dirty="0"/>
              <a:t>, </a:t>
            </a:r>
            <a:r>
              <a:rPr lang="fr-BE" dirty="0" err="1"/>
              <a:t>spec</a:t>
            </a:r>
            <a:endParaRPr lang="en-US" dirty="0"/>
          </a:p>
        </p:txBody>
      </p:sp>
      <p:cxnSp>
        <p:nvCxnSpPr>
          <p:cNvPr id="10" name="Straight Arrow Connector 9"/>
          <p:cNvCxnSpPr>
            <a:stCxn id="4" idx="2"/>
            <a:endCxn id="8" idx="0"/>
          </p:cNvCxnSpPr>
          <p:nvPr/>
        </p:nvCxnSpPr>
        <p:spPr>
          <a:xfrm flipH="1">
            <a:off x="6160070" y="2420889"/>
            <a:ext cx="1" cy="38064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lowchart: Process 10"/>
          <p:cNvSpPr/>
          <p:nvPr/>
        </p:nvSpPr>
        <p:spPr>
          <a:xfrm>
            <a:off x="4971938" y="3825834"/>
            <a:ext cx="2376264" cy="68288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Call JD+ routines</a:t>
            </a:r>
            <a:endParaRPr lang="en-US" dirty="0"/>
          </a:p>
        </p:txBody>
      </p:sp>
      <p:sp>
        <p:nvSpPr>
          <p:cNvPr id="12" name="Flowchart: Process 11"/>
          <p:cNvSpPr/>
          <p:nvPr/>
        </p:nvSpPr>
        <p:spPr>
          <a:xfrm>
            <a:off x="4982702" y="4754438"/>
            <a:ext cx="2376264" cy="68288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Retrieve</a:t>
            </a:r>
            <a:r>
              <a:rPr lang="fr-BE" dirty="0"/>
              <a:t> </a:t>
            </a:r>
            <a:r>
              <a:rPr lang="fr-BE" dirty="0" err="1"/>
              <a:t>results</a:t>
            </a:r>
            <a:endParaRPr lang="en-US" dirty="0"/>
          </a:p>
        </p:txBody>
      </p:sp>
      <p:sp>
        <p:nvSpPr>
          <p:cNvPr id="15" name="Flowchart: Process 14"/>
          <p:cNvSpPr/>
          <p:nvPr/>
        </p:nvSpPr>
        <p:spPr>
          <a:xfrm>
            <a:off x="4994356" y="5733256"/>
            <a:ext cx="2376264" cy="936104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Store data/</a:t>
            </a:r>
            <a:r>
              <a:rPr lang="fr-BE" dirty="0" err="1"/>
              <a:t>models</a:t>
            </a:r>
            <a:r>
              <a:rPr lang="fr-BE" dirty="0"/>
              <a:t> in user </a:t>
            </a:r>
            <a:r>
              <a:rPr lang="fr-BE" dirty="0" err="1"/>
              <a:t>environment</a:t>
            </a:r>
            <a:endParaRPr lang="en-US" dirty="0"/>
          </a:p>
        </p:txBody>
      </p:sp>
      <p:cxnSp>
        <p:nvCxnSpPr>
          <p:cNvPr id="17" name="Elbow Connector 16"/>
          <p:cNvCxnSpPr>
            <a:stCxn id="15" idx="1"/>
            <a:endCxn id="5" idx="3"/>
          </p:cNvCxnSpPr>
          <p:nvPr/>
        </p:nvCxnSpPr>
        <p:spPr>
          <a:xfrm rot="10800000">
            <a:off x="2854330" y="2420888"/>
            <a:ext cx="2140026" cy="3780420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8407215" y="2869918"/>
            <a:ext cx="1728192" cy="259471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b="1" dirty="0">
                <a:solidFill>
                  <a:schemeClr val="tx1"/>
                </a:solidFill>
              </a:rPr>
              <a:t>JD+ </a:t>
            </a:r>
            <a:r>
              <a:rPr lang="fr-BE" b="1" dirty="0" err="1">
                <a:solidFill>
                  <a:schemeClr val="tx1"/>
                </a:solidFill>
              </a:rPr>
              <a:t>core</a:t>
            </a:r>
            <a:r>
              <a:rPr lang="fr-BE" b="1" dirty="0">
                <a:solidFill>
                  <a:schemeClr val="tx1"/>
                </a:solidFill>
              </a:rPr>
              <a:t> </a:t>
            </a:r>
            <a:r>
              <a:rPr lang="fr-BE" b="1" dirty="0" err="1">
                <a:solidFill>
                  <a:schemeClr val="tx1"/>
                </a:solidFill>
              </a:rPr>
              <a:t>libraries</a:t>
            </a:r>
            <a:endParaRPr lang="en-US" b="1" dirty="0">
              <a:solidFill>
                <a:schemeClr val="tx1"/>
              </a:solidFill>
            </a:endParaRPr>
          </a:p>
        </p:txBody>
      </p:sp>
      <p:cxnSp>
        <p:nvCxnSpPr>
          <p:cNvPr id="21" name="Elbow Connector 20"/>
          <p:cNvCxnSpPr>
            <a:stCxn id="8" idx="3"/>
            <a:endCxn id="19" idx="1"/>
          </p:cNvCxnSpPr>
          <p:nvPr/>
        </p:nvCxnSpPr>
        <p:spPr>
          <a:xfrm>
            <a:off x="7348201" y="3142976"/>
            <a:ext cx="1059014" cy="1024301"/>
          </a:xfrm>
          <a:prstGeom prst="bentConnector3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1" idx="3"/>
            <a:endCxn id="19" idx="1"/>
          </p:cNvCxnSpPr>
          <p:nvPr/>
        </p:nvCxnSpPr>
        <p:spPr>
          <a:xfrm flipV="1">
            <a:off x="7348203" y="4167277"/>
            <a:ext cx="1059013" cy="1"/>
          </a:xfrm>
          <a:prstGeom prst="bentConnector3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12" idx="3"/>
            <a:endCxn id="19" idx="1"/>
          </p:cNvCxnSpPr>
          <p:nvPr/>
        </p:nvCxnSpPr>
        <p:spPr>
          <a:xfrm flipV="1">
            <a:off x="7358967" y="4167277"/>
            <a:ext cx="1048249" cy="928605"/>
          </a:xfrm>
          <a:prstGeom prst="bentConnector3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>
            <a:stCxn id="8" idx="2"/>
            <a:endCxn id="11" idx="0"/>
          </p:cNvCxnSpPr>
          <p:nvPr/>
        </p:nvCxnSpPr>
        <p:spPr>
          <a:xfrm>
            <a:off x="6160070" y="3484419"/>
            <a:ext cx="1" cy="34141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12" idx="0"/>
          </p:cNvCxnSpPr>
          <p:nvPr/>
        </p:nvCxnSpPr>
        <p:spPr>
          <a:xfrm>
            <a:off x="6160070" y="4508721"/>
            <a:ext cx="10764" cy="24571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>
            <a:stCxn id="12" idx="2"/>
            <a:endCxn id="15" idx="0"/>
          </p:cNvCxnSpPr>
          <p:nvPr/>
        </p:nvCxnSpPr>
        <p:spPr>
          <a:xfrm>
            <a:off x="6170834" y="5437324"/>
            <a:ext cx="11654" cy="2959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516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6807D4-8103-66D6-934B-CAC435AD3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Java code</a:t>
            </a:r>
            <a:endParaRPr lang="en-GB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CF36891-71DE-9DCE-E4B0-89545E5DE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2B5D00F3-F6B8-481E-76AE-852DFF0512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600" y="1417639"/>
            <a:ext cx="8686800" cy="439483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5184102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JD+ solution. Principles</a:t>
            </a:r>
          </a:p>
        </p:txBody>
      </p:sp>
      <p:sp>
        <p:nvSpPr>
          <p:cNvPr id="5" name="Oval 4"/>
          <p:cNvSpPr/>
          <p:nvPr/>
        </p:nvSpPr>
        <p:spPr>
          <a:xfrm>
            <a:off x="2207568" y="1700808"/>
            <a:ext cx="2664296" cy="201622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711624" y="1239143"/>
            <a:ext cx="28083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400" dirty="0"/>
              <a:t>Domain </a:t>
            </a:r>
            <a:r>
              <a:rPr lang="fr-BE" sz="2400" dirty="0" err="1"/>
              <a:t>specification</a:t>
            </a:r>
            <a:endParaRPr lang="en-US" sz="2400" dirty="0"/>
          </a:p>
        </p:txBody>
      </p:sp>
      <p:sp>
        <p:nvSpPr>
          <p:cNvPr id="7" name="Oval 6"/>
          <p:cNvSpPr/>
          <p:nvPr/>
        </p:nvSpPr>
        <p:spPr>
          <a:xfrm>
            <a:off x="3280399" y="2942946"/>
            <a:ext cx="126014" cy="126014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071664" y="3088228"/>
            <a:ext cx="28083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400" dirty="0"/>
              <a:t>Point </a:t>
            </a:r>
            <a:r>
              <a:rPr lang="fr-BE" sz="2400" dirty="0" err="1"/>
              <a:t>specification</a:t>
            </a:r>
            <a:endParaRPr lang="en-US" sz="2400" dirty="0"/>
          </a:p>
        </p:txBody>
      </p:sp>
      <p:cxnSp>
        <p:nvCxnSpPr>
          <p:cNvPr id="10" name="Elbow Connector 9"/>
          <p:cNvCxnSpPr>
            <a:stCxn id="5" idx="7"/>
          </p:cNvCxnSpPr>
          <p:nvPr/>
        </p:nvCxnSpPr>
        <p:spPr>
          <a:xfrm rot="16200000" flipH="1" flipV="1">
            <a:off x="3366472" y="1973012"/>
            <a:ext cx="1092150" cy="1138281"/>
          </a:xfrm>
          <a:prstGeom prst="bentConnector4">
            <a:avLst>
              <a:gd name="adj1" fmla="val 2775"/>
              <a:gd name="adj2" fmla="val -117653"/>
            </a:avLst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879976" y="2420889"/>
            <a:ext cx="15121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i="1" dirty="0" err="1"/>
              <a:t>Estimate</a:t>
            </a:r>
            <a:endParaRPr lang="en-US" i="1" dirty="0"/>
          </a:p>
        </p:txBody>
      </p:sp>
      <p:sp>
        <p:nvSpPr>
          <p:cNvPr id="15" name="Oval 14"/>
          <p:cNvSpPr/>
          <p:nvPr/>
        </p:nvSpPr>
        <p:spPr>
          <a:xfrm>
            <a:off x="2359968" y="4293096"/>
            <a:ext cx="2664296" cy="201622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432799" y="5535234"/>
            <a:ext cx="126014" cy="126014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2567608" y="4667944"/>
            <a:ext cx="2304256" cy="1497360"/>
          </a:xfrm>
          <a:prstGeom prst="ellipse">
            <a:avLst/>
          </a:prstGeom>
          <a:noFill/>
          <a:ln w="381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9300" y="4293097"/>
            <a:ext cx="34563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400" dirty="0"/>
              <a:t>Estimation </a:t>
            </a:r>
            <a:r>
              <a:rPr lang="fr-BE" sz="2400" dirty="0" err="1"/>
              <a:t>specification</a:t>
            </a:r>
            <a:endParaRPr lang="en-US" sz="2400" dirty="0"/>
          </a:p>
        </p:txBody>
      </p:sp>
      <p:cxnSp>
        <p:nvCxnSpPr>
          <p:cNvPr id="24" name="Straight Arrow Connector 23"/>
          <p:cNvCxnSpPr>
            <a:stCxn id="16" idx="6"/>
          </p:cNvCxnSpPr>
          <p:nvPr/>
        </p:nvCxnSpPr>
        <p:spPr>
          <a:xfrm flipV="1">
            <a:off x="3558814" y="4898777"/>
            <a:ext cx="664979" cy="69946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V="1">
            <a:off x="3558814" y="4667945"/>
            <a:ext cx="133303" cy="93029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912547" y="5373881"/>
            <a:ext cx="15121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i="1" dirty="0" err="1"/>
              <a:t>Refresh</a:t>
            </a:r>
            <a:endParaRPr lang="en-US" i="1" dirty="0"/>
          </a:p>
        </p:txBody>
      </p:sp>
      <p:sp>
        <p:nvSpPr>
          <p:cNvPr id="28" name="TextBox 27"/>
          <p:cNvSpPr txBox="1"/>
          <p:nvPr/>
        </p:nvSpPr>
        <p:spPr>
          <a:xfrm>
            <a:off x="7464152" y="1469975"/>
            <a:ext cx="288032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 err="1"/>
              <a:t>Define</a:t>
            </a:r>
            <a:r>
              <a:rPr lang="fr-BE" dirty="0"/>
              <a:t> the initial(or </a:t>
            </a:r>
            <a:r>
              <a:rPr lang="fr-BE" dirty="0" err="1"/>
              <a:t>domain</a:t>
            </a:r>
            <a:r>
              <a:rPr lang="fr-BE" dirty="0"/>
              <a:t>) </a:t>
            </a:r>
            <a:r>
              <a:rPr lang="fr-BE" dirty="0" err="1"/>
              <a:t>specification</a:t>
            </a:r>
            <a:endParaRPr lang="fr-B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/>
              <a:t>The estimation </a:t>
            </a:r>
            <a:r>
              <a:rPr lang="fr-BE" dirty="0" err="1"/>
              <a:t>gives</a:t>
            </a:r>
            <a:r>
              <a:rPr lang="fr-BE" dirty="0"/>
              <a:t> the point </a:t>
            </a:r>
            <a:r>
              <a:rPr lang="fr-BE" dirty="0" err="1"/>
              <a:t>specification</a:t>
            </a:r>
            <a:r>
              <a:rPr lang="fr-BE" dirty="0"/>
              <a:t> (=the </a:t>
            </a:r>
            <a:r>
              <a:rPr lang="fr-BE" dirty="0" err="1"/>
              <a:t>result</a:t>
            </a:r>
            <a:r>
              <a:rPr lang="fr-BE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 err="1"/>
              <a:t>Refreshing</a:t>
            </a:r>
            <a:r>
              <a:rPr lang="fr-BE" dirty="0"/>
              <a:t> the model « relaxes » </a:t>
            </a:r>
            <a:r>
              <a:rPr lang="fr-BE" dirty="0" err="1"/>
              <a:t>some</a:t>
            </a:r>
            <a:r>
              <a:rPr lang="fr-BE" dirty="0"/>
              <a:t> </a:t>
            </a:r>
            <a:r>
              <a:rPr lang="fr-BE" dirty="0" err="1"/>
              <a:t>constraints</a:t>
            </a:r>
            <a:r>
              <a:rPr lang="fr-BE" dirty="0"/>
              <a:t>; the new </a:t>
            </a:r>
            <a:r>
              <a:rPr lang="fr-BE" dirty="0" err="1"/>
              <a:t>specification</a:t>
            </a:r>
            <a:r>
              <a:rPr lang="fr-BE" dirty="0"/>
              <a:t> (=estimation </a:t>
            </a:r>
            <a:r>
              <a:rPr lang="fr-BE" dirty="0" err="1"/>
              <a:t>specification</a:t>
            </a:r>
            <a:r>
              <a:rPr lang="fr-BE" dirty="0"/>
              <a:t>) </a:t>
            </a:r>
            <a:r>
              <a:rPr lang="fr-BE" dirty="0" err="1"/>
              <a:t>is</a:t>
            </a:r>
            <a:r>
              <a:rPr lang="fr-BE" dirty="0"/>
              <a:t> </a:t>
            </a:r>
            <a:r>
              <a:rPr lang="fr-BE" dirty="0" err="1"/>
              <a:t>always</a:t>
            </a:r>
            <a:r>
              <a:rPr lang="fr-BE" dirty="0"/>
              <a:t> </a:t>
            </a:r>
            <a:r>
              <a:rPr lang="fr-BE" dirty="0" err="1"/>
              <a:t>inside</a:t>
            </a:r>
            <a:r>
              <a:rPr lang="fr-BE" dirty="0"/>
              <a:t> the </a:t>
            </a:r>
            <a:r>
              <a:rPr lang="fr-BE" dirty="0" err="1"/>
              <a:t>domain</a:t>
            </a:r>
            <a:r>
              <a:rPr lang="fr-BE" dirty="0"/>
              <a:t> </a:t>
            </a:r>
            <a:r>
              <a:rPr lang="fr-BE" dirty="0" err="1"/>
              <a:t>specification</a:t>
            </a:r>
            <a:endParaRPr lang="fr-B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B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>
                <a:solidFill>
                  <a:srgbClr val="FF0000"/>
                </a:solidFill>
              </a:rPr>
              <a:t>Tip: </a:t>
            </a:r>
            <a:r>
              <a:rPr lang="fr-BE" dirty="0" err="1">
                <a:solidFill>
                  <a:srgbClr val="FF0000"/>
                </a:solidFill>
              </a:rPr>
              <a:t>keep</a:t>
            </a:r>
            <a:r>
              <a:rPr lang="fr-BE" dirty="0">
                <a:solidFill>
                  <a:srgbClr val="FF0000"/>
                </a:solidFill>
              </a:rPr>
              <a:t> the initial </a:t>
            </a:r>
            <a:r>
              <a:rPr lang="fr-BE" dirty="0" err="1">
                <a:solidFill>
                  <a:srgbClr val="FF0000"/>
                </a:solidFill>
              </a:rPr>
              <a:t>specification</a:t>
            </a:r>
            <a:r>
              <a:rPr lang="fr-BE" dirty="0">
                <a:solidFill>
                  <a:srgbClr val="FF0000"/>
                </a:solidFill>
              </a:rPr>
              <a:t> as large as possible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9" name="Oval 28"/>
          <p:cNvSpPr/>
          <p:nvPr/>
        </p:nvSpPr>
        <p:spPr>
          <a:xfrm>
            <a:off x="3008040" y="4949553"/>
            <a:ext cx="1863824" cy="1044737"/>
          </a:xfrm>
          <a:prstGeom prst="ellipse">
            <a:avLst/>
          </a:prstGeom>
          <a:noFill/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Arrow Connector 30"/>
          <p:cNvCxnSpPr>
            <a:stCxn id="16" idx="6"/>
          </p:cNvCxnSpPr>
          <p:nvPr/>
        </p:nvCxnSpPr>
        <p:spPr>
          <a:xfrm flipV="1">
            <a:off x="3558813" y="5006773"/>
            <a:ext cx="731630" cy="591469"/>
          </a:xfrm>
          <a:prstGeom prst="straightConnector1">
            <a:avLst/>
          </a:prstGeom>
          <a:ln w="952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9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 err="1"/>
              <a:t>Updating</a:t>
            </a:r>
            <a:r>
              <a:rPr lang="fr-BE" dirty="0"/>
              <a:t> </a:t>
            </a:r>
            <a:r>
              <a:rPr lang="fr-BE" dirty="0" err="1"/>
              <a:t>policies</a:t>
            </a:r>
            <a:endParaRPr lang="en-GB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  <p:graphicFrame>
        <p:nvGraphicFramePr>
          <p:cNvPr id="12" name="Espace réservé du contenu 11"/>
          <p:cNvGraphicFramePr>
            <a:graphicFrameLocks noGrp="1"/>
          </p:cNvGraphicFramePr>
          <p:nvPr>
            <p:ph idx="1"/>
          </p:nvPr>
        </p:nvGraphicFramePr>
        <p:xfrm>
          <a:off x="1919536" y="1600200"/>
          <a:ext cx="4968552" cy="463711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520280">
                  <a:extLst>
                    <a:ext uri="{9D8B030D-6E8A-4147-A177-3AD203B41FA5}">
                      <a16:colId xmlns:a16="http://schemas.microsoft.com/office/drawing/2014/main" val="1899877688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4031656552"/>
                    </a:ext>
                  </a:extLst>
                </a:gridCol>
              </a:tblGrid>
              <a:tr h="579639">
                <a:tc>
                  <a:txBody>
                    <a:bodyPr/>
                    <a:lstStyle/>
                    <a:p>
                      <a:r>
                        <a:rPr lang="fr-BE" sz="1600" dirty="0"/>
                        <a:t>Policy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600" dirty="0" err="1"/>
                        <a:t>Re</a:t>
                      </a:r>
                      <a:r>
                        <a:rPr lang="fr-BE" sz="1600" dirty="0"/>
                        <a:t>-estimation (cumulative)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769030"/>
                  </a:ext>
                </a:extLst>
              </a:tr>
              <a:tr h="579639">
                <a:tc>
                  <a:txBody>
                    <a:bodyPr/>
                    <a:lstStyle/>
                    <a:p>
                      <a:r>
                        <a:rPr lang="fr-BE" sz="1600" dirty="0" err="1"/>
                        <a:t>Fixed</a:t>
                      </a:r>
                      <a:r>
                        <a:rPr lang="fr-BE" sz="1600" dirty="0"/>
                        <a:t> model (partial concurrent)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600" dirty="0"/>
                        <a:t>Nothing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1206219"/>
                  </a:ext>
                </a:extLst>
              </a:tr>
              <a:tr h="579639">
                <a:tc>
                  <a:txBody>
                    <a:bodyPr/>
                    <a:lstStyle/>
                    <a:p>
                      <a:r>
                        <a:rPr lang="fr-BE" sz="1600" dirty="0" err="1"/>
                        <a:t>Regression</a:t>
                      </a:r>
                      <a:r>
                        <a:rPr lang="fr-BE" sz="1600" dirty="0"/>
                        <a:t> coefficients (partial concurrent)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600" dirty="0" err="1"/>
                        <a:t>Regression</a:t>
                      </a:r>
                      <a:r>
                        <a:rPr lang="fr-BE" sz="1600" dirty="0"/>
                        <a:t> coefficients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226791"/>
                  </a:ext>
                </a:extLst>
              </a:tr>
              <a:tr h="579639">
                <a:tc>
                  <a:txBody>
                    <a:bodyPr/>
                    <a:lstStyle/>
                    <a:p>
                      <a:r>
                        <a:rPr lang="fr-BE" sz="1600" dirty="0" err="1"/>
                        <a:t>Parameters</a:t>
                      </a:r>
                      <a:r>
                        <a:rPr lang="fr-BE" sz="1600" dirty="0"/>
                        <a:t> (partial concurrent)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600" dirty="0"/>
                        <a:t>Coefficients of the ARIMA model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6303380"/>
                  </a:ext>
                </a:extLst>
              </a:tr>
              <a:tr h="5796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600" dirty="0"/>
                        <a:t>Last </a:t>
                      </a:r>
                      <a:r>
                        <a:rPr lang="fr-BE" sz="1600" dirty="0" err="1"/>
                        <a:t>outliers</a:t>
                      </a:r>
                      <a:r>
                        <a:rPr lang="fr-BE" sz="1600" dirty="0"/>
                        <a:t> (partial concurrent)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600" dirty="0" err="1"/>
                        <a:t>Outliers</a:t>
                      </a:r>
                      <a:r>
                        <a:rPr lang="fr-BE" sz="1600" baseline="0" dirty="0"/>
                        <a:t> of the last </a:t>
                      </a:r>
                      <a:r>
                        <a:rPr lang="fr-BE" sz="1600" baseline="0" dirty="0" err="1"/>
                        <a:t>year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4788750"/>
                  </a:ext>
                </a:extLst>
              </a:tr>
              <a:tr h="5796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600" dirty="0" err="1"/>
                        <a:t>Outliers</a:t>
                      </a:r>
                      <a:r>
                        <a:rPr lang="fr-BE" sz="1600" dirty="0"/>
                        <a:t> (partial concurrent)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600" dirty="0"/>
                        <a:t>All </a:t>
                      </a:r>
                      <a:r>
                        <a:rPr lang="fr-BE" sz="1600" dirty="0" err="1"/>
                        <a:t>outliers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2096553"/>
                  </a:ext>
                </a:extLst>
              </a:tr>
              <a:tr h="5796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600" dirty="0" err="1"/>
                        <a:t>Arima</a:t>
                      </a:r>
                      <a:r>
                        <a:rPr lang="fr-BE" sz="1600" dirty="0"/>
                        <a:t> (partial concurrent)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600" dirty="0"/>
                        <a:t>ARIMA </a:t>
                      </a:r>
                      <a:r>
                        <a:rPr lang="fr-BE" sz="1600" dirty="0" err="1"/>
                        <a:t>orders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3190382"/>
                  </a:ext>
                </a:extLst>
              </a:tr>
              <a:tr h="579639">
                <a:tc>
                  <a:txBody>
                    <a:bodyPr/>
                    <a:lstStyle/>
                    <a:p>
                      <a:r>
                        <a:rPr lang="fr-BE" sz="1600" dirty="0"/>
                        <a:t>Concurrent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600" dirty="0"/>
                        <a:t>Log/</a:t>
                      </a:r>
                      <a:r>
                        <a:rPr lang="fr-BE" sz="1600" dirty="0" err="1"/>
                        <a:t>level</a:t>
                      </a:r>
                      <a:r>
                        <a:rPr lang="fr-BE" sz="1600" dirty="0"/>
                        <a:t> + </a:t>
                      </a:r>
                      <a:r>
                        <a:rPr lang="fr-BE" sz="1600" dirty="0" err="1"/>
                        <a:t>calendar</a:t>
                      </a:r>
                      <a:r>
                        <a:rPr lang="fr-BE" sz="1600" dirty="0"/>
                        <a:t> </a:t>
                      </a:r>
                      <a:r>
                        <a:rPr lang="fr-BE" sz="1600" dirty="0" err="1"/>
                        <a:t>effects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2003236"/>
                  </a:ext>
                </a:extLst>
              </a:tr>
            </a:tbl>
          </a:graphicData>
        </a:graphic>
      </p:graphicFrame>
      <p:pic>
        <p:nvPicPr>
          <p:cNvPr id="3" name="Image 2">
            <a:extLst>
              <a:ext uri="{FF2B5EF4-FFF2-40B4-BE49-F238E27FC236}">
                <a16:creationId xmlns:a16="http://schemas.microsoft.com/office/drawing/2014/main" id="{BF581B33-F907-4EDF-BF3C-2C6E75F08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4815" y="1340768"/>
            <a:ext cx="4235092" cy="151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319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EC3075-9C51-B260-C7EB-DCDF3DC15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 err="1"/>
              <a:t>Updating</a:t>
            </a:r>
            <a:r>
              <a:rPr lang="fr-BE" dirty="0"/>
              <a:t> </a:t>
            </a:r>
            <a:r>
              <a:rPr lang="fr-BE" dirty="0" err="1"/>
              <a:t>policies</a:t>
            </a:r>
            <a:endParaRPr lang="en-GB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9489FEC-16A5-A1C5-E9DA-215277FDB8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Why?</a:t>
            </a:r>
          </a:p>
          <a:p>
            <a:pPr lvl="1"/>
            <a:r>
              <a:rPr lang="en-GB" dirty="0"/>
              <a:t>We want to minimize the revisions (at least in the short term).</a:t>
            </a:r>
          </a:p>
          <a:p>
            <a:pPr lvl="1"/>
            <a:r>
              <a:rPr lang="en-GB" dirty="0"/>
              <a:t>Origins of the revisions (decreasing importance)</a:t>
            </a:r>
          </a:p>
          <a:p>
            <a:pPr lvl="2"/>
            <a:r>
              <a:rPr lang="en-GB" dirty="0"/>
              <a:t>Structure of the model (outliers, ARIMA…)</a:t>
            </a:r>
          </a:p>
          <a:p>
            <a:pPr lvl="2"/>
            <a:r>
              <a:rPr lang="en-GB" dirty="0"/>
              <a:t>Parameters of the ARIMA model (Seats!)</a:t>
            </a:r>
          </a:p>
          <a:p>
            <a:pPr lvl="2"/>
            <a:r>
              <a:rPr lang="en-GB" dirty="0"/>
              <a:t>Coefficients of the regression variables</a:t>
            </a:r>
          </a:p>
          <a:p>
            <a:pPr lvl="2"/>
            <a:r>
              <a:rPr lang="en-GB" dirty="0"/>
              <a:t>News (forecasts ≠ actual data) →use forecasted seasonal factors or AO (fixed for revisions, free for </a:t>
            </a:r>
            <a:r>
              <a:rPr lang="en-GB"/>
              <a:t>new observations)</a:t>
            </a:r>
          </a:p>
          <a:p>
            <a:pPr lvl="2"/>
            <a:endParaRPr lang="en-GB" dirty="0"/>
          </a:p>
          <a:p>
            <a:pPr lvl="2"/>
            <a:endParaRPr lang="en-GB" dirty="0"/>
          </a:p>
          <a:p>
            <a:pPr lvl="2"/>
            <a:endParaRPr lang="en-GB" dirty="0"/>
          </a:p>
          <a:p>
            <a:pPr marL="457200" lvl="1" indent="0">
              <a:buNone/>
            </a:pPr>
            <a:endParaRPr lang="en-GB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4E767E7-E8FD-5220-0678-FD7DE8D2E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2235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JD+ GUI 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 err="1"/>
              <a:t>Suitable</a:t>
            </a:r>
            <a:r>
              <a:rPr lang="fr-BE" dirty="0"/>
              <a:t> for sets &lt; 3000 </a:t>
            </a:r>
            <a:r>
              <a:rPr lang="fr-BE" dirty="0" err="1"/>
              <a:t>series</a:t>
            </a:r>
            <a:endParaRPr lang="fr-BE" dirty="0"/>
          </a:p>
          <a:p>
            <a:r>
              <a:rPr lang="fr-BE" dirty="0" err="1"/>
              <a:t>Steps</a:t>
            </a:r>
            <a:endParaRPr lang="fr-BE" dirty="0"/>
          </a:p>
          <a:p>
            <a:pPr lvl="1"/>
            <a:r>
              <a:rPr lang="fr-BE" dirty="0" err="1"/>
              <a:t>Initialization</a:t>
            </a:r>
            <a:endParaRPr lang="fr-BE" dirty="0"/>
          </a:p>
          <a:p>
            <a:pPr lvl="2"/>
            <a:r>
              <a:rPr lang="fr-BE" dirty="0" err="1"/>
              <a:t>Define</a:t>
            </a:r>
            <a:r>
              <a:rPr lang="fr-BE" dirty="0"/>
              <a:t> the default </a:t>
            </a:r>
            <a:r>
              <a:rPr lang="fr-BE" dirty="0" err="1"/>
              <a:t>specification</a:t>
            </a:r>
            <a:r>
              <a:rPr lang="fr-BE" dirty="0"/>
              <a:t> (or use an </a:t>
            </a:r>
            <a:r>
              <a:rPr lang="fr-BE" dirty="0" err="1"/>
              <a:t>existing</a:t>
            </a:r>
            <a:r>
              <a:rPr lang="fr-BE" dirty="0"/>
              <a:t> one)</a:t>
            </a:r>
          </a:p>
          <a:p>
            <a:pPr lvl="2"/>
            <a:r>
              <a:rPr lang="fr-BE" dirty="0" err="1"/>
              <a:t>Modify</a:t>
            </a:r>
            <a:r>
              <a:rPr lang="fr-BE" dirty="0"/>
              <a:t> </a:t>
            </a:r>
            <a:r>
              <a:rPr lang="fr-BE" dirty="0" err="1"/>
              <a:t>some</a:t>
            </a:r>
            <a:r>
              <a:rPr lang="fr-BE" dirty="0"/>
              <a:t> </a:t>
            </a:r>
            <a:r>
              <a:rPr lang="fr-BE" dirty="0" err="1"/>
              <a:t>specifications</a:t>
            </a:r>
            <a:r>
              <a:rPr lang="fr-BE" dirty="0"/>
              <a:t> (</a:t>
            </a:r>
            <a:r>
              <a:rPr lang="fr-BE" dirty="0" err="1"/>
              <a:t>keep</a:t>
            </a:r>
            <a:r>
              <a:rPr lang="fr-BE" dirty="0"/>
              <a:t> </a:t>
            </a:r>
            <a:r>
              <a:rPr lang="fr-BE" dirty="0" err="1"/>
              <a:t>them</a:t>
            </a:r>
            <a:r>
              <a:rPr lang="fr-BE" dirty="0"/>
              <a:t> « large »)</a:t>
            </a:r>
          </a:p>
          <a:p>
            <a:pPr lvl="2"/>
            <a:r>
              <a:rPr lang="fr-BE" dirty="0" err="1"/>
              <a:t>Generate</a:t>
            </a:r>
            <a:r>
              <a:rPr lang="fr-BE" dirty="0"/>
              <a:t> and export the </a:t>
            </a:r>
            <a:r>
              <a:rPr lang="fr-BE" dirty="0" err="1"/>
              <a:t>results</a:t>
            </a:r>
            <a:endParaRPr lang="fr-BE" dirty="0"/>
          </a:p>
          <a:p>
            <a:pPr lvl="2"/>
            <a:r>
              <a:rPr lang="fr-BE" dirty="0"/>
              <a:t>Save the </a:t>
            </a:r>
            <a:r>
              <a:rPr lang="fr-BE" dirty="0" err="1"/>
              <a:t>processing</a:t>
            </a:r>
            <a:endParaRPr lang="fr-BE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9034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JD+ GUI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 err="1"/>
              <a:t>Next</a:t>
            </a:r>
            <a:r>
              <a:rPr lang="fr-BE" dirty="0"/>
              <a:t> estimations</a:t>
            </a:r>
          </a:p>
          <a:p>
            <a:pPr lvl="2"/>
            <a:r>
              <a:rPr lang="fr-BE" dirty="0" err="1"/>
              <a:t>Re-load</a:t>
            </a:r>
            <a:r>
              <a:rPr lang="fr-BE" dirty="0"/>
              <a:t> the </a:t>
            </a:r>
            <a:r>
              <a:rPr lang="fr-BE" dirty="0" err="1"/>
              <a:t>workspace</a:t>
            </a:r>
            <a:endParaRPr lang="fr-BE" dirty="0"/>
          </a:p>
          <a:p>
            <a:pPr lvl="2"/>
            <a:r>
              <a:rPr lang="fr-BE" dirty="0" err="1"/>
              <a:t>Refresh</a:t>
            </a:r>
            <a:r>
              <a:rPr lang="fr-BE" dirty="0"/>
              <a:t> the </a:t>
            </a:r>
            <a:r>
              <a:rPr lang="fr-BE" dirty="0" err="1"/>
              <a:t>processing</a:t>
            </a:r>
            <a:r>
              <a:rPr lang="fr-BE" dirty="0"/>
              <a:t> (for instance)</a:t>
            </a:r>
          </a:p>
          <a:p>
            <a:pPr lvl="3"/>
            <a:r>
              <a:rPr lang="fr-BE" dirty="0"/>
              <a:t>For normal </a:t>
            </a:r>
            <a:r>
              <a:rPr lang="fr-BE" dirty="0" err="1"/>
              <a:t>re</a:t>
            </a:r>
            <a:r>
              <a:rPr lang="fr-BE" dirty="0"/>
              <a:t>-estimation, </a:t>
            </a:r>
            <a:r>
              <a:rPr lang="fr-BE" dirty="0" err="1"/>
              <a:t>refresh</a:t>
            </a:r>
            <a:r>
              <a:rPr lang="fr-BE" dirty="0"/>
              <a:t> </a:t>
            </a:r>
            <a:r>
              <a:rPr lang="fr-BE" dirty="0" err="1"/>
              <a:t>only</a:t>
            </a:r>
            <a:r>
              <a:rPr lang="fr-BE" dirty="0"/>
              <a:t> the </a:t>
            </a:r>
            <a:r>
              <a:rPr lang="fr-BE" dirty="0" err="1"/>
              <a:t>parameters</a:t>
            </a:r>
            <a:r>
              <a:rPr lang="fr-BE" dirty="0"/>
              <a:t> </a:t>
            </a:r>
          </a:p>
          <a:p>
            <a:pPr lvl="3"/>
            <a:r>
              <a:rPr lang="fr-BE" dirty="0" err="1"/>
              <a:t>Refresh</a:t>
            </a:r>
            <a:r>
              <a:rPr lang="fr-BE" dirty="0"/>
              <a:t> the model once </a:t>
            </a:r>
            <a:r>
              <a:rPr lang="fr-BE" dirty="0" err="1"/>
              <a:t>each</a:t>
            </a:r>
            <a:r>
              <a:rPr lang="fr-BE" dirty="0"/>
              <a:t> </a:t>
            </a:r>
            <a:r>
              <a:rPr lang="fr-BE" dirty="0" err="1"/>
              <a:t>year</a:t>
            </a:r>
            <a:r>
              <a:rPr lang="fr-BE" dirty="0"/>
              <a:t> (or </a:t>
            </a:r>
            <a:r>
              <a:rPr lang="fr-BE" dirty="0" err="1"/>
              <a:t>each</a:t>
            </a:r>
            <a:r>
              <a:rPr lang="fr-BE" dirty="0"/>
              <a:t> </a:t>
            </a:r>
            <a:r>
              <a:rPr lang="fr-BE" dirty="0" err="1"/>
              <a:t>two</a:t>
            </a:r>
            <a:r>
              <a:rPr lang="fr-BE" dirty="0"/>
              <a:t> </a:t>
            </a:r>
            <a:r>
              <a:rPr lang="fr-BE" dirty="0" err="1"/>
              <a:t>years</a:t>
            </a:r>
            <a:r>
              <a:rPr lang="fr-BE"/>
              <a:t>)</a:t>
            </a:r>
            <a:endParaRPr lang="fr-BE" dirty="0"/>
          </a:p>
          <a:p>
            <a:pPr lvl="3"/>
            <a:r>
              <a:rPr lang="fr-BE" dirty="0" err="1"/>
              <a:t>Inspect</a:t>
            </a:r>
            <a:r>
              <a:rPr lang="fr-BE" dirty="0"/>
              <a:t> the </a:t>
            </a:r>
            <a:r>
              <a:rPr lang="fr-BE" dirty="0" err="1"/>
              <a:t>results</a:t>
            </a:r>
            <a:r>
              <a:rPr lang="fr-BE" dirty="0"/>
              <a:t> and </a:t>
            </a:r>
            <a:r>
              <a:rPr lang="fr-BE" dirty="0" err="1"/>
              <a:t>modify</a:t>
            </a:r>
            <a:r>
              <a:rPr lang="fr-BE" dirty="0"/>
              <a:t> </a:t>
            </a:r>
            <a:r>
              <a:rPr lang="fr-BE" dirty="0" err="1"/>
              <a:t>them</a:t>
            </a:r>
            <a:r>
              <a:rPr lang="fr-BE" dirty="0"/>
              <a:t> if </a:t>
            </a:r>
            <a:r>
              <a:rPr lang="fr-BE" dirty="0" err="1"/>
              <a:t>need</a:t>
            </a:r>
            <a:r>
              <a:rPr lang="fr-BE" dirty="0"/>
              <a:t> </a:t>
            </a:r>
            <a:r>
              <a:rPr lang="fr-BE" dirty="0" err="1"/>
              <a:t>be</a:t>
            </a:r>
            <a:r>
              <a:rPr lang="fr-BE" dirty="0"/>
              <a:t> (</a:t>
            </a:r>
            <a:r>
              <a:rPr lang="fr-BE" dirty="0" err="1"/>
              <a:t>will</a:t>
            </a:r>
            <a:r>
              <a:rPr lang="fr-BE" dirty="0"/>
              <a:t> </a:t>
            </a:r>
            <a:r>
              <a:rPr lang="fr-BE" dirty="0" err="1"/>
              <a:t>modify</a:t>
            </a:r>
            <a:r>
              <a:rPr lang="fr-BE" dirty="0"/>
              <a:t> </a:t>
            </a:r>
            <a:r>
              <a:rPr lang="fr-BE" dirty="0" err="1"/>
              <a:t>some</a:t>
            </a:r>
            <a:r>
              <a:rPr lang="fr-BE" dirty="0"/>
              <a:t> « </a:t>
            </a:r>
            <a:r>
              <a:rPr lang="fr-BE" dirty="0" err="1"/>
              <a:t>domain</a:t>
            </a:r>
            <a:r>
              <a:rPr lang="fr-BE" dirty="0"/>
              <a:t> </a:t>
            </a:r>
            <a:r>
              <a:rPr lang="fr-BE" dirty="0" err="1"/>
              <a:t>specifications</a:t>
            </a:r>
            <a:r>
              <a:rPr lang="fr-BE" dirty="0"/>
              <a:t> » </a:t>
            </a:r>
          </a:p>
          <a:p>
            <a:pPr lvl="2"/>
            <a:r>
              <a:rPr lang="fr-BE" dirty="0"/>
              <a:t>Exports the </a:t>
            </a:r>
            <a:r>
              <a:rPr lang="fr-BE" dirty="0" err="1"/>
              <a:t>results</a:t>
            </a:r>
            <a:r>
              <a:rPr lang="fr-BE" dirty="0"/>
              <a:t> and </a:t>
            </a:r>
            <a:r>
              <a:rPr lang="fr-BE" dirty="0" err="1"/>
              <a:t>save</a:t>
            </a:r>
            <a:r>
              <a:rPr lang="fr-BE" dirty="0"/>
              <a:t> the </a:t>
            </a:r>
            <a:r>
              <a:rPr lang="fr-BE" dirty="0" err="1"/>
              <a:t>workspace</a:t>
            </a:r>
            <a:r>
              <a:rPr lang="fr-BE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40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 err="1"/>
              <a:t>JWSACruncher</a:t>
            </a:r>
            <a:r>
              <a:rPr lang="fr-BE" dirty="0"/>
              <a:t>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 err="1"/>
              <a:t>Suitable</a:t>
            </a:r>
            <a:r>
              <a:rPr lang="fr-BE" dirty="0"/>
              <a:t> for </a:t>
            </a:r>
            <a:r>
              <a:rPr lang="fr-BE" dirty="0" err="1"/>
              <a:t>any</a:t>
            </a:r>
            <a:r>
              <a:rPr lang="fr-BE" dirty="0"/>
              <a:t> </a:t>
            </a:r>
            <a:r>
              <a:rPr lang="fr-BE" dirty="0" err="1"/>
              <a:t>number</a:t>
            </a:r>
            <a:r>
              <a:rPr lang="fr-BE" dirty="0"/>
              <a:t> of </a:t>
            </a:r>
            <a:r>
              <a:rPr lang="fr-BE" dirty="0" err="1"/>
              <a:t>series</a:t>
            </a:r>
            <a:r>
              <a:rPr lang="fr-BE" dirty="0"/>
              <a:t> (split the </a:t>
            </a:r>
            <a:r>
              <a:rPr lang="fr-BE" dirty="0" err="1"/>
              <a:t>workspace</a:t>
            </a:r>
            <a:r>
              <a:rPr lang="fr-BE" dirty="0"/>
              <a:t> </a:t>
            </a:r>
            <a:r>
              <a:rPr lang="fr-BE" dirty="0" err="1"/>
              <a:t>is</a:t>
            </a:r>
            <a:r>
              <a:rPr lang="fr-BE" dirty="0"/>
              <a:t> </a:t>
            </a:r>
            <a:r>
              <a:rPr lang="fr-BE" dirty="0" err="1"/>
              <a:t>several</a:t>
            </a:r>
            <a:r>
              <a:rPr lang="fr-BE" dirty="0"/>
              <a:t> </a:t>
            </a:r>
            <a:r>
              <a:rPr lang="fr-BE" dirty="0" err="1"/>
              <a:t>SAProcessing</a:t>
            </a:r>
            <a:r>
              <a:rPr lang="fr-BE" dirty="0"/>
              <a:t>) if </a:t>
            </a:r>
            <a:r>
              <a:rPr lang="fr-BE" dirty="0" err="1"/>
              <a:t>need</a:t>
            </a:r>
            <a:r>
              <a:rPr lang="fr-BE" dirty="0"/>
              <a:t> </a:t>
            </a:r>
            <a:r>
              <a:rPr lang="fr-BE" dirty="0" err="1"/>
              <a:t>be</a:t>
            </a:r>
            <a:endParaRPr lang="fr-BE" dirty="0"/>
          </a:p>
          <a:p>
            <a:r>
              <a:rPr lang="fr-BE" dirty="0" err="1"/>
              <a:t>Steps</a:t>
            </a:r>
            <a:endParaRPr lang="fr-BE" dirty="0"/>
          </a:p>
          <a:p>
            <a:pPr lvl="1"/>
            <a:r>
              <a:rPr lang="fr-BE" dirty="0" err="1"/>
              <a:t>Initialization</a:t>
            </a:r>
            <a:r>
              <a:rPr lang="fr-BE" dirty="0"/>
              <a:t>: </a:t>
            </a:r>
          </a:p>
          <a:p>
            <a:pPr lvl="2"/>
            <a:r>
              <a:rPr lang="fr-BE" dirty="0" err="1"/>
              <a:t>generate</a:t>
            </a:r>
            <a:r>
              <a:rPr lang="fr-BE" dirty="0"/>
              <a:t> the input file (=</a:t>
            </a:r>
            <a:r>
              <a:rPr lang="fr-BE" dirty="0" err="1"/>
              <a:t>workspace</a:t>
            </a:r>
            <a:r>
              <a:rPr lang="fr-BE" dirty="0"/>
              <a:t>), </a:t>
            </a:r>
            <a:r>
              <a:rPr lang="fr-BE" dirty="0" err="1"/>
              <a:t>using</a:t>
            </a:r>
            <a:r>
              <a:rPr lang="fr-BE" dirty="0"/>
              <a:t> the GUI (</a:t>
            </a:r>
            <a:r>
              <a:rPr lang="fr-BE" dirty="0" err="1"/>
              <a:t>don’t</a:t>
            </a:r>
            <a:r>
              <a:rPr lang="fr-BE" dirty="0"/>
              <a:t> </a:t>
            </a:r>
            <a:r>
              <a:rPr lang="fr-BE" dirty="0" err="1"/>
              <a:t>process</a:t>
            </a:r>
            <a:r>
              <a:rPr lang="fr-BE" dirty="0"/>
              <a:t> the multi-</a:t>
            </a:r>
            <a:r>
              <a:rPr lang="fr-BE" dirty="0" err="1"/>
              <a:t>processing</a:t>
            </a:r>
            <a:r>
              <a:rPr lang="fr-BE" dirty="0"/>
              <a:t>) or </a:t>
            </a:r>
            <a:r>
              <a:rPr lang="fr-BE" dirty="0" err="1"/>
              <a:t>using</a:t>
            </a:r>
            <a:r>
              <a:rPr lang="fr-BE" dirty="0"/>
              <a:t> in-house programs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397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 err="1"/>
              <a:t>JWSACruncher</a:t>
            </a:r>
            <a:r>
              <a:rPr lang="fr-BE" dirty="0"/>
              <a:t>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2"/>
            <a:r>
              <a:rPr lang="fr-BE" dirty="0" err="1"/>
              <a:t>Define</a:t>
            </a:r>
            <a:r>
              <a:rPr lang="fr-BE" dirty="0"/>
              <a:t> the setting file for the </a:t>
            </a:r>
            <a:r>
              <a:rPr lang="fr-BE" dirty="0" err="1"/>
              <a:t>cruncher</a:t>
            </a:r>
            <a:endParaRPr lang="fr-BE" dirty="0"/>
          </a:p>
          <a:p>
            <a:pPr lvl="3"/>
            <a:r>
              <a:rPr lang="fr-BE" dirty="0"/>
              <a:t>Output, format, </a:t>
            </a:r>
            <a:r>
              <a:rPr lang="fr-BE" dirty="0" err="1"/>
              <a:t>paths</a:t>
            </a:r>
            <a:r>
              <a:rPr lang="fr-BE" dirty="0"/>
              <a:t>…</a:t>
            </a:r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r>
              <a:rPr lang="fr-BE" dirty="0"/>
              <a:t>Call the command line </a:t>
            </a:r>
          </a:p>
          <a:p>
            <a:pPr lvl="1"/>
            <a:r>
              <a:rPr lang="fr-BE" dirty="0" err="1"/>
              <a:t>Next</a:t>
            </a:r>
            <a:r>
              <a:rPr lang="fr-BE" dirty="0"/>
              <a:t> estimations</a:t>
            </a:r>
          </a:p>
          <a:p>
            <a:pPr lvl="2"/>
            <a:r>
              <a:rPr lang="fr-BE" dirty="0" err="1"/>
              <a:t>Modify</a:t>
            </a:r>
            <a:r>
              <a:rPr lang="fr-BE" dirty="0"/>
              <a:t> the setting file (if </a:t>
            </a:r>
            <a:r>
              <a:rPr lang="fr-BE" dirty="0" err="1"/>
              <a:t>need</a:t>
            </a:r>
            <a:r>
              <a:rPr lang="fr-BE" dirty="0"/>
              <a:t> </a:t>
            </a:r>
            <a:r>
              <a:rPr lang="fr-BE" dirty="0" err="1"/>
              <a:t>be</a:t>
            </a:r>
            <a:r>
              <a:rPr lang="fr-BE" dirty="0"/>
              <a:t>)</a:t>
            </a:r>
          </a:p>
          <a:p>
            <a:pPr lvl="2"/>
            <a:r>
              <a:rPr lang="fr-BE" dirty="0" err="1"/>
              <a:t>Re</a:t>
            </a:r>
            <a:r>
              <a:rPr lang="fr-BE" dirty="0"/>
              <a:t>-call </a:t>
            </a:r>
            <a:r>
              <a:rPr lang="fr-BE"/>
              <a:t>the command line</a:t>
            </a:r>
            <a:endParaRPr lang="en-US" dirty="0"/>
          </a:p>
          <a:p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1744" y="2564905"/>
            <a:ext cx="6184596" cy="123919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0554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BD72EB-9997-95EF-5F69-85120C137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RJDemetra3</a:t>
            </a:r>
            <a:endParaRPr lang="en-GB" dirty="0"/>
          </a:p>
        </p:txBody>
      </p:sp>
      <p:pic>
        <p:nvPicPr>
          <p:cNvPr id="12" name="Espace réservé du contenu 11">
            <a:extLst>
              <a:ext uri="{FF2B5EF4-FFF2-40B4-BE49-F238E27FC236}">
                <a16:creationId xmlns:a16="http://schemas.microsoft.com/office/drawing/2014/main" id="{2BFD2C2E-0EF1-FD28-8F32-05199EADDB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81200" y="2248026"/>
            <a:ext cx="8229600" cy="323031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0486ADF-B700-101E-FFFE-D0AEAF1039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520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3</TotalTime>
  <Words>459</Words>
  <Application>Microsoft Office PowerPoint</Application>
  <PresentationFormat>Grand écran</PresentationFormat>
  <Paragraphs>93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5" baseType="lpstr">
      <vt:lpstr>Arial</vt:lpstr>
      <vt:lpstr>Calibri</vt:lpstr>
      <vt:lpstr>ESTAT Theme</vt:lpstr>
      <vt:lpstr>Routine SA processing with JD+</vt:lpstr>
      <vt:lpstr>In-house developments</vt:lpstr>
      <vt:lpstr>Java code</vt:lpstr>
      <vt:lpstr>JD+ solution. Principles</vt:lpstr>
      <vt:lpstr>Updating policies</vt:lpstr>
      <vt:lpstr>Updating policies</vt:lpstr>
      <vt:lpstr>JD+ GUI  (I)</vt:lpstr>
      <vt:lpstr>JD+ GUI (II)</vt:lpstr>
      <vt:lpstr>JWSACruncher (I)</vt:lpstr>
      <vt:lpstr>JWSACruncher (II)</vt:lpstr>
      <vt:lpstr>RJDemetra3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63</cp:revision>
  <dcterms:created xsi:type="dcterms:W3CDTF">2024-11-22T11:11:00Z</dcterms:created>
  <dcterms:modified xsi:type="dcterms:W3CDTF">2026-08-28T08:57:49Z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