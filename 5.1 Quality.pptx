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71" r:id="rId6"/>
    <p:sldId id="270" r:id="rId7"/>
    <p:sldId id="272" r:id="rId8"/>
    <p:sldId id="273" r:id="rId9"/>
    <p:sldId id="274" r:id="rId10"/>
    <p:sldId id="275" r:id="rId11"/>
    <p:sldId id="276" r:id="rId12"/>
    <p:sldId id="280" r:id="rId13"/>
    <p:sldId id="277" r:id="rId14"/>
    <p:sldId id="278" r:id="rId15"/>
    <p:sldId id="279" r:id="rId16"/>
    <p:sldId id="261" r:id="rId17"/>
  </p:sldIdLst>
  <p:sldSz cx="12192000" cy="6858000"/>
  <p:notesSz cx="6858000" cy="9144000"/>
  <p:custDataLst>
    <p:tags r:id="rId20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84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gs" Target="tags/tag1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6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28/08/2026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7B82F-E4E9-499C-A3B0-E04168F3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67AF5-E0C2-47E6-AB94-5E43118EB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6147C7-776B-43C1-808E-05CD7A9FA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C3660-C619-4C12-8055-D9486A63B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Quality diagnostics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5454B-64B8-4D5C-A120-D28F5A09B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1BECB9-9B3C-426C-83E6-F290771ACE55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2323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 dirty="0"/>
              <a:t>05-07 October 2026</a:t>
            </a:r>
          </a:p>
          <a:p>
            <a:endParaRPr lang="en-I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Quality diagnostics in JD+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AA1617-C552-B179-1B1F-01E4CBC9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Possible outcomes</a:t>
            </a:r>
          </a:p>
        </p:txBody>
      </p:sp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B325CFF6-6A13-3325-6E5F-14DEA2B92AB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41832" y="1924018"/>
          <a:ext cx="7607808" cy="3655822"/>
        </p:xfrm>
        <a:graphic>
          <a:graphicData uri="http://schemas.openxmlformats.org/drawingml/2006/table">
            <a:tbl>
              <a:tblPr firstRow="1" firstCol="1" bandRow="1"/>
              <a:tblGrid>
                <a:gridCol w="1698882">
                  <a:extLst>
                    <a:ext uri="{9D8B030D-6E8A-4147-A177-3AD203B41FA5}">
                      <a16:colId xmlns:a16="http://schemas.microsoft.com/office/drawing/2014/main" val="2298859349"/>
                    </a:ext>
                  </a:extLst>
                </a:gridCol>
                <a:gridCol w="5908926">
                  <a:extLst>
                    <a:ext uri="{9D8B030D-6E8A-4147-A177-3AD203B41FA5}">
                      <a16:colId xmlns:a16="http://schemas.microsoft.com/office/drawing/2014/main" val="3117818289"/>
                    </a:ext>
                  </a:extLst>
                </a:gridCol>
              </a:tblGrid>
              <a:tr h="2745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b="1" i="1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Value</a:t>
                      </a:r>
                      <a:endParaRPr lang="en-GB" sz="1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b="1" i="1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Meaning</a:t>
                      </a:r>
                      <a:endParaRPr lang="en-GB" sz="1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1529048"/>
                  </a:ext>
                </a:extLst>
              </a:tr>
              <a:tr h="56610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>
                          <a:solidFill>
                            <a:srgbClr val="BFBFBF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Undefined</a:t>
                      </a:r>
                      <a:endParaRPr lang="en-GB" sz="1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 quality is undefined: unprocessed test, meaningless test, failure in the computation of the test...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379037"/>
                  </a:ext>
                </a:extLst>
              </a:tr>
              <a:tr h="85769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b="1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Error</a:t>
                      </a:r>
                      <a:endParaRPr lang="en-GB" sz="1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There is an error in the results. The processing should be rejected (for instance, it contains aberrant values or some numerical constraints are not fulfilled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178156"/>
                  </a:ext>
                </a:extLst>
              </a:tr>
              <a:tr h="56610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b="1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Severe</a:t>
                      </a:r>
                      <a:endParaRPr lang="en-GB" sz="1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There is no logical error in the results, but they should not be accepted for some statistical reasons 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0611476"/>
                  </a:ext>
                </a:extLst>
              </a:tr>
              <a:tr h="56610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Bad</a:t>
                      </a:r>
                      <a:endParaRPr lang="en-GB" sz="1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 quality of the results is bad, following a specific criterion, but there is no actual error and the results could be used.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349904"/>
                  </a:ext>
                </a:extLst>
              </a:tr>
              <a:tr h="2745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>
                          <a:solidFill>
                            <a:srgbClr val="FFC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Uncertain</a:t>
                      </a:r>
                      <a:endParaRPr lang="en-GB" sz="1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 result of the test is uncertain. Consider it with caution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324815"/>
                  </a:ext>
                </a:extLst>
              </a:tr>
              <a:tr h="2745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Good</a:t>
                      </a:r>
                      <a:endParaRPr lang="en-GB" sz="18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 result of the test is good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2547131"/>
                  </a:ext>
                </a:extLst>
              </a:tr>
            </a:tbl>
          </a:graphicData>
        </a:graphic>
      </p:graphicFrame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4E6DCC-6324-EDE7-51DB-57B12A092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Quality diagnostics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4C84196-9C88-1D6C-FAFA-56487DF709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9210" y="1403689"/>
            <a:ext cx="2762636" cy="469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240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7C8856-DCD3-80FE-95FD-CAB4B32D2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BE" sz="4000" dirty="0"/>
              <a:t>1.1 Computation of the global </a:t>
            </a:r>
            <a:r>
              <a:rPr lang="fr-BE" sz="4000" dirty="0" err="1"/>
              <a:t>indicator</a:t>
            </a:r>
            <a:r>
              <a:rPr lang="fr-BE" sz="4000" dirty="0"/>
              <a:t> (</a:t>
            </a:r>
            <a:r>
              <a:rPr lang="fr-BE" sz="4000" dirty="0" err="1"/>
              <a:t>summary</a:t>
            </a:r>
            <a:r>
              <a:rPr lang="fr-BE" sz="4000" dirty="0"/>
              <a:t>)</a:t>
            </a:r>
            <a:endParaRPr lang="en-GB" sz="4000" dirty="0"/>
          </a:p>
        </p:txBody>
      </p:sp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65A84C06-4FF6-4072-4D26-A16B2B401CD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21766" y="1723740"/>
          <a:ext cx="5849620" cy="4286758"/>
        </p:xfrm>
        <a:graphic>
          <a:graphicData uri="http://schemas.openxmlformats.org/drawingml/2006/table">
            <a:tbl>
              <a:tblPr firstRow="1" firstCol="1" bandRow="1"/>
              <a:tblGrid>
                <a:gridCol w="1329055">
                  <a:extLst>
                    <a:ext uri="{9D8B030D-6E8A-4147-A177-3AD203B41FA5}">
                      <a16:colId xmlns:a16="http://schemas.microsoft.com/office/drawing/2014/main" val="510482419"/>
                    </a:ext>
                  </a:extLst>
                </a:gridCol>
                <a:gridCol w="4520565">
                  <a:extLst>
                    <a:ext uri="{9D8B030D-6E8A-4147-A177-3AD203B41FA5}">
                      <a16:colId xmlns:a16="http://schemas.microsoft.com/office/drawing/2014/main" val="25600511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b="1" i="1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Sum</a:t>
                      </a:r>
                      <a:endParaRPr lang="en-GB" sz="1800" noProof="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b="1" i="1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Rules</a:t>
                      </a:r>
                      <a:endParaRPr lang="en-GB" sz="1800" noProof="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6095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Undefined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All diagnostics are Undefined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29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Error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There is at least 1 error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0188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Severe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There is at least 1 "severe" diagnostic but no error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4488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Bad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No error, no severe diagnostics;  the average of the (defined) diagnostics (Bad=1, Uncertain=2, Good=3) is &lt; 1.5 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4855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Uncertain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No error, no severe diagnostics;  the average of the  (defined) diagnostics (Bad=1, Uncertain=2, Good=3) is in [1.5, 2.5[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1084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Good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No error, no severe diagnostics;  the average of the  (defined) diagnostics (Bad=1, Uncertain=2, Good=3) is ≥ 2.5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1301564"/>
                  </a:ext>
                </a:extLst>
              </a:tr>
            </a:tbl>
          </a:graphicData>
        </a:graphic>
      </p:graphicFrame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CF261AE-28DB-9266-1D0B-B84184623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Quality diagnostics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326BACEA-4226-8CC3-B7B0-E512F4317DF6}"/>
              </a:ext>
            </a:extLst>
          </p:cNvPr>
          <p:cNvSpPr txBox="1"/>
          <p:nvPr/>
        </p:nvSpPr>
        <p:spPr>
          <a:xfrm>
            <a:off x="7525512" y="2185415"/>
            <a:ext cx="352044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In most cases, we can’t say that one seasonal adjustment is « better » than another one → NO FIGURE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We even can’t say that a SA is really good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We just can say that there is probably a problem in a given SA (or not)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53030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66473F-3D38-53E1-1DC6-9CE608BED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Customization of the diagnostics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6422BFA-FB58-B927-AE9A-0A6C8EC48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r>
              <a:rPr lang="en-GB" dirty="0"/>
              <a:t>Diagnostics can be enabled/disabled</a:t>
            </a:r>
          </a:p>
          <a:p>
            <a:r>
              <a:rPr lang="en-GB" dirty="0"/>
              <a:t>Thresholds can be modified</a:t>
            </a:r>
          </a:p>
          <a:p>
            <a:r>
              <a:rPr lang="en-GB" dirty="0"/>
              <a:t>Different diagnostics following the algorithm (new in v3)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CCAE098-167D-69C1-C979-7EC7E8C68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Quality diagnostics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984EE1B-822D-A34F-A931-E75402656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154" y="1825623"/>
            <a:ext cx="4366241" cy="4351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91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EC563B-50C1-B813-B763-9702C3398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3.1 Basic checks</a:t>
            </a:r>
            <a:endParaRPr lang="en-GB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32D5963-A85D-0026-80B1-22FA3DC54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Quality diagnostics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Espace réservé du contenu 12">
                <a:extLst>
                  <a:ext uri="{FF2B5EF4-FFF2-40B4-BE49-F238E27FC236}">
                    <a16:creationId xmlns:a16="http://schemas.microsoft.com/office/drawing/2014/main" id="{FD9858F6-A432-15A3-9E08-09C8710F3C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BE" dirty="0"/>
                  <a:t>Definition</a:t>
                </a:r>
              </a:p>
              <a:p>
                <a:pPr lvl="1"/>
                <a:r>
                  <a:rPr lang="en-US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Verification that the definition constraints implied by the model of the series are well respected 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b="0" i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Y</m:t>
                    </m:r>
                    <m:r>
                      <a:rPr lang="fr-BE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fr-BE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fr-BE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∗</m:t>
                    </m:r>
                    <m:r>
                      <a:rPr lang="fr-BE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fr-BE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∗</m:t>
                    </m:r>
                    <m:r>
                      <a:rPr lang="fr-BE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</m:t>
                    </m:r>
                  </m:oMath>
                </a14:m>
                <a:endParaRPr lang="fr-BE" b="0" i="1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fr-BE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…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Error → Bug in the software (→ </a:t>
                </a:r>
                <a:r>
                  <a:rPr lang="en-GB" dirty="0" err="1"/>
                  <a:t>github</a:t>
                </a:r>
                <a:r>
                  <a:rPr lang="en-GB" dirty="0"/>
                  <a:t>)</a:t>
                </a:r>
              </a:p>
              <a:p>
                <a:r>
                  <a:rPr lang="en-GB" dirty="0"/>
                  <a:t>Annual totals</a:t>
                </a:r>
              </a:p>
              <a:p>
                <a:pPr lvl="1"/>
                <a:r>
                  <a:rPr lang="en-GB" dirty="0"/>
                  <a:t>Comparison of the annuals totals of the original series and those of the seasonally adjusted series </a:t>
                </a:r>
              </a:p>
              <a:p>
                <a:pPr lvl="1"/>
                <a:r>
                  <a:rPr lang="en-GB" dirty="0"/>
                  <a:t>Error ≡ not an actual bug, but an unacceptable result (→ additive decomposition, benchmarking)</a:t>
                </a:r>
              </a:p>
              <a:p>
                <a:pPr lvl="1"/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13" name="Espace réservé du contenu 12">
                <a:extLst>
                  <a:ext uri="{FF2B5EF4-FFF2-40B4-BE49-F238E27FC236}">
                    <a16:creationId xmlns:a16="http://schemas.microsoft.com/office/drawing/2014/main" id="{FD9858F6-A432-15A3-9E08-09C8710F3C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b="-1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83972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6F5D3B-13B7-360A-44A5-4B1ACD619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3.21 Modeling: REGARIMA </a:t>
            </a:r>
            <a:r>
              <a:rPr lang="fr-BE" dirty="0" err="1"/>
              <a:t>residuals</a:t>
            </a:r>
            <a:endParaRPr lang="en-GB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9BDE33-26C2-A0A7-5277-ADD5CD6EC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Various NIID tests on the residuals of the REGARIMA pre-processing.</a:t>
            </a:r>
          </a:p>
          <a:p>
            <a:pPr lvl="1"/>
            <a:r>
              <a:rPr lang="en-GB" dirty="0"/>
              <a:t>Normality (</a:t>
            </a:r>
            <a:r>
              <a:rPr lang="en-GB" dirty="0" err="1"/>
              <a:t>Doornik</a:t>
            </a:r>
            <a:r>
              <a:rPr lang="en-GB" dirty="0"/>
              <a:t>-Hansen)</a:t>
            </a:r>
          </a:p>
          <a:p>
            <a:pPr lvl="1"/>
            <a:r>
              <a:rPr lang="en-GB" dirty="0"/>
              <a:t>Independence (</a:t>
            </a:r>
            <a:r>
              <a:rPr lang="en-GB" dirty="0" err="1"/>
              <a:t>Ljung</a:t>
            </a:r>
            <a:r>
              <a:rPr lang="en-GB" dirty="0"/>
              <a:t>-Box)</a:t>
            </a:r>
          </a:p>
          <a:p>
            <a:pPr lvl="1"/>
            <a:r>
              <a:rPr lang="en-GB" dirty="0"/>
              <a:t>Spectral TD (periodogram). </a:t>
            </a:r>
          </a:p>
          <a:p>
            <a:pPr lvl="1"/>
            <a:r>
              <a:rPr lang="en-GB" dirty="0"/>
              <a:t>Spectral Seas (periodogram)</a:t>
            </a:r>
          </a:p>
          <a:p>
            <a:r>
              <a:rPr lang="en-GB" dirty="0"/>
              <a:t>Should not be overstated</a:t>
            </a:r>
          </a:p>
          <a:p>
            <a:pPr lvl="1"/>
            <a:r>
              <a:rPr lang="en-GB" dirty="0"/>
              <a:t>especially normality, independence</a:t>
            </a:r>
          </a:p>
          <a:p>
            <a:pPr lvl="1"/>
            <a:r>
              <a:rPr lang="en-GB" dirty="0"/>
              <a:t>especially for X12</a:t>
            </a:r>
          </a:p>
          <a:p>
            <a:r>
              <a:rPr lang="en-GB" dirty="0"/>
              <a:t>Show possible problems in the decomposition part.</a:t>
            </a:r>
          </a:p>
          <a:p>
            <a:endParaRPr lang="en-GB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8DE2445-D906-6C97-FC3B-FE9A7CC74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Quality diagnostics</a:t>
            </a:r>
          </a:p>
        </p:txBody>
      </p:sp>
    </p:spTree>
    <p:extLst>
      <p:ext uri="{BB962C8B-B14F-4D97-AF65-F5344CB8AC3E}">
        <p14:creationId xmlns:p14="http://schemas.microsoft.com/office/powerpoint/2010/main" val="123314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4668E9-3803-6D4F-30A7-BA85CD8ED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3.22 Modeling:</a:t>
            </a:r>
            <a:br>
              <a:rPr lang="fr-BE" dirty="0"/>
            </a:br>
            <a:r>
              <a:rPr lang="fr-BE" dirty="0" err="1"/>
              <a:t>Outliers</a:t>
            </a:r>
            <a:r>
              <a:rPr lang="fr-BE" dirty="0"/>
              <a:t>, out-of-</a:t>
            </a:r>
            <a:r>
              <a:rPr lang="fr-BE" dirty="0" err="1"/>
              <a:t>sample</a:t>
            </a:r>
            <a:r>
              <a:rPr lang="fr-BE" dirty="0"/>
              <a:t> diagnostics</a:t>
            </a:r>
            <a:endParaRPr lang="en-GB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405827C-F2A6-BF48-9375-1EE93380B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Should we accept a series with many outliers ?</a:t>
            </a:r>
          </a:p>
          <a:p>
            <a:r>
              <a:rPr lang="en-GB" dirty="0"/>
              <a:t>Should we accept a model that provides biased/bad forecasts (mean/variance) at the end of the series ?</a:t>
            </a:r>
          </a:p>
          <a:p>
            <a:r>
              <a:rPr lang="en-GB" dirty="0"/>
              <a:t>Not enabled by default, but used for model selection in </a:t>
            </a:r>
            <a:r>
              <a:rPr lang="en-GB" dirty="0" err="1"/>
              <a:t>Tramo</a:t>
            </a:r>
            <a:r>
              <a:rPr lang="en-GB" dirty="0"/>
              <a:t> (AMI)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6ADC23C-F70E-66AF-0212-0F0E9D0C1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Quality diagnostics</a:t>
            </a:r>
          </a:p>
        </p:txBody>
      </p:sp>
    </p:spTree>
    <p:extLst>
      <p:ext uri="{BB962C8B-B14F-4D97-AF65-F5344CB8AC3E}">
        <p14:creationId xmlns:p14="http://schemas.microsoft.com/office/powerpoint/2010/main" val="4249795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9E0E9F-29D0-89ED-18E0-FB89A4FD0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3.31 </a:t>
            </a:r>
            <a:r>
              <a:rPr lang="en-GB" dirty="0"/>
              <a:t>Residual seasonality tests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A18B25-3954-DFF9-AC5E-BCCB7B201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Most important test</a:t>
            </a:r>
          </a:p>
          <a:p>
            <a:r>
              <a:rPr lang="en-GB" dirty="0"/>
              <a:t>Qs test and F-test on seasonal dummies (last 12 years)</a:t>
            </a:r>
          </a:p>
          <a:p>
            <a:r>
              <a:rPr lang="en-GB" dirty="0"/>
              <a:t>On the SA series and on the irregular component (sufficiently large)</a:t>
            </a:r>
          </a:p>
          <a:p>
            <a:endParaRPr lang="en-GB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B6F56BD-B0E1-6B03-34D1-9C5E00A42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Quality diagnostics</a:t>
            </a:r>
          </a:p>
        </p:txBody>
      </p:sp>
    </p:spTree>
    <p:extLst>
      <p:ext uri="{BB962C8B-B14F-4D97-AF65-F5344CB8AC3E}">
        <p14:creationId xmlns:p14="http://schemas.microsoft.com/office/powerpoint/2010/main" val="2915611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0EC30-F3A8-AD19-F0F6-7494D0EB0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568D2D-75DF-D509-7331-3AA8773A1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3.32 </a:t>
            </a:r>
            <a:r>
              <a:rPr lang="en-GB" dirty="0"/>
              <a:t>Combined seasonality tests [TODO]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30CB6EA-1876-09CD-612B-0FBAE167AC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X12-like</a:t>
            </a:r>
          </a:p>
          <a:p>
            <a:r>
              <a:rPr lang="en-GB" dirty="0"/>
              <a:t>Seasonality tests on SA, I</a:t>
            </a:r>
          </a:p>
          <a:p>
            <a:r>
              <a:rPr lang="en-GB" dirty="0"/>
              <a:t>Computed on the whole series</a:t>
            </a:r>
            <a:r>
              <a:rPr lang="en-GB"/>
              <a:t>, on the last 3 years </a:t>
            </a:r>
            <a:endParaRPr lang="en-GB" dirty="0"/>
          </a:p>
          <a:p>
            <a:endParaRPr lang="en-GB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8FD9569-D7DC-F367-60A2-A7CA549C2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Quality diagnostics</a:t>
            </a:r>
          </a:p>
        </p:txBody>
      </p:sp>
    </p:spTree>
    <p:extLst>
      <p:ext uri="{BB962C8B-B14F-4D97-AF65-F5344CB8AC3E}">
        <p14:creationId xmlns:p14="http://schemas.microsoft.com/office/powerpoint/2010/main" val="1506670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E74FE-5A9F-B14F-AF9A-F47FCA61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BA1E2B-599E-BFE5-FBA1-CF3020A44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3.4 </a:t>
            </a:r>
            <a:r>
              <a:rPr lang="en-GB" dirty="0"/>
              <a:t>Residual trading days tests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BDFCEF7-FAC6-F159-6182-9BD49584FF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Disabled for quarterly series, rather important for monthly series</a:t>
            </a:r>
          </a:p>
          <a:p>
            <a:r>
              <a:rPr lang="en-GB" dirty="0"/>
              <a:t>F-test on trading days variables </a:t>
            </a:r>
          </a:p>
          <a:p>
            <a:r>
              <a:rPr lang="en-GB" dirty="0"/>
              <a:t>On the SA series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F91BD4-A2AF-963F-829B-37CC4E9AB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Quality diagnostics</a:t>
            </a:r>
          </a:p>
        </p:txBody>
      </p:sp>
    </p:spTree>
    <p:extLst>
      <p:ext uri="{BB962C8B-B14F-4D97-AF65-F5344CB8AC3E}">
        <p14:creationId xmlns:p14="http://schemas.microsoft.com/office/powerpoint/2010/main" val="3615481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A8EDD7-05EE-6561-BC2E-A107FCFE6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3.51 </a:t>
            </a:r>
            <a:r>
              <a:rPr lang="fr-BE" dirty="0" err="1"/>
              <a:t>Seats</a:t>
            </a:r>
            <a:r>
              <a:rPr lang="fr-BE" dirty="0"/>
              <a:t> diagnostics</a:t>
            </a:r>
            <a:endParaRPr lang="en-GB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32B225-5DE3-9831-4F66-BE40F6FEF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Model-based diagnostics</a:t>
            </a:r>
          </a:p>
          <a:p>
            <a:pPr lvl="1"/>
            <a:r>
              <a:rPr lang="en-GB" dirty="0"/>
              <a:t>Comparison of the variances of the theoretical estimators of the (stationary) components (seasonal, irregular) and of their estimates</a:t>
            </a:r>
          </a:p>
          <a:p>
            <a:pPr lvl="1"/>
            <a:r>
              <a:rPr lang="en-GB" dirty="0"/>
              <a:t>More detailed information available in the interactive module (not used in the diagnostics)</a:t>
            </a:r>
          </a:p>
          <a:p>
            <a:pPr lvl="1"/>
            <a:r>
              <a:rPr lang="en-GB" dirty="0"/>
              <a:t>Possible problems when</a:t>
            </a:r>
          </a:p>
          <a:p>
            <a:pPr lvl="2"/>
            <a:r>
              <a:rPr lang="en-GB" dirty="0"/>
              <a:t>The ARIMA model is changed by SEATS</a:t>
            </a:r>
          </a:p>
          <a:p>
            <a:pPr lvl="2"/>
            <a:r>
              <a:rPr lang="en-GB" dirty="0"/>
              <a:t>The chosen ARIMA model doesn’t fit correctly the data (see also ARIMA residuals)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86E32D-6749-E7C6-0B22-F410D686C4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Quality diagnostics</a:t>
            </a:r>
          </a:p>
        </p:txBody>
      </p:sp>
    </p:spTree>
    <p:extLst>
      <p:ext uri="{BB962C8B-B14F-4D97-AF65-F5344CB8AC3E}">
        <p14:creationId xmlns:p14="http://schemas.microsoft.com/office/powerpoint/2010/main" val="3549138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3ED722-D35A-74A6-290C-FD4BABC1E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3.52 X11 Diagnostics </a:t>
            </a:r>
            <a:endParaRPr lang="en-GB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D6F57F-506A-8C0E-AAF0-C00F1D3B4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M-</a:t>
            </a:r>
            <a:r>
              <a:rPr lang="fr-BE" dirty="0" err="1"/>
              <a:t>Statistics</a:t>
            </a:r>
            <a:r>
              <a:rPr lang="fr-BE" dirty="0"/>
              <a:t>: global </a:t>
            </a:r>
            <a:r>
              <a:rPr lang="fr-BE" dirty="0" err="1"/>
              <a:t>indicators</a:t>
            </a:r>
            <a:r>
              <a:rPr lang="fr-BE" dirty="0"/>
              <a:t> (</a:t>
            </a:r>
            <a:r>
              <a:rPr lang="fr-BE" dirty="0" err="1"/>
              <a:t>see</a:t>
            </a:r>
            <a:r>
              <a:rPr lang="fr-BE" dirty="0"/>
              <a:t> Ladiray-Quenneville…)</a:t>
            </a:r>
          </a:p>
          <a:p>
            <a:pPr lvl="1"/>
            <a:r>
              <a:rPr lang="fr-BE" dirty="0"/>
              <a:t>Q</a:t>
            </a:r>
          </a:p>
          <a:p>
            <a:pPr lvl="1"/>
            <a:r>
              <a:rPr lang="fr-BE" dirty="0"/>
              <a:t>Q-M2</a:t>
            </a:r>
            <a:endParaRPr lang="en-GB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EFCA6C-4CED-1F82-8D27-AB6039F52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Quality diagnostics</a:t>
            </a:r>
          </a:p>
        </p:txBody>
      </p:sp>
    </p:spTree>
    <p:extLst>
      <p:ext uri="{BB962C8B-B14F-4D97-AF65-F5344CB8AC3E}">
        <p14:creationId xmlns:p14="http://schemas.microsoft.com/office/powerpoint/2010/main" val="35905468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Props1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2</TotalTime>
  <Words>709</Words>
  <Application>Microsoft Office PowerPoint</Application>
  <PresentationFormat>Grand écran</PresentationFormat>
  <Paragraphs>97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 Math</vt:lpstr>
      <vt:lpstr>ESTAT Theme</vt:lpstr>
      <vt:lpstr>Quality diagnostics in JD+</vt:lpstr>
      <vt:lpstr>1. Possible outcomes</vt:lpstr>
      <vt:lpstr>1.1 Computation of the global indicator (summary)</vt:lpstr>
      <vt:lpstr>2. Customization of the diagnostics</vt:lpstr>
      <vt:lpstr>3.1 Basic checks</vt:lpstr>
      <vt:lpstr>3.21 Modeling: REGARIMA residuals</vt:lpstr>
      <vt:lpstr>3.22 Modeling: Outliers, out-of-sample diagnostics</vt:lpstr>
      <vt:lpstr>3.31 Residual seasonality tests</vt:lpstr>
      <vt:lpstr>3.32 Combined seasonality tests [TODO]</vt:lpstr>
      <vt:lpstr>3.4 Residual trading days tests</vt:lpstr>
      <vt:lpstr>3.51 Seats diagnostics</vt:lpstr>
      <vt:lpstr>3.52 X11 Diagnostics 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63</cp:revision>
  <dcterms:created xsi:type="dcterms:W3CDTF">2024-11-22T11:11:00Z</dcterms:created>
  <dcterms:modified xsi:type="dcterms:W3CDTF">2026-08-28T09:03:29Z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