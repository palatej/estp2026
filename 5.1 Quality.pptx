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1" r:id="rId6"/>
    <p:sldId id="270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61" r:id="rId16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1122" y="7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6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371601"/>
            <a:ext cx="10515597" cy="472452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B82F-E4E9-499C-A3B0-E04168F3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67AF5-E0C2-47E6-AB94-5E43118EB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147C7-776B-43C1-808E-05CD7A9F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15-17/10/2024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3660-C619-4C12-8055-D9486A63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Quality diagnostics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5454B-64B8-4D5C-A120-D28F5A09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ECB9-9B3C-426C-83E6-F290771ACE5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32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ESTP Training</a:t>
            </a:r>
          </a:p>
          <a:p>
            <a:r>
              <a:rPr lang="en-GB" noProof="0" dirty="0"/>
              <a:t>05-07 October 2026</a:t>
            </a:r>
          </a:p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5 Quality </a:t>
            </a:r>
            <a:r>
              <a:rPr lang="en-GB" noProof="0" dirty="0"/>
              <a:t>diagnostics in JD+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AA1617-C552-B179-1B1F-01E4CBC9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1. Possible outcomes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B325CFF6-6A13-3325-6E5F-14DEA2B92AB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00134614"/>
              </p:ext>
            </p:extLst>
          </p:nvPr>
        </p:nvGraphicFramePr>
        <p:xfrm>
          <a:off x="969964" y="1371599"/>
          <a:ext cx="7727470" cy="4728570"/>
        </p:xfrm>
        <a:graphic>
          <a:graphicData uri="http://schemas.openxmlformats.org/drawingml/2006/table">
            <a:tbl>
              <a:tblPr firstRow="1" firstCol="1" bandRow="1"/>
              <a:tblGrid>
                <a:gridCol w="1725603">
                  <a:extLst>
                    <a:ext uri="{9D8B030D-6E8A-4147-A177-3AD203B41FA5}">
                      <a16:colId xmlns:a16="http://schemas.microsoft.com/office/drawing/2014/main" val="2298859349"/>
                    </a:ext>
                  </a:extLst>
                </a:gridCol>
                <a:gridCol w="6001867">
                  <a:extLst>
                    <a:ext uri="{9D8B030D-6E8A-4147-A177-3AD203B41FA5}">
                      <a16:colId xmlns:a16="http://schemas.microsoft.com/office/drawing/2014/main" val="3117818289"/>
                    </a:ext>
                  </a:extLst>
                </a:gridCol>
              </a:tblGrid>
              <a:tr h="384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 i="1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 i="1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529048"/>
                  </a:ext>
                </a:extLst>
              </a:tr>
              <a:tr h="7920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Undefined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quality is undefined: unprocessed test, meaningless test, failure in the computation of the test...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379037"/>
                  </a:ext>
                </a:extLst>
              </a:tr>
              <a:tr h="1200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Error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an error in the results. The processing should be rejected (for instance, it contains aberrant values or some numerical constraints are not fulfilled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78156"/>
                  </a:ext>
                </a:extLst>
              </a:tr>
              <a:tr h="7920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Severe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no logical error in the results, but they should not be accepted for some statistical reasons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611476"/>
                  </a:ext>
                </a:extLst>
              </a:tr>
              <a:tr h="7920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Bad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quality of the results is bad, following a specific criterion, but there is no actual error and the results could be used.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349904"/>
                  </a:ext>
                </a:extLst>
              </a:tr>
              <a:tr h="384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result of the test is uncertain. Consider it with caution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324815"/>
                  </a:ext>
                </a:extLst>
              </a:tr>
              <a:tr h="384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result of the test is good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547131"/>
                  </a:ext>
                </a:extLst>
              </a:tr>
            </a:tbl>
          </a:graphicData>
        </a:graphic>
      </p:graphicFrame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4E6DCC-6324-EDE7-51DB-57B12A0924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4C84196-9C88-1D6C-FAFA-56487DF70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10" y="1403689"/>
            <a:ext cx="2762636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4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7C8856-DCD3-80FE-95FD-CAB4B32D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noProof="0" dirty="0"/>
              <a:t>1.1 Computation of the global indicator (summary)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65A84C06-4FF6-4072-4D26-A16B2B401CD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23166967"/>
              </p:ext>
            </p:extLst>
          </p:nvPr>
        </p:nvGraphicFramePr>
        <p:xfrm>
          <a:off x="969963" y="1371600"/>
          <a:ext cx="6555549" cy="4578754"/>
        </p:xfrm>
        <a:graphic>
          <a:graphicData uri="http://schemas.openxmlformats.org/drawingml/2006/table">
            <a:tbl>
              <a:tblPr firstRow="1" firstCol="1" bandRow="1"/>
              <a:tblGrid>
                <a:gridCol w="1489444">
                  <a:extLst>
                    <a:ext uri="{9D8B030D-6E8A-4147-A177-3AD203B41FA5}">
                      <a16:colId xmlns:a16="http://schemas.microsoft.com/office/drawing/2014/main" val="510482419"/>
                    </a:ext>
                  </a:extLst>
                </a:gridCol>
                <a:gridCol w="5066105">
                  <a:extLst>
                    <a:ext uri="{9D8B030D-6E8A-4147-A177-3AD203B41FA5}">
                      <a16:colId xmlns:a16="http://schemas.microsoft.com/office/drawing/2014/main" val="2560051185"/>
                    </a:ext>
                  </a:extLst>
                </a:gridCol>
              </a:tblGrid>
              <a:tr h="448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 i="1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Sum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b="1" i="1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Rules</a:t>
                      </a:r>
                      <a:endParaRPr lang="en-GB" sz="1800" noProof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095040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Undefined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All diagnostics are Undefined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966845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Error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at least 1 error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188287"/>
                  </a:ext>
                </a:extLst>
              </a:tr>
              <a:tr h="448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Severe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at least 1 "severe" diagnostic but no error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488050"/>
                  </a:ext>
                </a:extLst>
              </a:tr>
              <a:tr h="925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error, no severe diagnostics;  the average of the (defined) diagnostics (Bad=1, Uncertain=2, Good=3) is &lt; 1.5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855810"/>
                  </a:ext>
                </a:extLst>
              </a:tr>
              <a:tr h="925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error, no severe diagnostics;  the average of the  (defined) diagnostics (Bad=1, Uncertain=2, Good=3) is in [1.5, 2.5[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084439"/>
                  </a:ext>
                </a:extLst>
              </a:tr>
              <a:tr h="925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GB" sz="1800" noProof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 error, no severe diagnostics;  the average of the  (defined) diagnostics (Bad=1, Uncertain=2, Good=3) is ≥ 2.5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301564"/>
                  </a:ext>
                </a:extLst>
              </a:tr>
            </a:tbl>
          </a:graphicData>
        </a:graphic>
      </p:graphicFrame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F261AE-28DB-9266-1D0B-B84184623CC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26BACEA-4226-8CC3-B7B0-E512F4317DF6}"/>
              </a:ext>
            </a:extLst>
          </p:cNvPr>
          <p:cNvSpPr txBox="1"/>
          <p:nvPr/>
        </p:nvSpPr>
        <p:spPr>
          <a:xfrm>
            <a:off x="8120935" y="1770745"/>
            <a:ext cx="35204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In most cases, we can’t say that one seasonal adjustment is « better » than another one → NO FIGURE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We even can’t say that a SA is really good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0" dirty="0"/>
              <a:t>We just can say that there is probably a problem in a given SA (or not)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3030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66473F-3D38-53E1-1DC6-9CE608BE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2. Customization of the diagnostics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422BFA-FB58-B927-AE9A-0A6C8EC48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371601"/>
            <a:ext cx="4866552" cy="4724526"/>
          </a:xfrm>
        </p:spPr>
        <p:txBody>
          <a:bodyPr/>
          <a:lstStyle/>
          <a:p>
            <a:r>
              <a:rPr lang="en-GB" noProof="0" dirty="0"/>
              <a:t>Diagnostics can be enabled/disabled</a:t>
            </a:r>
          </a:p>
          <a:p>
            <a:r>
              <a:rPr lang="en-GB" noProof="0" dirty="0"/>
              <a:t>Thresholds can be modified</a:t>
            </a:r>
          </a:p>
          <a:p>
            <a:r>
              <a:rPr lang="en-GB" noProof="0" dirty="0"/>
              <a:t>Different diagnostics following the algorithm (new in v3)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CAE098-167D-69C1-C979-7EC7E8C68FD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984EE1B-822D-A34F-A931-E75402656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71601"/>
            <a:ext cx="4664149" cy="464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1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EC563B-50C1-B813-B763-9702C339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3.1 Basic checks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space réservé du contenu 12">
                <a:extLst>
                  <a:ext uri="{FF2B5EF4-FFF2-40B4-BE49-F238E27FC236}">
                    <a16:creationId xmlns:a16="http://schemas.microsoft.com/office/drawing/2014/main" id="{FD9858F6-A432-15A3-9E08-09C8710F3C2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70722" y="1371601"/>
                <a:ext cx="9566143" cy="4688957"/>
              </a:xfrm>
            </p:spPr>
            <p:txBody>
              <a:bodyPr/>
              <a:lstStyle/>
              <a:p>
                <a:r>
                  <a:rPr lang="en-GB" sz="2400" noProof="0" dirty="0"/>
                  <a:t>Definition</a:t>
                </a:r>
              </a:p>
              <a:p>
                <a:pPr lvl="1"/>
                <a:r>
                  <a:rPr lang="en-GB" sz="2000" noProof="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Verification that the definition constraints implied by the model of the series are well respected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b="0" i="0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Y</m:t>
                    </m:r>
                    <m:r>
                      <a:rPr lang="en-GB" sz="1800" b="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800" b="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GB" sz="1800" b="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GB" sz="1800" b="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GB" sz="1800" b="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GB" sz="1800" b="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GB" sz="1800" b="0" i="1" noProof="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GB" sz="1800" b="0" i="1" noProof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endParaRPr lang="en-GB" sz="1800" noProof="0" dirty="0"/>
              </a:p>
              <a:p>
                <a:pPr lvl="1"/>
                <a:r>
                  <a:rPr lang="en-GB" sz="2000" noProof="0" dirty="0"/>
                  <a:t>Error → Bug in the software (→ </a:t>
                </a:r>
                <a:r>
                  <a:rPr lang="en-GB" sz="2000" noProof="0" dirty="0" err="1"/>
                  <a:t>github</a:t>
                </a:r>
                <a:r>
                  <a:rPr lang="en-GB" sz="2000" noProof="0" dirty="0"/>
                  <a:t>)</a:t>
                </a:r>
              </a:p>
              <a:p>
                <a:r>
                  <a:rPr lang="en-GB" sz="2400" noProof="0" dirty="0"/>
                  <a:t>Annual totals</a:t>
                </a:r>
              </a:p>
              <a:p>
                <a:pPr lvl="1"/>
                <a:r>
                  <a:rPr lang="en-GB" sz="2000" noProof="0" dirty="0"/>
                  <a:t>Comparison of the annuals totals of the original series and those of the seasonally adjusted series </a:t>
                </a:r>
              </a:p>
              <a:p>
                <a:pPr lvl="1"/>
                <a:r>
                  <a:rPr lang="en-GB" sz="2000" noProof="0" dirty="0"/>
                  <a:t>Error ≡ not an actual bug, but an unacceptable result (→ additive decomposition, benchmarking)</a:t>
                </a:r>
              </a:p>
              <a:p>
                <a:pPr lvl="1"/>
                <a:endParaRPr lang="en-GB" noProof="0" dirty="0"/>
              </a:p>
              <a:p>
                <a:endParaRPr lang="en-GB" noProof="0" dirty="0"/>
              </a:p>
            </p:txBody>
          </p:sp>
        </mc:Choice>
        <mc:Fallback xmlns="">
          <p:sp>
            <p:nvSpPr>
              <p:cNvPr id="13" name="Espace réservé du contenu 12">
                <a:extLst>
                  <a:ext uri="{FF2B5EF4-FFF2-40B4-BE49-F238E27FC236}">
                    <a16:creationId xmlns:a16="http://schemas.microsoft.com/office/drawing/2014/main" id="{FD9858F6-A432-15A3-9E08-09C8710F3C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70722" y="1371601"/>
                <a:ext cx="9566143" cy="4688957"/>
              </a:xfrm>
              <a:blipFill>
                <a:blip r:embed="rId2"/>
                <a:stretch>
                  <a:fillRect l="-829" t="-16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2D5963-A85D-0026-80B1-22FA3DC54D4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</p:spTree>
    <p:extLst>
      <p:ext uri="{BB962C8B-B14F-4D97-AF65-F5344CB8AC3E}">
        <p14:creationId xmlns:p14="http://schemas.microsoft.com/office/powerpoint/2010/main" val="303839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F5D3B-13B7-360A-44A5-4B1ACD61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3.21 </a:t>
            </a:r>
            <a:r>
              <a:rPr lang="en-GB" noProof="0" dirty="0" err="1"/>
              <a:t>Modeling</a:t>
            </a:r>
            <a:r>
              <a:rPr lang="en-GB" noProof="0" dirty="0"/>
              <a:t>: REGARIMA residuals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9BDE33-26C2-A0A7-5277-ADD5CD6ECE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noProof="0" dirty="0"/>
              <a:t>Various NIID tests on the residuals of the REGARIMA pre-processing.</a:t>
            </a:r>
          </a:p>
          <a:p>
            <a:pPr lvl="1"/>
            <a:r>
              <a:rPr lang="en-GB" sz="2000" noProof="0" dirty="0"/>
              <a:t>Normality (Doornik-Hansen)</a:t>
            </a:r>
          </a:p>
          <a:p>
            <a:pPr lvl="1"/>
            <a:r>
              <a:rPr lang="en-GB" sz="2000" noProof="0" dirty="0"/>
              <a:t>Independence (Ljung-Box)</a:t>
            </a:r>
          </a:p>
          <a:p>
            <a:pPr lvl="1"/>
            <a:r>
              <a:rPr lang="en-GB" sz="2000" noProof="0" dirty="0"/>
              <a:t>Spectral TD (periodogram). </a:t>
            </a:r>
          </a:p>
          <a:p>
            <a:pPr lvl="1"/>
            <a:r>
              <a:rPr lang="en-GB" sz="2000" noProof="0" dirty="0"/>
              <a:t>Spectral Seas (periodogram)</a:t>
            </a:r>
          </a:p>
          <a:p>
            <a:r>
              <a:rPr lang="en-GB" sz="2400" noProof="0" dirty="0"/>
              <a:t>Should not be overstated</a:t>
            </a:r>
          </a:p>
          <a:p>
            <a:pPr lvl="1"/>
            <a:r>
              <a:rPr lang="en-GB" sz="2000" noProof="0" dirty="0"/>
              <a:t>especially normality, independence</a:t>
            </a:r>
          </a:p>
          <a:p>
            <a:pPr lvl="1"/>
            <a:r>
              <a:rPr lang="en-GB" sz="2000" noProof="0" dirty="0"/>
              <a:t>especially for X12</a:t>
            </a:r>
          </a:p>
          <a:p>
            <a:r>
              <a:rPr lang="en-GB" sz="2400" noProof="0" dirty="0"/>
              <a:t>Show possible problems in the decomposition part.</a:t>
            </a:r>
          </a:p>
          <a:p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DE2445-D906-6C97-FC3B-FE9A7CC74DC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</p:spTree>
    <p:extLst>
      <p:ext uri="{BB962C8B-B14F-4D97-AF65-F5344CB8AC3E}">
        <p14:creationId xmlns:p14="http://schemas.microsoft.com/office/powerpoint/2010/main" val="123314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668E9-3803-6D4F-30A7-BA85CD8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74" y="413590"/>
            <a:ext cx="11135448" cy="782357"/>
          </a:xfrm>
        </p:spPr>
        <p:txBody>
          <a:bodyPr/>
          <a:lstStyle/>
          <a:p>
            <a:r>
              <a:rPr lang="en-GB" noProof="0" dirty="0"/>
              <a:t>3.22 </a:t>
            </a:r>
            <a:r>
              <a:rPr lang="en-GB" noProof="0" dirty="0" err="1"/>
              <a:t>Modeling:</a:t>
            </a:r>
            <a:r>
              <a:rPr lang="en-GB" sz="3600" noProof="0" dirty="0" err="1"/>
              <a:t>Outliers</a:t>
            </a:r>
            <a:r>
              <a:rPr lang="en-GB" sz="3600" noProof="0" dirty="0"/>
              <a:t>, out-of-sample diagnostics</a:t>
            </a:r>
            <a:endParaRPr lang="en-GB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5827C-F2A6-BF48-9375-1EE93380B7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noProof="0" dirty="0"/>
              <a:t>Should we accept a series with many outliers ?</a:t>
            </a:r>
          </a:p>
          <a:p>
            <a:r>
              <a:rPr lang="en-GB" sz="2400" noProof="0" dirty="0"/>
              <a:t>Should we accept a model that provides biased/bad forecasts (mean/variance) at the end of the series ?</a:t>
            </a:r>
          </a:p>
          <a:p>
            <a:r>
              <a:rPr lang="en-GB" sz="2400" noProof="0" dirty="0"/>
              <a:t>Not enabled by default, but used for model selection in Tramo (AMI)</a:t>
            </a:r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ADC23C-F70E-66AF-0212-0F0E9D0C190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</p:spTree>
    <p:extLst>
      <p:ext uri="{BB962C8B-B14F-4D97-AF65-F5344CB8AC3E}">
        <p14:creationId xmlns:p14="http://schemas.microsoft.com/office/powerpoint/2010/main" val="4249795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9E0E9F-29D0-89ED-18E0-FB89A4FD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3.3 Residual seasonality tests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A18B25-3954-DFF9-AC5E-BCCB7B2017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noProof="0" dirty="0"/>
              <a:t>Most important test</a:t>
            </a:r>
          </a:p>
          <a:p>
            <a:r>
              <a:rPr lang="en-GB" sz="2400" noProof="0" dirty="0"/>
              <a:t>Qs test and F-test on seasonal dummies (last 12 years)</a:t>
            </a:r>
          </a:p>
          <a:p>
            <a:r>
              <a:rPr lang="en-GB" sz="2400" noProof="0" dirty="0"/>
              <a:t>On the SA series and on the irregular component (not computed on very small irregular)</a:t>
            </a:r>
          </a:p>
          <a:p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6F56BD-B0E1-6B03-34D1-9C5E00A42E0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</p:spTree>
    <p:extLst>
      <p:ext uri="{BB962C8B-B14F-4D97-AF65-F5344CB8AC3E}">
        <p14:creationId xmlns:p14="http://schemas.microsoft.com/office/powerpoint/2010/main" val="291561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74FE-5A9F-B14F-AF9A-F47FCA611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BA1E2B-599E-BFE5-FBA1-CF3020A4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3.4 Residual trading days tests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DFCEF7-FAC6-F159-6182-9BD49584FF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noProof="0" dirty="0"/>
              <a:t>Disabled for quarterly series, rather important for monthly series</a:t>
            </a:r>
          </a:p>
          <a:p>
            <a:r>
              <a:rPr lang="en-GB" sz="2400" noProof="0" dirty="0"/>
              <a:t>F-test on trading days variables </a:t>
            </a:r>
          </a:p>
          <a:p>
            <a:r>
              <a:rPr lang="en-GB" sz="2400" noProof="0" dirty="0"/>
              <a:t>On the SA series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F91BD4-A2AF-963F-829B-37CC4E9AB49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</p:spTree>
    <p:extLst>
      <p:ext uri="{BB962C8B-B14F-4D97-AF65-F5344CB8AC3E}">
        <p14:creationId xmlns:p14="http://schemas.microsoft.com/office/powerpoint/2010/main" val="3615481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8EDD7-05EE-6561-BC2E-A107FCFE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3.51 Seats diagnostics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2B225-5DE3-9831-4F66-BE40F6FEF3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noProof="0" dirty="0"/>
              <a:t>Model-based diagnostics</a:t>
            </a:r>
          </a:p>
          <a:p>
            <a:pPr lvl="1"/>
            <a:r>
              <a:rPr lang="en-GB" sz="2000" noProof="0" dirty="0"/>
              <a:t>Comparison of the variances of the theoretical estimators of the (stationary) components (seasonal, irregular) and of their estimates</a:t>
            </a:r>
          </a:p>
          <a:p>
            <a:pPr lvl="1"/>
            <a:r>
              <a:rPr lang="en-GB" sz="2000" noProof="0" dirty="0"/>
              <a:t>More detailed information available in the interactive module (not used in the diagnostics)</a:t>
            </a:r>
          </a:p>
          <a:p>
            <a:pPr lvl="1"/>
            <a:r>
              <a:rPr lang="en-GB" sz="2000" noProof="0" dirty="0"/>
              <a:t>Possible problems when</a:t>
            </a:r>
          </a:p>
          <a:p>
            <a:pPr lvl="2"/>
            <a:r>
              <a:rPr lang="en-GB" sz="1800" noProof="0" dirty="0"/>
              <a:t>The ARIMA model is changed by SEATS</a:t>
            </a:r>
          </a:p>
          <a:p>
            <a:pPr lvl="2"/>
            <a:r>
              <a:rPr lang="en-GB" sz="1800" noProof="0" dirty="0"/>
              <a:t>The chosen ARIMA model doesn’t fit correctly the data (see also ARIMA residuals)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86E32D-6749-E7C6-0B22-F410D686C4D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</p:spTree>
    <p:extLst>
      <p:ext uri="{BB962C8B-B14F-4D97-AF65-F5344CB8AC3E}">
        <p14:creationId xmlns:p14="http://schemas.microsoft.com/office/powerpoint/2010/main" val="3549138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3ED722-D35A-74A6-290C-FD4BABC1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3.52 X11 Diagnostics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D6F57F-506A-8C0E-AAF0-C00F1D3B4D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noProof="0" dirty="0"/>
              <a:t>M-Statistics: global indicators (see Ladiray-Quenneville…)</a:t>
            </a:r>
          </a:p>
          <a:p>
            <a:pPr lvl="1"/>
            <a:r>
              <a:rPr lang="en-GB" sz="2000" noProof="0" dirty="0"/>
              <a:t>Q</a:t>
            </a:r>
          </a:p>
          <a:p>
            <a:pPr lvl="1"/>
            <a:r>
              <a:rPr lang="en-GB" sz="2000" noProof="0" dirty="0"/>
              <a:t>Q-M2</a:t>
            </a:r>
          </a:p>
          <a:p>
            <a:pPr lvl="1"/>
            <a:r>
              <a:rPr lang="en-GB" sz="2000" noProof="0" dirty="0"/>
              <a:t>Diagnostics on the  ratios I/C (M3, M5) and I/S (M6) and on the stability of S (M8)</a:t>
            </a:r>
            <a:endParaRPr lang="en-GB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EFCA6C-4CED-1F82-8D27-AB6039F5221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 noProof="0" dirty="0"/>
              <a:t>Quality diagnostics</a:t>
            </a:r>
          </a:p>
        </p:txBody>
      </p:sp>
    </p:spTree>
    <p:extLst>
      <p:ext uri="{BB962C8B-B14F-4D97-AF65-F5344CB8AC3E}">
        <p14:creationId xmlns:p14="http://schemas.microsoft.com/office/powerpoint/2010/main" val="359054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49</TotalTime>
  <Words>714</Words>
  <Application>Microsoft Office PowerPoint</Application>
  <PresentationFormat>Grand écran</PresentationFormat>
  <Paragraphs>93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ESTAT Theme</vt:lpstr>
      <vt:lpstr>5 Quality diagnostics in JD+</vt:lpstr>
      <vt:lpstr>1. Possible outcomes</vt:lpstr>
      <vt:lpstr>1.1 Computation of the global indicator (summary)</vt:lpstr>
      <vt:lpstr>2. Customization of the diagnostics</vt:lpstr>
      <vt:lpstr>3.1 Basic checks</vt:lpstr>
      <vt:lpstr>3.21 Modeling: REGARIMA residuals</vt:lpstr>
      <vt:lpstr>3.22 Modeling:Outliers, out-of-sample diagnostics</vt:lpstr>
      <vt:lpstr>3.3 Residual seasonality tests</vt:lpstr>
      <vt:lpstr>3.4 Residual trading days tests</vt:lpstr>
      <vt:lpstr>3.51 Seats diagnostics</vt:lpstr>
      <vt:lpstr>3.52 X11 Diagnostics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70</cp:revision>
  <dcterms:created xsi:type="dcterms:W3CDTF">2024-11-22T11:11:00Z</dcterms:created>
  <dcterms:modified xsi:type="dcterms:W3CDTF">2026-10-01T08:41:00Z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