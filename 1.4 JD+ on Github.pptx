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256" r:id="rId5"/>
    <p:sldId id="262" r:id="rId6"/>
    <p:sldId id="259" r:id="rId7"/>
    <p:sldId id="263" r:id="rId8"/>
    <p:sldId id="264" r:id="rId9"/>
    <p:sldId id="265" r:id="rId10"/>
    <p:sldId id="266" r:id="rId11"/>
    <p:sldId id="260" r:id="rId12"/>
    <p:sldId id="267" r:id="rId13"/>
    <p:sldId id="269" r:id="rId14"/>
    <p:sldId id="261" r:id="rId15"/>
  </p:sldIdLst>
  <p:sldSz cx="12192000" cy="6858000"/>
  <p:notesSz cx="6858000" cy="9144000"/>
  <p:custDataLst>
    <p:tags r:id="rId18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92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59" roundtripDataSignature="AMtx7mh3YP3xexYcFoahXa2ehi0H5V4Z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4A7"/>
    <a:srgbClr val="101010"/>
    <a:srgbClr val="F4F4F4"/>
    <a:srgbClr val="104F99"/>
    <a:srgbClr val="0E47CB"/>
    <a:srgbClr val="003180"/>
    <a:srgbClr val="0A2744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45" autoAdjust="0"/>
    <p:restoredTop sz="81100" autoAdjust="0"/>
  </p:normalViewPr>
  <p:slideViewPr>
    <p:cSldViewPr snapToGrid="0">
      <p:cViewPr varScale="1">
        <p:scale>
          <a:sx n="90" d="100"/>
          <a:sy n="90" d="100"/>
        </p:scale>
        <p:origin x="1122" y="84"/>
      </p:cViewPr>
      <p:guideLst>
        <p:guide orient="horz" pos="209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5" d="100"/>
          <a:sy n="75" d="100"/>
        </p:scale>
        <p:origin x="2938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gs" Target="tags/tag1.xml"/><Relationship Id="rId3" Type="http://schemas.openxmlformats.org/officeDocument/2006/relationships/customXml" Target="../customXml/item3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59" Type="http://customschemas.google.com/relationships/presentationmetadata" Target="metadata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61" Type="http://schemas.openxmlformats.org/officeDocument/2006/relationships/viewProps" Target="viewProps.xml"/><Relationship Id="rId10" Type="http://schemas.openxmlformats.org/officeDocument/2006/relationships/slide" Target="slides/slide6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66D6800-DB9C-EBAC-83AC-5F9D7E2C8B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ED1430-DB1F-C50E-E2CC-369D36DF27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FB8CE-488C-4A7E-87F2-3AF6127C51C1}" type="datetimeFigureOut">
              <a:rPr lang="en-IE" smtClean="0"/>
              <a:t>22/09/2026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B46C1-E31F-1BE5-CF29-FC2D8EA3E2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38F49-91A1-E3F0-770A-4578CF8E586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F2F4C-E206-483F-A4B8-E82471BA527C}" type="slidenum">
              <a:rPr lang="en-IE" smtClean="0"/>
              <a:t>‹N°›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9827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 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898605-EE7A-6AAE-447A-080B2C6D22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 t="3042" b="3042"/>
          <a:stretch/>
        </p:blipFill>
        <p:spPr>
          <a:xfrm>
            <a:off x="-918" y="0"/>
            <a:ext cx="12192001" cy="6866879"/>
          </a:xfrm>
          <a:prstGeom prst="rect">
            <a:avLst/>
          </a:prstGeom>
        </p:spPr>
      </p:pic>
      <p:sp>
        <p:nvSpPr>
          <p:cNvPr id="19" name="Google Shape;19;p22"/>
          <p:cNvSpPr txBox="1">
            <a:spLocks noGrp="1"/>
          </p:cNvSpPr>
          <p:nvPr>
            <p:ph type="subTitle" idx="1"/>
          </p:nvPr>
        </p:nvSpPr>
        <p:spPr>
          <a:xfrm>
            <a:off x="1112521" y="3277775"/>
            <a:ext cx="3957106" cy="1745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i="0">
                <a:solidFill>
                  <a:schemeClr val="bg1"/>
                </a:solidFill>
              </a:defRPr>
            </a:lvl1pPr>
            <a:lvl2pPr lvl="1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9F257-77BC-80DD-CDE4-F5B22D7951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381876" y="3596720"/>
            <a:ext cx="4224858" cy="1374485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84A076C-4C5D-810C-C205-F06C49169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2521" y="885018"/>
            <a:ext cx="9448800" cy="2037783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E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5F2B0E4-A35A-CFA1-4E98-55EAD82CE8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07994" y="5771588"/>
            <a:ext cx="2509626" cy="777875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9407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3BA733-25B6-C4BB-1150-48850654F2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3E27D-21BB-B8BD-0101-611C3D7A9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8CD64-6B9A-81A2-BDB2-55DA96C9E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901951"/>
            <a:ext cx="10515597" cy="4194176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3503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2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491114-E7C3-4716-7109-6FDE72E853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C1ABAA-9559-8C24-1A56-0668CC6643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EBC1E451-4262-316A-7418-6EF16E049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B9F341-14FC-51F5-105A-E4BFB54BFED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533867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824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3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9220B6-B4CB-BA59-8F58-4304C8D4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723" y="1894895"/>
            <a:ext cx="5157787" cy="823912"/>
          </a:xfrm>
        </p:spPr>
        <p:txBody>
          <a:bodyPr wrap="square" anchor="t">
            <a:noAutofit/>
          </a:bodyPr>
          <a:lstStyle>
            <a:lvl1pPr marL="0" indent="0">
              <a:buNone/>
              <a:defRPr sz="2400" b="0" baseline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DB0ABC1-873A-F2DD-170F-E80FE4830D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2725735"/>
            <a:ext cx="5157787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057B6DC-82B6-DC47-2B36-FBA16BFA5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3134" y="1894895"/>
            <a:ext cx="5183188" cy="823912"/>
          </a:xfrm>
          <a:noFill/>
        </p:spPr>
        <p:txBody>
          <a:bodyPr wrap="square" anchor="t">
            <a:noAutofit/>
          </a:bodyPr>
          <a:lstStyle>
            <a:lvl1pPr marL="0" indent="0">
              <a:buNone/>
              <a:defRPr sz="2400" b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95916A-C750-070D-C528-9F655246DF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7D36BD-C483-ED07-0866-A0A591A01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A623D267-A36F-1DAC-4912-F3587711782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09559" y="2725735"/>
            <a:ext cx="5183188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7344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st slide (option 1)" preserve="1" userDrawn="1">
  <p:cSld name="Last slide (option 1)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1;p37">
            <a:extLst>
              <a:ext uri="{FF2B5EF4-FFF2-40B4-BE49-F238E27FC236}">
                <a16:creationId xmlns:a16="http://schemas.microsoft.com/office/drawing/2014/main" id="{ACED6512-1BD5-58D6-D635-D62C0A34BF8C}"/>
              </a:ext>
            </a:extLst>
          </p:cNvPr>
          <p:cNvSpPr>
            <a:spLocks/>
          </p:cNvSpPr>
          <p:nvPr userDrawn="1"/>
        </p:nvSpPr>
        <p:spPr>
          <a:xfrm>
            <a:off x="0" y="3328560"/>
            <a:ext cx="12192000" cy="2913720"/>
          </a:xfrm>
          <a:prstGeom prst="rect">
            <a:avLst/>
          </a:prstGeom>
          <a:solidFill>
            <a:srgbClr val="2644A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7"/>
          <p:cNvSpPr txBox="1">
            <a:spLocks noGrp="1"/>
          </p:cNvSpPr>
          <p:nvPr>
            <p:ph type="body" idx="1"/>
          </p:nvPr>
        </p:nvSpPr>
        <p:spPr>
          <a:xfrm>
            <a:off x="970723" y="3777422"/>
            <a:ext cx="6865686" cy="2174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2400">
                <a:solidFill>
                  <a:srgbClr val="F4F4F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8A19F-A201-3EB2-A71E-1E51EF3E1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107569" y="3538903"/>
            <a:ext cx="2931525" cy="2412704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CD49B01-566F-CA34-C636-83E50BFD4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722" y="414281"/>
            <a:ext cx="10515600" cy="2937139"/>
          </a:xfrm>
          <a:prstGeom prst="rect">
            <a:avLst/>
          </a:prstGeom>
        </p:spPr>
        <p:txBody>
          <a:bodyPr vert="horz" lIns="91440" tIns="45720" rIns="91440" bIns="0" rtlCol="0" anchor="ctr" anchorCtr="0">
            <a:noAutofit/>
          </a:bodyPr>
          <a:lstStyle>
            <a:lvl1pPr algn="ctr">
              <a:defRPr sz="4800">
                <a:solidFill>
                  <a:srgbClr val="10101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Google Shape;10;p21">
            <a:extLst>
              <a:ext uri="{FF2B5EF4-FFF2-40B4-BE49-F238E27FC236}">
                <a16:creationId xmlns:a16="http://schemas.microsoft.com/office/drawing/2014/main" id="{C209E83E-F338-C8C6-D016-6C5FE194EA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6B8EBF-8A1C-818A-CBBC-1DC51D94C5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541C9F-06FD-4BC7-C438-D852985D159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49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B2EE2-5350-4CCA-B481-C9B1FADE2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3D27A-C878-46FD-8424-2CB1C3CCF4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AD6F49-FAB5-4020-98A7-2FF68B1D1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03C74E-E8A9-489F-9ABD-2BEF9F6D7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JD+ on Github</a:t>
            </a:r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D89EC4-E3E4-45BC-9DD9-96DAB89B3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C1ED17-DE62-4D43-9CDA-4A6C9B2745D4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66597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1"/>
          <p:cNvSpPr txBox="1">
            <a:spLocks noGrp="1"/>
          </p:cNvSpPr>
          <p:nvPr>
            <p:ph type="title"/>
          </p:nvPr>
        </p:nvSpPr>
        <p:spPr>
          <a:xfrm>
            <a:off x="838200" y="763064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sz="4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2" name="Google Shape;12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881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7" r:id="rId1"/>
    <p:sldLayoutId id="2147483717" r:id="rId2"/>
    <p:sldLayoutId id="2147483724" r:id="rId3"/>
    <p:sldLayoutId id="2147483725" r:id="rId4"/>
    <p:sldLayoutId id="2147483723" r:id="rId5"/>
    <p:sldLayoutId id="2147483728" r:id="rId6"/>
  </p:sldLayoutIdLst>
  <p:hf sldNum="0"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2644A7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demetra/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://en.wikipedia.org/wiki/Distributed_revision_control" TargetMode="Externa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jdverse" TargetMode="External"/><Relationship Id="rId2" Type="http://schemas.openxmlformats.org/officeDocument/2006/relationships/hyperlink" Target="https://github.com/jdemetra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github.com/palatej/estp202" TargetMode="External"/><Relationship Id="rId5" Type="http://schemas.openxmlformats.org/officeDocument/2006/relationships/hyperlink" Target="https://rjdverse.r-universe.dev/packages" TargetMode="External"/><Relationship Id="rId4" Type="http://schemas.openxmlformats.org/officeDocument/2006/relationships/hyperlink" Target="https://doc.jdemetra.org/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86E511-2A8E-CD8D-FA1D-6DDA5388CE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ESTP Training</a:t>
            </a:r>
          </a:p>
          <a:p>
            <a:r>
              <a:rPr lang="en-IE"/>
              <a:t>05-07 October 2026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518E6D-618C-DDB2-DF84-26EB66F0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JD+ on </a:t>
            </a:r>
            <a:r>
              <a:rPr lang="en-IE" dirty="0" err="1"/>
              <a:t>Github</a:t>
            </a:r>
            <a:endParaRPr lang="en-I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FA50BB-3958-DA6F-CD7B-74B9FFF5C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1153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3039" y="1934716"/>
            <a:ext cx="1685925" cy="163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1981200" y="4077072"/>
            <a:ext cx="8229600" cy="1143000"/>
          </a:xfrm>
        </p:spPr>
        <p:txBody>
          <a:bodyPr>
            <a:normAutofit/>
          </a:bodyPr>
          <a:lstStyle/>
          <a:p>
            <a:r>
              <a:rPr lang="fr-BE" dirty="0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</a:t>
            </a:r>
            <a:r>
              <a:rPr lang="fr-BE" b="1" dirty="0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github</a:t>
            </a:r>
            <a:r>
              <a:rPr lang="fr-BE" dirty="0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.com/jdemetra/</a:t>
            </a:r>
            <a:endParaRPr lang="en-US" b="1" dirty="0">
              <a:solidFill>
                <a:schemeClr val="tx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DA1B592-303E-409C-0CC9-2A5999EE5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JD+ on Github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54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lang="fr-BE" dirty="0" err="1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GitHub</a:t>
            </a:r>
            <a:r>
              <a:rPr lang="fr-BE" dirty="0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specifics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4525963"/>
          </a:xfrm>
        </p:spPr>
        <p:txBody>
          <a:bodyPr/>
          <a:lstStyle/>
          <a:p>
            <a:pPr>
              <a:lnSpc>
                <a:spcPct val="200000"/>
              </a:lnSpc>
            </a:pPr>
            <a:r>
              <a:rPr lang="en-US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git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web-based hosting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« Social coding »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Issue tracking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Pull request</a:t>
            </a:r>
          </a:p>
          <a:p>
            <a:pPr>
              <a:lnSpc>
                <a:spcPct val="200000"/>
              </a:lnSpc>
            </a:pPr>
            <a:r>
              <a:rPr lang="fr-BE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Wiki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C6E9E9F-3FF7-C540-287E-1C8D98C8C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JD+ on Github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1558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git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web-based hosting</a:t>
            </a:r>
            <a:b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err="1"/>
              <a:t>Git</a:t>
            </a:r>
            <a:r>
              <a:rPr lang="en-US" dirty="0"/>
              <a:t> is a </a:t>
            </a:r>
            <a:r>
              <a:rPr lang="en-US" dirty="0">
                <a:hlinkClick r:id="rId2" tooltip="Distributed revision control"/>
              </a:rPr>
              <a:t>distributed revision control</a:t>
            </a:r>
            <a:r>
              <a:rPr lang="en-US" dirty="0"/>
              <a:t> system with an emphasis on speed, data integrity, and support for distributed, non-linear workflows. [Wikipedia]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2651" y="3150352"/>
            <a:ext cx="6870373" cy="24868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3C794FA-3D98-4584-948F-F1EFFBD3F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JD+ on Github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70139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« Social coding »</a:t>
            </a:r>
            <a:endParaRPr lang="en-US" dirty="0"/>
          </a:p>
        </p:txBody>
      </p:sp>
      <p:pic>
        <p:nvPicPr>
          <p:cNvPr id="3074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3553905"/>
            <a:ext cx="7591824" cy="28653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288" y="1414021"/>
            <a:ext cx="6888270" cy="21398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C98C44B-831F-3B9A-60CB-602114508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JD+ on Github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60054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Issue tracking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3250" y="1690689"/>
            <a:ext cx="7661529" cy="44862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6FB1BBD-4E97-6C25-8AAF-690390DAB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JD+ on Github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57063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Pull </a:t>
            </a:r>
            <a:r>
              <a:rPr lang="fr-BE" dirty="0" err="1"/>
              <a:t>request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Main </a:t>
            </a:r>
            <a:r>
              <a:rPr lang="fr-BE" dirty="0" err="1"/>
              <a:t>steps</a:t>
            </a:r>
            <a:endParaRPr lang="fr-BE" dirty="0"/>
          </a:p>
          <a:p>
            <a:pPr lvl="1"/>
            <a:r>
              <a:rPr lang="en-GB" dirty="0"/>
              <a:t>Create the feature in a dedicated branch in a local repository</a:t>
            </a:r>
          </a:p>
          <a:p>
            <a:pPr lvl="1"/>
            <a:r>
              <a:rPr lang="en-GB" dirty="0"/>
              <a:t>Push the branch to a public repository (on </a:t>
            </a:r>
            <a:r>
              <a:rPr lang="en-GB" dirty="0" err="1"/>
              <a:t>Github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Create a pull request (on </a:t>
            </a:r>
            <a:r>
              <a:rPr lang="en-GB" dirty="0" err="1"/>
              <a:t>Github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Review of the code, discussions, modifications </a:t>
            </a:r>
            <a:r>
              <a:rPr lang="en-GB" dirty="0" err="1"/>
              <a:t>bu</a:t>
            </a:r>
            <a:r>
              <a:rPr lang="en-GB" dirty="0"/>
              <a:t> the other developers</a:t>
            </a:r>
          </a:p>
          <a:p>
            <a:pPr lvl="1"/>
            <a:r>
              <a:rPr lang="en-GB" dirty="0"/>
              <a:t>The project maintainer merges the feature into the official repository and closes the pull request.</a:t>
            </a:r>
          </a:p>
          <a:p>
            <a:r>
              <a:rPr lang="en-GB" dirty="0"/>
              <a:t>Remarks:</a:t>
            </a:r>
          </a:p>
          <a:p>
            <a:pPr lvl="1"/>
            <a:r>
              <a:rPr lang="en-GB" dirty="0"/>
              <a:t>“Social control” (everything is public)</a:t>
            </a:r>
          </a:p>
          <a:p>
            <a:pPr lvl="1"/>
            <a:r>
              <a:rPr lang="en-GB" dirty="0"/>
              <a:t>Final decision belongs to the owner of the project</a:t>
            </a:r>
          </a:p>
          <a:p>
            <a:endParaRPr lang="en-GB" dirty="0"/>
          </a:p>
          <a:p>
            <a:endParaRPr lang="en-US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478BA6-F96C-7F96-B9A3-E72CAA389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JD+ on Github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9452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Wiki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 err="1"/>
              <a:t>Technical</a:t>
            </a:r>
            <a:r>
              <a:rPr lang="fr-BE" dirty="0"/>
              <a:t> documentation on the use of the </a:t>
            </a:r>
            <a:r>
              <a:rPr lang="fr-BE" dirty="0" err="1"/>
              <a:t>libraries</a:t>
            </a:r>
            <a:endParaRPr lang="fr-BE" dirty="0"/>
          </a:p>
          <a:p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2590" y="2216726"/>
            <a:ext cx="6986691" cy="41062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9FED082-3E79-7A3B-D60A-72C513E55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JD+ on Github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09378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A7961-20B3-4AC6-96F6-A10F14DE4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JDemetra</a:t>
            </a:r>
            <a:r>
              <a:rPr lang="en-GB" dirty="0"/>
              <a:t> resources on </a:t>
            </a:r>
            <a:r>
              <a:rPr lang="en-GB" dirty="0" err="1"/>
              <a:t>Github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F4D24D-0EA9-4E56-AC68-FF4359E49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2300" dirty="0"/>
              <a:t>Java libraries (including GUI/Cruncher)</a:t>
            </a:r>
          </a:p>
          <a:p>
            <a:pPr lvl="1"/>
            <a:r>
              <a:rPr lang="en-GB" dirty="0">
                <a:hlinkClick r:id="rId2"/>
              </a:rPr>
              <a:t>https://github.com/jdemetra</a:t>
            </a:r>
            <a:endParaRPr lang="en-GB" dirty="0"/>
          </a:p>
          <a:p>
            <a:r>
              <a:rPr lang="en-GB" sz="2300" dirty="0"/>
              <a:t>R packages</a:t>
            </a:r>
          </a:p>
          <a:p>
            <a:pPr lvl="1"/>
            <a:r>
              <a:rPr lang="en-GB" dirty="0">
                <a:hlinkClick r:id="rId3"/>
              </a:rPr>
              <a:t>https://github.com/rjdverse</a:t>
            </a:r>
            <a:r>
              <a:rPr lang="en-GB" dirty="0"/>
              <a:t> </a:t>
            </a:r>
          </a:p>
          <a:p>
            <a:r>
              <a:rPr lang="en-GB" dirty="0"/>
              <a:t>Documentation</a:t>
            </a:r>
          </a:p>
          <a:p>
            <a:pPr lvl="1"/>
            <a:r>
              <a:rPr lang="en-GB" dirty="0">
                <a:hlinkClick r:id="rId4"/>
              </a:rPr>
              <a:t>https://doc.jdemetra.org/</a:t>
            </a:r>
            <a:r>
              <a:rPr lang="en-GB" dirty="0"/>
              <a:t>  </a:t>
            </a:r>
          </a:p>
          <a:p>
            <a:pPr lvl="1"/>
            <a:r>
              <a:rPr lang="en-GB" dirty="0">
                <a:hlinkClick r:id="rId5"/>
              </a:rPr>
              <a:t>https://rjdverse.r-universe.dev/packages</a:t>
            </a:r>
            <a:endParaRPr lang="en-GB" dirty="0"/>
          </a:p>
          <a:p>
            <a:r>
              <a:rPr lang="en-GB" sz="2300" dirty="0"/>
              <a:t>Training</a:t>
            </a:r>
          </a:p>
          <a:p>
            <a:pPr lvl="1"/>
            <a:r>
              <a:rPr lang="en-GB" dirty="0">
                <a:hlinkClick r:id="rId6"/>
              </a:rPr>
              <a:t>https://github.com/palatej/estp202</a:t>
            </a:r>
            <a:r>
              <a:rPr lang="en-GB" dirty="0"/>
              <a:t>6  </a:t>
            </a:r>
          </a:p>
          <a:p>
            <a:endParaRPr lang="en-GB" sz="2300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8EA171A-5D92-871D-1180-4B72EE66F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JD+ on Github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28893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Final </a:t>
            </a:r>
            <a:r>
              <a:rPr lang="fr-BE" dirty="0" err="1"/>
              <a:t>remarks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 err="1"/>
              <a:t>Powerful</a:t>
            </a:r>
            <a:r>
              <a:rPr lang="fr-BE" dirty="0"/>
              <a:t> </a:t>
            </a:r>
            <a:r>
              <a:rPr lang="fr-BE" dirty="0" err="1"/>
              <a:t>tool</a:t>
            </a:r>
            <a:endParaRPr lang="fr-BE" dirty="0"/>
          </a:p>
          <a:p>
            <a:pPr lvl="1"/>
            <a:r>
              <a:rPr lang="fr-BE" dirty="0"/>
              <a:t>For </a:t>
            </a:r>
            <a:r>
              <a:rPr lang="fr-BE" dirty="0" err="1"/>
              <a:t>distributed</a:t>
            </a:r>
            <a:r>
              <a:rPr lang="fr-BE" dirty="0"/>
              <a:t> </a:t>
            </a:r>
            <a:r>
              <a:rPr lang="fr-BE" dirty="0" err="1"/>
              <a:t>revision</a:t>
            </a:r>
            <a:r>
              <a:rPr lang="fr-BE" dirty="0"/>
              <a:t> control</a:t>
            </a:r>
          </a:p>
          <a:p>
            <a:pPr lvl="1"/>
            <a:r>
              <a:rPr lang="fr-BE" dirty="0"/>
              <a:t>For collaborative </a:t>
            </a:r>
            <a:r>
              <a:rPr lang="fr-BE" dirty="0" err="1"/>
              <a:t>development</a:t>
            </a:r>
            <a:endParaRPr lang="fr-BE" dirty="0"/>
          </a:p>
          <a:p>
            <a:r>
              <a:rPr lang="fr-BE" dirty="0" err="1"/>
              <a:t>Mainly</a:t>
            </a:r>
            <a:r>
              <a:rPr lang="fr-BE" dirty="0"/>
              <a:t> </a:t>
            </a:r>
            <a:r>
              <a:rPr lang="fr-BE" dirty="0" err="1"/>
              <a:t>designed</a:t>
            </a:r>
            <a:r>
              <a:rPr lang="fr-BE" dirty="0"/>
              <a:t> for </a:t>
            </a:r>
            <a:r>
              <a:rPr lang="fr-BE" dirty="0" err="1"/>
              <a:t>developers</a:t>
            </a:r>
            <a:r>
              <a:rPr lang="fr-BE" dirty="0"/>
              <a:t>!</a:t>
            </a:r>
          </a:p>
          <a:p>
            <a:pPr lvl="1"/>
            <a:r>
              <a:rPr lang="fr-BE" dirty="0" err="1"/>
              <a:t>Complex</a:t>
            </a:r>
            <a:r>
              <a:rPr lang="fr-BE" dirty="0"/>
              <a:t> </a:t>
            </a:r>
            <a:r>
              <a:rPr lang="fr-BE" dirty="0" err="1"/>
              <a:t>tool</a:t>
            </a:r>
            <a:r>
              <a:rPr lang="fr-BE" dirty="0"/>
              <a:t> (git)</a:t>
            </a:r>
          </a:p>
          <a:p>
            <a:pPr lvl="1"/>
            <a:r>
              <a:rPr lang="fr-BE" dirty="0"/>
              <a:t>Focus on code</a:t>
            </a:r>
          </a:p>
          <a:p>
            <a:r>
              <a:rPr lang="fr-BE" dirty="0"/>
              <a:t>Wiki, issue </a:t>
            </a:r>
            <a:r>
              <a:rPr lang="fr-BE" dirty="0" err="1"/>
              <a:t>tracking</a:t>
            </a:r>
            <a:r>
              <a:rPr lang="fr-BE" dirty="0"/>
              <a:t> and </a:t>
            </a:r>
            <a:r>
              <a:rPr lang="fr-BE" dirty="0" err="1"/>
              <a:t>follow</a:t>
            </a:r>
            <a:r>
              <a:rPr lang="fr-BE" dirty="0"/>
              <a:t> up </a:t>
            </a:r>
          </a:p>
          <a:p>
            <a:pPr lvl="1"/>
            <a:r>
              <a:rPr lang="fr-BE" dirty="0"/>
              <a:t>You </a:t>
            </a:r>
            <a:r>
              <a:rPr lang="fr-BE" dirty="0" err="1"/>
              <a:t>could</a:t>
            </a:r>
            <a:r>
              <a:rPr lang="fr-BE" dirty="0"/>
              <a:t> (</a:t>
            </a:r>
            <a:r>
              <a:rPr lang="fr-BE" dirty="0" err="1"/>
              <a:t>should</a:t>
            </a:r>
            <a:r>
              <a:rPr lang="fr-BE" dirty="0"/>
              <a:t>) </a:t>
            </a:r>
            <a:r>
              <a:rPr lang="fr-BE" dirty="0" err="1"/>
              <a:t>contribute</a:t>
            </a:r>
            <a:r>
              <a:rPr lang="fr-BE" dirty="0"/>
              <a:t>.</a:t>
            </a:r>
          </a:p>
          <a:p>
            <a:endParaRPr lang="fr-BE" dirty="0"/>
          </a:p>
          <a:p>
            <a:pPr marL="631825" lvl="1" indent="0">
              <a:buNone/>
            </a:pPr>
            <a:r>
              <a:rPr lang="fr-BE" dirty="0"/>
              <a:t> </a:t>
            </a:r>
          </a:p>
          <a:p>
            <a:pPr lvl="1"/>
            <a:endParaRPr lang="fr-BE" dirty="0"/>
          </a:p>
          <a:p>
            <a:endParaRPr lang="en-US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16072A9-273E-DFF0-44A6-EF203C4C4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JD+ on Github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8754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9CC45C-6ECF-1414-149F-897E6C17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CA729C-10AD-F90E-DB78-5A4E0B79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788438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d5f05ec8-edda-47a7-a42e-90bbfcebfc5f"/>
  <p:tag name="SLIDO_EVENT_SECTION_UUID" val="71a6711e-5d0b-4e9f-9223-093e31161b77"/>
</p:tagLst>
</file>

<file path=ppt/theme/theme1.xml><?xml version="1.0" encoding="utf-8"?>
<a:theme xmlns:a="http://schemas.openxmlformats.org/drawingml/2006/main" name="ESTAT Theme">
  <a:themeElements>
    <a:clrScheme name="EC colour scheme">
      <a:dk1>
        <a:srgbClr val="4D4D4D"/>
      </a:dk1>
      <a:lt1>
        <a:srgbClr val="FFFFFF"/>
      </a:lt1>
      <a:dk2>
        <a:srgbClr val="034EA2"/>
      </a:dk2>
      <a:lt2>
        <a:srgbClr val="D3E8F9"/>
      </a:lt2>
      <a:accent1>
        <a:srgbClr val="1E858B"/>
      </a:accent1>
      <a:accent2>
        <a:srgbClr val="4BC5DE"/>
      </a:accent2>
      <a:accent3>
        <a:srgbClr val="1EC08A"/>
      </a:accent3>
      <a:accent4>
        <a:srgbClr val="ED8D2F"/>
      </a:accent4>
      <a:accent5>
        <a:srgbClr val="FFC000"/>
      </a:accent5>
      <a:accent6>
        <a:srgbClr val="E76C53"/>
      </a:accent6>
      <a:hlink>
        <a:srgbClr val="0563C1"/>
      </a:hlink>
      <a:folHlink>
        <a:srgbClr val="243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STAT PPT Template.potx" id="{44100892-7769-4A20-A750-3553371E0F2E}" vid="{905E760A-09FE-4DBA-89B6-DF3A5D6D09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A5C57F8EADE4E9CD6BB064C0C3195" ma:contentTypeVersion="16" ma:contentTypeDescription="Create a new document." ma:contentTypeScope="" ma:versionID="bb51c19a58f458ddcddd050a07659236">
  <xsd:schema xmlns:xsd="http://www.w3.org/2001/XMLSchema" xmlns:xs="http://www.w3.org/2001/XMLSchema" xmlns:p="http://schemas.microsoft.com/office/2006/metadata/properties" xmlns:ns2="0e422b70-e85d-4377-8ee0-b6227433d381" xmlns:ns3="199f642e-5af9-486c-ac06-f366742ef41a" targetNamespace="http://schemas.microsoft.com/office/2006/metadata/properties" ma:root="true" ma:fieldsID="0ee7a3bac0352a48a43420936abd968a" ns2:_="" ns3:_="">
    <xsd:import namespace="0e422b70-e85d-4377-8ee0-b6227433d381"/>
    <xsd:import namespace="199f642e-5af9-486c-ac06-f366742ef41a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2b70-e85d-4377-8ee0-b6227433d38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22b2fad6-9d2c-441c-a321-3f5f1e9bd92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9f642e-5af9-486c-ac06-f366742ef41a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2defd33-e0ca-4991-a4bb-5bf1ac0b491c}" ma:internalName="TaxCatchAll" ma:showField="CatchAllData" ma:web="199f642e-5af9-486c-ac06-f366742ef41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e422b70-e85d-4377-8ee0-b6227433d381">
      <Terms xmlns="http://schemas.microsoft.com/office/infopath/2007/PartnerControls"/>
    </lcf76f155ced4ddcb4097134ff3c332f>
    <TaxCatchAll xmlns="199f642e-5af9-486c-ac06-f366742ef41a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4B464EA-1576-49DD-9675-1E3399D4D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422b70-e85d-4377-8ee0-b6227433d381"/>
    <ds:schemaRef ds:uri="199f642e-5af9-486c-ac06-f366742ef4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D6C293B-B8B4-4284-A17E-9F9E4C32B25A}">
  <ds:schemaRefs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0e422b70-e85d-4377-8ee0-b6227433d381"/>
    <ds:schemaRef ds:uri="http://schemas.microsoft.com/office/infopath/2007/PartnerControls"/>
    <ds:schemaRef ds:uri="199f642e-5af9-486c-ac06-f366742ef41a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67DD9E9F-9EEB-4105-B29B-819486C2855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ESTAT PPT Template</Template>
  <TotalTime>17</TotalTime>
  <Words>290</Words>
  <Application>Microsoft Office PowerPoint</Application>
  <PresentationFormat>Grand écran</PresentationFormat>
  <Paragraphs>58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Consolas</vt:lpstr>
      <vt:lpstr>ESTAT Theme</vt:lpstr>
      <vt:lpstr>JD+ on Github</vt:lpstr>
      <vt:lpstr>https://github.com/jdemetra/</vt:lpstr>
      <vt:lpstr>GitHub specifics</vt:lpstr>
      <vt:lpstr>git web-based hosting </vt:lpstr>
      <vt:lpstr>« Social coding »</vt:lpstr>
      <vt:lpstr>Issue tracking</vt:lpstr>
      <vt:lpstr>Pull request</vt:lpstr>
      <vt:lpstr>Wiki</vt:lpstr>
      <vt:lpstr>JDemetra resources on Github</vt:lpstr>
      <vt:lpstr>Final remarks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title title title title title title title title title title title title</dc:title>
  <dc:creator>HANZEVACKI Andrej (ESTAT)</dc:creator>
  <cp:lastModifiedBy>Jean Palate</cp:lastModifiedBy>
  <cp:revision>68</cp:revision>
  <dcterms:created xsi:type="dcterms:W3CDTF">2024-11-22T11:11:00Z</dcterms:created>
  <dcterms:modified xsi:type="dcterms:W3CDTF">2026-09-22T07:31:28Z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0x010100E6AA5C57F8EADE4E9CD6BB064C0C3195</vt:lpwstr>
  </property>
  <property fmtid="{D5CDD505-2E9C-101B-9397-08002B2CF9AE}" pid="3" name="MSIP_Label_6bd9ddd1-4d20-43f6-abfa-fc3c07406f94_Enabled">
    <vt:lpwstr>true</vt:lpwstr>
  </property>
  <property fmtid="{D5CDD505-2E9C-101B-9397-08002B2CF9AE}" pid="4" name="MSIP_Label_6bd9ddd1-4d20-43f6-abfa-fc3c07406f94_SetDate">
    <vt:lpwstr>2023-09-26T10:27:54Z</vt:lpwstr>
  </property>
  <property fmtid="{D5CDD505-2E9C-101B-9397-08002B2CF9AE}" pid="5" name="MSIP_Label_6bd9ddd1-4d20-43f6-abfa-fc3c07406f94_Method">
    <vt:lpwstr>Standard</vt:lpwstr>
  </property>
  <property fmtid="{D5CDD505-2E9C-101B-9397-08002B2CF9AE}" pid="6" name="MSIP_Label_6bd9ddd1-4d20-43f6-abfa-fc3c07406f94_Name">
    <vt:lpwstr>Commission Use</vt:lpwstr>
  </property>
  <property fmtid="{D5CDD505-2E9C-101B-9397-08002B2CF9AE}" pid="7" name="MSIP_Label_6bd9ddd1-4d20-43f6-abfa-fc3c07406f94_SiteId">
    <vt:lpwstr>b24c8b06-522c-46fe-9080-70926f8dddb1</vt:lpwstr>
  </property>
  <property fmtid="{D5CDD505-2E9C-101B-9397-08002B2CF9AE}" pid="8" name="MSIP_Label_6bd9ddd1-4d20-43f6-abfa-fc3c07406f94_ActionId">
    <vt:lpwstr>5f9041e0-26c3-439f-9557-91c751557f9e</vt:lpwstr>
  </property>
  <property fmtid="{D5CDD505-2E9C-101B-9397-08002B2CF9AE}" pid="9" name="MSIP_Label_6bd9ddd1-4d20-43f6-abfa-fc3c07406f94_ContentBits">
    <vt:lpwstr>0</vt:lpwstr>
  </property>
  <property fmtid="{D5CDD505-2E9C-101B-9397-08002B2CF9AE}" pid="10" name="SlidoAppVersion">
    <vt:lpwstr>1.5.3.3511</vt:lpwstr>
  </property>
  <property fmtid="{D5CDD505-2E9C-101B-9397-08002B2CF9AE}" pid="11" name="MediaServiceImageTags">
    <vt:lpwstr/>
  </property>
</Properties>
</file>