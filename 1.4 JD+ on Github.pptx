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2" r:id="rId6"/>
    <p:sldId id="259" r:id="rId7"/>
    <p:sldId id="263" r:id="rId8"/>
    <p:sldId id="264" r:id="rId9"/>
    <p:sldId id="265" r:id="rId10"/>
    <p:sldId id="266" r:id="rId11"/>
    <p:sldId id="260" r:id="rId12"/>
    <p:sldId id="267" r:id="rId13"/>
    <p:sldId id="269" r:id="rId14"/>
    <p:sldId id="261" r:id="rId15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122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2EE2-5350-4CCA-B481-C9B1FADE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D27A-C878-46FD-8424-2CB1C3CC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D6F49-FAB5-4020-98A7-2FF68B1D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3C74E-E8A9-489F-9ABD-2BEF9F6D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JD+ on Github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89EC4-E3E4-45BC-9DD9-96DAB89B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1ED17-DE62-4D43-9CDA-4A6C9B2745D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65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demetra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en.wikipedia.org/wiki/Distributed_revision_contro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jdverse" TargetMode="External"/><Relationship Id="rId2" Type="http://schemas.openxmlformats.org/officeDocument/2006/relationships/hyperlink" Target="https://github.com/jdemetr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latej/estp202" TargetMode="External"/><Relationship Id="rId5" Type="http://schemas.openxmlformats.org/officeDocument/2006/relationships/hyperlink" Target="https://rjdverse.r-universe.dev/packages" TargetMode="External"/><Relationship Id="rId4" Type="http://schemas.openxmlformats.org/officeDocument/2006/relationships/hyperlink" Target="https://doc.jdemetra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ESTP Training</a:t>
            </a:r>
          </a:p>
          <a:p>
            <a:r>
              <a:rPr lang="en-GB" noProof="0" dirty="0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1.4 JD</a:t>
            </a:r>
            <a:r>
              <a:rPr lang="en-GB" noProof="0" dirty="0"/>
              <a:t>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39" y="1934716"/>
            <a:ext cx="1685925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</a:t>
            </a:r>
            <a:r>
              <a:rPr lang="en-GB" b="1" noProof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github</a:t>
            </a:r>
            <a:r>
              <a:rPr lang="en-GB" noProof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.com/jdemetra/</a:t>
            </a:r>
            <a:endParaRPr lang="en-GB" b="1" noProof="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65EFF9A-833A-C81D-90CB-1D6BA559B0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A1B592-303E-409C-0CC9-2A5999EE52C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9554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GitHub </a:t>
            </a:r>
            <a:r>
              <a:rPr lang="en-GB" b="1" noProof="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specifics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FF698FE-58A6-4EAD-1FE0-CBA484EC04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</a:t>
            </a:r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web-based hosting</a:t>
            </a:r>
          </a:p>
          <a:p>
            <a:pPr>
              <a:lnSpc>
                <a:spcPct val="200000"/>
              </a:lnSpc>
            </a:pPr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« Social coding »</a:t>
            </a:r>
          </a:p>
          <a:p>
            <a:pPr>
              <a:lnSpc>
                <a:spcPct val="200000"/>
              </a:lnSpc>
            </a:pPr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Issue tracking</a:t>
            </a:r>
          </a:p>
          <a:p>
            <a:pPr>
              <a:lnSpc>
                <a:spcPct val="200000"/>
              </a:lnSpc>
            </a:pPr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Pull request</a:t>
            </a:r>
          </a:p>
          <a:p>
            <a:pPr>
              <a:lnSpc>
                <a:spcPct val="200000"/>
              </a:lnSpc>
            </a:pPr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Wiki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C6E9E9F-3FF7-C540-287E-1C8D98C8CBE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7715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git web-based hosting</a:t>
            </a:r>
            <a:b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67AAC-5A0D-44E4-8440-F25FC02056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noProof="0" dirty="0"/>
              <a:t>Git</a:t>
            </a:r>
            <a:r>
              <a:rPr lang="en-GB" noProof="0" dirty="0"/>
              <a:t> is a </a:t>
            </a:r>
            <a:r>
              <a:rPr lang="en-GB" noProof="0" dirty="0">
                <a:hlinkClick r:id="rId2" tooltip="Distributed revision control"/>
              </a:rPr>
              <a:t>distributed revision control</a:t>
            </a:r>
            <a:r>
              <a:rPr lang="en-GB" noProof="0" dirty="0"/>
              <a:t> system with an emphasis on speed, data integrity, and support for distributed, non-linear workflows. [Wikipedia]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C794FA-3D98-4584-948F-F1EFFBD3FB5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1" y="3150352"/>
            <a:ext cx="6870373" cy="248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01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« Social coding »</a:t>
            </a:r>
            <a:endParaRPr lang="en-GB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6CA8B80-C2C7-715B-3C4D-65025B4001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5</a:t>
            </a:fld>
            <a:endParaRPr lang="en-GB" noProof="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00460" y="1901825"/>
            <a:ext cx="9854606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98C44B-831F-3B9A-60CB-602114508D8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288" y="1414021"/>
            <a:ext cx="6888270" cy="213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600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Issue tracking</a:t>
            </a:r>
            <a:endParaRPr lang="en-GB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25FD54B-60A3-A5CE-3F77-3A3A495BB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FB1BBD-4E97-6C25-8AAF-690390DABFF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250" y="1690689"/>
            <a:ext cx="7661529" cy="4486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570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Pull request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6344A8-108A-3CAE-FEC7-0F3B752E20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noProof="0" dirty="0"/>
              <a:t>Main steps</a:t>
            </a:r>
          </a:p>
          <a:p>
            <a:pPr lvl="1"/>
            <a:r>
              <a:rPr lang="en-GB" noProof="0" dirty="0"/>
              <a:t>Create the feature in a dedicated branch in a local repository</a:t>
            </a:r>
          </a:p>
          <a:p>
            <a:pPr lvl="1"/>
            <a:r>
              <a:rPr lang="en-GB" noProof="0" dirty="0"/>
              <a:t>Push the branch to a public repository (on </a:t>
            </a:r>
            <a:r>
              <a:rPr lang="en-GB" noProof="0" dirty="0" err="1"/>
              <a:t>Github</a:t>
            </a:r>
            <a:r>
              <a:rPr lang="en-GB" noProof="0" dirty="0"/>
              <a:t>)</a:t>
            </a:r>
          </a:p>
          <a:p>
            <a:pPr lvl="1"/>
            <a:r>
              <a:rPr lang="en-GB" noProof="0" dirty="0"/>
              <a:t>Create a pull request (on </a:t>
            </a:r>
            <a:r>
              <a:rPr lang="en-GB" noProof="0" dirty="0" err="1"/>
              <a:t>Github</a:t>
            </a:r>
            <a:r>
              <a:rPr lang="en-GB" noProof="0" dirty="0"/>
              <a:t>)</a:t>
            </a:r>
          </a:p>
          <a:p>
            <a:pPr lvl="1"/>
            <a:r>
              <a:rPr lang="en-GB" noProof="0" dirty="0"/>
              <a:t>Review of the code, discussions, modifications </a:t>
            </a:r>
            <a:r>
              <a:rPr lang="en-GB" noProof="0" dirty="0" err="1"/>
              <a:t>bu</a:t>
            </a:r>
            <a:r>
              <a:rPr lang="en-GB" noProof="0" dirty="0"/>
              <a:t> the other developers</a:t>
            </a:r>
          </a:p>
          <a:p>
            <a:pPr lvl="1"/>
            <a:r>
              <a:rPr lang="en-GB" noProof="0" dirty="0"/>
              <a:t>The project maintainer merges the feature into the official repository and closes the pull request.</a:t>
            </a:r>
          </a:p>
          <a:p>
            <a:r>
              <a:rPr lang="en-GB" noProof="0" dirty="0"/>
              <a:t>Remarks:</a:t>
            </a:r>
          </a:p>
          <a:p>
            <a:pPr lvl="1"/>
            <a:r>
              <a:rPr lang="en-GB" noProof="0" dirty="0"/>
              <a:t>“Social control” (everything is public)</a:t>
            </a:r>
          </a:p>
          <a:p>
            <a:pPr lvl="1"/>
            <a:r>
              <a:rPr lang="en-GB" noProof="0" dirty="0"/>
              <a:t>Final decision belongs to the owner of the project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478BA6-F96C-7F96-B9A3-E72CAA38932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9945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Wiki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62CB97-A5CE-8608-B632-2DB3C51A9A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noProof="0" dirty="0"/>
              <a:t>Technical documentation on the use of the libraries</a:t>
            </a:r>
          </a:p>
          <a:p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FED082-3E79-7A3B-D60A-72C513E55E3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590" y="2216726"/>
            <a:ext cx="6986691" cy="4106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093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7961-20B3-4AC6-96F6-A10F14DE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JDemetra resources on </a:t>
            </a:r>
            <a:r>
              <a:rPr lang="en-GB" noProof="0" dirty="0" err="1"/>
              <a:t>Github</a:t>
            </a:r>
            <a:r>
              <a:rPr lang="en-GB" noProof="0" dirty="0"/>
              <a:t> </a:t>
            </a:r>
            <a:r>
              <a:rPr lang="en-GB" sz="2400" noProof="0" dirty="0"/>
              <a:t>(and others)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ECD94F-BE81-E446-3F81-7590FD8B18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9</a:t>
            </a:fld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D24D-0EA9-4E56-AC68-FF4359E49A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300" noProof="0" dirty="0"/>
              <a:t>Java libraries (including GUI/Cruncher)</a:t>
            </a:r>
          </a:p>
          <a:p>
            <a:pPr lvl="1"/>
            <a:r>
              <a:rPr lang="en-GB" noProof="0" dirty="0">
                <a:hlinkClick r:id="rId2"/>
              </a:rPr>
              <a:t>https://github.com/jdemetra</a:t>
            </a:r>
            <a:endParaRPr lang="en-GB" noProof="0" dirty="0"/>
          </a:p>
          <a:p>
            <a:r>
              <a:rPr lang="en-GB" sz="2300" noProof="0" dirty="0"/>
              <a:t>R packages</a:t>
            </a:r>
          </a:p>
          <a:p>
            <a:pPr lvl="1"/>
            <a:r>
              <a:rPr lang="en-GB" noProof="0" dirty="0">
                <a:hlinkClick r:id="rId3"/>
              </a:rPr>
              <a:t>https://github.com/rjdverse</a:t>
            </a:r>
            <a:r>
              <a:rPr lang="en-GB" noProof="0" dirty="0"/>
              <a:t> </a:t>
            </a:r>
          </a:p>
          <a:p>
            <a:r>
              <a:rPr lang="en-GB" noProof="0" dirty="0"/>
              <a:t>Documentation</a:t>
            </a:r>
          </a:p>
          <a:p>
            <a:pPr lvl="1"/>
            <a:r>
              <a:rPr lang="en-GB" noProof="0" dirty="0">
                <a:hlinkClick r:id="rId4"/>
              </a:rPr>
              <a:t>https://doc.jdemetra.org/</a:t>
            </a:r>
            <a:r>
              <a:rPr lang="en-GB" noProof="0" dirty="0"/>
              <a:t>  </a:t>
            </a:r>
          </a:p>
          <a:p>
            <a:pPr lvl="1"/>
            <a:r>
              <a:rPr lang="en-GB" noProof="0" dirty="0">
                <a:hlinkClick r:id="rId5"/>
              </a:rPr>
              <a:t>https://rjdverse.r-universe.dev/packages</a:t>
            </a:r>
            <a:endParaRPr lang="en-GB" noProof="0" dirty="0"/>
          </a:p>
          <a:p>
            <a:r>
              <a:rPr lang="en-GB" sz="2300" noProof="0" dirty="0"/>
              <a:t>Training</a:t>
            </a:r>
          </a:p>
          <a:p>
            <a:pPr lvl="1"/>
            <a:r>
              <a:rPr lang="en-GB" noProof="0" dirty="0">
                <a:hlinkClick r:id="rId6"/>
              </a:rPr>
              <a:t>https://github.com/palatej/estp202</a:t>
            </a:r>
            <a:r>
              <a:rPr lang="en-GB" noProof="0" dirty="0"/>
              <a:t>6  </a:t>
            </a:r>
          </a:p>
          <a:p>
            <a:endParaRPr lang="en-GB" sz="2300" noProof="0" dirty="0"/>
          </a:p>
          <a:p>
            <a:pPr lvl="1"/>
            <a:endParaRPr lang="en-GB" noProof="0" dirty="0"/>
          </a:p>
          <a:p>
            <a:pPr lvl="1"/>
            <a:endParaRPr lang="en-GB" noProof="0" dirty="0"/>
          </a:p>
          <a:p>
            <a:pPr lvl="1"/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EA171A-5D92-871D-1180-4B72EE66F76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0288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Final remarks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765F8A-ABC3-5A1A-9833-A7EEB0D0FD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DC1ED17-DE62-4D43-9CDA-4A6C9B2745D4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noProof="0" dirty="0"/>
              <a:t>Powerful tool</a:t>
            </a:r>
          </a:p>
          <a:p>
            <a:pPr lvl="1"/>
            <a:r>
              <a:rPr lang="en-GB" noProof="0" dirty="0"/>
              <a:t>For distributed revision control</a:t>
            </a:r>
          </a:p>
          <a:p>
            <a:pPr lvl="1"/>
            <a:r>
              <a:rPr lang="en-GB" noProof="0" dirty="0"/>
              <a:t>For collaborative development</a:t>
            </a:r>
          </a:p>
          <a:p>
            <a:r>
              <a:rPr lang="en-GB" noProof="0" dirty="0"/>
              <a:t>Mainly designed for developers!</a:t>
            </a:r>
          </a:p>
          <a:p>
            <a:pPr lvl="1"/>
            <a:r>
              <a:rPr lang="en-GB" noProof="0" dirty="0"/>
              <a:t>Complex tool (git)</a:t>
            </a:r>
          </a:p>
          <a:p>
            <a:pPr lvl="1"/>
            <a:r>
              <a:rPr lang="en-GB" noProof="0" dirty="0"/>
              <a:t>Focus on code</a:t>
            </a:r>
          </a:p>
          <a:p>
            <a:r>
              <a:rPr lang="en-GB" noProof="0" dirty="0"/>
              <a:t>Wiki, issue tracking and follow up </a:t>
            </a:r>
          </a:p>
          <a:p>
            <a:pPr lvl="1"/>
            <a:r>
              <a:rPr lang="en-GB" noProof="0" dirty="0"/>
              <a:t>You could (should) contribute.</a:t>
            </a:r>
          </a:p>
          <a:p>
            <a:endParaRPr lang="en-GB" dirty="0"/>
          </a:p>
          <a:p>
            <a:r>
              <a:rPr lang="en-GB" dirty="0"/>
              <a:t>Migration to </a:t>
            </a:r>
            <a:r>
              <a:rPr lang="en-GB" dirty="0" err="1"/>
              <a:t>gitlab</a:t>
            </a:r>
            <a:r>
              <a:rPr lang="en-GB" dirty="0"/>
              <a:t> in the future ???</a:t>
            </a:r>
            <a:endParaRPr lang="en-GB" noProof="0" dirty="0"/>
          </a:p>
          <a:p>
            <a:endParaRPr lang="en-GB" noProof="0" dirty="0"/>
          </a:p>
          <a:p>
            <a:pPr marL="631825" lvl="1" indent="0">
              <a:buNone/>
            </a:pPr>
            <a:r>
              <a:rPr lang="en-GB" noProof="0" dirty="0"/>
              <a:t> </a:t>
            </a:r>
          </a:p>
          <a:p>
            <a:pPr lvl="1"/>
            <a:endParaRPr lang="en-GB" noProof="0" dirty="0"/>
          </a:p>
          <a:p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072A9-273E-DFF0-44A6-EF203C4C47A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JD+ on </a:t>
            </a:r>
            <a:r>
              <a:rPr lang="en-GB" noProof="0" dirty="0" err="1"/>
              <a:t>Github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60875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60B00A-214B-3CAB-E515-56594F5881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noProof="0" smtClean="0"/>
              <a:pPr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22</TotalTime>
  <Words>312</Words>
  <Application>Microsoft Office PowerPoint</Application>
  <PresentationFormat>Grand écran</PresentationFormat>
  <Paragraphs>70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ESTAT Theme</vt:lpstr>
      <vt:lpstr>1.4 JD+ on Github</vt:lpstr>
      <vt:lpstr>https://github.com/jdemetra/</vt:lpstr>
      <vt:lpstr>GitHub specifics</vt:lpstr>
      <vt:lpstr>git web-based hosting </vt:lpstr>
      <vt:lpstr>« Social coding »</vt:lpstr>
      <vt:lpstr>Issue tracking</vt:lpstr>
      <vt:lpstr>Pull request</vt:lpstr>
      <vt:lpstr>Wiki</vt:lpstr>
      <vt:lpstr>JDemetra resources on Github (and others)</vt:lpstr>
      <vt:lpstr>Final remarks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71</cp:revision>
  <dcterms:created xsi:type="dcterms:W3CDTF">2024-11-22T11:11:00Z</dcterms:created>
  <dcterms:modified xsi:type="dcterms:W3CDTF">2026-10-01T08:14:27Z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