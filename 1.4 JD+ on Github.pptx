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62" r:id="rId6"/>
    <p:sldId id="259" r:id="rId7"/>
    <p:sldId id="263" r:id="rId8"/>
    <p:sldId id="264" r:id="rId9"/>
    <p:sldId id="265" r:id="rId10"/>
    <p:sldId id="266" r:id="rId11"/>
    <p:sldId id="260" r:id="rId12"/>
    <p:sldId id="267" r:id="rId13"/>
    <p:sldId id="268" r:id="rId14"/>
    <p:sldId id="269" r:id="rId15"/>
    <p:sldId id="261" r:id="rId16"/>
  </p:sldIdLst>
  <p:sldSz cx="12192000" cy="6858000"/>
  <p:notesSz cx="6858000" cy="9144000"/>
  <p:custDataLst>
    <p:tags r:id="rId19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1122" y="84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tags" Target="tags/tag1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27/08/2026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901951"/>
            <a:ext cx="10515597" cy="4194176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B2EE2-5350-4CCA-B481-C9B1FADE2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3D27A-C878-46FD-8424-2CB1C3CCF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D6F49-FAB5-4020-98A7-2FF68B1D1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03C74E-E8A9-489F-9ABD-2BEF9F6D7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D89EC4-E3E4-45BC-9DD9-96DAB89B3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C1ED17-DE62-4D43-9CDA-4A6C9B2745D4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6659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</p:sldLayoutIdLs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demetra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://en.wikipedia.org/wiki/Distributed_revision_control" TargetMode="Externa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jdverse" TargetMode="External"/><Relationship Id="rId2" Type="http://schemas.openxmlformats.org/officeDocument/2006/relationships/hyperlink" Target="https://github.com/jdemetra" TargetMode="Externa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github.com/palatej/estp2024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bbrd/jdemetra-dotstat/releases/tag/v2.2.5" TargetMode="External"/><Relationship Id="rId2" Type="http://schemas.openxmlformats.org/officeDocument/2006/relationships/hyperlink" Target="https://github.com/nbbrd/jdemetra-sa-advanced/releases/tag/v2.2.3" TargetMode="Externa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JD+ on </a:t>
            </a:r>
            <a:r>
              <a:rPr lang="en-IE" dirty="0" err="1"/>
              <a:t>Github</a:t>
            </a:r>
            <a:endParaRPr lang="en-I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3039" y="1934716"/>
            <a:ext cx="1685925" cy="163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1981200" y="4077072"/>
            <a:ext cx="8229600" cy="1143000"/>
          </a:xfrm>
        </p:spPr>
        <p:txBody>
          <a:bodyPr>
            <a:normAutofit/>
          </a:bodyPr>
          <a:lstStyle/>
          <a:p>
            <a:r>
              <a:rPr lang="fr-BE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</a:t>
            </a:r>
            <a:r>
              <a:rPr lang="fr-BE" b="1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github</a:t>
            </a:r>
            <a:r>
              <a:rPr lang="fr-BE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.com/jdemetra/</a:t>
            </a:r>
            <a:endParaRPr lang="en-US" b="1" dirty="0">
              <a:solidFill>
                <a:schemeClr val="tx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DA1B592-303E-409C-0CC9-2A5999EE5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54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fr-BE" dirty="0" err="1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GitHub</a:t>
            </a:r>
            <a:r>
              <a:rPr lang="fr-BE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specifics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525963"/>
          </a:xfrm>
        </p:spPr>
        <p:txBody>
          <a:bodyPr/>
          <a:lstStyle/>
          <a:p>
            <a:pPr>
              <a:lnSpc>
                <a:spcPct val="200000"/>
              </a:lnSpc>
            </a:pPr>
            <a:r>
              <a:rPr lang="en-US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web-based hosting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« Social coding »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Issue tracking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Pull request</a:t>
            </a:r>
          </a:p>
          <a:p>
            <a:pPr>
              <a:lnSpc>
                <a:spcPct val="200000"/>
              </a:lnSpc>
            </a:pPr>
            <a:r>
              <a:rPr lang="fr-BE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Wiki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C6E9E9F-3FF7-C540-287E-1C8D98C8C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1558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web-based hosting</a:t>
            </a:r>
            <a:b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Git</a:t>
            </a:r>
            <a:r>
              <a:rPr lang="en-US" dirty="0"/>
              <a:t> is a </a:t>
            </a:r>
            <a:r>
              <a:rPr lang="en-US" dirty="0">
                <a:hlinkClick r:id="rId2" tooltip="Distributed revision control"/>
              </a:rPr>
              <a:t>distributed revision control</a:t>
            </a:r>
            <a:r>
              <a:rPr lang="en-US" dirty="0"/>
              <a:t> system with an emphasis on speed, data integrity, and support for distributed, non-linear workflows. [Wikipedia]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2651" y="3150352"/>
            <a:ext cx="6870373" cy="24868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C794FA-3D98-4584-948F-F1EFFBD3F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7013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« Social coding »</a:t>
            </a:r>
            <a:endParaRPr lang="en-US" dirty="0"/>
          </a:p>
        </p:txBody>
      </p:sp>
      <p:pic>
        <p:nvPicPr>
          <p:cNvPr id="307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3553905"/>
            <a:ext cx="7591824" cy="28653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288" y="1414021"/>
            <a:ext cx="6888270" cy="21398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C98C44B-831F-3B9A-60CB-602114508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60054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Issue tracking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3250" y="1690689"/>
            <a:ext cx="7661529" cy="4486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6FB1BBD-4E97-6C25-8AAF-690390DAB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57063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Pull </a:t>
            </a:r>
            <a:r>
              <a:rPr lang="fr-BE" dirty="0" err="1"/>
              <a:t>request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Main </a:t>
            </a:r>
            <a:r>
              <a:rPr lang="fr-BE" dirty="0" err="1"/>
              <a:t>steps</a:t>
            </a:r>
            <a:endParaRPr lang="fr-BE" dirty="0"/>
          </a:p>
          <a:p>
            <a:pPr lvl="1"/>
            <a:r>
              <a:rPr lang="en-GB" dirty="0"/>
              <a:t>Create the feature in a dedicated branch in a local repository</a:t>
            </a:r>
          </a:p>
          <a:p>
            <a:pPr lvl="1"/>
            <a:r>
              <a:rPr lang="en-GB" dirty="0"/>
              <a:t>Push the branch to a public repository (on </a:t>
            </a:r>
            <a:r>
              <a:rPr lang="en-GB" dirty="0" err="1"/>
              <a:t>Github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Create a pull request (on </a:t>
            </a:r>
            <a:r>
              <a:rPr lang="en-GB" dirty="0" err="1"/>
              <a:t>Github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Review of the code, discussions, modifications </a:t>
            </a:r>
            <a:r>
              <a:rPr lang="en-GB" dirty="0" err="1"/>
              <a:t>bu</a:t>
            </a:r>
            <a:r>
              <a:rPr lang="en-GB" dirty="0"/>
              <a:t> the other developers</a:t>
            </a:r>
          </a:p>
          <a:p>
            <a:pPr lvl="1"/>
            <a:r>
              <a:rPr lang="en-GB" dirty="0"/>
              <a:t>The project maintainer merges the feature into the official repository and closes the pull request.</a:t>
            </a:r>
          </a:p>
          <a:p>
            <a:r>
              <a:rPr lang="en-GB" dirty="0"/>
              <a:t>Remarks:</a:t>
            </a:r>
          </a:p>
          <a:p>
            <a:pPr lvl="1"/>
            <a:r>
              <a:rPr lang="en-GB" dirty="0"/>
              <a:t>“Social control” (everything is public)</a:t>
            </a:r>
          </a:p>
          <a:p>
            <a:pPr lvl="1"/>
            <a:r>
              <a:rPr lang="en-GB" dirty="0"/>
              <a:t>Final decision belongs to the owner of the project</a:t>
            </a:r>
          </a:p>
          <a:p>
            <a:endParaRPr lang="en-GB" dirty="0"/>
          </a:p>
          <a:p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478BA6-F96C-7F96-B9A3-E72CAA389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9452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Wiki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 err="1"/>
              <a:t>Technical</a:t>
            </a:r>
            <a:r>
              <a:rPr lang="fr-BE" dirty="0"/>
              <a:t> documentation on the use of the </a:t>
            </a:r>
            <a:r>
              <a:rPr lang="fr-BE" dirty="0" err="1"/>
              <a:t>libraries</a:t>
            </a:r>
            <a:endParaRPr lang="fr-BE" dirty="0"/>
          </a:p>
          <a:p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2590" y="2216726"/>
            <a:ext cx="6986691" cy="41062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9FED082-3E79-7A3B-D60A-72C513E55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0937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A7961-20B3-4AC6-96F6-A10F14DE4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JDemetra</a:t>
            </a:r>
            <a:r>
              <a:rPr lang="en-GB" dirty="0"/>
              <a:t> resources on </a:t>
            </a:r>
            <a:r>
              <a:rPr lang="en-GB" dirty="0" err="1"/>
              <a:t>Github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F4D24D-0EA9-4E56-AC68-FF4359E49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300" dirty="0"/>
              <a:t>Java libraries (including GUI/Cruncher)</a:t>
            </a:r>
          </a:p>
          <a:p>
            <a:pPr lvl="1"/>
            <a:r>
              <a:rPr lang="en-GB" dirty="0">
                <a:hlinkClick r:id="rId2"/>
              </a:rPr>
              <a:t>https://github.com/jdemetra</a:t>
            </a:r>
            <a:endParaRPr lang="en-GB" dirty="0"/>
          </a:p>
          <a:p>
            <a:r>
              <a:rPr lang="en-GB" sz="2300" dirty="0"/>
              <a:t>R packages</a:t>
            </a:r>
          </a:p>
          <a:p>
            <a:pPr lvl="1"/>
            <a:r>
              <a:rPr lang="en-GB" dirty="0">
                <a:hlinkClick r:id="rId3"/>
              </a:rPr>
              <a:t>https://github.com/rjdverse</a:t>
            </a:r>
            <a:r>
              <a:rPr lang="en-GB" dirty="0"/>
              <a:t> </a:t>
            </a:r>
          </a:p>
          <a:p>
            <a:r>
              <a:rPr lang="en-GB" sz="2300" dirty="0"/>
              <a:t>Training</a:t>
            </a:r>
          </a:p>
          <a:p>
            <a:pPr lvl="1"/>
            <a:r>
              <a:rPr lang="en-GB" dirty="0">
                <a:hlinkClick r:id="rId4"/>
              </a:rPr>
              <a:t>https://github.com/palatej/estp2024</a:t>
            </a:r>
            <a:r>
              <a:rPr lang="en-GB" dirty="0"/>
              <a:t>  </a:t>
            </a:r>
          </a:p>
          <a:p>
            <a:endParaRPr lang="en-GB" sz="2300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8EA171A-5D92-871D-1180-4B72EE66F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28893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A7961-20B3-4AC6-96F6-A10F14DE4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JDemetra</a:t>
            </a:r>
            <a:r>
              <a:rPr lang="en-GB" dirty="0"/>
              <a:t>+ resources on </a:t>
            </a:r>
            <a:r>
              <a:rPr lang="en-GB" dirty="0" err="1"/>
              <a:t>Github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F4D24D-0EA9-4E56-AC68-FF4359E49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300" dirty="0"/>
              <a:t>Additional plug-ins (NBB)</a:t>
            </a:r>
          </a:p>
          <a:p>
            <a:pPr lvl="1"/>
            <a:r>
              <a:rPr lang="en-GB" dirty="0">
                <a:hlinkClick r:id="rId2"/>
              </a:rPr>
              <a:t>https://github.com/nbbrd/jdemetra-sa-advanced/releases/tag/v2.2.3</a:t>
            </a:r>
            <a:r>
              <a:rPr lang="en-GB" dirty="0"/>
              <a:t>  </a:t>
            </a:r>
          </a:p>
          <a:p>
            <a:pPr lvl="2"/>
            <a:r>
              <a:rPr lang="en-GB" sz="1700" dirty="0"/>
              <a:t>Temporal disaggregation / benchmarking (</a:t>
            </a:r>
            <a:r>
              <a:rPr lang="en-GB" sz="1700" dirty="0" err="1"/>
              <a:t>nbdemetra</a:t>
            </a:r>
            <a:r>
              <a:rPr lang="en-GB" sz="1700" dirty="0"/>
              <a:t>-benchmarking)</a:t>
            </a:r>
          </a:p>
          <a:p>
            <a:pPr lvl="2"/>
            <a:r>
              <a:rPr lang="en-GB" sz="1700" dirty="0"/>
              <a:t>Structural time series (</a:t>
            </a:r>
            <a:r>
              <a:rPr lang="en-GB" sz="1700" dirty="0" err="1"/>
              <a:t>nbdemetra-sts</a:t>
            </a:r>
            <a:r>
              <a:rPr lang="en-GB" sz="1700" dirty="0"/>
              <a:t>)</a:t>
            </a:r>
          </a:p>
          <a:p>
            <a:pPr lvl="2"/>
            <a:r>
              <a:rPr lang="en-GB" sz="1700" dirty="0"/>
              <a:t>…</a:t>
            </a:r>
          </a:p>
          <a:p>
            <a:pPr lvl="1"/>
            <a:r>
              <a:rPr lang="en-GB" dirty="0">
                <a:hlinkClick r:id="rId3"/>
              </a:rPr>
              <a:t>https://github.com/nbbrd/jdemetra-dotstat/releases/tag/v2.2.5</a:t>
            </a:r>
            <a:endParaRPr lang="en-GB" dirty="0"/>
          </a:p>
          <a:p>
            <a:pPr lvl="2"/>
            <a:r>
              <a:rPr lang="en-GB" sz="1700" dirty="0"/>
              <a:t>Time series from SDMX Web services</a:t>
            </a:r>
          </a:p>
          <a:p>
            <a:pPr lvl="1"/>
            <a:r>
              <a:rPr lang="en-GB" dirty="0"/>
              <a:t>…</a:t>
            </a:r>
          </a:p>
          <a:p>
            <a:pPr lvl="2"/>
            <a:r>
              <a:rPr lang="en-GB" sz="1700" dirty="0"/>
              <a:t>Nowcasting by means of dynamic factor models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E72656A-C10B-2C3C-F182-1E386CA6F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41201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Final </a:t>
            </a:r>
            <a:r>
              <a:rPr lang="fr-BE" dirty="0" err="1"/>
              <a:t>remarks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 err="1"/>
              <a:t>Powerful</a:t>
            </a:r>
            <a:r>
              <a:rPr lang="fr-BE" dirty="0"/>
              <a:t> </a:t>
            </a:r>
            <a:r>
              <a:rPr lang="fr-BE" dirty="0" err="1"/>
              <a:t>tool</a:t>
            </a:r>
            <a:endParaRPr lang="fr-BE" dirty="0"/>
          </a:p>
          <a:p>
            <a:pPr lvl="1"/>
            <a:r>
              <a:rPr lang="fr-BE" dirty="0"/>
              <a:t>For </a:t>
            </a:r>
            <a:r>
              <a:rPr lang="fr-BE" dirty="0" err="1"/>
              <a:t>distributed</a:t>
            </a:r>
            <a:r>
              <a:rPr lang="fr-BE" dirty="0"/>
              <a:t> </a:t>
            </a:r>
            <a:r>
              <a:rPr lang="fr-BE" dirty="0" err="1"/>
              <a:t>revision</a:t>
            </a:r>
            <a:r>
              <a:rPr lang="fr-BE" dirty="0"/>
              <a:t> control</a:t>
            </a:r>
          </a:p>
          <a:p>
            <a:pPr lvl="1"/>
            <a:r>
              <a:rPr lang="fr-BE" dirty="0"/>
              <a:t>For collaborative </a:t>
            </a:r>
            <a:r>
              <a:rPr lang="fr-BE" dirty="0" err="1"/>
              <a:t>development</a:t>
            </a:r>
            <a:endParaRPr lang="fr-BE" dirty="0"/>
          </a:p>
          <a:p>
            <a:r>
              <a:rPr lang="fr-BE" dirty="0" err="1"/>
              <a:t>Designed</a:t>
            </a:r>
            <a:r>
              <a:rPr lang="fr-BE" dirty="0"/>
              <a:t> for </a:t>
            </a:r>
            <a:r>
              <a:rPr lang="fr-BE" dirty="0" err="1"/>
              <a:t>developers</a:t>
            </a:r>
            <a:r>
              <a:rPr lang="fr-BE" dirty="0"/>
              <a:t>!</a:t>
            </a:r>
          </a:p>
          <a:p>
            <a:pPr lvl="1"/>
            <a:r>
              <a:rPr lang="fr-BE" dirty="0" err="1"/>
              <a:t>Complex</a:t>
            </a:r>
            <a:r>
              <a:rPr lang="fr-BE" dirty="0"/>
              <a:t> </a:t>
            </a:r>
            <a:r>
              <a:rPr lang="fr-BE" dirty="0" err="1"/>
              <a:t>tool</a:t>
            </a:r>
            <a:r>
              <a:rPr lang="fr-BE" dirty="0"/>
              <a:t> (git)</a:t>
            </a:r>
          </a:p>
          <a:p>
            <a:pPr lvl="1"/>
            <a:r>
              <a:rPr lang="fr-BE" dirty="0"/>
              <a:t>Focus on code</a:t>
            </a:r>
          </a:p>
          <a:p>
            <a:r>
              <a:rPr lang="fr-BE" dirty="0"/>
              <a:t>Wiki, issue </a:t>
            </a:r>
            <a:r>
              <a:rPr lang="fr-BE" dirty="0" err="1"/>
              <a:t>tracking</a:t>
            </a:r>
            <a:r>
              <a:rPr lang="fr-BE" dirty="0"/>
              <a:t> and </a:t>
            </a:r>
            <a:r>
              <a:rPr lang="fr-BE" dirty="0" err="1"/>
              <a:t>follow</a:t>
            </a:r>
            <a:r>
              <a:rPr lang="fr-BE" dirty="0"/>
              <a:t> up </a:t>
            </a:r>
          </a:p>
          <a:p>
            <a:pPr lvl="1"/>
            <a:r>
              <a:rPr lang="fr-BE" dirty="0"/>
              <a:t>You </a:t>
            </a:r>
            <a:r>
              <a:rPr lang="fr-BE" dirty="0" err="1"/>
              <a:t>could</a:t>
            </a:r>
            <a:r>
              <a:rPr lang="fr-BE" dirty="0"/>
              <a:t> (</a:t>
            </a:r>
            <a:r>
              <a:rPr lang="fr-BE" dirty="0" err="1"/>
              <a:t>should</a:t>
            </a:r>
            <a:r>
              <a:rPr lang="fr-BE" dirty="0"/>
              <a:t>) </a:t>
            </a:r>
            <a:r>
              <a:rPr lang="fr-BE" dirty="0" err="1"/>
              <a:t>contribute</a:t>
            </a:r>
            <a:r>
              <a:rPr lang="fr-BE" dirty="0"/>
              <a:t>.</a:t>
            </a:r>
          </a:p>
          <a:p>
            <a:endParaRPr lang="fr-BE" dirty="0"/>
          </a:p>
          <a:p>
            <a:pPr marL="631825" lvl="1" indent="0">
              <a:buNone/>
            </a:pPr>
            <a:r>
              <a:rPr lang="fr-BE" dirty="0"/>
              <a:t> </a:t>
            </a:r>
          </a:p>
          <a:p>
            <a:pPr lvl="1"/>
            <a:endParaRPr lang="fr-BE" dirty="0"/>
          </a:p>
          <a:p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16072A9-273E-DFF0-44A6-EF203C4C4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8754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3</TotalTime>
  <Words>343</Words>
  <Application>Microsoft Office PowerPoint</Application>
  <PresentationFormat>Grand écran</PresentationFormat>
  <Paragraphs>68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ESTAT Theme</vt:lpstr>
      <vt:lpstr>JD+ on Github</vt:lpstr>
      <vt:lpstr>https://github.com/jdemetra/</vt:lpstr>
      <vt:lpstr>GitHub specifics</vt:lpstr>
      <vt:lpstr>git web-based hosting </vt:lpstr>
      <vt:lpstr>« Social coding »</vt:lpstr>
      <vt:lpstr>Issue tracking</vt:lpstr>
      <vt:lpstr>Pull request</vt:lpstr>
      <vt:lpstr>Wiki</vt:lpstr>
      <vt:lpstr>JDemetra resources on Github</vt:lpstr>
      <vt:lpstr>JDemetra+ resources on Github</vt:lpstr>
      <vt:lpstr>Final remarks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64</cp:revision>
  <dcterms:created xsi:type="dcterms:W3CDTF">2024-11-22T11:11:00Z</dcterms:created>
  <dcterms:modified xsi:type="dcterms:W3CDTF">2026-08-27T07:10:49Z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