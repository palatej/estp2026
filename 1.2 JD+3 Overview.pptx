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5" r:id="rId6"/>
    <p:sldId id="270" r:id="rId7"/>
    <p:sldId id="274" r:id="rId8"/>
    <p:sldId id="261" r:id="rId9"/>
  </p:sldIdLst>
  <p:sldSz cx="12192000" cy="6858000"/>
  <p:notesSz cx="6858000" cy="9144000"/>
  <p:custDataLst>
    <p:tags r:id="rId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9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5" autoAdjust="0"/>
    <p:restoredTop sz="81100" autoAdjust="0"/>
  </p:normalViewPr>
  <p:slideViewPr>
    <p:cSldViewPr snapToGrid="0">
      <p:cViewPr varScale="1">
        <p:scale>
          <a:sx n="90" d="100"/>
          <a:sy n="90" d="100"/>
        </p:scale>
        <p:origin x="258" y="78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59" Type="http://customschemas.google.com/relationships/presentationmetadata" Target="metadata"/><Relationship Id="rId2" Type="http://schemas.openxmlformats.org/officeDocument/2006/relationships/customXml" Target="../customXml/item2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01/10/2026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‹N°›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371600"/>
            <a:ext cx="10515597" cy="4724527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88A19F-A201-3EB2-A71E-1E51EF3E1B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07569" y="3538903"/>
            <a:ext cx="2931525" cy="2412704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‹N°›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C7BE6-600A-4A7C-A619-76DC1A69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AE61-9716-4AAE-9726-DF0654DE2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F09E0-4639-40DC-9856-B24161515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15-17/10/2024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AA9DA-9E24-4B8C-AED7-0544C9B7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JD+ 3.x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EE3C-76F1-4A83-96F6-263EF24B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24247-1BA6-4B56-A733-0053039570D1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654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ESTP Training</a:t>
            </a:r>
          </a:p>
          <a:p>
            <a:r>
              <a:rPr lang="en-IE" dirty="0"/>
              <a:t>05-07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1.2 JD+ 3.x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1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80E834-F4D5-4BA1-A782-3991E2BF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1. </a:t>
            </a:r>
            <a:r>
              <a:rPr lang="fr-BE" dirty="0" err="1"/>
              <a:t>What’s</a:t>
            </a:r>
            <a:r>
              <a:rPr lang="fr-BE" dirty="0"/>
              <a:t> new in JD+ 3.x?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5F3F1F-7641-4F64-934C-F46D68B1B6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sz="2800" dirty="0"/>
              <a:t>Additional time series domains</a:t>
            </a:r>
          </a:p>
          <a:p>
            <a:pPr lvl="1"/>
            <a:r>
              <a:rPr lang="en-GB" sz="2400" dirty="0"/>
              <a:t>New concepts</a:t>
            </a:r>
          </a:p>
          <a:p>
            <a:r>
              <a:rPr lang="en-GB" sz="2800" dirty="0"/>
              <a:t>Design</a:t>
            </a:r>
          </a:p>
          <a:p>
            <a:pPr lvl="1"/>
            <a:r>
              <a:rPr lang="en-GB" sz="2400" dirty="0"/>
              <a:t>API / implementation / IO</a:t>
            </a:r>
          </a:p>
          <a:p>
            <a:r>
              <a:rPr lang="en-GB" sz="2800" dirty="0"/>
              <a:t>New algorithms</a:t>
            </a:r>
          </a:p>
          <a:p>
            <a:r>
              <a:rPr lang="en-GB" sz="2800" dirty="0"/>
              <a:t>Enhanced interaction with external tools/technologies</a:t>
            </a:r>
          </a:p>
          <a:p>
            <a:pPr lvl="1"/>
            <a:r>
              <a:rPr lang="en-GB" sz="2400" dirty="0"/>
              <a:t>New R packages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0505C-2C47-4CAF-9AE3-CED57FC7D95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JD+ 3.x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3852F-C7F2-F17B-93A9-67F6D5D65A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10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0A8E-B916-4312-8DB1-B46213C4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</a:t>
            </a:r>
            <a:r>
              <a:rPr lang="en-GB" dirty="0" err="1"/>
              <a:t>JDemetra</a:t>
            </a:r>
            <a:r>
              <a:rPr lang="en-GB" dirty="0"/>
              <a:t> 3.0</a:t>
            </a:r>
            <a:br>
              <a:rPr lang="en-GB" dirty="0"/>
            </a:br>
            <a:r>
              <a:rPr lang="en-GB" dirty="0"/>
              <a:t>New design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8026C-BE82-4662-873C-4B61A7A185D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JD+ 3.x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620A45-9BD3-4838-A8FF-491433CC4D13}"/>
              </a:ext>
            </a:extLst>
          </p:cNvPr>
          <p:cNvSpPr/>
          <p:nvPr/>
        </p:nvSpPr>
        <p:spPr>
          <a:xfrm>
            <a:off x="4060581" y="3043030"/>
            <a:ext cx="3002842" cy="18624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GB" sz="3600" b="1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bg1"/>
                </a:solidFill>
              </a:rPr>
              <a:t>Demetra</a:t>
            </a:r>
          </a:p>
          <a:p>
            <a:pPr algn="ctr"/>
            <a:r>
              <a:rPr lang="en-GB" sz="3600" b="1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bg1"/>
                </a:solidFill>
              </a:rPr>
              <a:t>Toolkit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4397124-82D8-474C-8C80-93FE6C344D6E}"/>
              </a:ext>
            </a:extLst>
          </p:cNvPr>
          <p:cNvSpPr/>
          <p:nvPr/>
        </p:nvSpPr>
        <p:spPr>
          <a:xfrm>
            <a:off x="5562002" y="1491606"/>
            <a:ext cx="1407335" cy="79631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Toolkit-SA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902EDD-EFCB-49E7-B4A1-CDCFD9709474}"/>
              </a:ext>
            </a:extLst>
          </p:cNvPr>
          <p:cNvSpPr/>
          <p:nvPr/>
        </p:nvSpPr>
        <p:spPr>
          <a:xfrm>
            <a:off x="7700167" y="3506805"/>
            <a:ext cx="1812946" cy="9289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STS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54EB12C-675A-4391-8FE4-BB78A04E622A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 rot="5400000">
            <a:off x="5536279" y="2313639"/>
            <a:ext cx="755114" cy="70366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13050ED-763D-4C3B-AB77-EBBCD71E67A3}"/>
              </a:ext>
            </a:extLst>
          </p:cNvPr>
          <p:cNvCxnSpPr>
            <a:cxnSpLocks/>
            <a:stCxn id="35" idx="1"/>
            <a:endCxn id="32" idx="3"/>
          </p:cNvCxnSpPr>
          <p:nvPr/>
        </p:nvCxnSpPr>
        <p:spPr>
          <a:xfrm rot="10800000" flipV="1">
            <a:off x="6969337" y="1687131"/>
            <a:ext cx="730830" cy="202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28124CB5-3AC6-4E16-96C1-D85BD0A86C08}"/>
              </a:ext>
            </a:extLst>
          </p:cNvPr>
          <p:cNvCxnSpPr>
            <a:cxnSpLocks/>
            <a:stCxn id="33" idx="1"/>
            <a:endCxn id="32" idx="0"/>
          </p:cNvCxnSpPr>
          <p:nvPr/>
        </p:nvCxnSpPr>
        <p:spPr>
          <a:xfrm rot="10800000" flipV="1">
            <a:off x="6265670" y="587020"/>
            <a:ext cx="1439126" cy="90458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F46BDFC-5120-49C0-A39D-9646199F279D}"/>
              </a:ext>
            </a:extLst>
          </p:cNvPr>
          <p:cNvCxnSpPr>
            <a:cxnSpLocks/>
            <a:stCxn id="34" idx="1"/>
            <a:endCxn id="32" idx="0"/>
          </p:cNvCxnSpPr>
          <p:nvPr/>
        </p:nvCxnSpPr>
        <p:spPr>
          <a:xfrm rot="10800000" flipV="1">
            <a:off x="6265670" y="1166246"/>
            <a:ext cx="1434498" cy="32535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7BBD04F-6B5C-42CD-8C91-1E12CDE8885E}"/>
              </a:ext>
            </a:extLst>
          </p:cNvPr>
          <p:cNvCxnSpPr>
            <a:cxnSpLocks/>
            <a:stCxn id="36" idx="1"/>
            <a:endCxn id="31" idx="3"/>
          </p:cNvCxnSpPr>
          <p:nvPr/>
        </p:nvCxnSpPr>
        <p:spPr>
          <a:xfrm rot="10800000" flipV="1">
            <a:off x="7063423" y="3971255"/>
            <a:ext cx="636744" cy="300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1F4FC84-88F2-4705-85F0-BD6138EFA3E4}"/>
              </a:ext>
            </a:extLst>
          </p:cNvPr>
          <p:cNvSpPr/>
          <p:nvPr/>
        </p:nvSpPr>
        <p:spPr>
          <a:xfrm>
            <a:off x="365760" y="2434402"/>
            <a:ext cx="2033483" cy="99459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Benchmarking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C22F385-9202-4147-9236-04F3E718B527}"/>
              </a:ext>
            </a:extLst>
          </p:cNvPr>
          <p:cNvCxnSpPr>
            <a:cxnSpLocks/>
            <a:stCxn id="65" idx="3"/>
            <a:endCxn id="31" idx="1"/>
          </p:cNvCxnSpPr>
          <p:nvPr/>
        </p:nvCxnSpPr>
        <p:spPr>
          <a:xfrm>
            <a:off x="2399243" y="2931701"/>
            <a:ext cx="1661338" cy="104256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0B93FEE-F049-46FC-B05A-3C65DE917CE9}"/>
              </a:ext>
            </a:extLst>
          </p:cNvPr>
          <p:cNvGrpSpPr/>
          <p:nvPr/>
        </p:nvGrpSpPr>
        <p:grpSpPr>
          <a:xfrm>
            <a:off x="7700167" y="350664"/>
            <a:ext cx="1812949" cy="2497310"/>
            <a:chOff x="6810934" y="736634"/>
            <a:chExt cx="1812949" cy="249731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51FF786-FDE0-4ED1-9D29-DA85F3F3829F}"/>
                </a:ext>
              </a:extLst>
            </p:cNvPr>
            <p:cNvSpPr/>
            <p:nvPr/>
          </p:nvSpPr>
          <p:spPr>
            <a:xfrm>
              <a:off x="6815563" y="736634"/>
              <a:ext cx="1808317" cy="47271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GB" dirty="0" err="1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tx1"/>
                  </a:solidFill>
                </a:rPr>
                <a:t>TramoSeats</a:t>
              </a:r>
              <a:endParaRPr lang="en-GB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1B73BC5-99E1-4406-AC1C-A7A325CE4DCC}"/>
                </a:ext>
              </a:extLst>
            </p:cNvPr>
            <p:cNvSpPr/>
            <p:nvPr/>
          </p:nvSpPr>
          <p:spPr>
            <a:xfrm>
              <a:off x="6810935" y="1315860"/>
              <a:ext cx="1812946" cy="472713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GB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tx1"/>
                  </a:solidFill>
                </a:rPr>
                <a:t>X13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F7AA2A3-82EB-4D2D-A43D-7DD96F4BE633}"/>
                </a:ext>
              </a:extLst>
            </p:cNvPr>
            <p:cNvSpPr/>
            <p:nvPr/>
          </p:nvSpPr>
          <p:spPr>
            <a:xfrm>
              <a:off x="6810934" y="1879022"/>
              <a:ext cx="1812947" cy="38815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GB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tx1"/>
                  </a:solidFill>
                </a:rPr>
                <a:t>STL</a:t>
              </a: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D62173E1-79B3-4336-A8BD-711E68AF521F}"/>
                </a:ext>
              </a:extLst>
            </p:cNvPr>
            <p:cNvSpPr/>
            <p:nvPr/>
          </p:nvSpPr>
          <p:spPr>
            <a:xfrm>
              <a:off x="6810935" y="2357629"/>
              <a:ext cx="1812948" cy="38815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GB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tx1"/>
                  </a:solidFill>
                </a:rPr>
                <a:t>SA-experimental</a:t>
              </a: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D5B3132C-2C4D-452E-B4ED-3CB9FFFFD5F7}"/>
                </a:ext>
              </a:extLst>
            </p:cNvPr>
            <p:cNvSpPr/>
            <p:nvPr/>
          </p:nvSpPr>
          <p:spPr>
            <a:xfrm>
              <a:off x="6810934" y="2845786"/>
              <a:ext cx="1812948" cy="38815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pPr algn="ctr"/>
              <a:r>
                <a:rPr lang="en-GB" dirty="0">
                  <a:ln>
                    <a:solidFill>
                      <a:schemeClr val="accent1">
                        <a:shade val="50000"/>
                      </a:schemeClr>
                    </a:solidFill>
                  </a:ln>
                  <a:solidFill>
                    <a:schemeClr val="tx1"/>
                  </a:solidFill>
                </a:rPr>
                <a:t>High-frequency</a:t>
              </a:r>
            </a:p>
          </p:txBody>
        </p:sp>
      </p:grp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0B0CC3E2-0FFC-4731-8820-351AE7678A14}"/>
              </a:ext>
            </a:extLst>
          </p:cNvPr>
          <p:cNvCxnSpPr>
            <a:cxnSpLocks/>
            <a:stCxn id="73" idx="1"/>
            <a:endCxn id="32" idx="3"/>
          </p:cNvCxnSpPr>
          <p:nvPr/>
        </p:nvCxnSpPr>
        <p:spPr>
          <a:xfrm rot="10800000">
            <a:off x="6969338" y="1889762"/>
            <a:ext cx="730831" cy="2759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428FB0E8-5606-489A-8CE7-808110D6FC55}"/>
              </a:ext>
            </a:extLst>
          </p:cNvPr>
          <p:cNvCxnSpPr>
            <a:cxnSpLocks/>
            <a:stCxn id="74" idx="2"/>
            <a:endCxn id="36" idx="0"/>
          </p:cNvCxnSpPr>
          <p:nvPr/>
        </p:nvCxnSpPr>
        <p:spPr>
          <a:xfrm rot="5400000">
            <a:off x="8277226" y="3177389"/>
            <a:ext cx="658831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DFBBD5B-3BBD-493D-B653-37EAC43251CF}"/>
              </a:ext>
            </a:extLst>
          </p:cNvPr>
          <p:cNvCxnSpPr>
            <a:cxnSpLocks/>
            <a:stCxn id="74" idx="1"/>
            <a:endCxn id="32" idx="3"/>
          </p:cNvCxnSpPr>
          <p:nvPr/>
        </p:nvCxnSpPr>
        <p:spPr>
          <a:xfrm rot="10800000">
            <a:off x="6969337" y="1889761"/>
            <a:ext cx="730830" cy="7641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EFAE84AF-D133-4178-B567-FDED23C40C3C}"/>
              </a:ext>
            </a:extLst>
          </p:cNvPr>
          <p:cNvSpPr/>
          <p:nvPr/>
        </p:nvSpPr>
        <p:spPr>
          <a:xfrm>
            <a:off x="365759" y="3856739"/>
            <a:ext cx="2033483" cy="994598"/>
          </a:xfrm>
          <a:prstGeom prst="roundRect">
            <a:avLst/>
          </a:prstGeom>
          <a:pattFill prst="pct25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Business Cycle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5EDC04BC-EF00-4216-B711-236454313DA7}"/>
              </a:ext>
            </a:extLst>
          </p:cNvPr>
          <p:cNvSpPr/>
          <p:nvPr/>
        </p:nvSpPr>
        <p:spPr>
          <a:xfrm>
            <a:off x="365759" y="5291462"/>
            <a:ext cx="2033483" cy="994598"/>
          </a:xfrm>
          <a:prstGeom prst="roundRect">
            <a:avLst/>
          </a:prstGeom>
          <a:pattFill prst="pct10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Nowcasting</a:t>
            </a:r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4ACAA833-94AF-44AE-AAD9-452FCE7EE347}"/>
              </a:ext>
            </a:extLst>
          </p:cNvPr>
          <p:cNvCxnSpPr>
            <a:cxnSpLocks/>
            <a:stCxn id="107" idx="3"/>
            <a:endCxn id="31" idx="1"/>
          </p:cNvCxnSpPr>
          <p:nvPr/>
        </p:nvCxnSpPr>
        <p:spPr>
          <a:xfrm flipV="1">
            <a:off x="2399242" y="3974261"/>
            <a:ext cx="1661339" cy="3797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C8034FEF-F4C3-44B0-BBCC-80C2EBF9E042}"/>
              </a:ext>
            </a:extLst>
          </p:cNvPr>
          <p:cNvCxnSpPr>
            <a:cxnSpLocks/>
            <a:stCxn id="108" idx="3"/>
            <a:endCxn id="31" idx="1"/>
          </p:cNvCxnSpPr>
          <p:nvPr/>
        </p:nvCxnSpPr>
        <p:spPr>
          <a:xfrm flipV="1">
            <a:off x="2399242" y="3974261"/>
            <a:ext cx="1661339" cy="18145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F4F5C7B0-2B7B-458A-A764-A1E900D7E06A}"/>
              </a:ext>
            </a:extLst>
          </p:cNvPr>
          <p:cNvSpPr/>
          <p:nvPr/>
        </p:nvSpPr>
        <p:spPr>
          <a:xfrm>
            <a:off x="5532852" y="5570472"/>
            <a:ext cx="2313289" cy="64300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 err="1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RevisionsAnalysis</a:t>
            </a:r>
            <a:endParaRPr lang="en-GB" sz="2000" dirty="0">
              <a:ln>
                <a:solidFill>
                  <a:schemeClr val="accent1">
                    <a:shade val="50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923836D3-FE31-4258-BF8D-D27D70EBEACF}"/>
              </a:ext>
            </a:extLst>
          </p:cNvPr>
          <p:cNvSpPr/>
          <p:nvPr/>
        </p:nvSpPr>
        <p:spPr>
          <a:xfrm>
            <a:off x="9083576" y="5570291"/>
            <a:ext cx="1816510" cy="643004"/>
          </a:xfrm>
          <a:prstGeom prst="roundRect">
            <a:avLst/>
          </a:prstGeom>
          <a:pattFill prst="pct25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GB" sz="2000" dirty="0">
                <a:ln>
                  <a:solidFill>
                    <a:schemeClr val="accent1">
                      <a:shade val="50000"/>
                    </a:schemeClr>
                  </a:solidFill>
                </a:ln>
                <a:solidFill>
                  <a:schemeClr val="tx1"/>
                </a:solidFill>
              </a:rPr>
              <a:t>Calendars</a:t>
            </a:r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D8D302A-901A-4DD2-AB57-BBF40D9A7058}"/>
              </a:ext>
            </a:extLst>
          </p:cNvPr>
          <p:cNvCxnSpPr>
            <a:cxnSpLocks/>
            <a:stCxn id="122" idx="0"/>
            <a:endCxn id="31" idx="2"/>
          </p:cNvCxnSpPr>
          <p:nvPr/>
        </p:nvCxnSpPr>
        <p:spPr>
          <a:xfrm rot="16200000" flipV="1">
            <a:off x="5793260" y="4674234"/>
            <a:ext cx="664980" cy="11274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9" name="Connector: Elbow 128">
            <a:extLst>
              <a:ext uri="{FF2B5EF4-FFF2-40B4-BE49-F238E27FC236}">
                <a16:creationId xmlns:a16="http://schemas.microsoft.com/office/drawing/2014/main" id="{D9CD9462-8945-4A50-8798-EA3F53E4A2D2}"/>
              </a:ext>
            </a:extLst>
          </p:cNvPr>
          <p:cNvCxnSpPr>
            <a:cxnSpLocks/>
            <a:stCxn id="123" idx="0"/>
            <a:endCxn id="31" idx="2"/>
          </p:cNvCxnSpPr>
          <p:nvPr/>
        </p:nvCxnSpPr>
        <p:spPr>
          <a:xfrm rot="16200000" flipV="1">
            <a:off x="7444518" y="3022977"/>
            <a:ext cx="664799" cy="44298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272FD6-24FF-30F3-78A0-42F7FACB57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25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7DBD-897D-292F-4804-A100D9585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JDemetra 3: new design </a:t>
            </a:r>
            <a:endParaRPr lang="fr-BE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6AFC23-3F30-CD0E-8B37-AC85BF664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B124247-1BA6-4B56-A733-0053039570D1}" type="slidenum">
              <a:rPr lang="en-GB" smtClean="0"/>
              <a:t>4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2B06-AD79-914A-448B-FA468CD079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BE" sz="2400" dirty="0" err="1"/>
              <a:t>Jdplus</a:t>
            </a:r>
            <a:r>
              <a:rPr lang="fr-BE" sz="2400" dirty="0"/>
              <a:t>-main</a:t>
            </a:r>
          </a:p>
          <a:p>
            <a:pPr lvl="1"/>
            <a:r>
              <a:rPr lang="fr-BE" sz="2000" dirty="0"/>
              <a:t>Base</a:t>
            </a:r>
          </a:p>
          <a:p>
            <a:pPr lvl="2"/>
            <a:r>
              <a:rPr lang="fr-BE" sz="1800" dirty="0"/>
              <a:t>Toolkit / Sa / </a:t>
            </a:r>
            <a:r>
              <a:rPr lang="fr-BE" sz="1800" dirty="0" err="1"/>
              <a:t>TramoSeats</a:t>
            </a:r>
            <a:r>
              <a:rPr lang="fr-BE" sz="1800" dirty="0"/>
              <a:t> / X13 / Ts providers</a:t>
            </a:r>
          </a:p>
          <a:p>
            <a:pPr lvl="2"/>
            <a:r>
              <a:rPr lang="fr-BE" sz="1800" dirty="0"/>
              <a:t>API / </a:t>
            </a:r>
            <a:r>
              <a:rPr lang="fr-BE" sz="1800" dirty="0" err="1"/>
              <a:t>Core</a:t>
            </a:r>
            <a:r>
              <a:rPr lang="fr-BE" sz="1800" dirty="0"/>
              <a:t> / R / </a:t>
            </a:r>
            <a:r>
              <a:rPr lang="fr-BE" sz="1800" dirty="0" err="1"/>
              <a:t>Protobuf</a:t>
            </a:r>
            <a:r>
              <a:rPr lang="fr-BE" sz="1800" dirty="0"/>
              <a:t> …</a:t>
            </a:r>
          </a:p>
          <a:p>
            <a:pPr lvl="1"/>
            <a:r>
              <a:rPr lang="fr-BE" sz="2000" dirty="0" err="1"/>
              <a:t>Cli</a:t>
            </a:r>
            <a:r>
              <a:rPr lang="fr-BE" sz="2000" dirty="0"/>
              <a:t> (cruncher…)</a:t>
            </a:r>
          </a:p>
          <a:p>
            <a:pPr lvl="1"/>
            <a:r>
              <a:rPr lang="fr-BE" sz="2000" dirty="0"/>
              <a:t>Desktop (GUI)</a:t>
            </a:r>
          </a:p>
          <a:p>
            <a:r>
              <a:rPr lang="fr-BE" sz="2400" dirty="0" err="1"/>
              <a:t>Jdplus-incubator</a:t>
            </a:r>
            <a:endParaRPr lang="fr-BE" sz="2400" dirty="0"/>
          </a:p>
          <a:p>
            <a:pPr lvl="1"/>
            <a:r>
              <a:rPr lang="fr-BE" sz="2000" dirty="0"/>
              <a:t>STL, STS, high-</a:t>
            </a:r>
            <a:r>
              <a:rPr lang="fr-BE" sz="2000" dirty="0" err="1"/>
              <a:t>frequency</a:t>
            </a:r>
            <a:r>
              <a:rPr lang="fr-BE" sz="2000" dirty="0"/>
              <a:t>…</a:t>
            </a:r>
          </a:p>
          <a:p>
            <a:r>
              <a:rPr lang="fr-BE" sz="2400" dirty="0" err="1"/>
              <a:t>Jdplus-experimental</a:t>
            </a:r>
            <a:endParaRPr lang="fr-BE" sz="2400" dirty="0"/>
          </a:p>
          <a:p>
            <a:r>
              <a:rPr lang="fr-BE" sz="2400" dirty="0" err="1"/>
              <a:t>Jdplus</a:t>
            </a:r>
            <a:r>
              <a:rPr lang="fr-BE" sz="2400" dirty="0"/>
              <a:t>-benchmarking / </a:t>
            </a:r>
            <a:r>
              <a:rPr lang="fr-BE" sz="2400" dirty="0" err="1"/>
              <a:t>jdplus-nowcasting</a:t>
            </a:r>
            <a:r>
              <a:rPr lang="fr-BE" sz="2400" dirty="0"/>
              <a:t> / </a:t>
            </a:r>
            <a:r>
              <a:rPr lang="fr-BE" sz="2400" dirty="0" err="1"/>
              <a:t>jdplus-revisions</a:t>
            </a:r>
            <a:r>
              <a:rPr lang="fr-BE" sz="2400" dirty="0"/>
              <a:t>…</a:t>
            </a:r>
            <a:endParaRPr lang="fr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ACAB2-9C43-44F3-836C-E7A53B5C339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GB"/>
              <a:t>JD+ 3.x</a:t>
            </a:r>
          </a:p>
        </p:txBody>
      </p:sp>
    </p:spTree>
    <p:extLst>
      <p:ext uri="{BB962C8B-B14F-4D97-AF65-F5344CB8AC3E}">
        <p14:creationId xmlns:p14="http://schemas.microsoft.com/office/powerpoint/2010/main" val="3323444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9</TotalTime>
  <Words>136</Words>
  <Application>Microsoft Office PowerPoint</Application>
  <PresentationFormat>Grand écran</PresentationFormat>
  <Paragraphs>45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ESTAT Theme</vt:lpstr>
      <vt:lpstr>1.2 JD+ 3.x</vt:lpstr>
      <vt:lpstr>1. What’s new in JD+ 3.x?</vt:lpstr>
      <vt:lpstr>2. JDemetra 3.0 New design </vt:lpstr>
      <vt:lpstr>2. JDemetra 3: new design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Jean Palate</cp:lastModifiedBy>
  <cp:revision>68</cp:revision>
  <dcterms:created xsi:type="dcterms:W3CDTF">2024-11-22T11:11:00Z</dcterms:created>
  <dcterms:modified xsi:type="dcterms:W3CDTF">2026-10-01T08:11:00Z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