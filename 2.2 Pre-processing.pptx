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280" r:id="rId6"/>
    <p:sldId id="268" r:id="rId7"/>
    <p:sldId id="284" r:id="rId8"/>
    <p:sldId id="278" r:id="rId9"/>
    <p:sldId id="264" r:id="rId10"/>
    <p:sldId id="279" r:id="rId11"/>
    <p:sldId id="265" r:id="rId12"/>
    <p:sldId id="286" r:id="rId13"/>
    <p:sldId id="269" r:id="rId14"/>
    <p:sldId id="259" r:id="rId15"/>
    <p:sldId id="262" r:id="rId16"/>
    <p:sldId id="270" r:id="rId17"/>
    <p:sldId id="271" r:id="rId18"/>
    <p:sldId id="274" r:id="rId19"/>
    <p:sldId id="275" r:id="rId20"/>
    <p:sldId id="276" r:id="rId21"/>
    <p:sldId id="277" r:id="rId22"/>
    <p:sldId id="272" r:id="rId23"/>
    <p:sldId id="273" r:id="rId24"/>
    <p:sldId id="281" r:id="rId25"/>
    <p:sldId id="282" r:id="rId26"/>
    <p:sldId id="287" r:id="rId27"/>
    <p:sldId id="261" r:id="rId28"/>
  </p:sldIdLst>
  <p:sldSz cx="12192000" cy="6858000"/>
  <p:notesSz cx="6858000" cy="9144000"/>
  <p:custDataLst>
    <p:tags r:id="rId3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4A7"/>
    <a:srgbClr val="101010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18CAED-D7A4-4603-9197-06DEB79CD2B3}" v="4" dt="2026-09-28T10:44:02.0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100" autoAdjust="0"/>
  </p:normalViewPr>
  <p:slideViewPr>
    <p:cSldViewPr snapToGrid="0">
      <p:cViewPr varScale="1">
        <p:scale>
          <a:sx n="90" d="100"/>
          <a:sy n="90" d="100"/>
        </p:scale>
        <p:origin x="1392" y="78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59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gs" Target="tags/tag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 Palate" userId="9622f2fab9829ffd" providerId="LiveId" clId="{A1A51683-FE5A-46C2-99C9-AF7A28C2EE75}"/>
    <pc:docChg chg="undo redo custSel modSld">
      <pc:chgData name="Jean Palate" userId="9622f2fab9829ffd" providerId="LiveId" clId="{A1A51683-FE5A-46C2-99C9-AF7A28C2EE75}" dt="2026-09-28T10:46:25.409" v="50" actId="403"/>
      <pc:docMkLst>
        <pc:docMk/>
      </pc:docMkLst>
      <pc:sldChg chg="addSp delSp modSp mod modClrScheme chgLayout">
        <pc:chgData name="Jean Palate" userId="9622f2fab9829ffd" providerId="LiveId" clId="{A1A51683-FE5A-46C2-99C9-AF7A28C2EE75}" dt="2026-09-28T10:43:41.442" v="24" actId="478"/>
        <pc:sldMkLst>
          <pc:docMk/>
          <pc:sldMk cId="1723684239" sldId="259"/>
        </pc:sldMkLst>
        <pc:spChg chg="del mod">
          <ac:chgData name="Jean Palate" userId="9622f2fab9829ffd" providerId="LiveId" clId="{A1A51683-FE5A-46C2-99C9-AF7A28C2EE75}" dt="2026-09-28T10:43:25.139" v="21" actId="478"/>
          <ac:spMkLst>
            <pc:docMk/>
            <pc:sldMk cId="1723684239" sldId="259"/>
            <ac:spMk id="2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3:30.903" v="22" actId="700"/>
          <ac:spMkLst>
            <pc:docMk/>
            <pc:sldMk cId="1723684239" sldId="259"/>
            <ac:spMk id="8" creationId="{5E7906CA-AE55-E207-5939-13C69F3526BF}"/>
          </ac:spMkLst>
        </pc:spChg>
        <pc:spChg chg="mod ord">
          <ac:chgData name="Jean Palate" userId="9622f2fab9829ffd" providerId="LiveId" clId="{A1A51683-FE5A-46C2-99C9-AF7A28C2EE75}" dt="2026-09-28T10:43:30.903" v="22" actId="700"/>
          <ac:spMkLst>
            <pc:docMk/>
            <pc:sldMk cId="1723684239" sldId="259"/>
            <ac:spMk id="10" creationId="{00000000-0000-0000-0000-000000000000}"/>
          </ac:spMkLst>
        </pc:spChg>
        <pc:spChg chg="add mod ord">
          <ac:chgData name="Jean Palate" userId="9622f2fab9829ffd" providerId="LiveId" clId="{A1A51683-FE5A-46C2-99C9-AF7A28C2EE75}" dt="2026-09-28T10:43:35.533" v="23"/>
          <ac:spMkLst>
            <pc:docMk/>
            <pc:sldMk cId="1723684239" sldId="259"/>
            <ac:spMk id="11" creationId="{41790FF7-EB61-F90F-40C2-02E9DFA0DA19}"/>
          </ac:spMkLst>
        </pc:spChg>
        <pc:spChg chg="add del mod ord">
          <ac:chgData name="Jean Palate" userId="9622f2fab9829ffd" providerId="LiveId" clId="{A1A51683-FE5A-46C2-99C9-AF7A28C2EE75}" dt="2026-09-28T10:43:41.442" v="24" actId="478"/>
          <ac:spMkLst>
            <pc:docMk/>
            <pc:sldMk cId="1723684239" sldId="259"/>
            <ac:spMk id="12" creationId="{4A615E19-7032-8A36-796F-3D2550C7963B}"/>
          </ac:spMkLst>
        </pc:spChg>
      </pc:sldChg>
      <pc:sldChg chg="modSp mod modClrScheme chgLayout">
        <pc:chgData name="Jean Palate" userId="9622f2fab9829ffd" providerId="LiveId" clId="{A1A51683-FE5A-46C2-99C9-AF7A28C2EE75}" dt="2026-09-28T10:44:02.051" v="28" actId="14100"/>
        <pc:sldMkLst>
          <pc:docMk/>
          <pc:sldMk cId="694905050" sldId="262"/>
        </pc:sldMkLst>
        <pc:spChg chg="mod ord">
          <ac:chgData name="Jean Palate" userId="9622f2fab9829ffd" providerId="LiveId" clId="{A1A51683-FE5A-46C2-99C9-AF7A28C2EE75}" dt="2026-09-28T10:43:53.500" v="25" actId="700"/>
          <ac:spMkLst>
            <pc:docMk/>
            <pc:sldMk cId="694905050" sldId="262"/>
            <ac:spMk id="2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3:53.536" v="26" actId="27636"/>
          <ac:spMkLst>
            <pc:docMk/>
            <pc:sldMk cId="694905050" sldId="262"/>
            <ac:spMk id="3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3:53.500" v="25" actId="700"/>
          <ac:spMkLst>
            <pc:docMk/>
            <pc:sldMk cId="694905050" sldId="262"/>
            <ac:spMk id="4" creationId="{303A09C6-12F6-A20B-17C4-F722584468B5}"/>
          </ac:spMkLst>
        </pc:spChg>
        <pc:spChg chg="mod ord">
          <ac:chgData name="Jean Palate" userId="9622f2fab9829ffd" providerId="LiveId" clId="{A1A51683-FE5A-46C2-99C9-AF7A28C2EE75}" dt="2026-09-28T10:43:53.500" v="25" actId="700"/>
          <ac:spMkLst>
            <pc:docMk/>
            <pc:sldMk cId="694905050" sldId="262"/>
            <ac:spMk id="5" creationId="{00000000-0000-0000-0000-000000000000}"/>
          </ac:spMkLst>
        </pc:spChg>
        <pc:picChg chg="mod">
          <ac:chgData name="Jean Palate" userId="9622f2fab9829ffd" providerId="LiveId" clId="{A1A51683-FE5A-46C2-99C9-AF7A28C2EE75}" dt="2026-09-28T10:44:02.051" v="28" actId="14100"/>
          <ac:picMkLst>
            <pc:docMk/>
            <pc:sldMk cId="694905050" sldId="262"/>
            <ac:picMk id="5122" creationId="{00000000-0000-0000-0000-000000000000}"/>
          </ac:picMkLst>
        </pc:picChg>
      </pc:sldChg>
      <pc:sldChg chg="modSp mod modClrScheme chgLayout">
        <pc:chgData name="Jean Palate" userId="9622f2fab9829ffd" providerId="LiveId" clId="{A1A51683-FE5A-46C2-99C9-AF7A28C2EE75}" dt="2026-09-28T10:41:10.940" v="4" actId="403"/>
        <pc:sldMkLst>
          <pc:docMk/>
          <pc:sldMk cId="2520504826" sldId="265"/>
        </pc:sldMkLst>
        <pc:spChg chg="mod ord">
          <ac:chgData name="Jean Palate" userId="9622f2fab9829ffd" providerId="LiveId" clId="{A1A51683-FE5A-46C2-99C9-AF7A28C2EE75}" dt="2026-09-28T10:41:05.822" v="3" actId="700"/>
          <ac:spMkLst>
            <pc:docMk/>
            <pc:sldMk cId="2520504826" sldId="265"/>
            <ac:spMk id="2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1:10.940" v="4" actId="403"/>
          <ac:spMkLst>
            <pc:docMk/>
            <pc:sldMk cId="2520504826" sldId="265"/>
            <ac:spMk id="3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1:05.822" v="3" actId="700"/>
          <ac:spMkLst>
            <pc:docMk/>
            <pc:sldMk cId="2520504826" sldId="265"/>
            <ac:spMk id="4" creationId="{F2543319-45C1-7C23-7951-11A17EBA15A0}"/>
          </ac:spMkLst>
        </pc:spChg>
        <pc:spChg chg="mod ord">
          <ac:chgData name="Jean Palate" userId="9622f2fab9829ffd" providerId="LiveId" clId="{A1A51683-FE5A-46C2-99C9-AF7A28C2EE75}" dt="2026-09-28T10:41:05.822" v="3" actId="700"/>
          <ac:spMkLst>
            <pc:docMk/>
            <pc:sldMk cId="2520504826" sldId="265"/>
            <ac:spMk id="5" creationId="{00000000-0000-0000-0000-000000000000}"/>
          </ac:spMkLst>
        </pc:spChg>
      </pc:sldChg>
      <pc:sldChg chg="modSp mod modClrScheme chgLayout">
        <pc:chgData name="Jean Palate" userId="9622f2fab9829ffd" providerId="LiveId" clId="{A1A51683-FE5A-46C2-99C9-AF7A28C2EE75}" dt="2026-09-28T10:43:04.311" v="19" actId="403"/>
        <pc:sldMkLst>
          <pc:docMk/>
          <pc:sldMk cId="633636691" sldId="269"/>
        </pc:sldMkLst>
        <pc:spChg chg="mod ord">
          <ac:chgData name="Jean Palate" userId="9622f2fab9829ffd" providerId="LiveId" clId="{A1A51683-FE5A-46C2-99C9-AF7A28C2EE75}" dt="2026-09-28T10:42:55.281" v="18" actId="700"/>
          <ac:spMkLst>
            <pc:docMk/>
            <pc:sldMk cId="633636691" sldId="269"/>
            <ac:spMk id="2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3:04.311" v="19" actId="403"/>
          <ac:spMkLst>
            <pc:docMk/>
            <pc:sldMk cId="633636691" sldId="269"/>
            <ac:spMk id="3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2:55.281" v="18" actId="700"/>
          <ac:spMkLst>
            <pc:docMk/>
            <pc:sldMk cId="633636691" sldId="269"/>
            <ac:spMk id="4" creationId="{D0245F9D-D3CD-B1FE-D03D-BE82BD6B0220}"/>
          </ac:spMkLst>
        </pc:spChg>
        <pc:spChg chg="mod ord">
          <ac:chgData name="Jean Palate" userId="9622f2fab9829ffd" providerId="LiveId" clId="{A1A51683-FE5A-46C2-99C9-AF7A28C2EE75}" dt="2026-09-28T10:42:55.281" v="18" actId="700"/>
          <ac:spMkLst>
            <pc:docMk/>
            <pc:sldMk cId="633636691" sldId="269"/>
            <ac:spMk id="5" creationId="{00000000-0000-0000-0000-000000000000}"/>
          </ac:spMkLst>
        </pc:spChg>
      </pc:sldChg>
      <pc:sldChg chg="modSp mod modClrScheme chgLayout">
        <pc:chgData name="Jean Palate" userId="9622f2fab9829ffd" providerId="LiveId" clId="{A1A51683-FE5A-46C2-99C9-AF7A28C2EE75}" dt="2026-09-28T10:44:14.170" v="30" actId="27636"/>
        <pc:sldMkLst>
          <pc:docMk/>
          <pc:sldMk cId="606275822" sldId="270"/>
        </pc:sldMkLst>
        <pc:spChg chg="mod ord">
          <ac:chgData name="Jean Palate" userId="9622f2fab9829ffd" providerId="LiveId" clId="{A1A51683-FE5A-46C2-99C9-AF7A28C2EE75}" dt="2026-09-28T10:44:14.151" v="29" actId="700"/>
          <ac:spMkLst>
            <pc:docMk/>
            <pc:sldMk cId="606275822" sldId="270"/>
            <ac:spMk id="2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4:14.170" v="30" actId="27636"/>
          <ac:spMkLst>
            <pc:docMk/>
            <pc:sldMk cId="606275822" sldId="270"/>
            <ac:spMk id="3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4:14.151" v="29" actId="700"/>
          <ac:spMkLst>
            <pc:docMk/>
            <pc:sldMk cId="606275822" sldId="270"/>
            <ac:spMk id="4" creationId="{B0746895-6406-9058-1EF8-E059EDC0C6DB}"/>
          </ac:spMkLst>
        </pc:spChg>
        <pc:spChg chg="mod ord">
          <ac:chgData name="Jean Palate" userId="9622f2fab9829ffd" providerId="LiveId" clId="{A1A51683-FE5A-46C2-99C9-AF7A28C2EE75}" dt="2026-09-28T10:44:14.151" v="29" actId="700"/>
          <ac:spMkLst>
            <pc:docMk/>
            <pc:sldMk cId="606275822" sldId="270"/>
            <ac:spMk id="5" creationId="{00000000-0000-0000-0000-000000000000}"/>
          </ac:spMkLst>
        </pc:spChg>
      </pc:sldChg>
      <pc:sldChg chg="modSp mod modClrScheme chgLayout">
        <pc:chgData name="Jean Palate" userId="9622f2fab9829ffd" providerId="LiveId" clId="{A1A51683-FE5A-46C2-99C9-AF7A28C2EE75}" dt="2026-09-28T10:45:21.654" v="40" actId="403"/>
        <pc:sldMkLst>
          <pc:docMk/>
          <pc:sldMk cId="1478513028" sldId="272"/>
        </pc:sldMkLst>
        <pc:spChg chg="mod ord">
          <ac:chgData name="Jean Palate" userId="9622f2fab9829ffd" providerId="LiveId" clId="{A1A51683-FE5A-46C2-99C9-AF7A28C2EE75}" dt="2026-09-28T10:45:12.313" v="39" actId="700"/>
          <ac:spMkLst>
            <pc:docMk/>
            <pc:sldMk cId="1478513028" sldId="272"/>
            <ac:spMk id="2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5:21.654" v="40" actId="403"/>
          <ac:spMkLst>
            <pc:docMk/>
            <pc:sldMk cId="1478513028" sldId="272"/>
            <ac:spMk id="3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5:12.313" v="39" actId="700"/>
          <ac:spMkLst>
            <pc:docMk/>
            <pc:sldMk cId="1478513028" sldId="272"/>
            <ac:spMk id="4" creationId="{E8F65DB9-6A5C-E02E-F9CF-35227707CDDD}"/>
          </ac:spMkLst>
        </pc:spChg>
        <pc:spChg chg="mod ord">
          <ac:chgData name="Jean Palate" userId="9622f2fab9829ffd" providerId="LiveId" clId="{A1A51683-FE5A-46C2-99C9-AF7A28C2EE75}" dt="2026-09-28T10:45:12.313" v="39" actId="700"/>
          <ac:spMkLst>
            <pc:docMk/>
            <pc:sldMk cId="1478513028" sldId="272"/>
            <ac:spMk id="5" creationId="{00000000-0000-0000-0000-000000000000}"/>
          </ac:spMkLst>
        </pc:spChg>
      </pc:sldChg>
      <pc:sldChg chg="modSp mod modClrScheme chgLayout">
        <pc:chgData name="Jean Palate" userId="9622f2fab9829ffd" providerId="LiveId" clId="{A1A51683-FE5A-46C2-99C9-AF7A28C2EE75}" dt="2026-09-28T10:45:41.435" v="43" actId="403"/>
        <pc:sldMkLst>
          <pc:docMk/>
          <pc:sldMk cId="2265620291" sldId="273"/>
        </pc:sldMkLst>
        <pc:spChg chg="mod ord">
          <ac:chgData name="Jean Palate" userId="9622f2fab9829ffd" providerId="LiveId" clId="{A1A51683-FE5A-46C2-99C9-AF7A28C2EE75}" dt="2026-09-28T10:45:36.255" v="41" actId="700"/>
          <ac:spMkLst>
            <pc:docMk/>
            <pc:sldMk cId="2265620291" sldId="273"/>
            <ac:spMk id="2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5:41.435" v="43" actId="403"/>
          <ac:spMkLst>
            <pc:docMk/>
            <pc:sldMk cId="2265620291" sldId="273"/>
            <ac:spMk id="3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5:36.255" v="41" actId="700"/>
          <ac:spMkLst>
            <pc:docMk/>
            <pc:sldMk cId="2265620291" sldId="273"/>
            <ac:spMk id="4" creationId="{51DFBB18-BAFC-7AA6-02A7-CD406C8D5AEB}"/>
          </ac:spMkLst>
        </pc:spChg>
        <pc:spChg chg="mod ord">
          <ac:chgData name="Jean Palate" userId="9622f2fab9829ffd" providerId="LiveId" clId="{A1A51683-FE5A-46C2-99C9-AF7A28C2EE75}" dt="2026-09-28T10:45:36.255" v="41" actId="700"/>
          <ac:spMkLst>
            <pc:docMk/>
            <pc:sldMk cId="2265620291" sldId="273"/>
            <ac:spMk id="5" creationId="{00000000-0000-0000-0000-000000000000}"/>
          </ac:spMkLst>
        </pc:spChg>
      </pc:sldChg>
      <pc:sldChg chg="modSp mod modClrScheme chgLayout">
        <pc:chgData name="Jean Palate" userId="9622f2fab9829ffd" providerId="LiveId" clId="{A1A51683-FE5A-46C2-99C9-AF7A28C2EE75}" dt="2026-09-28T10:44:27.532" v="32" actId="27636"/>
        <pc:sldMkLst>
          <pc:docMk/>
          <pc:sldMk cId="2347157765" sldId="274"/>
        </pc:sldMkLst>
        <pc:spChg chg="mod ord">
          <ac:chgData name="Jean Palate" userId="9622f2fab9829ffd" providerId="LiveId" clId="{A1A51683-FE5A-46C2-99C9-AF7A28C2EE75}" dt="2026-09-28T10:44:27.518" v="31" actId="700"/>
          <ac:spMkLst>
            <pc:docMk/>
            <pc:sldMk cId="2347157765" sldId="274"/>
            <ac:spMk id="2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4:27.532" v="32" actId="27636"/>
          <ac:spMkLst>
            <pc:docMk/>
            <pc:sldMk cId="2347157765" sldId="274"/>
            <ac:spMk id="3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4:27.518" v="31" actId="700"/>
          <ac:spMkLst>
            <pc:docMk/>
            <pc:sldMk cId="2347157765" sldId="274"/>
            <ac:spMk id="4" creationId="{18CCDDA1-9A71-379F-9C83-B60797CB8D49}"/>
          </ac:spMkLst>
        </pc:spChg>
        <pc:spChg chg="mod ord">
          <ac:chgData name="Jean Palate" userId="9622f2fab9829ffd" providerId="LiveId" clId="{A1A51683-FE5A-46C2-99C9-AF7A28C2EE75}" dt="2026-09-28T10:44:27.518" v="31" actId="700"/>
          <ac:spMkLst>
            <pc:docMk/>
            <pc:sldMk cId="2347157765" sldId="274"/>
            <ac:spMk id="5" creationId="{00000000-0000-0000-0000-000000000000}"/>
          </ac:spMkLst>
        </pc:spChg>
      </pc:sldChg>
      <pc:sldChg chg="addSp delSp modSp mod modClrScheme chgLayout">
        <pc:chgData name="Jean Palate" userId="9622f2fab9829ffd" providerId="LiveId" clId="{A1A51683-FE5A-46C2-99C9-AF7A28C2EE75}" dt="2026-09-28T10:44:39.501" v="34" actId="478"/>
        <pc:sldMkLst>
          <pc:docMk/>
          <pc:sldMk cId="3545715997" sldId="275"/>
        </pc:sldMkLst>
        <pc:spChg chg="mod ord">
          <ac:chgData name="Jean Palate" userId="9622f2fab9829ffd" providerId="LiveId" clId="{A1A51683-FE5A-46C2-99C9-AF7A28C2EE75}" dt="2026-09-28T10:44:35.903" v="33" actId="700"/>
          <ac:spMkLst>
            <pc:docMk/>
            <pc:sldMk cId="3545715997" sldId="275"/>
            <ac:spMk id="2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4:35.903" v="33" actId="700"/>
          <ac:spMkLst>
            <pc:docMk/>
            <pc:sldMk cId="3545715997" sldId="275"/>
            <ac:spMk id="3" creationId="{E81D630A-604F-0DE5-1453-B321EFA76D2F}"/>
          </ac:spMkLst>
        </pc:spChg>
        <pc:spChg chg="add del mod ord">
          <ac:chgData name="Jean Palate" userId="9622f2fab9829ffd" providerId="LiveId" clId="{A1A51683-FE5A-46C2-99C9-AF7A28C2EE75}" dt="2026-09-28T10:44:39.501" v="34" actId="478"/>
          <ac:spMkLst>
            <pc:docMk/>
            <pc:sldMk cId="3545715997" sldId="275"/>
            <ac:spMk id="4" creationId="{56D021B9-6750-86C4-9213-0553031BA5BE}"/>
          </ac:spMkLst>
        </pc:spChg>
        <pc:spChg chg="mod ord">
          <ac:chgData name="Jean Palate" userId="9622f2fab9829ffd" providerId="LiveId" clId="{A1A51683-FE5A-46C2-99C9-AF7A28C2EE75}" dt="2026-09-28T10:44:35.903" v="33" actId="700"/>
          <ac:spMkLst>
            <pc:docMk/>
            <pc:sldMk cId="3545715997" sldId="275"/>
            <ac:spMk id="5" creationId="{00000000-0000-0000-0000-000000000000}"/>
          </ac:spMkLst>
        </pc:spChg>
      </pc:sldChg>
      <pc:sldChg chg="addSp delSp modSp mod modClrScheme chgLayout">
        <pc:chgData name="Jean Palate" userId="9622f2fab9829ffd" providerId="LiveId" clId="{A1A51683-FE5A-46C2-99C9-AF7A28C2EE75}" dt="2026-09-28T10:44:50.171" v="36" actId="478"/>
        <pc:sldMkLst>
          <pc:docMk/>
          <pc:sldMk cId="1191085081" sldId="276"/>
        </pc:sldMkLst>
        <pc:spChg chg="mod ord">
          <ac:chgData name="Jean Palate" userId="9622f2fab9829ffd" providerId="LiveId" clId="{A1A51683-FE5A-46C2-99C9-AF7A28C2EE75}" dt="2026-09-28T10:44:46.958" v="35" actId="700"/>
          <ac:spMkLst>
            <pc:docMk/>
            <pc:sldMk cId="1191085081" sldId="276"/>
            <ac:spMk id="2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4:46.958" v="35" actId="700"/>
          <ac:spMkLst>
            <pc:docMk/>
            <pc:sldMk cId="1191085081" sldId="276"/>
            <ac:spMk id="3" creationId="{12B997DE-6BB8-19E3-5211-17E83A37776D}"/>
          </ac:spMkLst>
        </pc:spChg>
        <pc:spChg chg="add del mod ord">
          <ac:chgData name="Jean Palate" userId="9622f2fab9829ffd" providerId="LiveId" clId="{A1A51683-FE5A-46C2-99C9-AF7A28C2EE75}" dt="2026-09-28T10:44:50.171" v="36" actId="478"/>
          <ac:spMkLst>
            <pc:docMk/>
            <pc:sldMk cId="1191085081" sldId="276"/>
            <ac:spMk id="4" creationId="{E49A21B8-F027-C4E4-36A7-72590447058D}"/>
          </ac:spMkLst>
        </pc:spChg>
        <pc:spChg chg="mod ord">
          <ac:chgData name="Jean Palate" userId="9622f2fab9829ffd" providerId="LiveId" clId="{A1A51683-FE5A-46C2-99C9-AF7A28C2EE75}" dt="2026-09-28T10:44:46.958" v="35" actId="700"/>
          <ac:spMkLst>
            <pc:docMk/>
            <pc:sldMk cId="1191085081" sldId="276"/>
            <ac:spMk id="5" creationId="{00000000-0000-0000-0000-000000000000}"/>
          </ac:spMkLst>
        </pc:spChg>
      </pc:sldChg>
      <pc:sldChg chg="modSp mod modClrScheme chgLayout">
        <pc:chgData name="Jean Palate" userId="9622f2fab9829ffd" providerId="LiveId" clId="{A1A51683-FE5A-46C2-99C9-AF7A28C2EE75}" dt="2026-09-28T10:45:04.311" v="38" actId="403"/>
        <pc:sldMkLst>
          <pc:docMk/>
          <pc:sldMk cId="2284755933" sldId="277"/>
        </pc:sldMkLst>
        <pc:spChg chg="mod ord">
          <ac:chgData name="Jean Palate" userId="9622f2fab9829ffd" providerId="LiveId" clId="{A1A51683-FE5A-46C2-99C9-AF7A28C2EE75}" dt="2026-09-28T10:44:58.951" v="37" actId="700"/>
          <ac:spMkLst>
            <pc:docMk/>
            <pc:sldMk cId="2284755933" sldId="277"/>
            <ac:spMk id="2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5:04.311" v="38" actId="403"/>
          <ac:spMkLst>
            <pc:docMk/>
            <pc:sldMk cId="2284755933" sldId="277"/>
            <ac:spMk id="3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4:58.951" v="37" actId="700"/>
          <ac:spMkLst>
            <pc:docMk/>
            <pc:sldMk cId="2284755933" sldId="277"/>
            <ac:spMk id="4" creationId="{BCCB35CA-260F-BBBD-B4E6-78CBC54528E8}"/>
          </ac:spMkLst>
        </pc:spChg>
        <pc:spChg chg="mod ord">
          <ac:chgData name="Jean Palate" userId="9622f2fab9829ffd" providerId="LiveId" clId="{A1A51683-FE5A-46C2-99C9-AF7A28C2EE75}" dt="2026-09-28T10:44:58.951" v="37" actId="700"/>
          <ac:spMkLst>
            <pc:docMk/>
            <pc:sldMk cId="2284755933" sldId="277"/>
            <ac:spMk id="5" creationId="{00000000-0000-0000-0000-000000000000}"/>
          </ac:spMkLst>
        </pc:spChg>
      </pc:sldChg>
      <pc:sldChg chg="modSp mod modClrScheme chgLayout">
        <pc:chgData name="Jean Palate" userId="9622f2fab9829ffd" providerId="LiveId" clId="{A1A51683-FE5A-46C2-99C9-AF7A28C2EE75}" dt="2026-09-28T10:40:39.733" v="2" actId="1076"/>
        <pc:sldMkLst>
          <pc:docMk/>
          <pc:sldMk cId="451438115" sldId="279"/>
        </pc:sldMkLst>
        <pc:spChg chg="mod ord">
          <ac:chgData name="Jean Palate" userId="9622f2fab9829ffd" providerId="LiveId" clId="{A1A51683-FE5A-46C2-99C9-AF7A28C2EE75}" dt="2026-09-28T10:40:34.828" v="1" actId="700"/>
          <ac:spMkLst>
            <pc:docMk/>
            <pc:sldMk cId="451438115" sldId="279"/>
            <ac:spMk id="2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0:34.828" v="1" actId="700"/>
          <ac:spMkLst>
            <pc:docMk/>
            <pc:sldMk cId="451438115" sldId="279"/>
            <ac:spMk id="3" creationId="{00000000-0000-0000-0000-000000000000}"/>
          </ac:spMkLst>
        </pc:spChg>
        <pc:spChg chg="mod ord">
          <ac:chgData name="Jean Palate" userId="9622f2fab9829ffd" providerId="LiveId" clId="{A1A51683-FE5A-46C2-99C9-AF7A28C2EE75}" dt="2026-09-28T10:40:34.828" v="1" actId="700"/>
          <ac:spMkLst>
            <pc:docMk/>
            <pc:sldMk cId="451438115" sldId="279"/>
            <ac:spMk id="4" creationId="{9498808A-0CBA-F89C-E558-02AD220B0537}"/>
          </ac:spMkLst>
        </pc:spChg>
        <pc:spChg chg="mod ord">
          <ac:chgData name="Jean Palate" userId="9622f2fab9829ffd" providerId="LiveId" clId="{A1A51683-FE5A-46C2-99C9-AF7A28C2EE75}" dt="2026-09-28T10:40:34.828" v="1" actId="700"/>
          <ac:spMkLst>
            <pc:docMk/>
            <pc:sldMk cId="451438115" sldId="279"/>
            <ac:spMk id="5" creationId="{00000000-0000-0000-0000-000000000000}"/>
          </ac:spMkLst>
        </pc:spChg>
        <pc:picChg chg="mod">
          <ac:chgData name="Jean Palate" userId="9622f2fab9829ffd" providerId="LiveId" clId="{A1A51683-FE5A-46C2-99C9-AF7A28C2EE75}" dt="2026-09-28T10:40:39.733" v="2" actId="1076"/>
          <ac:picMkLst>
            <pc:docMk/>
            <pc:sldMk cId="451438115" sldId="279"/>
            <ac:picMk id="8" creationId="{54CFD608-4224-4F75-9862-745FE5C6BBF3}"/>
          </ac:picMkLst>
        </pc:picChg>
      </pc:sldChg>
      <pc:sldChg chg="modSp mod modClrScheme chgLayout">
        <pc:chgData name="Jean Palate" userId="9622f2fab9829ffd" providerId="LiveId" clId="{A1A51683-FE5A-46C2-99C9-AF7A28C2EE75}" dt="2026-09-28T10:45:49.526" v="44" actId="700"/>
        <pc:sldMkLst>
          <pc:docMk/>
          <pc:sldMk cId="1492678219" sldId="281"/>
        </pc:sldMkLst>
        <pc:spChg chg="mod ord">
          <ac:chgData name="Jean Palate" userId="9622f2fab9829ffd" providerId="LiveId" clId="{A1A51683-FE5A-46C2-99C9-AF7A28C2EE75}" dt="2026-09-28T10:45:49.526" v="44" actId="700"/>
          <ac:spMkLst>
            <pc:docMk/>
            <pc:sldMk cId="1492678219" sldId="281"/>
            <ac:spMk id="2" creationId="{C717D718-740C-4560-BE84-041520055496}"/>
          </ac:spMkLst>
        </pc:spChg>
        <pc:spChg chg="mod ord">
          <ac:chgData name="Jean Palate" userId="9622f2fab9829ffd" providerId="LiveId" clId="{A1A51683-FE5A-46C2-99C9-AF7A28C2EE75}" dt="2026-09-28T10:45:49.526" v="44" actId="700"/>
          <ac:spMkLst>
            <pc:docMk/>
            <pc:sldMk cId="1492678219" sldId="281"/>
            <ac:spMk id="3" creationId="{4B5D220B-6196-4266-8242-B87524728039}"/>
          </ac:spMkLst>
        </pc:spChg>
        <pc:spChg chg="mod ord">
          <ac:chgData name="Jean Palate" userId="9622f2fab9829ffd" providerId="LiveId" clId="{A1A51683-FE5A-46C2-99C9-AF7A28C2EE75}" dt="2026-09-28T10:45:49.526" v="44" actId="700"/>
          <ac:spMkLst>
            <pc:docMk/>
            <pc:sldMk cId="1492678219" sldId="281"/>
            <ac:spMk id="4" creationId="{30C58478-6B0F-8E6C-0182-8ED707BD5FBC}"/>
          </ac:spMkLst>
        </pc:spChg>
        <pc:spChg chg="mod ord">
          <ac:chgData name="Jean Palate" userId="9622f2fab9829ffd" providerId="LiveId" clId="{A1A51683-FE5A-46C2-99C9-AF7A28C2EE75}" dt="2026-09-28T10:45:49.526" v="44" actId="700"/>
          <ac:spMkLst>
            <pc:docMk/>
            <pc:sldMk cId="1492678219" sldId="281"/>
            <ac:spMk id="5" creationId="{53AA81CC-6A79-4ADE-BC0E-B45CFCBB0595}"/>
          </ac:spMkLst>
        </pc:spChg>
      </pc:sldChg>
      <pc:sldChg chg="modSp mod modClrScheme chgLayout">
        <pc:chgData name="Jean Palate" userId="9622f2fab9829ffd" providerId="LiveId" clId="{A1A51683-FE5A-46C2-99C9-AF7A28C2EE75}" dt="2026-09-28T10:46:07.782" v="47" actId="403"/>
        <pc:sldMkLst>
          <pc:docMk/>
          <pc:sldMk cId="4041419850" sldId="282"/>
        </pc:sldMkLst>
        <pc:spChg chg="mod ord">
          <ac:chgData name="Jean Palate" userId="9622f2fab9829ffd" providerId="LiveId" clId="{A1A51683-FE5A-46C2-99C9-AF7A28C2EE75}" dt="2026-09-28T10:45:57.455" v="45" actId="700"/>
          <ac:spMkLst>
            <pc:docMk/>
            <pc:sldMk cId="4041419850" sldId="282"/>
            <ac:spMk id="2" creationId="{3381D700-68D0-419A-AC00-E703625F014D}"/>
          </ac:spMkLst>
        </pc:spChg>
        <pc:spChg chg="mod ord">
          <ac:chgData name="Jean Palate" userId="9622f2fab9829ffd" providerId="LiveId" clId="{A1A51683-FE5A-46C2-99C9-AF7A28C2EE75}" dt="2026-09-28T10:46:07.782" v="47" actId="403"/>
          <ac:spMkLst>
            <pc:docMk/>
            <pc:sldMk cId="4041419850" sldId="282"/>
            <ac:spMk id="3" creationId="{8F591795-9EC9-4AC8-889B-144958017AD2}"/>
          </ac:spMkLst>
        </pc:spChg>
        <pc:spChg chg="mod ord">
          <ac:chgData name="Jean Palate" userId="9622f2fab9829ffd" providerId="LiveId" clId="{A1A51683-FE5A-46C2-99C9-AF7A28C2EE75}" dt="2026-09-28T10:45:57.455" v="45" actId="700"/>
          <ac:spMkLst>
            <pc:docMk/>
            <pc:sldMk cId="4041419850" sldId="282"/>
            <ac:spMk id="4" creationId="{EA00F173-B4FE-FB79-6561-7257297FB17C}"/>
          </ac:spMkLst>
        </pc:spChg>
        <pc:spChg chg="mod ord">
          <ac:chgData name="Jean Palate" userId="9622f2fab9829ffd" providerId="LiveId" clId="{A1A51683-FE5A-46C2-99C9-AF7A28C2EE75}" dt="2026-09-28T10:45:57.455" v="45" actId="700"/>
          <ac:spMkLst>
            <pc:docMk/>
            <pc:sldMk cId="4041419850" sldId="282"/>
            <ac:spMk id="5" creationId="{C970871E-0F96-4B86-9763-277CCB2D6179}"/>
          </ac:spMkLst>
        </pc:spChg>
      </pc:sldChg>
      <pc:sldChg chg="addSp delSp modSp mod modClrScheme chgLayout">
        <pc:chgData name="Jean Palate" userId="9622f2fab9829ffd" providerId="LiveId" clId="{A1A51683-FE5A-46C2-99C9-AF7A28C2EE75}" dt="2026-09-28T10:42:44.734" v="17" actId="478"/>
        <pc:sldMkLst>
          <pc:docMk/>
          <pc:sldMk cId="1657494597" sldId="286"/>
        </pc:sldMkLst>
        <pc:spChg chg="mod ord">
          <ac:chgData name="Jean Palate" userId="9622f2fab9829ffd" providerId="LiveId" clId="{A1A51683-FE5A-46C2-99C9-AF7A28C2EE75}" dt="2026-09-28T10:41:16.945" v="5" actId="700"/>
          <ac:spMkLst>
            <pc:docMk/>
            <pc:sldMk cId="1657494597" sldId="286"/>
            <ac:spMk id="3" creationId="{4D7B8953-6765-D598-98D9-D7036E57138D}"/>
          </ac:spMkLst>
        </pc:spChg>
        <pc:spChg chg="mod ord">
          <ac:chgData name="Jean Palate" userId="9622f2fab9829ffd" providerId="LiveId" clId="{A1A51683-FE5A-46C2-99C9-AF7A28C2EE75}" dt="2026-09-28T10:41:16.945" v="5" actId="700"/>
          <ac:spMkLst>
            <pc:docMk/>
            <pc:sldMk cId="1657494597" sldId="286"/>
            <ac:spMk id="4" creationId="{00000000-0000-0000-0000-000000000000}"/>
          </ac:spMkLst>
        </pc:spChg>
        <pc:spChg chg="add del mod ord">
          <ac:chgData name="Jean Palate" userId="9622f2fab9829ffd" providerId="LiveId" clId="{A1A51683-FE5A-46C2-99C9-AF7A28C2EE75}" dt="2026-09-28T10:42:22.408" v="16"/>
          <ac:spMkLst>
            <pc:docMk/>
            <pc:sldMk cId="1657494597" sldId="286"/>
            <ac:spMk id="5" creationId="{8A5E01BE-35B1-E5FA-5914-E41752B04B87}"/>
          </ac:spMkLst>
        </pc:spChg>
        <pc:spChg chg="add del mod ord">
          <ac:chgData name="Jean Palate" userId="9622f2fab9829ffd" providerId="LiveId" clId="{A1A51683-FE5A-46C2-99C9-AF7A28C2EE75}" dt="2026-09-28T10:42:44.734" v="17" actId="478"/>
          <ac:spMkLst>
            <pc:docMk/>
            <pc:sldMk cId="1657494597" sldId="286"/>
            <ac:spMk id="6" creationId="{38FAF50F-1589-DC72-A1BC-5115004C2A99}"/>
          </ac:spMkLst>
        </pc:spChg>
        <pc:spChg chg="del mod">
          <ac:chgData name="Jean Palate" userId="9622f2fab9829ffd" providerId="LiveId" clId="{A1A51683-FE5A-46C2-99C9-AF7A28C2EE75}" dt="2026-09-28T10:42:15.736" v="14" actId="478"/>
          <ac:spMkLst>
            <pc:docMk/>
            <pc:sldMk cId="1657494597" sldId="286"/>
            <ac:spMk id="132" creationId="{00000000-0000-0000-0000-000000000000}"/>
          </ac:spMkLst>
        </pc:spChg>
      </pc:sldChg>
      <pc:sldChg chg="modSp mod modClrScheme chgLayout">
        <pc:chgData name="Jean Palate" userId="9622f2fab9829ffd" providerId="LiveId" clId="{A1A51683-FE5A-46C2-99C9-AF7A28C2EE75}" dt="2026-09-28T10:46:25.409" v="50" actId="403"/>
        <pc:sldMkLst>
          <pc:docMk/>
          <pc:sldMk cId="1282295028" sldId="287"/>
        </pc:sldMkLst>
        <pc:spChg chg="mod ord">
          <ac:chgData name="Jean Palate" userId="9622f2fab9829ffd" providerId="LiveId" clId="{A1A51683-FE5A-46C2-99C9-AF7A28C2EE75}" dt="2026-09-28T10:46:20.178" v="48" actId="700"/>
          <ac:spMkLst>
            <pc:docMk/>
            <pc:sldMk cId="1282295028" sldId="287"/>
            <ac:spMk id="2" creationId="{7300719A-4192-780C-FEB6-E346C0406EFB}"/>
          </ac:spMkLst>
        </pc:spChg>
        <pc:spChg chg="mod ord">
          <ac:chgData name="Jean Palate" userId="9622f2fab9829ffd" providerId="LiveId" clId="{A1A51683-FE5A-46C2-99C9-AF7A28C2EE75}" dt="2026-09-28T10:46:25.409" v="50" actId="403"/>
          <ac:spMkLst>
            <pc:docMk/>
            <pc:sldMk cId="1282295028" sldId="287"/>
            <ac:spMk id="3" creationId="{5B9BCB9B-23FC-99F6-7BB7-C6A24AF51D3A}"/>
          </ac:spMkLst>
        </pc:spChg>
        <pc:spChg chg="mod ord">
          <ac:chgData name="Jean Palate" userId="9622f2fab9829ffd" providerId="LiveId" clId="{A1A51683-FE5A-46C2-99C9-AF7A28C2EE75}" dt="2026-09-28T10:46:20.178" v="48" actId="700"/>
          <ac:spMkLst>
            <pc:docMk/>
            <pc:sldMk cId="1282295028" sldId="287"/>
            <ac:spMk id="4" creationId="{F4B83904-0508-48DA-11CE-81978F192F79}"/>
          </ac:spMkLst>
        </pc:spChg>
        <pc:spChg chg="mod ord">
          <ac:chgData name="Jean Palate" userId="9622f2fab9829ffd" providerId="LiveId" clId="{A1A51683-FE5A-46C2-99C9-AF7A28C2EE75}" dt="2026-09-28T10:46:20.178" v="48" actId="700"/>
          <ac:spMkLst>
            <pc:docMk/>
            <pc:sldMk cId="1282295028" sldId="287"/>
            <ac:spMk id="5" creationId="{628117DF-B87E-42B3-772D-C925FE88785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‹N°›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414732"/>
            <a:ext cx="10515597" cy="4681395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22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76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Preprocessing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pPr/>
              <a:t>‹N°›</a:t>
            </a:fld>
            <a:r>
              <a:rPr lang="en-US" dirty="0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3609268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  <p:sldLayoutId id="2147483728" r:id="rId6"/>
    <p:sldLayoutId id="2147483729" r:id="rId7"/>
    <p:sldLayoutId id="2147483730" r:id="rId8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ESTP Training</a:t>
            </a:r>
          </a:p>
          <a:p>
            <a:r>
              <a:rPr lang="en-IE"/>
              <a:t>05-07 October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2.2 Pre-processing </a:t>
            </a:r>
            <a:r>
              <a:rPr lang="en-US" dirty="0"/>
              <a:t>:</a:t>
            </a:r>
            <a:br>
              <a:rPr lang="en-US" dirty="0"/>
            </a:br>
            <a:r>
              <a:rPr lang="fr-BE" dirty="0" err="1"/>
              <a:t>RegArima</a:t>
            </a:r>
            <a:r>
              <a:rPr lang="fr-BE" dirty="0"/>
              <a:t> </a:t>
            </a:r>
            <a:r>
              <a:rPr lang="fr-BE" dirty="0" err="1"/>
              <a:t>modelling</a:t>
            </a:r>
            <a:r>
              <a:rPr lang="fr-BE" dirty="0"/>
              <a:t> in Tramo and in X12/X13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9C7F-E738-4271-B008-1C029AA0F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71BFD3-32CE-758F-1088-937010AB3C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26A23-D319-4CEB-921A-879FFA3802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400" dirty="0"/>
              <a:t>Why pre-processing (with </a:t>
            </a:r>
            <a:r>
              <a:rPr lang="en-GB" sz="2400" dirty="0" err="1"/>
              <a:t>RegArima</a:t>
            </a:r>
            <a:r>
              <a:rPr lang="en-GB" sz="2400" dirty="0"/>
              <a:t>)</a:t>
            </a:r>
          </a:p>
          <a:p>
            <a:r>
              <a:rPr lang="en-GB" sz="2400" dirty="0" err="1"/>
              <a:t>RegArima</a:t>
            </a:r>
            <a:r>
              <a:rPr lang="en-GB" sz="2400" dirty="0"/>
              <a:t> model</a:t>
            </a:r>
          </a:p>
          <a:p>
            <a:pPr lvl="1"/>
            <a:r>
              <a:rPr lang="en-GB" sz="2000" dirty="0"/>
              <a:t>Definition, estimation</a:t>
            </a:r>
          </a:p>
          <a:p>
            <a:r>
              <a:rPr lang="en-GB" sz="2400" dirty="0"/>
              <a:t>Automatic model identification (AMI)</a:t>
            </a:r>
          </a:p>
          <a:p>
            <a:pPr lvl="1"/>
            <a:r>
              <a:rPr lang="en-GB" sz="2000" dirty="0"/>
              <a:t>Overview, seasonality tests, log/level, calendar effects, outliers, ARIMA models, final checks</a:t>
            </a:r>
          </a:p>
          <a:p>
            <a:r>
              <a:rPr lang="en-GB" sz="2400" dirty="0"/>
              <a:t>Final remarks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91AC6-5318-4AD0-A2CC-EA502460978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10521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 </a:t>
            </a:r>
            <a:r>
              <a:rPr lang="fr-BE" dirty="0" err="1"/>
              <a:t>Why</a:t>
            </a:r>
            <a:r>
              <a:rPr lang="fr-BE" dirty="0"/>
              <a:t> </a:t>
            </a:r>
            <a:r>
              <a:rPr lang="fr-BE" dirty="0" err="1"/>
              <a:t>pre-processing</a:t>
            </a:r>
            <a:r>
              <a:rPr lang="fr-BE" dirty="0"/>
              <a:t>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7B1D5A-B5C3-5F42-3EE8-3CC289AD0D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Exercise: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Effects of log/level, trading days, outliers on the final SA series (trend, irregular…)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Impacts using </a:t>
            </a:r>
            <a:r>
              <a:rPr lang="en-GB" dirty="0" err="1"/>
              <a:t>Tramo</a:t>
            </a:r>
            <a:r>
              <a:rPr lang="en-GB" dirty="0"/>
              <a:t>-Seats and X12-Arima</a:t>
            </a:r>
          </a:p>
          <a:p>
            <a:pPr lvl="1"/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318746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62D6A-F9D4-4EFA-4470-F1DF78170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7DF5C-E220-CC4F-60A0-91043A3BE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1.2. </a:t>
            </a:r>
            <a:r>
              <a:rPr lang="fr-BE" dirty="0" err="1"/>
              <a:t>Why</a:t>
            </a:r>
            <a:r>
              <a:rPr lang="fr-BE" dirty="0"/>
              <a:t> </a:t>
            </a:r>
            <a:r>
              <a:rPr lang="fr-BE" dirty="0" err="1"/>
              <a:t>RegArima</a:t>
            </a:r>
            <a:r>
              <a:rPr lang="fr-BE" dirty="0"/>
              <a:t>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E9E505-6ECE-7E98-F4F0-A5F7EECFAB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1D9DB-1ABC-068B-2E70-9810130637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400" dirty="0"/>
              <a:t>Flexible and parsimonious</a:t>
            </a:r>
          </a:p>
          <a:p>
            <a:r>
              <a:rPr lang="en-GB" sz="2400" dirty="0"/>
              <a:t>Efficient estimation procedures</a:t>
            </a:r>
          </a:p>
          <a:p>
            <a:endParaRPr lang="en-GB" sz="2400" dirty="0"/>
          </a:p>
          <a:p>
            <a:r>
              <a:rPr lang="en-GB" sz="2400" dirty="0"/>
              <a:t>Historical reasons</a:t>
            </a:r>
          </a:p>
          <a:p>
            <a:pPr lvl="1"/>
            <a:r>
              <a:rPr lang="en-GB" sz="2000" dirty="0"/>
              <a:t>Link with SEATS and the canonical decomposition</a:t>
            </a:r>
          </a:p>
          <a:p>
            <a:pPr lvl="1"/>
            <a:endParaRPr lang="en-GB" sz="2000" dirty="0"/>
          </a:p>
          <a:p>
            <a:r>
              <a:rPr lang="en-GB" sz="2400" dirty="0"/>
              <a:t>More powerful alternatives could now be considered (structural models…)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2A993-9BF8-FD75-73EE-DB29E959EBD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1690440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1D898-9B19-4F10-BCF8-3C5A1F189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2.1 </a:t>
            </a:r>
            <a:r>
              <a:rPr lang="en-GB" dirty="0" err="1"/>
              <a:t>RegArima</a:t>
            </a:r>
            <a:r>
              <a:rPr lang="en-GB" dirty="0"/>
              <a:t> model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A7DD17-FFE6-CF70-93FC-10467D4245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7A8274-07B8-4CEE-AA1F-1E343CFD81E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fr-BE" i="1" dirty="0"/>
                  <a:t>Additive case:</a:t>
                </a: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d>
                        <m:dPr>
                          <m:ctrlP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m:rPr>
                          <m:sty m:val="p"/>
                        </m:rPr>
                        <a:rPr lang="el-GR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ctrlP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BE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BE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BE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fr-BE" sz="2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BE" sz="2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fr-BE" i="1" dirty="0"/>
              </a:p>
              <a:p>
                <a:r>
                  <a:rPr lang="fr-BE" i="1" dirty="0"/>
                  <a:t>Multiplicative case: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d>
                        <m:dPr>
                          <m:ctrlP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m:rPr>
                          <m:sty m:val="p"/>
                        </m:rPr>
                        <a:rPr lang="el-GR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ctrlP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fr-BE" sz="2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BE" sz="2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fr-BE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BE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BE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func>
                          <m:r>
                            <a:rPr lang="fr-BE" sz="2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BE" sz="2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fr-BE" sz="2600" i="1" dirty="0"/>
              </a:p>
              <a:p>
                <a:endParaRPr lang="fr-BE" sz="2600" dirty="0"/>
              </a:p>
              <a:p>
                <a:r>
                  <a:rPr lang="fr-BE" sz="2600" dirty="0"/>
                  <a:t>Notations: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sz="2200" dirty="0"/>
                  <a:t> : series corrected for any pre-specified effect.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fr-BE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200" dirty="0"/>
                  <a:t>: any regression variable (trend constant, calendar, outliers…)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fr-B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fr-B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B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fr-B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fr-B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B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fr-B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fr-B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B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B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: differencing, auto-regressive and moving average polynomials</a:t>
                </a:r>
              </a:p>
              <a:p>
                <a:endParaRPr lang="en-GB" sz="26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7A8274-07B8-4CEE-AA1F-1E343CFD81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AF00-FE2C-4FCD-838F-6C65886FDBA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2670099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2.2 </a:t>
            </a:r>
            <a:r>
              <a:rPr lang="fr-BE" dirty="0" err="1"/>
              <a:t>RegArima</a:t>
            </a:r>
            <a:r>
              <a:rPr lang="fr-BE" dirty="0"/>
              <a:t> estimation (I)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6EA885-FF75-E5E0-B404-5F42DA33B3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fr-BE" dirty="0"/>
                  <a:t>Exact estimation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ctrlP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d>
                            <m:dPr>
                              <m:ctrlPr>
                                <a:rPr lang="fr-BE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BE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sSub>
                            <m:sSubPr>
                              <m:ctrlPr>
                                <a:rPr lang="fr-BE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BE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BE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fr-BE" sz="2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d>
                            <m:dPr>
                              <m:ctrlPr>
                                <a:rPr lang="fr-BE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BE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fr-BE" sz="2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fr-BE" sz="2600" i="1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ctrlP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fr-BE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BE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BE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BE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acc>
                          <m: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̃"/>
                              <m:ctrlPr>
                                <a:rPr lang="fr-B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BE" sz="2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fr-B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fr-B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fr-BE" sz="2600" i="1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lang="fr-B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B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B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B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acc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fr-B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B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fr-B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(0, </m:t>
                      </m:r>
                      <m:sSup>
                        <m:sSupPr>
                          <m:ctrlPr>
                            <a:rPr lang="fr-B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B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sz="2800" i="1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̃"/>
                          <m:ctrlPr>
                            <a:rPr lang="fr-B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B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B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B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acc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B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B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fr-B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̃"/>
                          <m:ctrlPr>
                            <a:rPr lang="fr-B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B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0, </m:t>
                          </m:r>
                          <m:sSup>
                            <m:sSupPr>
                              <m:ctrlPr>
                                <a:rPr lang="fr-B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B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fr-B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fr-BE" sz="2800" i="1" dirty="0"/>
              </a:p>
              <a:p>
                <a:pPr lvl="1"/>
                <a:endParaRPr lang="fr-BE" dirty="0"/>
              </a:p>
              <a:p>
                <a:pPr lvl="1"/>
                <a:r>
                  <a:rPr lang="en-US" dirty="0"/>
                  <a:t>Differencing → Kalman filter → OLS solved by a QR decomposition.</a:t>
                </a:r>
              </a:p>
              <a:p>
                <a:pPr lvl="1"/>
                <a:r>
                  <a:rPr lang="en-US" dirty="0"/>
                  <a:t>ML estimation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by Levenberg-Marquardt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fr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fr-B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B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fr-B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concentrated out of the likelihood)</a:t>
                </a:r>
              </a:p>
              <a:p>
                <a:pPr lvl="1"/>
                <a:r>
                  <a:rPr lang="en-GB" dirty="0"/>
                  <a:t>Residuals </a:t>
                </a:r>
              </a:p>
              <a:p>
                <a:pPr lvl="2"/>
                <a:r>
                  <a:rPr lang="en-GB" dirty="0"/>
                  <a:t>« QR-residuals » (depends on the QR decomposition)</a:t>
                </a:r>
              </a:p>
              <a:p>
                <a:pPr lvl="2"/>
                <a:r>
                  <a:rPr lang="en-GB" dirty="0"/>
                  <a:t>Full residuals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acc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̃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acc>
                      <m:accPr>
                        <m:chr m:val="̂"/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BD0216D-6F50-4B52-B715-D4E0724EAD90}"/>
              </a:ext>
            </a:extLst>
          </p:cNvPr>
          <p:cNvSpPr/>
          <p:nvPr/>
        </p:nvSpPr>
        <p:spPr>
          <a:xfrm>
            <a:off x="3199768" y="4780053"/>
            <a:ext cx="307588" cy="320091"/>
          </a:xfrm>
          <a:prstGeom prst="triangl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216000" rtlCol="0" anchor="ctr" anchorCtr="1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19724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2.2 </a:t>
            </a:r>
            <a:r>
              <a:rPr lang="fr-BE" dirty="0" err="1"/>
              <a:t>RegArima</a:t>
            </a:r>
            <a:r>
              <a:rPr lang="fr-BE" dirty="0"/>
              <a:t> estimation (II)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98808A-0CBA-F89C-E558-02AD220B05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700" dirty="0"/>
                  <a:t>Fast estimation </a:t>
                </a:r>
              </a:p>
              <a:p>
                <a:pPr lvl="1"/>
                <a:r>
                  <a:rPr lang="en-US" sz="2400" dirty="0"/>
                  <a:t>Differencing → OLS (QR decomposition</a:t>
                </a:r>
                <a:r>
                  <a:rPr lang="en-GB" sz="2400" dirty="0"/>
                  <a:t> )</a:t>
                </a:r>
                <a:r>
                  <a:rPr lang="en-US" sz="2400" dirty="0"/>
                  <a:t> → Residuals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300" dirty="0"/>
                  <a:t>)</a:t>
                </a:r>
              </a:p>
              <a:p>
                <a:pPr lvl="1"/>
                <a:r>
                  <a:rPr lang="en-GB" sz="2400" dirty="0"/>
                  <a:t>Estimation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fr-B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fr-B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 by Hannan-</a:t>
                </a:r>
                <a:r>
                  <a:rPr lang="en-US" sz="2400" dirty="0" err="1"/>
                  <a:t>Rissanen</a:t>
                </a:r>
                <a:endParaRPr lang="en-US" sz="24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BE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fr-B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fr-BE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fr-BE" sz="20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BE" sz="2000" i="1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BE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fr-B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fr-B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fr-BE" sz="20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BE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fr-B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fr-B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fr-BE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sz="2000" dirty="0"/>
              </a:p>
              <a:p>
                <a:pPr lvl="1"/>
                <a:r>
                  <a:rPr lang="en-US" sz="1600" dirty="0"/>
                  <a:t>Not a real problem: why trying to estimate exact parameters when we know that they are unstable ? </a:t>
                </a:r>
              </a:p>
              <a:p>
                <a:pPr lvl="2"/>
                <a:r>
                  <a:rPr lang="en-US" sz="1400" dirty="0">
                    <a:solidFill>
                      <a:srgbClr val="0070C0"/>
                    </a:solidFill>
                  </a:rPr>
                  <a:t>Impact of the parameters on the regression coefficients, on the seasonally adjusted series ?</a:t>
                </a:r>
                <a:endParaRPr lang="en-GB" sz="1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CFD608-4224-4F75-9862-745FE5C6B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4729774"/>
            <a:ext cx="5142075" cy="14269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51438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2.2 </a:t>
            </a:r>
            <a:r>
              <a:rPr lang="fr-BE" dirty="0" err="1"/>
              <a:t>RegArima</a:t>
            </a:r>
            <a:r>
              <a:rPr lang="fr-BE" dirty="0"/>
              <a:t> estimation (III)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543319-45C1-7C23-7951-11A17EBA15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8</a:t>
            </a:fld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X12-Arima</a:t>
            </a:r>
          </a:p>
          <a:p>
            <a:pPr lvl="1"/>
            <a:r>
              <a:rPr lang="en-GB" sz="2000" dirty="0"/>
              <a:t>Exact ML estimation </a:t>
            </a:r>
          </a:p>
          <a:p>
            <a:r>
              <a:rPr lang="en-GB" sz="2400" dirty="0" err="1"/>
              <a:t>Tramo</a:t>
            </a:r>
            <a:endParaRPr lang="en-GB" sz="2400" dirty="0"/>
          </a:p>
          <a:p>
            <a:pPr lvl="1"/>
            <a:r>
              <a:rPr lang="en-GB" sz="2000" dirty="0"/>
              <a:t>Fast estimation in most intermediary steps</a:t>
            </a:r>
          </a:p>
          <a:p>
            <a:pPr lvl="1"/>
            <a:r>
              <a:rPr lang="en-GB" sz="2000" dirty="0"/>
              <a:t>Exact ML estimation in final steps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2520504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"/>
          <p:cNvSpPr>
            <a:spLocks noChangeArrowheads="1"/>
          </p:cNvSpPr>
          <p:nvPr/>
        </p:nvSpPr>
        <p:spPr bwMode="auto">
          <a:xfrm>
            <a:off x="1676401" y="-1488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210760" y="1484784"/>
            <a:ext cx="189565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Initialization</a:t>
            </a:r>
            <a:endParaRPr lang="fr-BE" dirty="0"/>
          </a:p>
          <a:p>
            <a:pPr algn="ctr"/>
            <a:r>
              <a:rPr lang="fr-BE" dirty="0" err="1"/>
              <a:t>Seasonality</a:t>
            </a:r>
            <a:r>
              <a:rPr lang="fr-BE" dirty="0"/>
              <a:t> tests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5176887" y="1484784"/>
            <a:ext cx="1838225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Log/</a:t>
            </a:r>
            <a:r>
              <a:rPr lang="fr-BE" dirty="0" err="1"/>
              <a:t>level</a:t>
            </a:r>
            <a:endParaRPr lang="en-US" dirty="0"/>
          </a:p>
        </p:txBody>
      </p:sp>
      <p:cxnSp>
        <p:nvCxnSpPr>
          <p:cNvPr id="37" name="Straight Arrow Connector 36"/>
          <p:cNvCxnSpPr>
            <a:stCxn id="34" idx="3"/>
            <a:endCxn id="35" idx="1"/>
          </p:cNvCxnSpPr>
          <p:nvPr/>
        </p:nvCxnSpPr>
        <p:spPr>
          <a:xfrm>
            <a:off x="4106410" y="1988840"/>
            <a:ext cx="107047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082172" y="1484784"/>
            <a:ext cx="1475685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Regression</a:t>
            </a:r>
            <a:r>
              <a:rPr lang="fr-BE" dirty="0"/>
              <a:t> (TD, </a:t>
            </a:r>
            <a:r>
              <a:rPr lang="fr-BE" dirty="0" err="1"/>
              <a:t>Easter</a:t>
            </a:r>
            <a:r>
              <a:rPr lang="fr-BE" dirty="0"/>
              <a:t>…)</a:t>
            </a:r>
            <a:endParaRPr lang="en-US" dirty="0"/>
          </a:p>
        </p:txBody>
      </p:sp>
      <p:cxnSp>
        <p:nvCxnSpPr>
          <p:cNvPr id="42" name="Straight Arrow Connector 41"/>
          <p:cNvCxnSpPr>
            <a:stCxn id="35" idx="3"/>
            <a:endCxn id="40" idx="1"/>
          </p:cNvCxnSpPr>
          <p:nvPr/>
        </p:nvCxnSpPr>
        <p:spPr>
          <a:xfrm>
            <a:off x="7015111" y="1988840"/>
            <a:ext cx="10670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8082173" y="3140970"/>
            <a:ext cx="1475685" cy="9640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Outliers</a:t>
            </a:r>
            <a:r>
              <a:rPr lang="fr-BE" dirty="0"/>
              <a:t> </a:t>
            </a:r>
            <a:r>
              <a:rPr lang="fr-BE" dirty="0" err="1"/>
              <a:t>detection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2294739" y="3140968"/>
            <a:ext cx="1811673" cy="9640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Differencing</a:t>
            </a:r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5176888" y="3140969"/>
            <a:ext cx="1838225" cy="9640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Arma identification</a:t>
            </a:r>
            <a:endParaRPr lang="en-US" dirty="0"/>
          </a:p>
        </p:txBody>
      </p:sp>
      <p:cxnSp>
        <p:nvCxnSpPr>
          <p:cNvPr id="51" name="Straight Arrow Connector 50"/>
          <p:cNvCxnSpPr>
            <a:stCxn id="48" idx="3"/>
            <a:endCxn id="49" idx="1"/>
          </p:cNvCxnSpPr>
          <p:nvPr/>
        </p:nvCxnSpPr>
        <p:spPr>
          <a:xfrm>
            <a:off x="4106411" y="3623000"/>
            <a:ext cx="1070476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49" idx="3"/>
            <a:endCxn id="47" idx="1"/>
          </p:cNvCxnSpPr>
          <p:nvPr/>
        </p:nvCxnSpPr>
        <p:spPr>
          <a:xfrm>
            <a:off x="7015112" y="3623001"/>
            <a:ext cx="106706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8075531" y="4730194"/>
            <a:ext cx="1475685" cy="110069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Final estimation</a:t>
            </a:r>
            <a:endParaRPr lang="en-US" dirty="0"/>
          </a:p>
        </p:txBody>
      </p:sp>
      <p:cxnSp>
        <p:nvCxnSpPr>
          <p:cNvPr id="74" name="Straight Arrow Connector 73"/>
          <p:cNvCxnSpPr>
            <a:stCxn id="40" idx="2"/>
            <a:endCxn id="47" idx="0"/>
          </p:cNvCxnSpPr>
          <p:nvPr/>
        </p:nvCxnSpPr>
        <p:spPr>
          <a:xfrm>
            <a:off x="8820015" y="2492897"/>
            <a:ext cx="1" cy="6480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47" idx="2"/>
            <a:endCxn id="58" idx="0"/>
          </p:cNvCxnSpPr>
          <p:nvPr/>
        </p:nvCxnSpPr>
        <p:spPr>
          <a:xfrm flipH="1">
            <a:off x="8813373" y="4105033"/>
            <a:ext cx="6642" cy="6251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Diamond 81"/>
          <p:cNvSpPr/>
          <p:nvPr/>
        </p:nvSpPr>
        <p:spPr>
          <a:xfrm>
            <a:off x="4825571" y="4725145"/>
            <a:ext cx="2310068" cy="1100699"/>
          </a:xfrm>
          <a:prstGeom prst="diamond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/>
              <a:t>Model </a:t>
            </a:r>
            <a:r>
              <a:rPr lang="fr-BE" sz="1600" dirty="0" err="1"/>
              <a:t>checks</a:t>
            </a:r>
            <a:endParaRPr lang="en-US" sz="1600" dirty="0"/>
          </a:p>
        </p:txBody>
      </p:sp>
      <p:cxnSp>
        <p:nvCxnSpPr>
          <p:cNvPr id="85" name="Straight Arrow Connector 84"/>
          <p:cNvCxnSpPr>
            <a:stCxn id="58" idx="1"/>
            <a:endCxn id="82" idx="3"/>
          </p:cNvCxnSpPr>
          <p:nvPr/>
        </p:nvCxnSpPr>
        <p:spPr>
          <a:xfrm flipH="1" flipV="1">
            <a:off x="7135640" y="5275495"/>
            <a:ext cx="939891" cy="50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Flowchart: Terminator 102"/>
          <p:cNvSpPr/>
          <p:nvPr/>
        </p:nvSpPr>
        <p:spPr>
          <a:xfrm>
            <a:off x="5448537" y="6054598"/>
            <a:ext cx="1064137" cy="301752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Arrow Connector 104"/>
          <p:cNvCxnSpPr>
            <a:stCxn id="82" idx="2"/>
            <a:endCxn id="103" idx="0"/>
          </p:cNvCxnSpPr>
          <p:nvPr/>
        </p:nvCxnSpPr>
        <p:spPr>
          <a:xfrm>
            <a:off x="5980605" y="5825844"/>
            <a:ext cx="0" cy="228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/>
          <p:cNvCxnSpPr>
            <a:stCxn id="82" idx="1"/>
            <a:endCxn id="48" idx="2"/>
          </p:cNvCxnSpPr>
          <p:nvPr/>
        </p:nvCxnSpPr>
        <p:spPr>
          <a:xfrm rot="10800000">
            <a:off x="3200575" y="4105030"/>
            <a:ext cx="1624996" cy="117046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re 4">
            <a:extLst>
              <a:ext uri="{FF2B5EF4-FFF2-40B4-BE49-F238E27FC236}">
                <a16:creationId xmlns:a16="http://schemas.microsoft.com/office/drawing/2014/main" id="{8A5E01BE-35B1-E5FA-5914-E41752B04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19" y="403621"/>
            <a:ext cx="10515600" cy="782357"/>
          </a:xfrm>
        </p:spPr>
        <p:txBody>
          <a:bodyPr/>
          <a:lstStyle/>
          <a:p>
            <a:r>
              <a:rPr lang="fr-BE" dirty="0"/>
              <a:t>3.1 AMI: </a:t>
            </a:r>
            <a:r>
              <a:rPr lang="fr-BE" dirty="0" err="1"/>
              <a:t>simplified</a:t>
            </a:r>
            <a:r>
              <a:rPr lang="fr-BE" dirty="0"/>
              <a:t> </a:t>
            </a:r>
            <a:r>
              <a:rPr lang="fr-BE" dirty="0" err="1"/>
              <a:t>schema</a:t>
            </a:r>
            <a:br>
              <a:rPr lang="en-US" dirty="0"/>
            </a:b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D7B8953-6765-D598-98D9-D7036E5713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1657494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3.2 </a:t>
            </a:r>
            <a:r>
              <a:rPr lang="fr-BE" dirty="0" err="1"/>
              <a:t>Seasonality</a:t>
            </a:r>
            <a:r>
              <a:rPr lang="fr-BE" dirty="0"/>
              <a:t> tests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245F9D-D3CD-B1FE-D03D-BE82BD6B02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10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BE" sz="2400" dirty="0" err="1"/>
              <a:t>Only</a:t>
            </a:r>
            <a:r>
              <a:rPr lang="fr-BE" sz="2400" dirty="0"/>
              <a:t> in the last versions of </a:t>
            </a:r>
            <a:r>
              <a:rPr lang="fr-BE" sz="2400" dirty="0" err="1"/>
              <a:t>Tramo</a:t>
            </a:r>
            <a:r>
              <a:rPr lang="fr-BE" sz="2400" dirty="0"/>
              <a:t> and in JD+</a:t>
            </a:r>
          </a:p>
          <a:p>
            <a:r>
              <a:rPr lang="fr-BE" sz="2400" dirty="0"/>
              <a:t>Initial tests</a:t>
            </a:r>
          </a:p>
          <a:p>
            <a:pPr lvl="1"/>
            <a:r>
              <a:rPr lang="fr-BE" sz="2000" dirty="0" err="1"/>
              <a:t>Ljung</a:t>
            </a:r>
            <a:r>
              <a:rPr lang="fr-BE" sz="2000" dirty="0"/>
              <a:t>-Box test: </a:t>
            </a:r>
            <a:r>
              <a:rPr lang="fr-BE" sz="2000" dirty="0" err="1"/>
              <a:t>auto-correlations</a:t>
            </a:r>
            <a:r>
              <a:rPr lang="fr-BE" sz="2000" dirty="0"/>
              <a:t> at </a:t>
            </a:r>
            <a:r>
              <a:rPr lang="fr-BE" sz="2000" dirty="0" err="1"/>
              <a:t>seasonal</a:t>
            </a:r>
            <a:r>
              <a:rPr lang="fr-BE" sz="2000" dirty="0"/>
              <a:t> </a:t>
            </a:r>
            <a:r>
              <a:rPr lang="fr-BE" sz="2000" dirty="0" err="1"/>
              <a:t>lags</a:t>
            </a:r>
            <a:endParaRPr lang="fr-BE" sz="2000" dirty="0"/>
          </a:p>
          <a:p>
            <a:pPr lvl="2"/>
            <a:r>
              <a:rPr lang="fr-BE" sz="1800" dirty="0" err="1"/>
              <a:t>Correlations</a:t>
            </a:r>
            <a:r>
              <a:rPr lang="fr-BE" sz="1800" dirty="0"/>
              <a:t> </a:t>
            </a:r>
            <a:r>
              <a:rPr lang="fr-BE" sz="1800" dirty="0" err="1"/>
              <a:t>between</a:t>
            </a:r>
            <a:r>
              <a:rPr lang="fr-BE" sz="1800" dirty="0"/>
              <a:t> (y(t), y(t-s)), (y(t), y(t-2*s))</a:t>
            </a:r>
          </a:p>
          <a:p>
            <a:pPr lvl="1"/>
            <a:r>
              <a:rPr lang="fr-BE" sz="2000" dirty="0"/>
              <a:t>Friedman (non </a:t>
            </a:r>
            <a:r>
              <a:rPr lang="fr-BE" sz="2000" dirty="0" err="1"/>
              <a:t>parametric</a:t>
            </a:r>
            <a:r>
              <a:rPr lang="fr-BE" sz="2000" dirty="0"/>
              <a:t>) test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633636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51861" y="1700808"/>
            <a:ext cx="158417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Levels</a:t>
            </a:r>
            <a:r>
              <a:rPr lang="fr-BE" dirty="0"/>
              <a:t>:</a:t>
            </a:r>
          </a:p>
          <a:p>
            <a:pPr algn="ctr"/>
            <a:r>
              <a:rPr lang="fr-BE" dirty="0" err="1"/>
              <a:t>Airline+mean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07777" y="1331819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Tramo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451861" y="2708920"/>
            <a:ext cx="158417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Logs:</a:t>
            </a:r>
          </a:p>
          <a:p>
            <a:pPr algn="ctr"/>
            <a:r>
              <a:rPr lang="fr-BE" dirty="0" err="1"/>
              <a:t>Airline+mean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727848" y="2708920"/>
            <a:ext cx="208823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Logs: </a:t>
            </a:r>
            <a:r>
              <a:rPr lang="fr-BE" dirty="0" err="1"/>
              <a:t>SsqErr</a:t>
            </a:r>
            <a:endParaRPr lang="fr-BE" dirty="0"/>
          </a:p>
          <a:p>
            <a:pPr algn="ctr"/>
            <a:r>
              <a:rPr lang="fr-BE" dirty="0"/>
              <a:t>*correction factor</a:t>
            </a:r>
            <a:endParaRPr lang="en-US" dirty="0"/>
          </a:p>
        </p:txBody>
      </p:sp>
      <p:sp>
        <p:nvSpPr>
          <p:cNvPr id="7" name="Diamond 6"/>
          <p:cNvSpPr/>
          <p:nvPr/>
        </p:nvSpPr>
        <p:spPr>
          <a:xfrm>
            <a:off x="7522368" y="1506288"/>
            <a:ext cx="2664296" cy="1778697"/>
          </a:xfrm>
          <a:prstGeom prst="diamond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SsqErr</a:t>
            </a:r>
            <a:r>
              <a:rPr lang="fr-BE" dirty="0"/>
              <a:t> </a:t>
            </a:r>
            <a:r>
              <a:rPr lang="fr-BE" dirty="0" err="1"/>
              <a:t>comparison</a:t>
            </a:r>
            <a:endParaRPr lang="fr-BE" dirty="0"/>
          </a:p>
          <a:p>
            <a:pPr algn="ctr"/>
            <a:r>
              <a:rPr lang="fr-BE" dirty="0"/>
              <a:t>(</a:t>
            </a:r>
            <a:r>
              <a:rPr lang="fr-BE" dirty="0" err="1"/>
              <a:t>fct</a:t>
            </a:r>
            <a:r>
              <a:rPr lang="fr-BE" dirty="0"/>
              <a:t>)</a:t>
            </a:r>
            <a:endParaRPr lang="en-US" dirty="0"/>
          </a:p>
        </p:txBody>
      </p:sp>
      <p:cxnSp>
        <p:nvCxnSpPr>
          <p:cNvPr id="9" name="Elbow Connector 8"/>
          <p:cNvCxnSpPr>
            <a:stCxn id="3" idx="3"/>
            <a:endCxn id="7" idx="1"/>
          </p:cNvCxnSpPr>
          <p:nvPr/>
        </p:nvCxnSpPr>
        <p:spPr>
          <a:xfrm>
            <a:off x="4036038" y="1988840"/>
            <a:ext cx="3486331" cy="40679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6" idx="3"/>
            <a:endCxn id="7" idx="1"/>
          </p:cNvCxnSpPr>
          <p:nvPr/>
        </p:nvCxnSpPr>
        <p:spPr>
          <a:xfrm flipV="1">
            <a:off x="6816080" y="2395636"/>
            <a:ext cx="706288" cy="60131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3"/>
            <a:endCxn id="6" idx="1"/>
          </p:cNvCxnSpPr>
          <p:nvPr/>
        </p:nvCxnSpPr>
        <p:spPr>
          <a:xfrm>
            <a:off x="4036038" y="2996952"/>
            <a:ext cx="69181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869364" y="4201694"/>
            <a:ext cx="2337105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Levels</a:t>
            </a:r>
            <a:r>
              <a:rPr lang="fr-BE" dirty="0"/>
              <a:t>:</a:t>
            </a:r>
          </a:p>
          <a:p>
            <a:pPr algn="ctr"/>
            <a:r>
              <a:rPr lang="fr-BE" dirty="0" err="1"/>
              <a:t>Airline+mean</a:t>
            </a:r>
            <a:r>
              <a:rPr lang="fr-BE" dirty="0"/>
              <a:t>[+regs…]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847528" y="3648039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X13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1869364" y="5209806"/>
            <a:ext cx="2337105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Logs:</a:t>
            </a:r>
          </a:p>
          <a:p>
            <a:pPr algn="ctr"/>
            <a:r>
              <a:rPr lang="fr-BE" dirty="0" err="1"/>
              <a:t>Airline+mean</a:t>
            </a:r>
            <a:r>
              <a:rPr lang="fr-BE" dirty="0"/>
              <a:t>[+regs…]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4898279" y="5209806"/>
            <a:ext cx="208823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Logs: </a:t>
            </a:r>
            <a:r>
              <a:rPr lang="fr-BE" dirty="0" err="1"/>
              <a:t>likelihood</a:t>
            </a:r>
            <a:endParaRPr lang="fr-BE" dirty="0"/>
          </a:p>
          <a:p>
            <a:pPr algn="ctr"/>
            <a:r>
              <a:rPr lang="fr-BE" dirty="0"/>
              <a:t>+correction factor*</a:t>
            </a:r>
            <a:endParaRPr lang="en-US" dirty="0"/>
          </a:p>
        </p:txBody>
      </p:sp>
      <p:sp>
        <p:nvSpPr>
          <p:cNvPr id="37" name="Diamond 36"/>
          <p:cNvSpPr/>
          <p:nvPr/>
        </p:nvSpPr>
        <p:spPr>
          <a:xfrm>
            <a:off x="7562575" y="4017371"/>
            <a:ext cx="2664296" cy="1778697"/>
          </a:xfrm>
          <a:prstGeom prst="diamond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AICC </a:t>
            </a:r>
            <a:r>
              <a:rPr lang="fr-BE" dirty="0" err="1"/>
              <a:t>comparison</a:t>
            </a:r>
            <a:endParaRPr lang="fr-BE" dirty="0"/>
          </a:p>
        </p:txBody>
      </p:sp>
      <p:cxnSp>
        <p:nvCxnSpPr>
          <p:cNvPr id="38" name="Elbow Connector 37"/>
          <p:cNvCxnSpPr>
            <a:stCxn id="33" idx="3"/>
            <a:endCxn id="37" idx="1"/>
          </p:cNvCxnSpPr>
          <p:nvPr/>
        </p:nvCxnSpPr>
        <p:spPr>
          <a:xfrm>
            <a:off x="4206469" y="4489727"/>
            <a:ext cx="3356107" cy="416993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36" idx="3"/>
            <a:endCxn id="37" idx="1"/>
          </p:cNvCxnSpPr>
          <p:nvPr/>
        </p:nvCxnSpPr>
        <p:spPr>
          <a:xfrm flipV="1">
            <a:off x="6986511" y="4906720"/>
            <a:ext cx="576064" cy="591119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5" idx="3"/>
            <a:endCxn id="36" idx="1"/>
          </p:cNvCxnSpPr>
          <p:nvPr/>
        </p:nvCxnSpPr>
        <p:spPr>
          <a:xfrm>
            <a:off x="4206469" y="5497838"/>
            <a:ext cx="69181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192469" y="3423996"/>
                <a:ext cx="18762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BE" i="1">
                          <a:latin typeface="Cambria Math"/>
                        </a:rPr>
                        <m:t>𝑆𝑠𝑞𝐸𝑟𝑟</m:t>
                      </m:r>
                      <m:r>
                        <a:rPr lang="fr-BE" i="1">
                          <a:latin typeface="Cambria Math"/>
                        </a:rPr>
                        <m:t> ∝</m:t>
                      </m:r>
                      <m:r>
                        <a:rPr lang="fr-BE" i="1">
                          <a:latin typeface="Cambria Math"/>
                          <a:ea typeface="Cambria Math"/>
                        </a:rPr>
                        <m:t>𝑙𝑖𝑘𝑒𝑙𝑖ℎ𝑜𝑜𝑑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469" y="3423996"/>
                <a:ext cx="1876283" cy="307777"/>
              </a:xfrm>
              <a:prstGeom prst="rect">
                <a:avLst/>
              </a:prstGeom>
              <a:blipFill>
                <a:blip r:embed="rId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531126" y="5796068"/>
                <a:ext cx="41938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BE" i="1">
                          <a:latin typeface="Cambria Math"/>
                        </a:rPr>
                        <m:t>𝐴𝐼𝐶𝐶</m:t>
                      </m:r>
                      <m:r>
                        <a:rPr lang="fr-BE" i="1">
                          <a:latin typeface="Cambria Math"/>
                        </a:rPr>
                        <m:t>=−2∙</m:t>
                      </m:r>
                      <m:d>
                        <m:dPr>
                          <m:ctrlPr>
                            <a:rPr lang="fr-BE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fr-BE" i="1">
                              <a:latin typeface="Cambria Math"/>
                              <a:ea typeface="Cambria Math"/>
                            </a:rPr>
                            <m:t>𝑙𝑜𝑔𝑙𝑖𝑘𝑒𝑙𝑖ℎ𝑜𝑜𝑑</m:t>
                          </m:r>
                          <m:r>
                            <a:rPr lang="fr-BE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fr-BE" i="1">
                              <a:latin typeface="Cambria Math"/>
                              <a:ea typeface="Cambria Math"/>
                            </a:rPr>
                            <m:t>𝑛</m:t>
                          </m:r>
                          <m:r>
                            <a:rPr lang="fr-BE" i="1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fr-BE" i="1">
                              <a:latin typeface="Cambria Math"/>
                              <a:ea typeface="Cambria Math"/>
                            </a:rPr>
                            <m:t>𝑛𝑝</m:t>
                          </m:r>
                          <m:r>
                            <a:rPr lang="fr-BE" i="1">
                              <a:latin typeface="Cambria Math"/>
                              <a:ea typeface="Cambria Math"/>
                            </a:rPr>
                            <m:t>/(</m:t>
                          </m:r>
                          <m:r>
                            <a:rPr lang="fr-BE" i="1">
                              <a:latin typeface="Cambria Math"/>
                              <a:ea typeface="Cambria Math"/>
                            </a:rPr>
                            <m:t>𝑛</m:t>
                          </m:r>
                          <m:r>
                            <a:rPr lang="fr-BE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fr-BE" i="1">
                              <a:latin typeface="Cambria Math"/>
                              <a:ea typeface="Cambria Math"/>
                            </a:rPr>
                            <m:t>𝑛𝑝</m:t>
                          </m:r>
                          <m:r>
                            <a:rPr lang="fr-BE" i="1">
                              <a:latin typeface="Cambria Math"/>
                              <a:ea typeface="Cambria Math"/>
                            </a:rPr>
                            <m:t>−1)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126" y="5796068"/>
                <a:ext cx="4193840" cy="307777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re 10">
            <a:extLst>
              <a:ext uri="{FF2B5EF4-FFF2-40B4-BE49-F238E27FC236}">
                <a16:creationId xmlns:a16="http://schemas.microsoft.com/office/drawing/2014/main" id="{41790FF7-EB61-F90F-40C2-02E9DFA0D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3.3 Log-</a:t>
            </a:r>
            <a:r>
              <a:rPr lang="fr-BE" dirty="0" err="1"/>
              <a:t>level</a:t>
            </a:r>
            <a:r>
              <a:rPr lang="fr-BE" dirty="0"/>
              <a:t> test (I)</a:t>
            </a:r>
            <a:endParaRPr lang="en-GB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5E7906CA-AE55-E207-5939-13C69F3526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pPr/>
              <a:t>11</a:t>
            </a:fld>
            <a:r>
              <a:rPr lang="en-US"/>
              <a:t>/9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684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3.3 Log-</a:t>
            </a:r>
            <a:r>
              <a:rPr lang="fr-BE" dirty="0" err="1"/>
              <a:t>level</a:t>
            </a:r>
            <a:r>
              <a:rPr lang="fr-BE" dirty="0"/>
              <a:t> test (II)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3A09C6-12F6-A20B-17C4-F722584468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fr-BE" dirty="0"/>
                  <a:t>Tramo</a:t>
                </a:r>
              </a:p>
              <a:p>
                <a:pPr lvl="1"/>
                <a:r>
                  <a:rPr lang="fr-BE" dirty="0" err="1"/>
                  <a:t>Levels</a:t>
                </a:r>
                <a:r>
                  <a:rPr lang="fr-BE" dirty="0"/>
                  <a:t>: </a:t>
                </a:r>
                <a:r>
                  <a:rPr lang="fr-BE" dirty="0" err="1"/>
                  <a:t>mean</a:t>
                </a:r>
                <a:r>
                  <a:rPr lang="fr-BE" dirty="0"/>
                  <a:t> + </a:t>
                </a:r>
                <a:r>
                  <a:rPr lang="fr-BE" dirty="0" err="1"/>
                  <a:t>airline</a:t>
                </a:r>
                <a:endParaRPr lang="fr-BE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𝑆𝑠𝑙𝑒𝑣𝑒𝑙𝑠</m:t>
                    </m:r>
                  </m:oMath>
                </a14:m>
                <a:r>
                  <a:rPr lang="en-US" dirty="0"/>
                  <a:t> =7.736395  </a:t>
                </a:r>
                <a:endParaRPr lang="fr-BE" dirty="0"/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Logs</a:t>
                </a:r>
                <a:r>
                  <a:rPr lang="fr-BE" dirty="0"/>
                  <a:t>: </a:t>
                </a:r>
                <a:r>
                  <a:rPr lang="fr-BE" dirty="0" err="1"/>
                  <a:t>mean</a:t>
                </a:r>
                <a:r>
                  <a:rPr lang="fr-BE" dirty="0"/>
                  <a:t> + </a:t>
                </a:r>
                <a:r>
                  <a:rPr lang="fr-BE" dirty="0" err="1"/>
                  <a:t>airline</a:t>
                </a:r>
                <a:endParaRPr lang="fr-BE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𝑆𝑠𝑙𝑜𝑔𝑠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∙</m:t>
                    </m:r>
                    <m:sSup>
                      <m:sSupPr>
                        <m:ctrlPr>
                          <a:rPr lang="en-US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𝑔𝑚𝑒𝑎𝑛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/>
                              </a:rPr>
                              <m:t>𝑙𝑒𝑣𝑒𝑙𝑠</m:t>
                            </m:r>
                          </m:e>
                        </m:d>
                      </m:e>
                      <m:sup>
                        <m:r>
                          <a:rPr lang="fr-BE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= 7.768457  </a:t>
                </a:r>
                <a:endParaRPr lang="fr-BE" dirty="0"/>
              </a:p>
              <a:p>
                <a:pPr lvl="1"/>
                <a14:m>
                  <m:oMath xmlns:m="http://schemas.openxmlformats.org/officeDocument/2006/math">
                    <m:r>
                      <a:rPr lang="fr-BE" sz="2600" i="1" dirty="0">
                        <a:latin typeface="Cambria Math"/>
                      </a:rPr>
                      <m:t>𝑙𝑜𝑔𝑠</m:t>
                    </m:r>
                    <m:r>
                      <a:rPr lang="fr-BE" sz="2600" i="1" dirty="0">
                        <a:latin typeface="Cambria Math"/>
                      </a:rPr>
                      <m:t>−</m:t>
                    </m:r>
                    <m:r>
                      <a:rPr lang="fr-BE" sz="2600" i="1" dirty="0">
                        <a:latin typeface="Cambria Math"/>
                      </a:rPr>
                      <m:t>𝑙𝑒𝑣𝑒𝑙𝑠</m:t>
                    </m:r>
                    <m:r>
                      <a:rPr lang="fr-BE" sz="2600" i="1" dirty="0">
                        <a:latin typeface="Cambria Math"/>
                      </a:rPr>
                      <m:t>=−0.03206&gt;</m:t>
                    </m:r>
                    <m:func>
                      <m:funcPr>
                        <m:ctrlPr>
                          <a:rPr lang="fr-BE" sz="2600" dirty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BE" sz="2600" dirty="0">
                            <a:latin typeface="Cambria Math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BE" sz="2600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fr-BE" sz="2600" i="1" dirty="0">
                                <a:latin typeface="Cambria Math"/>
                              </a:rPr>
                              <m:t>.95</m:t>
                            </m:r>
                          </m:e>
                        </m:d>
                      </m:e>
                    </m:func>
                    <m:r>
                      <a:rPr lang="fr-BE" sz="2600" i="1" dirty="0">
                        <a:latin typeface="Cambria Math"/>
                      </a:rPr>
                      <m:t>=−0.05129</m:t>
                    </m:r>
                  </m:oMath>
                </a14:m>
                <a:endParaRPr lang="fr-BE" sz="2600" dirty="0"/>
              </a:p>
              <a:p>
                <a:pPr lvl="1"/>
                <a:endParaRPr lang="fr-BE" dirty="0"/>
              </a:p>
              <a:p>
                <a:r>
                  <a:rPr lang="fr-BE" dirty="0"/>
                  <a:t>X13</a:t>
                </a:r>
              </a:p>
              <a:p>
                <a:pPr lvl="1"/>
                <a:r>
                  <a:rPr lang="fr-BE" dirty="0" err="1">
                    <a:solidFill>
                      <a:srgbClr val="FF0000"/>
                    </a:solidFill>
                  </a:rPr>
                  <a:t>Levels</a:t>
                </a:r>
                <a:r>
                  <a:rPr lang="fr-BE" dirty="0"/>
                  <a:t>: </a:t>
                </a:r>
                <a:r>
                  <a:rPr lang="fr-BE" dirty="0" err="1"/>
                  <a:t>lp</a:t>
                </a:r>
                <a:r>
                  <a:rPr lang="fr-BE" dirty="0"/>
                  <a:t> + td + </a:t>
                </a:r>
                <a:r>
                  <a:rPr lang="fr-BE" dirty="0" err="1"/>
                  <a:t>mean</a:t>
                </a:r>
                <a:r>
                  <a:rPr lang="fr-BE" dirty="0"/>
                  <a:t> + </a:t>
                </a:r>
                <a:r>
                  <a:rPr lang="fr-BE" dirty="0" err="1"/>
                  <a:t>airline</a:t>
                </a:r>
                <a:endParaRPr lang="fr-BE" dirty="0"/>
              </a:p>
              <a:p>
                <a:pPr lvl="2"/>
                <a:r>
                  <a:rPr lang="en-US" dirty="0" err="1"/>
                  <a:t>Loglikelihood</a:t>
                </a:r>
                <a:r>
                  <a:rPr lang="en-US" dirty="0"/>
                  <a:t> = -463.920346919396 </a:t>
                </a:r>
              </a:p>
              <a:p>
                <a:pPr lvl="2"/>
                <a:r>
                  <a:rPr lang="fr-BE" dirty="0"/>
                  <a:t>AICC=</a:t>
                </a:r>
                <a:r>
                  <a:rPr lang="en-US" dirty="0"/>
                  <a:t> 938.1264081245064</a:t>
                </a:r>
              </a:p>
              <a:p>
                <a:pPr lvl="1"/>
                <a:r>
                  <a:rPr lang="en-US" dirty="0"/>
                  <a:t>Logs </a:t>
                </a:r>
                <a:r>
                  <a:rPr lang="fr-BE" dirty="0"/>
                  <a:t>(+</a:t>
                </a:r>
                <a:r>
                  <a:rPr lang="fr-BE" dirty="0" err="1"/>
                  <a:t>lp</a:t>
                </a:r>
                <a:r>
                  <a:rPr lang="fr-BE" dirty="0"/>
                  <a:t> </a:t>
                </a:r>
                <a:r>
                  <a:rPr lang="fr-BE" dirty="0" err="1"/>
                  <a:t>adjust</a:t>
                </a:r>
                <a:r>
                  <a:rPr lang="fr-BE" dirty="0"/>
                  <a:t>) : td + </a:t>
                </a:r>
                <a:r>
                  <a:rPr lang="fr-BE" dirty="0" err="1"/>
                  <a:t>mean</a:t>
                </a:r>
                <a:r>
                  <a:rPr lang="fr-BE" dirty="0"/>
                  <a:t> + </a:t>
                </a:r>
                <a:r>
                  <a:rPr lang="fr-BE" dirty="0" err="1"/>
                  <a:t>airline</a:t>
                </a:r>
                <a:endParaRPr lang="fr-BE" dirty="0"/>
              </a:p>
              <a:p>
                <a:pPr lvl="2"/>
                <a:r>
                  <a:rPr lang="en-US" dirty="0"/>
                  <a:t>Adjusted </a:t>
                </a:r>
                <a:r>
                  <a:rPr lang="en-US" dirty="0" err="1"/>
                  <a:t>loglikelihood</a:t>
                </a:r>
                <a:r>
                  <a:rPr lang="en-US" dirty="0"/>
                  <a:t> = -469.5936870686463 </a:t>
                </a:r>
              </a:p>
              <a:p>
                <a:pPr lvl="2"/>
                <a:r>
                  <a:rPr lang="en-US" dirty="0"/>
                  <a:t>AICC = 947.3769475970083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3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4906" y="1195947"/>
            <a:ext cx="3185679" cy="4045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4905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3.4 </a:t>
            </a:r>
            <a:r>
              <a:rPr lang="fr-BE" dirty="0" err="1"/>
              <a:t>Regression</a:t>
            </a:r>
            <a:r>
              <a:rPr lang="fr-BE" dirty="0"/>
              <a:t> (</a:t>
            </a:r>
            <a:r>
              <a:rPr lang="fr-BE" dirty="0" err="1"/>
              <a:t>calendar</a:t>
            </a:r>
            <a:r>
              <a:rPr lang="fr-BE" dirty="0"/>
              <a:t>) tests (I)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746895-6406-9058-1EF8-E059EDC0C6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13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BE" dirty="0" err="1"/>
              <a:t>Tramo</a:t>
            </a:r>
            <a:endParaRPr lang="fr-BE" dirty="0"/>
          </a:p>
          <a:p>
            <a:pPr lvl="1"/>
            <a:r>
              <a:rPr lang="fr-BE" dirty="0" err="1"/>
              <a:t>Legacy</a:t>
            </a:r>
            <a:r>
              <a:rPr lang="fr-BE" dirty="0"/>
              <a:t> code:</a:t>
            </a:r>
          </a:p>
          <a:p>
            <a:pPr lvl="2"/>
            <a:r>
              <a:rPr lang="fr-BE" dirty="0"/>
              <a:t>T-tests on trading </a:t>
            </a:r>
            <a:r>
              <a:rPr lang="fr-BE" dirty="0" err="1"/>
              <a:t>days</a:t>
            </a:r>
            <a:r>
              <a:rPr lang="fr-BE" dirty="0"/>
              <a:t>, </a:t>
            </a:r>
            <a:r>
              <a:rPr lang="fr-BE" dirty="0" err="1"/>
              <a:t>leap</a:t>
            </a:r>
            <a:r>
              <a:rPr lang="fr-BE" dirty="0"/>
              <a:t> </a:t>
            </a:r>
            <a:r>
              <a:rPr lang="fr-BE" dirty="0" err="1"/>
              <a:t>year</a:t>
            </a:r>
            <a:r>
              <a:rPr lang="fr-BE" dirty="0"/>
              <a:t>, </a:t>
            </a:r>
            <a:r>
              <a:rPr lang="fr-BE" dirty="0" err="1"/>
              <a:t>Easter</a:t>
            </a:r>
            <a:r>
              <a:rPr lang="fr-BE" dirty="0"/>
              <a:t> variable</a:t>
            </a:r>
          </a:p>
          <a:p>
            <a:pPr lvl="1"/>
            <a:r>
              <a:rPr lang="fr-BE" dirty="0"/>
              <a:t>New tests:</a:t>
            </a:r>
          </a:p>
          <a:p>
            <a:pPr lvl="2"/>
            <a:r>
              <a:rPr lang="fr-BE" dirty="0"/>
              <a:t>F-tests on trading/</a:t>
            </a:r>
            <a:r>
              <a:rPr lang="fr-BE" dirty="0" err="1"/>
              <a:t>working</a:t>
            </a:r>
            <a:r>
              <a:rPr lang="fr-BE" dirty="0"/>
              <a:t> </a:t>
            </a:r>
            <a:r>
              <a:rPr lang="fr-BE" dirty="0" err="1"/>
              <a:t>days</a:t>
            </a:r>
            <a:r>
              <a:rPr lang="fr-BE" dirty="0"/>
              <a:t>, </a:t>
            </a:r>
          </a:p>
          <a:p>
            <a:pPr lvl="2"/>
            <a:r>
              <a:rPr lang="fr-BE" dirty="0"/>
              <a:t>T-tests on trading </a:t>
            </a:r>
            <a:r>
              <a:rPr lang="fr-BE" dirty="0" err="1"/>
              <a:t>days</a:t>
            </a:r>
            <a:r>
              <a:rPr lang="fr-BE" dirty="0"/>
              <a:t>, </a:t>
            </a:r>
            <a:r>
              <a:rPr lang="fr-BE" dirty="0" err="1"/>
              <a:t>leap</a:t>
            </a:r>
            <a:r>
              <a:rPr lang="fr-BE" dirty="0"/>
              <a:t> </a:t>
            </a:r>
            <a:r>
              <a:rPr lang="fr-BE" dirty="0" err="1"/>
              <a:t>year</a:t>
            </a:r>
            <a:r>
              <a:rPr lang="fr-BE" dirty="0"/>
              <a:t>, </a:t>
            </a:r>
            <a:r>
              <a:rPr lang="fr-BE" dirty="0" err="1"/>
              <a:t>Easter</a:t>
            </a:r>
            <a:r>
              <a:rPr lang="fr-BE" dirty="0"/>
              <a:t> variable</a:t>
            </a:r>
          </a:p>
          <a:p>
            <a:r>
              <a:rPr lang="fr-BE" dirty="0"/>
              <a:t>JD+</a:t>
            </a:r>
          </a:p>
          <a:p>
            <a:pPr lvl="1"/>
            <a:r>
              <a:rPr lang="fr-BE" dirty="0" err="1"/>
              <a:t>Also</a:t>
            </a:r>
            <a:r>
              <a:rPr lang="fr-BE" dirty="0"/>
              <a:t> Wald tests on trading/</a:t>
            </a:r>
            <a:r>
              <a:rPr lang="fr-BE" dirty="0" err="1"/>
              <a:t>working</a:t>
            </a:r>
            <a:r>
              <a:rPr lang="fr-BE" dirty="0"/>
              <a:t> </a:t>
            </a:r>
            <a:r>
              <a:rPr lang="fr-BE" dirty="0" err="1"/>
              <a:t>days</a:t>
            </a:r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1" y="4621778"/>
            <a:ext cx="6692147" cy="11521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275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3.4 </a:t>
            </a:r>
            <a:r>
              <a:rPr lang="fr-BE" dirty="0" err="1"/>
              <a:t>Regression</a:t>
            </a:r>
            <a:r>
              <a:rPr lang="fr-BE" dirty="0"/>
              <a:t> (</a:t>
            </a:r>
            <a:r>
              <a:rPr lang="fr-BE" dirty="0" err="1"/>
              <a:t>calendar</a:t>
            </a:r>
            <a:r>
              <a:rPr lang="fr-BE" dirty="0"/>
              <a:t>) tests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1700809"/>
            <a:ext cx="8229600" cy="4525963"/>
          </a:xfrm>
        </p:spPr>
        <p:txBody>
          <a:bodyPr>
            <a:normAutofit/>
          </a:bodyPr>
          <a:lstStyle/>
          <a:p>
            <a:r>
              <a:rPr lang="fr-BE" dirty="0"/>
              <a:t>X12 </a:t>
            </a:r>
          </a:p>
          <a:p>
            <a:pPr lvl="1"/>
            <a:r>
              <a:rPr lang="fr-BE" sz="2400" dirty="0"/>
              <a:t>AIC </a:t>
            </a:r>
            <a:r>
              <a:rPr lang="fr-BE" sz="2400" dirty="0" err="1"/>
              <a:t>comparison</a:t>
            </a:r>
            <a:r>
              <a:rPr lang="fr-BE" sz="2400" dirty="0"/>
              <a:t> </a:t>
            </a:r>
            <a:r>
              <a:rPr lang="fr-BE" sz="2400" dirty="0" err="1"/>
              <a:t>between</a:t>
            </a:r>
            <a:r>
              <a:rPr lang="fr-BE" sz="2400" dirty="0"/>
              <a:t>:</a:t>
            </a:r>
          </a:p>
          <a:p>
            <a:pPr lvl="2"/>
            <a:r>
              <a:rPr lang="fr-BE" sz="2000" dirty="0" err="1"/>
              <a:t>Models</a:t>
            </a:r>
            <a:r>
              <a:rPr lang="fr-BE" sz="2000" dirty="0"/>
              <a:t> </a:t>
            </a:r>
            <a:r>
              <a:rPr lang="fr-BE" sz="2000" dirty="0" err="1"/>
              <a:t>with</a:t>
            </a:r>
            <a:r>
              <a:rPr lang="fr-BE" sz="2000" dirty="0"/>
              <a:t> and </a:t>
            </a:r>
            <a:r>
              <a:rPr lang="fr-BE" sz="2000" dirty="0" err="1"/>
              <a:t>without</a:t>
            </a:r>
            <a:r>
              <a:rPr lang="fr-BE" sz="2000" dirty="0"/>
              <a:t> trading </a:t>
            </a:r>
            <a:r>
              <a:rPr lang="fr-BE" sz="2000" dirty="0" err="1"/>
              <a:t>days</a:t>
            </a:r>
            <a:endParaRPr lang="fr-BE" sz="2000" dirty="0"/>
          </a:p>
          <a:p>
            <a:pPr lvl="2"/>
            <a:r>
              <a:rPr lang="fr-BE" sz="2000" dirty="0" err="1"/>
              <a:t>Models</a:t>
            </a:r>
            <a:r>
              <a:rPr lang="fr-BE" sz="2000" dirty="0"/>
              <a:t> </a:t>
            </a:r>
            <a:r>
              <a:rPr lang="fr-BE" sz="2000" dirty="0" err="1"/>
              <a:t>with</a:t>
            </a:r>
            <a:r>
              <a:rPr lang="fr-BE" sz="2000" dirty="0"/>
              <a:t> </a:t>
            </a:r>
            <a:r>
              <a:rPr lang="fr-BE" sz="2000" dirty="0" err="1"/>
              <a:t>different</a:t>
            </a:r>
            <a:r>
              <a:rPr lang="fr-BE" sz="2000" dirty="0"/>
              <a:t> </a:t>
            </a:r>
            <a:r>
              <a:rPr lang="fr-BE" sz="2000" dirty="0" err="1"/>
              <a:t>Easter</a:t>
            </a:r>
            <a:r>
              <a:rPr lang="fr-BE" sz="2000" dirty="0"/>
              <a:t> variables (</a:t>
            </a:r>
            <a:r>
              <a:rPr lang="fr-BE" sz="2000" dirty="0" err="1"/>
              <a:t>length</a:t>
            </a:r>
            <a:r>
              <a:rPr lang="fr-BE" sz="2000" dirty="0"/>
              <a:t>=1, 8, 15)</a:t>
            </a:r>
          </a:p>
          <a:p>
            <a:pPr lvl="2"/>
            <a:r>
              <a:rPr lang="fr-BE" sz="2000" dirty="0" err="1"/>
              <a:t>Models</a:t>
            </a:r>
            <a:r>
              <a:rPr lang="fr-BE" sz="2000" dirty="0"/>
              <a:t> </a:t>
            </a:r>
            <a:r>
              <a:rPr lang="fr-BE" sz="2000" dirty="0" err="1"/>
              <a:t>with</a:t>
            </a:r>
            <a:r>
              <a:rPr lang="fr-BE" sz="2000" dirty="0"/>
              <a:t> </a:t>
            </a:r>
            <a:r>
              <a:rPr lang="fr-BE" sz="2000" dirty="0" err="1"/>
              <a:t>other</a:t>
            </a:r>
            <a:r>
              <a:rPr lang="fr-BE" sz="2000" dirty="0"/>
              <a:t> </a:t>
            </a:r>
            <a:r>
              <a:rPr lang="fr-BE" sz="2000" dirty="0" err="1"/>
              <a:t>regression</a:t>
            </a:r>
            <a:r>
              <a:rPr lang="fr-BE" sz="2000" dirty="0"/>
              <a:t> variables</a:t>
            </a:r>
          </a:p>
          <a:p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Preprocessing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3" y="3933057"/>
            <a:ext cx="6621195" cy="23280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9931C46-CBAB-F610-A52B-088F6249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3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3.5 </a:t>
            </a:r>
            <a:r>
              <a:rPr lang="fr-BE" dirty="0" err="1"/>
              <a:t>Outliers</a:t>
            </a:r>
            <a:r>
              <a:rPr lang="fr-BE" dirty="0"/>
              <a:t> </a:t>
            </a:r>
            <a:r>
              <a:rPr lang="fr-BE" dirty="0" err="1"/>
              <a:t>detection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CCDDA1-9A71-379F-9C83-B60797CB8D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15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BE" dirty="0"/>
              <a:t>Types of </a:t>
            </a:r>
            <a:r>
              <a:rPr lang="fr-BE" dirty="0" err="1"/>
              <a:t>outliers</a:t>
            </a:r>
            <a:endParaRPr lang="fr-BE" dirty="0"/>
          </a:p>
          <a:p>
            <a:pPr lvl="1"/>
            <a:r>
              <a:rPr lang="fr-BE" dirty="0"/>
              <a:t>AO, LS, TC, SO (SLS and IO not </a:t>
            </a:r>
            <a:r>
              <a:rPr lang="fr-BE" dirty="0" err="1"/>
              <a:t>supported</a:t>
            </a:r>
            <a:r>
              <a:rPr lang="fr-BE" dirty="0"/>
              <a:t>)</a:t>
            </a:r>
          </a:p>
          <a:p>
            <a:r>
              <a:rPr lang="fr-BE" dirty="0"/>
              <a:t>Impact of </a:t>
            </a:r>
            <a:r>
              <a:rPr lang="fr-BE" dirty="0" err="1"/>
              <a:t>outliers</a:t>
            </a:r>
            <a:r>
              <a:rPr lang="fr-BE" dirty="0"/>
              <a:t> </a:t>
            </a:r>
          </a:p>
          <a:p>
            <a:pPr lvl="1"/>
            <a:r>
              <a:rPr lang="fr-BE" dirty="0" err="1"/>
              <a:t>Estimated</a:t>
            </a:r>
            <a:r>
              <a:rPr lang="fr-BE" dirty="0"/>
              <a:t> </a:t>
            </a:r>
            <a:r>
              <a:rPr lang="fr-BE" dirty="0" err="1"/>
              <a:t>parameters</a:t>
            </a:r>
            <a:endParaRPr lang="fr-BE" dirty="0"/>
          </a:p>
          <a:p>
            <a:pPr lvl="2"/>
            <a:r>
              <a:rPr lang="fr-BE" dirty="0" err="1"/>
              <a:t>Forecasts</a:t>
            </a:r>
            <a:r>
              <a:rPr lang="fr-BE" dirty="0"/>
              <a:t>…</a:t>
            </a:r>
          </a:p>
          <a:p>
            <a:pPr lvl="1"/>
            <a:r>
              <a:rPr lang="fr-BE" dirty="0" err="1"/>
              <a:t>Specific</a:t>
            </a:r>
            <a:r>
              <a:rPr lang="fr-BE" dirty="0"/>
              <a:t> SA issues</a:t>
            </a:r>
          </a:p>
          <a:p>
            <a:r>
              <a:rPr lang="fr-BE" dirty="0"/>
              <a:t>Solutions</a:t>
            </a:r>
          </a:p>
          <a:p>
            <a:pPr lvl="1"/>
            <a:r>
              <a:rPr lang="fr-BE" dirty="0"/>
              <a:t>ML-</a:t>
            </a:r>
            <a:r>
              <a:rPr lang="fr-BE" dirty="0" err="1"/>
              <a:t>based</a:t>
            </a:r>
            <a:r>
              <a:rPr lang="fr-BE" dirty="0"/>
              <a:t> solutions </a:t>
            </a:r>
          </a:p>
          <a:p>
            <a:pPr lvl="1"/>
            <a:r>
              <a:rPr lang="fr-BE" dirty="0"/>
              <a:t>[</a:t>
            </a:r>
            <a:r>
              <a:rPr lang="fr-BE" dirty="0" err="1"/>
              <a:t>Robust</a:t>
            </a:r>
            <a:r>
              <a:rPr lang="fr-BE" dirty="0"/>
              <a:t> </a:t>
            </a:r>
            <a:r>
              <a:rPr lang="fr-BE" dirty="0" err="1"/>
              <a:t>estimates</a:t>
            </a:r>
            <a:r>
              <a:rPr lang="fr-BE" dirty="0"/>
              <a:t>]</a:t>
            </a:r>
          </a:p>
          <a:p>
            <a:r>
              <a:rPr lang="fr-BE" dirty="0"/>
              <a:t>Issues</a:t>
            </a:r>
          </a:p>
          <a:p>
            <a:pPr lvl="1"/>
            <a:r>
              <a:rPr lang="fr-BE" dirty="0" err="1"/>
              <a:t>Unstable</a:t>
            </a:r>
            <a:r>
              <a:rPr lang="fr-BE" dirty="0"/>
              <a:t> </a:t>
            </a:r>
            <a:r>
              <a:rPr lang="fr-BE" dirty="0" err="1"/>
              <a:t>algorithms</a:t>
            </a:r>
            <a:endParaRPr lang="fr-BE" dirty="0"/>
          </a:p>
          <a:p>
            <a:pPr lvl="1"/>
            <a:r>
              <a:rPr lang="fr-BE" dirty="0"/>
              <a:t>« </a:t>
            </a:r>
            <a:r>
              <a:rPr lang="fr-BE" dirty="0" err="1"/>
              <a:t>Masking</a:t>
            </a:r>
            <a:r>
              <a:rPr lang="fr-BE" dirty="0"/>
              <a:t> » </a:t>
            </a:r>
            <a:r>
              <a:rPr lang="fr-BE" dirty="0" err="1"/>
              <a:t>effects</a:t>
            </a:r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2347157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3.5 </a:t>
            </a:r>
            <a:r>
              <a:rPr lang="fr-BE" dirty="0" err="1"/>
              <a:t>Outliers</a:t>
            </a:r>
            <a:r>
              <a:rPr lang="fr-BE" dirty="0"/>
              <a:t> </a:t>
            </a:r>
            <a:r>
              <a:rPr lang="fr-BE" dirty="0" err="1"/>
              <a:t>detection</a:t>
            </a:r>
            <a:r>
              <a:rPr lang="fr-BE" dirty="0"/>
              <a:t> in </a:t>
            </a:r>
            <a:r>
              <a:rPr lang="fr-BE" dirty="0" err="1"/>
              <a:t>Tramo</a:t>
            </a:r>
            <a:endParaRPr lang="fr-BE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81D630A-604F-0DE5-1453-B321EFA76D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  <p:cxnSp>
        <p:nvCxnSpPr>
          <p:cNvPr id="10" name="Straight Arrow Connector 9"/>
          <p:cNvCxnSpPr>
            <a:stCxn id="18" idx="3"/>
            <a:endCxn id="19" idx="1"/>
          </p:cNvCxnSpPr>
          <p:nvPr/>
        </p:nvCxnSpPr>
        <p:spPr>
          <a:xfrm>
            <a:off x="3923038" y="1899120"/>
            <a:ext cx="588787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owchart: Alternate Process 17"/>
          <p:cNvSpPr/>
          <p:nvPr/>
        </p:nvSpPr>
        <p:spPr>
          <a:xfrm>
            <a:off x="1978821" y="1484783"/>
            <a:ext cx="1944216" cy="82867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Model estimation </a:t>
            </a:r>
          </a:p>
          <a:p>
            <a:pPr algn="ctr"/>
            <a:r>
              <a:rPr lang="fr-BE" dirty="0"/>
              <a:t>HR or ML </a:t>
            </a:r>
          </a:p>
        </p:txBody>
      </p:sp>
      <p:sp>
        <p:nvSpPr>
          <p:cNvPr id="19" name="Flowchart: Alternate Process 18"/>
          <p:cNvSpPr/>
          <p:nvPr/>
        </p:nvSpPr>
        <p:spPr>
          <a:xfrm>
            <a:off x="4511824" y="1484784"/>
            <a:ext cx="1944216" cy="82867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Computation of </a:t>
            </a:r>
            <a:r>
              <a:rPr lang="fr-BE" dirty="0" err="1"/>
              <a:t>filtered</a:t>
            </a:r>
            <a:r>
              <a:rPr lang="fr-BE" dirty="0"/>
              <a:t> </a:t>
            </a:r>
            <a:r>
              <a:rPr lang="fr-BE" dirty="0" err="1"/>
              <a:t>residuals</a:t>
            </a:r>
            <a:endParaRPr lang="fr-BE" dirty="0"/>
          </a:p>
        </p:txBody>
      </p:sp>
      <p:sp>
        <p:nvSpPr>
          <p:cNvPr id="22" name="Flowchart: Alternate Process 21"/>
          <p:cNvSpPr/>
          <p:nvPr/>
        </p:nvSpPr>
        <p:spPr>
          <a:xfrm>
            <a:off x="7019381" y="1484784"/>
            <a:ext cx="1944216" cy="82867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OLS </a:t>
            </a:r>
            <a:r>
              <a:rPr lang="fr-BE" dirty="0" err="1"/>
              <a:t>with</a:t>
            </a:r>
            <a:r>
              <a:rPr lang="fr-BE" dirty="0"/>
              <a:t> « quasi » </a:t>
            </a:r>
            <a:r>
              <a:rPr lang="fr-BE" dirty="0" err="1"/>
              <a:t>filtered</a:t>
            </a:r>
            <a:r>
              <a:rPr lang="fr-BE" dirty="0"/>
              <a:t> </a:t>
            </a:r>
            <a:r>
              <a:rPr lang="fr-BE" dirty="0" err="1"/>
              <a:t>outliers</a:t>
            </a:r>
            <a:endParaRPr lang="fr-BE" dirty="0"/>
          </a:p>
        </p:txBody>
      </p:sp>
      <p:sp>
        <p:nvSpPr>
          <p:cNvPr id="23" name="Flowchart: Alternate Process 22"/>
          <p:cNvSpPr/>
          <p:nvPr/>
        </p:nvSpPr>
        <p:spPr>
          <a:xfrm>
            <a:off x="7018668" y="2708920"/>
            <a:ext cx="1944216" cy="82867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Computation of </a:t>
            </a:r>
            <a:r>
              <a:rPr lang="fr-BE" dirty="0" err="1"/>
              <a:t>robust</a:t>
            </a:r>
            <a:r>
              <a:rPr lang="fr-BE" dirty="0"/>
              <a:t> T-</a:t>
            </a:r>
            <a:r>
              <a:rPr lang="fr-BE" dirty="0" err="1"/>
              <a:t>Stats</a:t>
            </a:r>
            <a:endParaRPr lang="fr-BE" dirty="0"/>
          </a:p>
        </p:txBody>
      </p:sp>
      <p:cxnSp>
        <p:nvCxnSpPr>
          <p:cNvPr id="25" name="Straight Arrow Connector 24"/>
          <p:cNvCxnSpPr>
            <a:stCxn id="19" idx="3"/>
            <a:endCxn id="22" idx="1"/>
          </p:cNvCxnSpPr>
          <p:nvPr/>
        </p:nvCxnSpPr>
        <p:spPr>
          <a:xfrm>
            <a:off x="6456041" y="1899120"/>
            <a:ext cx="5633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2" idx="2"/>
            <a:endCxn id="23" idx="0"/>
          </p:cNvCxnSpPr>
          <p:nvPr/>
        </p:nvCxnSpPr>
        <p:spPr>
          <a:xfrm flipH="1">
            <a:off x="7990777" y="2313456"/>
            <a:ext cx="713" cy="3954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7198689" y="3918488"/>
            <a:ext cx="1584175" cy="100811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Max T &gt; VA</a:t>
            </a:r>
          </a:p>
        </p:txBody>
      </p:sp>
      <p:cxnSp>
        <p:nvCxnSpPr>
          <p:cNvPr id="33" name="Straight Arrow Connector 32"/>
          <p:cNvCxnSpPr>
            <a:stCxn id="23" idx="2"/>
            <a:endCxn id="31" idx="0"/>
          </p:cNvCxnSpPr>
          <p:nvPr/>
        </p:nvCxnSpPr>
        <p:spPr>
          <a:xfrm>
            <a:off x="7990776" y="3537592"/>
            <a:ext cx="0" cy="3808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owchart: Alternate Process 35"/>
          <p:cNvSpPr/>
          <p:nvPr/>
        </p:nvSpPr>
        <p:spPr>
          <a:xfrm>
            <a:off x="4943872" y="4015912"/>
            <a:ext cx="1944216" cy="82867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Add</a:t>
            </a:r>
            <a:r>
              <a:rPr lang="fr-BE" dirty="0"/>
              <a:t> 1 </a:t>
            </a:r>
            <a:r>
              <a:rPr lang="fr-BE" dirty="0" err="1"/>
              <a:t>outlier</a:t>
            </a:r>
            <a:endParaRPr lang="fr-BE" dirty="0"/>
          </a:p>
        </p:txBody>
      </p:sp>
      <p:sp>
        <p:nvSpPr>
          <p:cNvPr id="37" name="Flowchart: Alternate Process 36"/>
          <p:cNvSpPr/>
          <p:nvPr/>
        </p:nvSpPr>
        <p:spPr>
          <a:xfrm>
            <a:off x="4267440" y="2929018"/>
            <a:ext cx="1152128" cy="87353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Remove</a:t>
            </a:r>
            <a:r>
              <a:rPr lang="fr-BE" dirty="0"/>
              <a:t> 1 </a:t>
            </a:r>
            <a:r>
              <a:rPr lang="fr-BE" dirty="0" err="1"/>
              <a:t>outlier</a:t>
            </a:r>
            <a:endParaRPr lang="fr-BE" dirty="0"/>
          </a:p>
        </p:txBody>
      </p:sp>
      <p:cxnSp>
        <p:nvCxnSpPr>
          <p:cNvPr id="39" name="Straight Arrow Connector 38"/>
          <p:cNvCxnSpPr>
            <a:stCxn id="31" idx="1"/>
            <a:endCxn id="36" idx="3"/>
          </p:cNvCxnSpPr>
          <p:nvPr/>
        </p:nvCxnSpPr>
        <p:spPr>
          <a:xfrm flipH="1">
            <a:off x="6888088" y="4422544"/>
            <a:ext cx="310600" cy="77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6" idx="1"/>
            <a:endCxn id="117" idx="3"/>
          </p:cNvCxnSpPr>
          <p:nvPr/>
        </p:nvCxnSpPr>
        <p:spPr>
          <a:xfrm flipH="1">
            <a:off x="4059238" y="4430248"/>
            <a:ext cx="88463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owchart: Alternate Process 43"/>
          <p:cNvSpPr/>
          <p:nvPr/>
        </p:nvSpPr>
        <p:spPr>
          <a:xfrm>
            <a:off x="5126752" y="5445225"/>
            <a:ext cx="1944216" cy="82867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Remove</a:t>
            </a:r>
            <a:r>
              <a:rPr lang="fr-BE" dirty="0"/>
              <a:t> </a:t>
            </a:r>
            <a:r>
              <a:rPr lang="fr-BE" dirty="0" err="1"/>
              <a:t>less</a:t>
            </a:r>
            <a:r>
              <a:rPr lang="fr-BE" dirty="0"/>
              <a:t> (&lt;VA) </a:t>
            </a:r>
            <a:r>
              <a:rPr lang="fr-BE" dirty="0" err="1"/>
              <a:t>significant</a:t>
            </a:r>
            <a:r>
              <a:rPr lang="fr-BE" dirty="0"/>
              <a:t> </a:t>
            </a:r>
            <a:r>
              <a:rPr lang="fr-BE" dirty="0" err="1"/>
              <a:t>outlier</a:t>
            </a:r>
            <a:endParaRPr lang="fr-BE" dirty="0"/>
          </a:p>
        </p:txBody>
      </p:sp>
      <p:sp>
        <p:nvSpPr>
          <p:cNvPr id="47" name="Diamond 46"/>
          <p:cNvSpPr/>
          <p:nvPr/>
        </p:nvSpPr>
        <p:spPr>
          <a:xfrm>
            <a:off x="2295041" y="2859851"/>
            <a:ext cx="1584175" cy="90298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Max T &lt; VA</a:t>
            </a:r>
          </a:p>
        </p:txBody>
      </p:sp>
      <p:cxnSp>
        <p:nvCxnSpPr>
          <p:cNvPr id="56" name="Straight Arrow Connector 55"/>
          <p:cNvCxnSpPr>
            <a:stCxn id="47" idx="3"/>
            <a:endCxn id="37" idx="3"/>
          </p:cNvCxnSpPr>
          <p:nvPr/>
        </p:nvCxnSpPr>
        <p:spPr>
          <a:xfrm>
            <a:off x="3879216" y="3311342"/>
            <a:ext cx="1540353" cy="544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527899" y="2630434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No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05127" y="4926601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No</a:t>
            </a:r>
          </a:p>
        </p:txBody>
      </p:sp>
      <p:cxnSp>
        <p:nvCxnSpPr>
          <p:cNvPr id="64" name="Elbow Connector 63"/>
          <p:cNvCxnSpPr>
            <a:stCxn id="44" idx="1"/>
            <a:endCxn id="44" idx="0"/>
          </p:cNvCxnSpPr>
          <p:nvPr/>
        </p:nvCxnSpPr>
        <p:spPr>
          <a:xfrm rot="10800000" flipH="1">
            <a:off x="5126752" y="5445225"/>
            <a:ext cx="972108" cy="414336"/>
          </a:xfrm>
          <a:prstGeom prst="bentConnector4">
            <a:avLst>
              <a:gd name="adj1" fmla="val -23516"/>
              <a:gd name="adj2" fmla="val 15517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Flowchart: Terminator 65"/>
          <p:cNvSpPr/>
          <p:nvPr/>
        </p:nvSpPr>
        <p:spPr>
          <a:xfrm>
            <a:off x="2493729" y="5708685"/>
            <a:ext cx="914400" cy="301752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68" name="Straight Arrow Connector 67"/>
          <p:cNvCxnSpPr>
            <a:stCxn id="44" idx="1"/>
            <a:endCxn id="66" idx="3"/>
          </p:cNvCxnSpPr>
          <p:nvPr/>
        </p:nvCxnSpPr>
        <p:spPr>
          <a:xfrm flipH="1">
            <a:off x="3408130" y="5859561"/>
            <a:ext cx="171862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/>
          <p:cNvCxnSpPr>
            <a:stCxn id="117" idx="0"/>
            <a:endCxn id="47" idx="2"/>
          </p:cNvCxnSpPr>
          <p:nvPr/>
        </p:nvCxnSpPr>
        <p:spPr>
          <a:xfrm rot="16200000" flipV="1">
            <a:off x="2960591" y="3889373"/>
            <a:ext cx="253079" cy="1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/>
          <p:cNvCxnSpPr>
            <a:stCxn id="37" idx="2"/>
            <a:endCxn id="117" idx="3"/>
          </p:cNvCxnSpPr>
          <p:nvPr/>
        </p:nvCxnSpPr>
        <p:spPr>
          <a:xfrm rot="5400000">
            <a:off x="4137522" y="3724267"/>
            <a:ext cx="627698" cy="78426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/>
          <p:cNvCxnSpPr>
            <a:stCxn id="31" idx="2"/>
            <a:endCxn id="44" idx="3"/>
          </p:cNvCxnSpPr>
          <p:nvPr/>
        </p:nvCxnSpPr>
        <p:spPr>
          <a:xfrm rot="5400000">
            <a:off x="7064393" y="4933176"/>
            <a:ext cx="932961" cy="91980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Flowchart: Alternate Process 116"/>
          <p:cNvSpPr/>
          <p:nvPr/>
        </p:nvSpPr>
        <p:spPr>
          <a:xfrm>
            <a:off x="2115021" y="4015912"/>
            <a:ext cx="1944216" cy="82867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Model estimation </a:t>
            </a:r>
          </a:p>
          <a:p>
            <a:pPr algn="ctr"/>
            <a:r>
              <a:rPr lang="fr-BE" dirty="0"/>
              <a:t>HR or ML </a:t>
            </a:r>
          </a:p>
        </p:txBody>
      </p:sp>
      <p:cxnSp>
        <p:nvCxnSpPr>
          <p:cNvPr id="140" name="Elbow Connector 139"/>
          <p:cNvCxnSpPr>
            <a:stCxn id="47" idx="0"/>
            <a:endCxn id="19" idx="2"/>
          </p:cNvCxnSpPr>
          <p:nvPr/>
        </p:nvCxnSpPr>
        <p:spPr>
          <a:xfrm rot="5400000" flipH="1" flipV="1">
            <a:off x="4012333" y="1388251"/>
            <a:ext cx="546394" cy="23968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3603663" y="3352927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Yes</a:t>
            </a:r>
            <a:endParaRPr lang="fr-BE" dirty="0"/>
          </a:p>
        </p:txBody>
      </p:sp>
      <p:sp>
        <p:nvSpPr>
          <p:cNvPr id="144" name="TextBox 143"/>
          <p:cNvSpPr txBox="1"/>
          <p:nvPr/>
        </p:nvSpPr>
        <p:spPr>
          <a:xfrm>
            <a:off x="6955929" y="4422545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Yes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545715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3.5 </a:t>
            </a:r>
            <a:r>
              <a:rPr lang="fr-BE" dirty="0" err="1"/>
              <a:t>Outliers</a:t>
            </a:r>
            <a:r>
              <a:rPr lang="fr-BE" dirty="0"/>
              <a:t> </a:t>
            </a:r>
            <a:r>
              <a:rPr lang="fr-BE" dirty="0" err="1"/>
              <a:t>detection</a:t>
            </a:r>
            <a:r>
              <a:rPr lang="fr-BE" dirty="0"/>
              <a:t> in X12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2B997DE-6BB8-19E3-5211-17E83A3777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  <p:cxnSp>
        <p:nvCxnSpPr>
          <p:cNvPr id="10" name="Straight Arrow Connector 9"/>
          <p:cNvCxnSpPr>
            <a:stCxn id="18" idx="3"/>
            <a:endCxn id="22" idx="1"/>
          </p:cNvCxnSpPr>
          <p:nvPr/>
        </p:nvCxnSpPr>
        <p:spPr>
          <a:xfrm flipV="1">
            <a:off x="3923037" y="1887257"/>
            <a:ext cx="920468" cy="118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owchart: Alternate Process 17"/>
          <p:cNvSpPr/>
          <p:nvPr/>
        </p:nvSpPr>
        <p:spPr>
          <a:xfrm>
            <a:off x="1978821" y="1484783"/>
            <a:ext cx="1944216" cy="82867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Model estimation </a:t>
            </a:r>
          </a:p>
          <a:p>
            <a:pPr algn="ctr"/>
            <a:r>
              <a:rPr lang="fr-BE" dirty="0"/>
              <a:t>By ML </a:t>
            </a:r>
          </a:p>
        </p:txBody>
      </p:sp>
      <p:sp>
        <p:nvSpPr>
          <p:cNvPr id="22" name="Flowchart: Alternate Process 21"/>
          <p:cNvSpPr/>
          <p:nvPr/>
        </p:nvSpPr>
        <p:spPr>
          <a:xfrm>
            <a:off x="4843505" y="1472920"/>
            <a:ext cx="1944216" cy="82867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GLS </a:t>
            </a:r>
            <a:r>
              <a:rPr lang="fr-BE" dirty="0" err="1"/>
              <a:t>with</a:t>
            </a:r>
            <a:r>
              <a:rPr lang="fr-BE" dirty="0"/>
              <a:t> all </a:t>
            </a:r>
            <a:r>
              <a:rPr lang="fr-BE" dirty="0" err="1"/>
              <a:t>outliers</a:t>
            </a:r>
            <a:r>
              <a:rPr lang="fr-BE" dirty="0"/>
              <a:t> (1 by 1)</a:t>
            </a:r>
          </a:p>
        </p:txBody>
      </p:sp>
      <p:sp>
        <p:nvSpPr>
          <p:cNvPr id="23" name="Flowchart: Alternate Process 22"/>
          <p:cNvSpPr/>
          <p:nvPr/>
        </p:nvSpPr>
        <p:spPr>
          <a:xfrm>
            <a:off x="7896200" y="1506068"/>
            <a:ext cx="1944216" cy="82867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Computation of </a:t>
            </a:r>
            <a:r>
              <a:rPr lang="fr-BE" dirty="0" err="1"/>
              <a:t>robust</a:t>
            </a:r>
            <a:r>
              <a:rPr lang="fr-BE" dirty="0"/>
              <a:t> T-</a:t>
            </a:r>
            <a:r>
              <a:rPr lang="fr-BE" dirty="0" err="1"/>
              <a:t>Stats</a:t>
            </a:r>
            <a:endParaRPr lang="fr-BE" dirty="0"/>
          </a:p>
        </p:txBody>
      </p:sp>
      <p:cxnSp>
        <p:nvCxnSpPr>
          <p:cNvPr id="27" name="Straight Arrow Connector 26"/>
          <p:cNvCxnSpPr>
            <a:stCxn id="22" idx="3"/>
            <a:endCxn id="23" idx="1"/>
          </p:cNvCxnSpPr>
          <p:nvPr/>
        </p:nvCxnSpPr>
        <p:spPr>
          <a:xfrm>
            <a:off x="6787722" y="1887256"/>
            <a:ext cx="1108479" cy="331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8076222" y="3218202"/>
            <a:ext cx="1584175" cy="100811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Max T &gt; VA</a:t>
            </a:r>
          </a:p>
        </p:txBody>
      </p:sp>
      <p:cxnSp>
        <p:nvCxnSpPr>
          <p:cNvPr id="33" name="Straight Arrow Connector 32"/>
          <p:cNvCxnSpPr>
            <a:stCxn id="23" idx="2"/>
            <a:endCxn id="31" idx="0"/>
          </p:cNvCxnSpPr>
          <p:nvPr/>
        </p:nvCxnSpPr>
        <p:spPr>
          <a:xfrm>
            <a:off x="8868309" y="2334740"/>
            <a:ext cx="1" cy="8834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owchart: Alternate Process 35"/>
          <p:cNvSpPr/>
          <p:nvPr/>
        </p:nvSpPr>
        <p:spPr>
          <a:xfrm>
            <a:off x="4843505" y="3282620"/>
            <a:ext cx="1944216" cy="82867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Add</a:t>
            </a:r>
            <a:r>
              <a:rPr lang="fr-BE" dirty="0"/>
              <a:t> 1 </a:t>
            </a:r>
            <a:r>
              <a:rPr lang="fr-BE" dirty="0" err="1"/>
              <a:t>outlier</a:t>
            </a:r>
            <a:r>
              <a:rPr lang="fr-BE" dirty="0"/>
              <a:t> (or all </a:t>
            </a:r>
            <a:r>
              <a:rPr lang="fr-BE" dirty="0" err="1"/>
              <a:t>outliers</a:t>
            </a:r>
            <a:r>
              <a:rPr lang="fr-BE" dirty="0"/>
              <a:t>)</a:t>
            </a:r>
          </a:p>
        </p:txBody>
      </p:sp>
      <p:cxnSp>
        <p:nvCxnSpPr>
          <p:cNvPr id="39" name="Straight Arrow Connector 38"/>
          <p:cNvCxnSpPr>
            <a:stCxn id="31" idx="1"/>
            <a:endCxn id="36" idx="3"/>
          </p:cNvCxnSpPr>
          <p:nvPr/>
        </p:nvCxnSpPr>
        <p:spPr>
          <a:xfrm flipH="1" flipV="1">
            <a:off x="6787721" y="3696956"/>
            <a:ext cx="1288500" cy="253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owchart: Alternate Process 43"/>
          <p:cNvSpPr/>
          <p:nvPr/>
        </p:nvSpPr>
        <p:spPr>
          <a:xfrm>
            <a:off x="5099398" y="5445225"/>
            <a:ext cx="1944216" cy="82867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Remove</a:t>
            </a:r>
            <a:r>
              <a:rPr lang="fr-BE" dirty="0"/>
              <a:t> </a:t>
            </a:r>
            <a:r>
              <a:rPr lang="fr-BE" dirty="0" err="1"/>
              <a:t>less</a:t>
            </a:r>
            <a:r>
              <a:rPr lang="fr-BE" dirty="0"/>
              <a:t> (&lt;VA) </a:t>
            </a:r>
            <a:r>
              <a:rPr lang="fr-BE" dirty="0" err="1"/>
              <a:t>significant</a:t>
            </a:r>
            <a:r>
              <a:rPr lang="fr-BE" dirty="0"/>
              <a:t> </a:t>
            </a:r>
            <a:r>
              <a:rPr lang="fr-BE" dirty="0" err="1"/>
              <a:t>outlier</a:t>
            </a:r>
            <a:endParaRPr lang="fr-BE" dirty="0"/>
          </a:p>
        </p:txBody>
      </p:sp>
      <p:sp>
        <p:nvSpPr>
          <p:cNvPr id="62" name="TextBox 61"/>
          <p:cNvSpPr txBox="1"/>
          <p:nvPr/>
        </p:nvSpPr>
        <p:spPr>
          <a:xfrm>
            <a:off x="8976320" y="4226315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No</a:t>
            </a:r>
          </a:p>
        </p:txBody>
      </p:sp>
      <p:cxnSp>
        <p:nvCxnSpPr>
          <p:cNvPr id="64" name="Elbow Connector 63"/>
          <p:cNvCxnSpPr>
            <a:stCxn id="44" idx="1"/>
            <a:endCxn id="44" idx="0"/>
          </p:cNvCxnSpPr>
          <p:nvPr/>
        </p:nvCxnSpPr>
        <p:spPr>
          <a:xfrm rot="10800000" flipH="1">
            <a:off x="5099398" y="5445225"/>
            <a:ext cx="972108" cy="414336"/>
          </a:xfrm>
          <a:prstGeom prst="bentConnector4">
            <a:avLst>
              <a:gd name="adj1" fmla="val -23516"/>
              <a:gd name="adj2" fmla="val 15517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Flowchart: Terminator 65"/>
          <p:cNvSpPr/>
          <p:nvPr/>
        </p:nvSpPr>
        <p:spPr>
          <a:xfrm>
            <a:off x="2493729" y="5708685"/>
            <a:ext cx="914400" cy="301752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68" name="Straight Arrow Connector 67"/>
          <p:cNvCxnSpPr>
            <a:stCxn id="44" idx="1"/>
            <a:endCxn id="66" idx="3"/>
          </p:cNvCxnSpPr>
          <p:nvPr/>
        </p:nvCxnSpPr>
        <p:spPr>
          <a:xfrm flipH="1">
            <a:off x="3408130" y="5859561"/>
            <a:ext cx="169126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/>
          <p:cNvCxnSpPr>
            <a:stCxn id="31" idx="2"/>
            <a:endCxn id="44" idx="3"/>
          </p:cNvCxnSpPr>
          <p:nvPr/>
        </p:nvCxnSpPr>
        <p:spPr>
          <a:xfrm rot="5400000">
            <a:off x="7139340" y="4130591"/>
            <a:ext cx="1633247" cy="182469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Elbow Connector 139"/>
          <p:cNvCxnSpPr>
            <a:stCxn id="36" idx="1"/>
            <a:endCxn id="18" idx="2"/>
          </p:cNvCxnSpPr>
          <p:nvPr/>
        </p:nvCxnSpPr>
        <p:spPr>
          <a:xfrm rot="10800000">
            <a:off x="2950929" y="2313457"/>
            <a:ext cx="1892576" cy="138350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7726880" y="3327625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Yes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91085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3.5 </a:t>
            </a:r>
            <a:r>
              <a:rPr lang="fr-BE" dirty="0" err="1"/>
              <a:t>Outliers</a:t>
            </a:r>
            <a:r>
              <a:rPr lang="fr-BE" dirty="0"/>
              <a:t> </a:t>
            </a:r>
            <a:r>
              <a:rPr lang="fr-BE" dirty="0" err="1"/>
              <a:t>detection</a:t>
            </a:r>
            <a:r>
              <a:rPr lang="fr-BE" dirty="0"/>
              <a:t>. Key points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CB35CA-260F-BBBD-B4E6-78CBC54528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BE" sz="2400" dirty="0"/>
              <a:t>ML or HR estimation</a:t>
            </a:r>
          </a:p>
          <a:p>
            <a:r>
              <a:rPr lang="fr-BE" sz="2400" dirty="0"/>
              <a:t>Computation of </a:t>
            </a:r>
            <a:r>
              <a:rPr lang="fr-BE" sz="2400" dirty="0" err="1"/>
              <a:t>robust</a:t>
            </a:r>
            <a:r>
              <a:rPr lang="fr-BE" sz="2400" dirty="0"/>
              <a:t> </a:t>
            </a:r>
            <a:r>
              <a:rPr lang="fr-BE" sz="2400" dirty="0" err="1"/>
              <a:t>stdev</a:t>
            </a:r>
            <a:r>
              <a:rPr lang="fr-BE" sz="2400" dirty="0"/>
              <a:t> on the </a:t>
            </a:r>
            <a:r>
              <a:rPr lang="fr-BE" sz="2400" dirty="0" err="1"/>
              <a:t>residuals</a:t>
            </a:r>
            <a:endParaRPr lang="fr-BE" sz="2400" dirty="0"/>
          </a:p>
          <a:p>
            <a:r>
              <a:rPr lang="fr-BE" sz="2400" dirty="0" err="1"/>
              <a:t>Regression</a:t>
            </a:r>
            <a:r>
              <a:rPr lang="fr-BE" sz="2400" dirty="0"/>
              <a:t> on </a:t>
            </a:r>
            <a:r>
              <a:rPr lang="fr-BE" sz="2400" dirty="0" err="1"/>
              <a:t>residuals</a:t>
            </a:r>
            <a:r>
              <a:rPr lang="fr-BE" sz="2400" dirty="0"/>
              <a:t> or on </a:t>
            </a:r>
            <a:r>
              <a:rPr lang="fr-BE" sz="2400" dirty="0" err="1"/>
              <a:t>complete</a:t>
            </a:r>
            <a:r>
              <a:rPr lang="fr-BE" sz="2400" dirty="0"/>
              <a:t> </a:t>
            </a:r>
            <a:r>
              <a:rPr lang="fr-BE" sz="2400" dirty="0" err="1"/>
              <a:t>models</a:t>
            </a:r>
            <a:endParaRPr lang="fr-BE" sz="2400" dirty="0"/>
          </a:p>
          <a:p>
            <a:r>
              <a:rPr lang="fr-BE" sz="2400" dirty="0"/>
              <a:t>Back </a:t>
            </a:r>
            <a:r>
              <a:rPr lang="fr-BE" sz="2400" dirty="0" err="1"/>
              <a:t>calculation</a:t>
            </a:r>
            <a:r>
              <a:rPr lang="fr-BE" sz="2400" dirty="0"/>
              <a:t> to </a:t>
            </a:r>
            <a:r>
              <a:rPr lang="fr-BE" sz="2400" dirty="0" err="1"/>
              <a:t>identify</a:t>
            </a:r>
            <a:r>
              <a:rPr lang="fr-BE" sz="2400" dirty="0"/>
              <a:t> </a:t>
            </a:r>
            <a:r>
              <a:rPr lang="fr-BE" sz="2400" dirty="0" err="1"/>
              <a:t>masking</a:t>
            </a:r>
            <a:r>
              <a:rPr lang="fr-BE" sz="2400" dirty="0"/>
              <a:t> </a:t>
            </a:r>
            <a:r>
              <a:rPr lang="fr-BE" sz="2400" dirty="0" err="1"/>
              <a:t>effects</a:t>
            </a:r>
            <a:endParaRPr lang="fr-BE" sz="2400" dirty="0"/>
          </a:p>
          <a:p>
            <a:r>
              <a:rPr lang="fr-BE" sz="2400" dirty="0"/>
              <a:t>Exact or </a:t>
            </a:r>
            <a:r>
              <a:rPr lang="fr-BE" sz="2400" dirty="0" err="1"/>
              <a:t>approximate</a:t>
            </a:r>
            <a:r>
              <a:rPr lang="fr-BE" sz="2400" dirty="0"/>
              <a:t> GLS estimation</a:t>
            </a:r>
          </a:p>
          <a:p>
            <a:endParaRPr lang="fr-BE" dirty="0"/>
          </a:p>
          <a:p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2284755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3.61 </a:t>
            </a:r>
            <a:r>
              <a:rPr lang="fr-BE" dirty="0" err="1"/>
              <a:t>Differencing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F65DB9-6A5C-E02E-F9CF-35227707CD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BE" sz="2400" dirty="0" err="1"/>
              <a:t>Tramo</a:t>
            </a:r>
            <a:r>
              <a:rPr lang="fr-BE" sz="2400" dirty="0"/>
              <a:t> ~ X12</a:t>
            </a:r>
          </a:p>
          <a:p>
            <a:r>
              <a:rPr lang="fr-BE" sz="2400" dirty="0" err="1"/>
              <a:t>Step</a:t>
            </a:r>
            <a:r>
              <a:rPr lang="fr-BE" sz="2400" dirty="0"/>
              <a:t> 1:</a:t>
            </a:r>
          </a:p>
          <a:p>
            <a:pPr lvl="1"/>
            <a:r>
              <a:rPr lang="fr-BE" sz="2000" dirty="0" err="1"/>
              <a:t>Estimate</a:t>
            </a:r>
            <a:r>
              <a:rPr lang="fr-BE" sz="2000" dirty="0"/>
              <a:t> (2 0 0)(1 0 0)+</a:t>
            </a:r>
            <a:r>
              <a:rPr lang="fr-BE" sz="2000" dirty="0" err="1"/>
              <a:t>mean</a:t>
            </a:r>
            <a:endParaRPr lang="fr-BE" sz="2000" dirty="0"/>
          </a:p>
          <a:p>
            <a:pPr lvl="1"/>
            <a:r>
              <a:rPr lang="fr-BE" sz="2000" dirty="0"/>
              <a:t>Select </a:t>
            </a:r>
            <a:r>
              <a:rPr lang="fr-BE" sz="2000" dirty="0" err="1"/>
              <a:t>root</a:t>
            </a:r>
            <a:r>
              <a:rPr lang="fr-BE" sz="2000" dirty="0"/>
              <a:t>(s) : 1/|r| &gt; initial UR (0.97)</a:t>
            </a:r>
          </a:p>
          <a:p>
            <a:r>
              <a:rPr lang="fr-BE" sz="2400" dirty="0" err="1"/>
              <a:t>Step</a:t>
            </a:r>
            <a:r>
              <a:rPr lang="fr-BE" sz="2400" dirty="0"/>
              <a:t> 2:</a:t>
            </a:r>
          </a:p>
          <a:p>
            <a:pPr lvl="1"/>
            <a:r>
              <a:rPr lang="fr-BE" sz="2000" dirty="0" err="1"/>
              <a:t>Estimate</a:t>
            </a:r>
            <a:r>
              <a:rPr lang="fr-BE" sz="2000" dirty="0"/>
              <a:t> (1 x 1)(1 y 1)+</a:t>
            </a:r>
            <a:r>
              <a:rPr lang="fr-BE" sz="2000" dirty="0" err="1"/>
              <a:t>mean</a:t>
            </a:r>
            <a:endParaRPr lang="fr-BE" sz="2000" dirty="0"/>
          </a:p>
          <a:p>
            <a:pPr lvl="1"/>
            <a:r>
              <a:rPr lang="fr-BE" sz="2000" dirty="0"/>
              <a:t>Cancel </a:t>
            </a:r>
            <a:r>
              <a:rPr lang="fr-BE" sz="2000" dirty="0" err="1"/>
              <a:t>similar</a:t>
            </a:r>
            <a:r>
              <a:rPr lang="fr-BE" sz="2000" dirty="0"/>
              <a:t> AR, MA </a:t>
            </a:r>
            <a:r>
              <a:rPr lang="fr-BE" sz="2000" dirty="0" err="1"/>
              <a:t>roots</a:t>
            </a:r>
            <a:r>
              <a:rPr lang="fr-BE" sz="2000" dirty="0"/>
              <a:t> (cancel)</a:t>
            </a:r>
          </a:p>
          <a:p>
            <a:pPr lvl="1"/>
            <a:r>
              <a:rPr lang="fr-BE" sz="2000" dirty="0"/>
              <a:t>Select </a:t>
            </a:r>
            <a:r>
              <a:rPr lang="fr-BE" sz="2000" dirty="0" err="1"/>
              <a:t>root</a:t>
            </a:r>
            <a:r>
              <a:rPr lang="fr-BE" sz="2000" dirty="0"/>
              <a:t>(s) : 1/|r|  &gt; final UR (0.91) </a:t>
            </a:r>
          </a:p>
          <a:p>
            <a:pPr lvl="1"/>
            <a:endParaRPr lang="fr-BE" dirty="0"/>
          </a:p>
          <a:p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1478513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3.62 ARMA identification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DFBB18-BAFC-7AA6-02A7-CD406C8D5A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BE" sz="2800" dirty="0" err="1"/>
              <a:t>Tramo</a:t>
            </a:r>
            <a:r>
              <a:rPr lang="fr-BE" sz="2800" dirty="0"/>
              <a:t> ~ X12</a:t>
            </a:r>
          </a:p>
          <a:p>
            <a:r>
              <a:rPr lang="fr-BE" sz="2800" dirty="0" err="1"/>
              <a:t>Computes</a:t>
            </a:r>
            <a:r>
              <a:rPr lang="fr-BE" sz="2800" dirty="0"/>
              <a:t> BIC (</a:t>
            </a:r>
            <a:r>
              <a:rPr lang="fr-BE" sz="2800" dirty="0" err="1"/>
              <a:t>Tramo-like</a:t>
            </a:r>
            <a:r>
              <a:rPr lang="fr-BE" sz="2800" dirty="0"/>
              <a:t>) for </a:t>
            </a:r>
            <a:r>
              <a:rPr lang="fr-BE" sz="2800" dirty="0" err="1"/>
              <a:t>different</a:t>
            </a:r>
            <a:r>
              <a:rPr lang="fr-BE" sz="2800" dirty="0"/>
              <a:t> ARMA </a:t>
            </a:r>
            <a:r>
              <a:rPr lang="fr-BE" sz="2800" dirty="0" err="1"/>
              <a:t>orders</a:t>
            </a:r>
            <a:endParaRPr lang="fr-BE" sz="2800" dirty="0"/>
          </a:p>
          <a:p>
            <a:pPr lvl="1"/>
            <a:r>
              <a:rPr lang="fr-BE" sz="2400" dirty="0"/>
              <a:t>Estimation of the </a:t>
            </a:r>
            <a:r>
              <a:rPr lang="fr-BE" sz="2400" dirty="0" err="1"/>
              <a:t>models</a:t>
            </a:r>
            <a:r>
              <a:rPr lang="fr-BE" sz="2400" dirty="0"/>
              <a:t>:</a:t>
            </a:r>
          </a:p>
          <a:p>
            <a:pPr lvl="2"/>
            <a:r>
              <a:rPr lang="fr-BE" sz="2000" dirty="0" err="1"/>
              <a:t>Tramo</a:t>
            </a:r>
            <a:r>
              <a:rPr lang="fr-BE" sz="2000" dirty="0"/>
              <a:t>: </a:t>
            </a:r>
            <a:r>
              <a:rPr lang="fr-BE" sz="2000" dirty="0" err="1"/>
              <a:t>Hannan-Rissanen</a:t>
            </a:r>
            <a:endParaRPr lang="fr-BE" sz="2000" dirty="0"/>
          </a:p>
          <a:p>
            <a:pPr lvl="2"/>
            <a:r>
              <a:rPr lang="fr-BE" sz="2000" dirty="0"/>
              <a:t>X12: exact ML</a:t>
            </a:r>
          </a:p>
          <a:p>
            <a:r>
              <a:rPr lang="fr-BE" sz="2800" dirty="0"/>
              <a:t>Best (acceptable) model </a:t>
            </a:r>
            <a:r>
              <a:rPr lang="fr-BE" sz="2800" dirty="0" err="1"/>
              <a:t>selected</a:t>
            </a:r>
            <a:endParaRPr lang="fr-BE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2265620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7D718-740C-4560-BE84-041520055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3.7 Final checks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58478-6B0F-8E6C-0182-8ED707BD5F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D220B-6196-4266-8242-B875247280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2800" b="1" dirty="0"/>
              <a:t>Suppression of non-significant ARIMA parameters</a:t>
            </a:r>
          </a:p>
          <a:p>
            <a:r>
              <a:rPr lang="en-GB" sz="2800" b="1" dirty="0"/>
              <a:t>Regular/seasonal under-differencing (quasi-unit roots)</a:t>
            </a:r>
          </a:p>
          <a:p>
            <a:r>
              <a:rPr lang="en-GB" sz="2800" dirty="0"/>
              <a:t>Seasonality control </a:t>
            </a:r>
          </a:p>
          <a:p>
            <a:r>
              <a:rPr lang="en-GB" sz="2800" dirty="0"/>
              <a:t>Residual trading days (F-test on the residuals) </a:t>
            </a:r>
          </a:p>
          <a:p>
            <a:r>
              <a:rPr lang="en-GB" sz="2800" dirty="0"/>
              <a:t>Benchmarking with reference (airline) models </a:t>
            </a:r>
          </a:p>
          <a:p>
            <a:pPr lvl="1"/>
            <a:r>
              <a:rPr lang="en-GB" sz="2400" dirty="0"/>
              <a:t>Criterions: BIC , outliers, </a:t>
            </a:r>
            <a:r>
              <a:rPr lang="en-GB" sz="2400" dirty="0" err="1"/>
              <a:t>LjungBox</a:t>
            </a:r>
            <a:r>
              <a:rPr lang="en-GB" sz="2400" dirty="0"/>
              <a:t>, Seasonal </a:t>
            </a:r>
            <a:r>
              <a:rPr lang="en-GB" sz="2400" dirty="0" err="1"/>
              <a:t>LjungBox</a:t>
            </a:r>
            <a:r>
              <a:rPr lang="en-GB" sz="2400" dirty="0"/>
              <a:t>, Skewness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A81CC-6A79-4ADE-BC0E-B45CFCBB059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1492678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1D700-68D0-419A-AC00-E703625F0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Final (personal) remarks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00F173-B4FE-FB79-6561-7257297FB1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91795-9EC9-4AC8-889B-144958017A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Wonderful “expert system”</a:t>
            </a:r>
          </a:p>
          <a:p>
            <a:r>
              <a:rPr lang="en-GB" sz="2400" dirty="0"/>
              <a:t>But…</a:t>
            </a:r>
          </a:p>
          <a:p>
            <a:pPr lvl="1"/>
            <a:r>
              <a:rPr lang="en-GB" sz="2000" dirty="0"/>
              <a:t>Several known weaknesses </a:t>
            </a:r>
          </a:p>
          <a:p>
            <a:pPr lvl="2"/>
            <a:r>
              <a:rPr lang="en-GB" sz="1800" dirty="0"/>
              <a:t>Log/level in case of large outliers</a:t>
            </a:r>
          </a:p>
          <a:p>
            <a:pPr lvl="2"/>
            <a:r>
              <a:rPr lang="en-GB" sz="1800" dirty="0"/>
              <a:t>Trading days selection (</a:t>
            </a:r>
            <a:r>
              <a:rPr lang="en-GB" sz="1800" dirty="0" err="1"/>
              <a:t>Tramo</a:t>
            </a:r>
            <a:r>
              <a:rPr lang="en-GB" sz="1800" dirty="0"/>
              <a:t>)</a:t>
            </a:r>
          </a:p>
          <a:p>
            <a:pPr lvl="2"/>
            <a:r>
              <a:rPr lang="en-GB" sz="1800" dirty="0"/>
              <a:t>Outliers (not robust enough)</a:t>
            </a:r>
          </a:p>
          <a:p>
            <a:pPr lvl="2"/>
            <a:r>
              <a:rPr lang="en-GB" sz="1800" dirty="0"/>
              <a:t>Selection of non decomposable models </a:t>
            </a:r>
          </a:p>
          <a:p>
            <a:pPr lvl="2"/>
            <a:r>
              <a:rPr lang="en-GB" sz="1800" dirty="0"/>
              <a:t>…</a:t>
            </a:r>
          </a:p>
          <a:p>
            <a:r>
              <a:rPr lang="en-GB" sz="2400" dirty="0"/>
              <a:t>But…</a:t>
            </a:r>
          </a:p>
          <a:p>
            <a:pPr lvl="1"/>
            <a:r>
              <a:rPr lang="en-GB" sz="2000" dirty="0"/>
              <a:t>Not easy to outperform the current algorithms</a:t>
            </a:r>
          </a:p>
          <a:p>
            <a:pPr lvl="2"/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0871E-0F96-4B86-9763-277CCB2D617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4041419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28E14-F9DA-FD37-43E0-9E7DA68B5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0719A-4192-780C-FEB6-E346C040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Final (personal) remarks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B83904-0508-48DA-11CE-81978F192F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BCB9B-23FC-99F6-7BB7-C6A24AF51D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Avoid complex models (too unstable)</a:t>
            </a:r>
          </a:p>
          <a:p>
            <a:r>
              <a:rPr lang="en-GB" sz="2800" dirty="0"/>
              <a:t>Impact of the ARIMA model on the regression coefficients usually limited</a:t>
            </a:r>
          </a:p>
          <a:p>
            <a:r>
              <a:rPr lang="en-GB" sz="2800" dirty="0"/>
              <a:t>ARIMA coefficients unstable →pragmatic approach for</a:t>
            </a:r>
          </a:p>
          <a:p>
            <a:pPr lvl="1"/>
            <a:r>
              <a:rPr lang="en-GB" sz="2400" dirty="0"/>
              <a:t>Time span, revision policies, accuracy of the estimation…</a:t>
            </a:r>
          </a:p>
          <a:p>
            <a:r>
              <a:rPr lang="en-GB" sz="2800" dirty="0"/>
              <a:t>Fixed regression coefficients (TD) is an annoying limitation → structural models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117DF-B87E-42B3-772D-C925FE88785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1282295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6C79C3-D201-59CC-5084-2CED2635CA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2 Preprocessing.potx" id="{6FD64A33-9A9A-49BC-A9D4-024419AD4DAF}" vid="{273BA4A2-8CD2-4266-9AB7-4F0C65ACC3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Props1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2.2 Preprocessing</Template>
  <TotalTime>10</TotalTime>
  <Words>1192</Words>
  <Application>Microsoft Office PowerPoint</Application>
  <PresentationFormat>Grand écran</PresentationFormat>
  <Paragraphs>266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 Math</vt:lpstr>
      <vt:lpstr>ESTAT Theme</vt:lpstr>
      <vt:lpstr>2.2 Pre-processing : RegArima modelling in Tramo and in X12/X13</vt:lpstr>
      <vt:lpstr>Outline</vt:lpstr>
      <vt:lpstr>1. Why pre-processing?</vt:lpstr>
      <vt:lpstr>1.2. Why RegArima?</vt:lpstr>
      <vt:lpstr>2.1 RegArima model</vt:lpstr>
      <vt:lpstr>2.2 RegArima estimation (I)</vt:lpstr>
      <vt:lpstr>2.2 RegArima estimation (II)</vt:lpstr>
      <vt:lpstr>2.2 RegArima estimation (III)</vt:lpstr>
      <vt:lpstr>3.1 AMI: simplified schema </vt:lpstr>
      <vt:lpstr>3.2 Seasonality tests</vt:lpstr>
      <vt:lpstr>3.3 Log-level test (I)</vt:lpstr>
      <vt:lpstr>3.3 Log-level test (II)</vt:lpstr>
      <vt:lpstr>3.4 Regression (calendar) tests (I)</vt:lpstr>
      <vt:lpstr>3.4 Regression (calendar) tests (II)</vt:lpstr>
      <vt:lpstr>3.5 Outliers detection</vt:lpstr>
      <vt:lpstr>3.5 Outliers detection in Tramo</vt:lpstr>
      <vt:lpstr>3.5 Outliers detection in X12</vt:lpstr>
      <vt:lpstr>3.5 Outliers detection. Key points</vt:lpstr>
      <vt:lpstr>3.61 Differencing</vt:lpstr>
      <vt:lpstr>3.62 ARMA identification</vt:lpstr>
      <vt:lpstr>3.7 Final checks</vt:lpstr>
      <vt:lpstr>4. Final (personal) remarks</vt:lpstr>
      <vt:lpstr>4. Final (personal) remarks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Palate</dc:creator>
  <cp:lastModifiedBy>Jean Palate</cp:lastModifiedBy>
  <cp:revision>2</cp:revision>
  <dcterms:created xsi:type="dcterms:W3CDTF">2026-09-28T10:36:57Z</dcterms:created>
  <dcterms:modified xsi:type="dcterms:W3CDTF">2026-10-01T08:28:18Z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